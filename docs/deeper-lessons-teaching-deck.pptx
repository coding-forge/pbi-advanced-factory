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83480"/>
            <a:ext cx="12191695" cy="1874519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0" b="1">
                <a:solidFill>
                  <a:srgbClr val="FFFFFF"/>
                </a:solidFill>
                <a:latin typeface="Aptos Display"/>
              </a:defRPr>
            </a:pPr>
            <a:r>
              <a:t>Deeper Power BI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ADCFC"/>
                </a:solidFill>
                <a:latin typeface="Aptos"/>
              </a:defRPr>
            </a:pPr>
            <a:r>
              <a:t>Teaching guide for advanced lab themes: data prep, modeling, DAX, UX, performance, and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30368"/>
            <a:ext cx="242316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230368"/>
            <a:ext cx="100584" cy="1078992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376672"/>
            <a:ext cx="2103120" cy="8778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Trust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Make results explainable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5230368"/>
            <a:ext cx="242316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5230368"/>
            <a:ext cx="100584" cy="10789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7" y="5376672"/>
            <a:ext cx="2103120" cy="8778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Maintainability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Reduce repeated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5230368"/>
            <a:ext cx="242316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5230368"/>
            <a:ext cx="100584" cy="10789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7" y="5376672"/>
            <a:ext cx="2103120" cy="8778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UX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Guide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5230368"/>
            <a:ext cx="242316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98280" y="5230368"/>
            <a:ext cx="100584" cy="10789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5376672"/>
            <a:ext cx="2103120" cy="8778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Readiness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Validate before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Why these deeper lessons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Advanced patterns are valuable when they improve trust, maintainability, and user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0584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3063240" cy="1353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For authors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Less rework, clearer model structure, easier DAX maintenance, and repeatable delivery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417320"/>
            <a:ext cx="100584" cy="1554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563624"/>
            <a:ext cx="3063240" cy="1353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For users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Reports become easier to navigate, interpret, and trust because assumptions are 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383280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417320"/>
            <a:ext cx="100584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563624"/>
            <a:ext cx="3063240" cy="1353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For teams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PBIP, validation notes, and governance patterns make collaboration easier.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749039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206240"/>
            <a:ext cx="2077516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206240"/>
            <a:ext cx="100584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352544"/>
            <a:ext cx="1757476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Prepare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Clean and stage data</a:t>
            </a:r>
          </a:p>
        </p:txBody>
      </p:sp>
      <p:sp>
        <p:nvSpPr>
          <p:cNvPr id="18" name="Oval 17"/>
          <p:cNvSpPr/>
          <p:nvPr/>
        </p:nvSpPr>
        <p:spPr>
          <a:xfrm>
            <a:off x="2818180" y="3749039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18180" y="4206240"/>
            <a:ext cx="2077516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8180" y="4206240"/>
            <a:ext cx="100584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9348" y="4352544"/>
            <a:ext cx="1757476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Model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Shape relationships</a:t>
            </a:r>
          </a:p>
        </p:txBody>
      </p:sp>
      <p:sp>
        <p:nvSpPr>
          <p:cNvPr id="22" name="Oval 21"/>
          <p:cNvSpPr/>
          <p:nvPr/>
        </p:nvSpPr>
        <p:spPr>
          <a:xfrm>
            <a:off x="5042001" y="3749039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42001" y="4206240"/>
            <a:ext cx="2077516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42001" y="4206240"/>
            <a:ext cx="100584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43169" y="4352544"/>
            <a:ext cx="1757476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Measure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Define business logic</a:t>
            </a:r>
          </a:p>
        </p:txBody>
      </p:sp>
      <p:sp>
        <p:nvSpPr>
          <p:cNvPr id="26" name="Oval 25"/>
          <p:cNvSpPr/>
          <p:nvPr/>
        </p:nvSpPr>
        <p:spPr>
          <a:xfrm>
            <a:off x="7265822" y="3749039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5822" y="4206240"/>
            <a:ext cx="2077516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65822" y="4206240"/>
            <a:ext cx="100584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66990" y="4352544"/>
            <a:ext cx="1757476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Guide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Design interactions</a:t>
            </a:r>
          </a:p>
        </p:txBody>
      </p:sp>
      <p:sp>
        <p:nvSpPr>
          <p:cNvPr id="30" name="Oval 29"/>
          <p:cNvSpPr/>
          <p:nvPr/>
        </p:nvSpPr>
        <p:spPr>
          <a:xfrm>
            <a:off x="9489643" y="3749039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89643" y="4206240"/>
            <a:ext cx="2077516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89643" y="4206240"/>
            <a:ext cx="100584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0811" y="4352544"/>
            <a:ext cx="1757476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Govern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Secure and operate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How the themes build on each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Each lab theme is a layer in a reliable analytics solution.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11409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100584" cy="1051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20824"/>
            <a:ext cx="1794052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Query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Source parameters, staging, functions, error review</a:t>
            </a:r>
          </a:p>
        </p:txBody>
      </p:sp>
      <p:sp>
        <p:nvSpPr>
          <p:cNvPr id="9" name="Oval 8"/>
          <p:cNvSpPr/>
          <p:nvPr/>
        </p:nvSpPr>
        <p:spPr>
          <a:xfrm>
            <a:off x="2763316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3316" y="1874519"/>
            <a:ext cx="211409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3316" y="1874519"/>
            <a:ext cx="10058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020824"/>
            <a:ext cx="1794052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Semantic model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Facts, dimensions, dates, relationships</a:t>
            </a:r>
          </a:p>
        </p:txBody>
      </p:sp>
      <p:sp>
        <p:nvSpPr>
          <p:cNvPr id="13" name="Oval 12"/>
          <p:cNvSpPr/>
          <p:nvPr/>
        </p:nvSpPr>
        <p:spPr>
          <a:xfrm>
            <a:off x="5023713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3713" y="1874519"/>
            <a:ext cx="211409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3713" y="1874519"/>
            <a:ext cx="100584" cy="1051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4881" y="2020824"/>
            <a:ext cx="1794052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DAX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Measures, calculation groups, rankings</a:t>
            </a:r>
          </a:p>
        </p:txBody>
      </p:sp>
      <p:sp>
        <p:nvSpPr>
          <p:cNvPr id="17" name="Oval 16"/>
          <p:cNvSpPr/>
          <p:nvPr/>
        </p:nvSpPr>
        <p:spPr>
          <a:xfrm>
            <a:off x="7284110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4110" y="1874519"/>
            <a:ext cx="211409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84110" y="1874519"/>
            <a:ext cx="10058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5278" y="2020824"/>
            <a:ext cx="1794052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Report UX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Drillthrough, tooltips, field parameters</a:t>
            </a:r>
          </a:p>
        </p:txBody>
      </p:sp>
      <p:sp>
        <p:nvSpPr>
          <p:cNvPr id="21" name="Oval 20"/>
          <p:cNvSpPr/>
          <p:nvPr/>
        </p:nvSpPr>
        <p:spPr>
          <a:xfrm>
            <a:off x="9544507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44507" y="1874519"/>
            <a:ext cx="211409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44507" y="1874519"/>
            <a:ext cx="100584" cy="1051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5675" y="2020824"/>
            <a:ext cx="1794052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Production readiness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Performance, security, governance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800600"/>
            <a:ext cx="10332720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800600"/>
            <a:ext cx="100584" cy="77724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946904"/>
            <a:ext cx="1001268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Instructor message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Do not teach these as disconnected features. Teach them as a chain: each layer makes the next layer easier and safer.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Power Query: repeatable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Students move from one-off cleanup to a predictable data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07492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00584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80744"/>
            <a:ext cx="4754880" cy="10332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Parameters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Make source paths and refresh windows explicit.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07492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100584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380744"/>
            <a:ext cx="4754880" cy="10332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Staging queries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Keep raw, staged, and final load queries separate.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26080"/>
            <a:ext cx="507492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926080"/>
            <a:ext cx="100584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072384"/>
            <a:ext cx="4754880" cy="10332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Functions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Reuse cleanup logic instead of repeating UI 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507492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926080"/>
            <a:ext cx="100584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072384"/>
            <a:ext cx="4754880" cy="10332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Lineage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Preserve source file names so issues can be traced.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74920"/>
            <a:ext cx="10607040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5074920"/>
            <a:ext cx="100584" cy="77724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221224"/>
            <a:ext cx="1028700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users care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Cleaner data prep reduces refresh surprises and gives report consumers more confidence in the numbers.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Deeper Power Query pattern: error review before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Bad rows should be visible before they are filtered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8328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00584" cy="13258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3063240" cy="1124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1. Detect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Use safe parsing to flag invalid dates, quantities, prices, or missing product codes.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325880"/>
            <a:ext cx="338328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325880"/>
            <a:ext cx="100584" cy="1325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472184"/>
            <a:ext cx="3063240" cy="1124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2. Review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Create an err_OrdersReview query with a human-readable DataQualityIssue column.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38328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100584" cy="13258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472184"/>
            <a:ext cx="3063240" cy="1124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3. Load valid rows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Create FactOrders from rows where DataQualityIssue is blank.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931920"/>
            <a:ext cx="987552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931920"/>
            <a:ext cx="100584" cy="105156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4078224"/>
            <a:ext cx="9555480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Reflection prompt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Ask learners: what is the risk of silently removing bad rows? Who needs to know that data was excluded?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Semantic model handoff: clean data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A clean query still needs a model that filters predictably.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2316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0584" cy="2194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09344"/>
            <a:ext cx="2103120" cy="19933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Grain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Every fact table needs a clear row meaning.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463040"/>
            <a:ext cx="242316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39" y="1463040"/>
            <a:ext cx="100584" cy="2194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1609344"/>
            <a:ext cx="2103120" cy="19933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PK/FK relationships make filters predictable.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463040"/>
            <a:ext cx="242316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463040"/>
            <a:ext cx="100584" cy="2194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7" y="1609344"/>
            <a:ext cx="2103120" cy="19933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Dates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Role-playing dates prevent ambiguous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463040"/>
            <a:ext cx="242316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1463040"/>
            <a:ext cx="100584" cy="2194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1609344"/>
            <a:ext cx="2103120" cy="19933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Bridge tables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Multi-valued attributes need controlled paths.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54880"/>
            <a:ext cx="104241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754880"/>
            <a:ext cx="100584" cy="82296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901184"/>
            <a:ext cx="10104120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Builds on Power Query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Staged and validated data lets students focus on modeling decisions instead of firefighting source cleanup.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Advanced DAX: the measure layer is 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Measures translate the model into business meaning.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8328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00584" cy="13258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80744"/>
            <a:ext cx="3063240" cy="1124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Base measures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One trusted definition for sales, margin, quantity, and targets.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234440"/>
            <a:ext cx="338328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234440"/>
            <a:ext cx="100584" cy="1325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380744"/>
            <a:ext cx="3063240" cy="1124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Branching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Derived measures reuse base measures instead of duplicating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34440"/>
            <a:ext cx="338328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234440"/>
            <a:ext cx="100584" cy="13258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380744"/>
            <a:ext cx="3063240" cy="1124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Validation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Test measures in simple visuals before adding complexity.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84048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97680"/>
            <a:ext cx="2450591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297680"/>
            <a:ext cx="100584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443984"/>
            <a:ext cx="2130551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Context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Visual + slicer filters</a:t>
            </a:r>
          </a:p>
        </p:txBody>
      </p:sp>
      <p:sp>
        <p:nvSpPr>
          <p:cNvPr id="18" name="Oval 17"/>
          <p:cNvSpPr/>
          <p:nvPr/>
        </p:nvSpPr>
        <p:spPr>
          <a:xfrm>
            <a:off x="3511296" y="384048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1296" y="4297680"/>
            <a:ext cx="2450591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11296" y="4297680"/>
            <a:ext cx="100584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2463" y="4443984"/>
            <a:ext cx="2130551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CALCULATE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Modify context intentionally</a:t>
            </a:r>
          </a:p>
        </p:txBody>
      </p:sp>
      <p:sp>
        <p:nvSpPr>
          <p:cNvPr id="22" name="Oval 21"/>
          <p:cNvSpPr/>
          <p:nvPr/>
        </p:nvSpPr>
        <p:spPr>
          <a:xfrm>
            <a:off x="6108192" y="384048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8192" y="4297680"/>
            <a:ext cx="2450591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08192" y="4297680"/>
            <a:ext cx="100584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4443984"/>
            <a:ext cx="2130551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Time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Compare periods</a:t>
            </a:r>
          </a:p>
        </p:txBody>
      </p:sp>
      <p:sp>
        <p:nvSpPr>
          <p:cNvPr id="26" name="Oval 25"/>
          <p:cNvSpPr/>
          <p:nvPr/>
        </p:nvSpPr>
        <p:spPr>
          <a:xfrm>
            <a:off x="8705088" y="384048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05088" y="4297680"/>
            <a:ext cx="2450591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05088" y="4297680"/>
            <a:ext cx="100584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6256" y="4443984"/>
            <a:ext cx="2130551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Rank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Focus attention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Calculation groups: reusable time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SELECTEDMEASURE() to apply one time pattern to many base measures.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10896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0584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80744"/>
            <a:ext cx="2788920" cy="1307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What it is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 calculation group stores reusable calculation items such as Current, YTD, Prior Year, and YoY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234440"/>
            <a:ext cx="310896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31920" y="1234440"/>
            <a:ext cx="100584" cy="1508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087" y="1380744"/>
            <a:ext cx="2788920" cy="1307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It reduces duplicated DAX and makes time logic easier to maintain across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234440"/>
            <a:ext cx="384048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1234440"/>
            <a:ext cx="100584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8" y="1380744"/>
            <a:ext cx="3520440" cy="1307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How it builds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Students need a date table, base measures, and context knowledge before this pattern makes sense.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06240"/>
            <a:ext cx="1033272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206240"/>
            <a:ext cx="100584" cy="91440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352544"/>
            <a:ext cx="10012680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Validation note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Native Desktop authoring, TMDL, XMLA, and external tools should be validated before making this hands-on in customer environments.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Calculation group authoring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the numbered callouts to connect UI elements to the lab instructions.</a:t>
            </a:r>
          </a:p>
        </p:txBody>
      </p:sp>
      <p:pic>
        <p:nvPicPr>
          <p:cNvPr id="5" name="Picture 4" descr="CalculationGroups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099709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234440"/>
            <a:ext cx="448056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0" y="1234440"/>
            <a:ext cx="100584" cy="960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76288" y="1380744"/>
            <a:ext cx="416052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Callout flow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1 Model tab → 2 Calculation groups → 3 Name → 4 Column → 5 Items → 6 First item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514600"/>
            <a:ext cx="448056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2514600"/>
            <a:ext cx="100584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76288" y="2660904"/>
            <a:ext cx="416052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Instructor prompt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Ask students why calculation groups require explicit measures and why implicit drag-and-drop aggregations are discouraged.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794760"/>
            <a:ext cx="448056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3794760"/>
            <a:ext cx="100584" cy="96012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6288" y="3941064"/>
            <a:ext cx="416052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Student check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Can learners explain why one calculation group can apply to Sales Amount and Gross Margin?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Report UX: make the report guide the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Good UX helps users decide what to do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2461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00584" cy="1143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80744"/>
            <a:ext cx="2926079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Drillthrough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Move from summary to detail.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2461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100584" cy="1143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380744"/>
            <a:ext cx="2926079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Tooltips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Add context without clutter.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2461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1234440"/>
            <a:ext cx="100584" cy="1143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380744"/>
            <a:ext cx="2926079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Bookmarks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Create guided interactions.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26080"/>
            <a:ext cx="32461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926080"/>
            <a:ext cx="100584" cy="1143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072384"/>
            <a:ext cx="2926079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Navigation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Make movement intentional.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926080"/>
            <a:ext cx="32461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926080"/>
            <a:ext cx="100584" cy="1143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7" y="3072384"/>
            <a:ext cx="2926079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Accessibility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Make reports usable for more people.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926080"/>
            <a:ext cx="32461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2926080"/>
            <a:ext cx="100584" cy="1143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3072384"/>
            <a:ext cx="2926079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Mobile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Prioritize for smaller screens.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Field parameters vs disconnected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Two patterns solve similar user needs in different 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5166360" cy="3154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100584" cy="3154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426463"/>
            <a:ext cx="4846320" cy="29535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Native field parameters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Best when users need to switch actual measures or dimensions in a visual. Power BI creates metadata that visuals understand natively.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166360" cy="3154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100584" cy="3154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426463"/>
            <a:ext cx="4846320" cy="29535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Disconnected selector + SWITCH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Best for teaching and custom logic. A slicer filters a disconnected table; DAX reads the selection and returns a measure.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5074920"/>
            <a:ext cx="9692640" cy="685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60" y="5074920"/>
            <a:ext cx="100584" cy="68580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1328" y="5221224"/>
            <a:ext cx="9372600" cy="4846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Teaching point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Field parameters are a UX feature. Disconnected selectors are a DAX interaction pattern. Comparing both builds deeper understanding.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Deeper challenge: disconnected metric selector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Power Query can create the selector table; DAX makes it interactive.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20040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0584" cy="1417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80744"/>
            <a:ext cx="2880360" cy="12161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Build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Create a Metric Selector table with Metric and SortOrder columns.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320040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234440"/>
            <a:ext cx="100584" cy="1417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380744"/>
            <a:ext cx="2880360" cy="12161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Measure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Use SELECTEDVALUE + SWITCH to return the selected metric.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234440"/>
            <a:ext cx="320040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1234440"/>
            <a:ext cx="100584" cy="1417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1380744"/>
            <a:ext cx="2880360" cy="12161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Compare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Contrast custom DAX logic with native field parameters.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06240"/>
            <a:ext cx="1042416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06240"/>
            <a:ext cx="100584" cy="91440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52544"/>
            <a:ext cx="10104120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Reflection questions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Which pattern is easier to create? Which is easier to explain? Which gives more control? What happens to formatting?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Performance: improve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Teach learners to measure before changing the report.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564891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100584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20824"/>
            <a:ext cx="2244851" cy="8046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Baseline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Use Performance Analyzer</a:t>
            </a:r>
          </a:p>
        </p:txBody>
      </p:sp>
      <p:sp>
        <p:nvSpPr>
          <p:cNvPr id="9" name="Oval 8"/>
          <p:cNvSpPr/>
          <p:nvPr/>
        </p:nvSpPr>
        <p:spPr>
          <a:xfrm>
            <a:off x="3442715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2715" y="1874519"/>
            <a:ext cx="2564891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2715" y="1874519"/>
            <a:ext cx="100584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3884" y="2020824"/>
            <a:ext cx="2244851" cy="8046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Diagnose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Separate DAX time from visual rendering</a:t>
            </a:r>
          </a:p>
        </p:txBody>
      </p:sp>
      <p:sp>
        <p:nvSpPr>
          <p:cNvPr id="13" name="Oval 12"/>
          <p:cNvSpPr/>
          <p:nvPr/>
        </p:nvSpPr>
        <p:spPr>
          <a:xfrm>
            <a:off x="6153912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874519"/>
            <a:ext cx="2564891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874519"/>
            <a:ext cx="100584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2020824"/>
            <a:ext cx="2244851" cy="8046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Change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Remove noise or rewrite logic</a:t>
            </a:r>
          </a:p>
        </p:txBody>
      </p:sp>
      <p:sp>
        <p:nvSpPr>
          <p:cNvPr id="17" name="Oval 16"/>
          <p:cNvSpPr/>
          <p:nvPr/>
        </p:nvSpPr>
        <p:spPr>
          <a:xfrm>
            <a:off x="8865108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5108" y="1874519"/>
            <a:ext cx="2564891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5108" y="1874519"/>
            <a:ext cx="100584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6276" y="2020824"/>
            <a:ext cx="2244851" cy="8046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Compare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Document before and after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709160"/>
            <a:ext cx="987552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4709160"/>
            <a:ext cx="100584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4855464"/>
            <a:ext cx="9555480" cy="6675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users care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Performance work protects adoption. A report that is slow or unpredictable will not become part of the business workflow.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Security: design access intentionally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RLS is not just a checkbox; it is a tested access 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8328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00584" cy="1417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80744"/>
            <a:ext cx="3063240" cy="12161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Static RLS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Simple roles such as East Region teach the filter concept.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234440"/>
            <a:ext cx="338328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234440"/>
            <a:ext cx="100584" cy="1417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380744"/>
            <a:ext cx="3063240" cy="12161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Dynamic RLS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Mapping tables connect users to territories or segments.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34440"/>
            <a:ext cx="338328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234440"/>
            <a:ext cx="100584" cy="1417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380744"/>
            <a:ext cx="3063240" cy="12161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Testing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View as role and document expected vs. actual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97680"/>
            <a:ext cx="1033272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100584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443984"/>
            <a:ext cx="10012680" cy="6675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Builds on the model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Security depends on correct relationships. If the model is ambiguous, RLS is harder to reason about.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Instructor facilitation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the same rhythm for each deeper lesson.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095804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100584" cy="960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20824"/>
            <a:ext cx="1775764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Introduce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What is the pattern?</a:t>
            </a:r>
          </a:p>
        </p:txBody>
      </p:sp>
      <p:sp>
        <p:nvSpPr>
          <p:cNvPr id="9" name="Oval 8"/>
          <p:cNvSpPr/>
          <p:nvPr/>
        </p:nvSpPr>
        <p:spPr>
          <a:xfrm>
            <a:off x="2836468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6468" y="1874519"/>
            <a:ext cx="2095804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6468" y="1874519"/>
            <a:ext cx="100584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7636" y="2020824"/>
            <a:ext cx="1775764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Demo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Where is it in Power BI?</a:t>
            </a:r>
          </a:p>
        </p:txBody>
      </p:sp>
      <p:sp>
        <p:nvSpPr>
          <p:cNvPr id="13" name="Oval 12"/>
          <p:cNvSpPr/>
          <p:nvPr/>
        </p:nvSpPr>
        <p:spPr>
          <a:xfrm>
            <a:off x="5078577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8577" y="1874519"/>
            <a:ext cx="2095804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8577" y="1874519"/>
            <a:ext cx="100584" cy="960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9745" y="2020824"/>
            <a:ext cx="1775764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Build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Students create it</a:t>
            </a:r>
          </a:p>
        </p:txBody>
      </p:sp>
      <p:sp>
        <p:nvSpPr>
          <p:cNvPr id="17" name="Oval 16"/>
          <p:cNvSpPr/>
          <p:nvPr/>
        </p:nvSpPr>
        <p:spPr>
          <a:xfrm>
            <a:off x="7320686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20686" y="1874519"/>
            <a:ext cx="2095804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20686" y="1874519"/>
            <a:ext cx="100584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1854" y="2020824"/>
            <a:ext cx="1775764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Validate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Test in a simple visual</a:t>
            </a:r>
          </a:p>
        </p:txBody>
      </p:sp>
      <p:sp>
        <p:nvSpPr>
          <p:cNvPr id="21" name="Oval 20"/>
          <p:cNvSpPr/>
          <p:nvPr/>
        </p:nvSpPr>
        <p:spPr>
          <a:xfrm>
            <a:off x="9562795" y="14173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62795" y="1874519"/>
            <a:ext cx="2095804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62795" y="1874519"/>
            <a:ext cx="100584" cy="960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63963" y="2020824"/>
            <a:ext cx="1775764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Reflect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Compare tradeoffs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800600"/>
            <a:ext cx="10332720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800600"/>
            <a:ext cx="100584" cy="77724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946904"/>
            <a:ext cx="1001268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Instructor reminder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Keep optional or tenant-dependent features clearly labeled. A conceptual review is better than a broken hands-on lab.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Sources: data prep and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Official Microsoft documentation for deeper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80744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Query M language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https://learn.microsoft.com/powerquery-m/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84248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30552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Query parameters in Power Query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https://learn.microsoft.com/power-query/power-query-query-parameters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34056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734056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88036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Error handling in Power Query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https://learn.microsoft.com/power-query/dealing-with-errors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83863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83863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630168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Star schema guidance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https://learn.microsoft.com/power-bi/guidance/star-schema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33672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233672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379976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Model relationships in Power BI Desktop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https://learn.microsoft.com/power-bi/transform-model/desktop-relationships-understand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Sources: DAX and report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Official Microsoft documentation for deeper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80744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Calculation groups in Power BI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https://learn.microsoft.com/power-bi/transform-model/calculation-groups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84248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30552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DAX SELECTEDVALUE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https://learn.microsoft.com/dax/selectedvalue-function-dax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34056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734056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88036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DAX SWITCH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https://learn.microsoft.com/dax/switch-function-dax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83863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83863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630168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Field parameters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https://learn.microsoft.com/power-bi/create-reports/power-bi-field-parameters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33672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233672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379976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Performance Analyzer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https://learn.microsoft.com/power-bi/create-reports/desktop-performance-analyzer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700" b="1">
                <a:solidFill>
                  <a:srgbClr val="1E2761"/>
                </a:solidFill>
                <a:latin typeface="Aptos Display"/>
              </a:defRPr>
            </a:pPr>
            <a:r>
              <a:t>Sources: security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Official Microsoft documentation for deeper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80744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Row-level security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https://learn.microsoft.com/fabric/security/service-admin-row-level-security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84248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30552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Project files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https://learn.microsoft.com/power-bi/developer/projects/projects-overview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34056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734056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88036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TMDL overview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https://learn.microsoft.com/analysis-services/tmdl/tmdl-overview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83863"/>
            <a:ext cx="1083564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83863"/>
            <a:ext cx="10058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630168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guidance documentation</a:t>
            </a:r>
          </a:p>
          <a:p>
            <a:pPr>
              <a:spcBef>
                <a:spcPts val="6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https://learn.microsoft.com/power-bi/guidance/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Advanced Factory: Deeper Lessons Teaching Deck</dc:title>
  <dc:subject>Student-facing teaching deck for advanced Power BI lab themes</dc:subject>
  <dc:creator>Power BI Advanced Factory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