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Semantic Modeling -- full topic detail:</a:t>
            </a:r>
          </a:p>
          <a:p/>
          <a:p>
            <a:r>
              <a:t>01.1 Star Schema From First Principles</a:t>
            </a:r>
          </a:p>
          <a:p>
            <a:r>
              <a:t>Why it matters: A correct grain and a clean fact/dimension split is the single decision that determines whether every later measure is easy or painful to write.</a:t>
            </a:r>
          </a:p>
          <a:p>
            <a:r>
              <a:t>  - Grain First — Decide what one row of the fact table represents before building anything else.</a:t>
            </a:r>
          </a:p>
          <a:p>
            <a:r>
              <a:t>  - Facts Vs Dimensions — Facts hold numbers and foreign keys; dimensions hold the descriptive context used to slice them.</a:t>
            </a:r>
          </a:p>
          <a:p>
            <a:r>
              <a:t>  - Flat Tables Break At Scale — A wide flat table works for a demo, but duplicates dimension data and breaks distinct-count and filter logic at scale.</a:t>
            </a:r>
          </a:p>
          <a:p>
            <a:r>
              <a:t>  - Refactor Live, Not Theory — Refactoring a flat table into a star schema is demonstrated live, not just described.</a:t>
            </a:r>
          </a:p>
          <a:p/>
          <a:p>
            <a:r>
              <a:t>01.2 Relationships That Don't Fight You</a:t>
            </a:r>
          </a:p>
          <a:p>
            <a:r>
              <a:t>Why it matters: Most 'DAX bugs' reported by learners later in the program are actually relationship design problems -- ambiguous filter paths, wrong cardinality, or a missing role-playing dimension.</a:t>
            </a:r>
          </a:p>
          <a:p>
            <a:r>
              <a:t>  - Dedicated Date Tables Per Role — Role-playing dimensions (e.g., order date vs. ship date) need their own dedicated date tables and active relationships.</a:t>
            </a:r>
          </a:p>
          <a:p>
            <a:r>
              <a:t>  - Bridge Tables Resolve Many-To-Many — Resolve many-to-many relationships without duplicating fact rows.</a:t>
            </a:r>
          </a:p>
          <a:p>
            <a:r>
              <a:t>  - Import Plus DirectQuery Deliberately — Composite models mix Import and DirectQuery deliberately -- know which tables need which mode and why.</a:t>
            </a:r>
          </a:p>
          <a:p>
            <a:r>
              <a:t>  - Bidirectional Filtering Is Situational — A tool for specific problems, not a default setting.</a:t>
            </a:r>
          </a:p>
          <a:p/>
          <a:p>
            <a:r>
              <a:t>01.3 Models Built For Growth</a:t>
            </a:r>
          </a:p>
          <a:p>
            <a:r>
              <a:t>Why it matters: A model that works great with 50,000 test rows can fall over with 50 million production rows -- and by then it's expensive to fix.</a:t>
            </a:r>
          </a:p>
          <a:p>
            <a:r>
              <a:t>  - Plan Incremental Refresh Early — Large fact tables need a plan for incremental refresh before they need it operationally.</a:t>
            </a:r>
          </a:p>
          <a:p>
            <a:r>
              <a:t>  - Cardinality Choices Compound — Cardinality and column choices made early determine how much the model can grow before performance suffers.</a:t>
            </a:r>
          </a:p>
          <a:p>
            <a:r>
              <a:t>  - Composite And Aggregations — Composite and aggregation strategies let a model stay fast without giving up detail entirely.</a:t>
            </a:r>
          </a:p>
          <a:p>
            <a:r>
              <a:t>  - Maintainable Means Handoff-Ready — 'Maintainable' means the next person on the team can understand the model too, not just the original author.</a:t>
            </a:r>
          </a:p>
          <a:p/>
          <a:p>
            <a:r>
              <a:t>01.4 Role-Playing Dimensions</a:t>
            </a:r>
          </a:p>
          <a:p>
            <a:r>
              <a:t>Why it matters: The same fact table often needs to be sliced by more than one date -- order date, ship date, invoice date -- and without a deliberate pattern for that, a model quietly loses the ability to analyze more than one of them at once.</a:t>
            </a:r>
          </a:p>
          <a:p>
            <a:r>
              <a:t>  - One Date, Many Business Events — Order date, ship date, and invoice date all relate to “a date,” but they represent different business events and need independent filtering.</a:t>
            </a:r>
          </a:p>
          <a:p>
            <a:r>
              <a:t>  - Duplicate The Date Dimension — Duplicating the date dimension (one table per role) keeps every relationship simple, active, and easy to reason about.</a:t>
            </a:r>
          </a:p>
          <a:p>
            <a:r>
              <a:t>  - USERELATIONSHIP As Alternative — The alternative -- one shared date table with USERELATIONSHIP activated per measure -- trades table count for DAX complexity.</a:t>
            </a:r>
          </a:p>
          <a:p>
            <a:r>
              <a:t>  - Skipping Doesn't Skip The Problem — Skipping this pattern doesn't remove the need for it; it just means the gap shows up later as a broken or missing analysis.</a:t>
            </a:r>
          </a:p>
          <a:p/>
          <a:p>
            <a:r>
              <a:t>01.5 Bridge Tables &amp; Composite Models</a:t>
            </a:r>
          </a:p>
          <a:p>
            <a:r>
              <a:t>Why it matters: Many-to-many relationships and mixed storage modes are two of the most common reasons a “simple” model turns into a support ticket -- both have a right pattern, and both punish shortcuts.</a:t>
            </a:r>
          </a:p>
          <a:p>
            <a:r>
              <a:t>  - Bridge Tables Prevent Duplication — A bridge table resolves many-to-many relationships (a customer in multiple segments) without duplicating fact rows or filtering ambiguity.</a:t>
            </a:r>
          </a:p>
          <a:p>
            <a:r>
              <a:t>  - Never Wire Bridge To Fact — Never relate a bridge table directly into a fact table -- it filters through its related dimensions, not around them.</a:t>
            </a:r>
          </a:p>
          <a:p>
            <a:r>
              <a:t>  - Composite Mode Matching — Composite models mix Import and DirectQuery deliberately, matching each table's mode to its actual freshness and performance need.</a:t>
            </a:r>
          </a:p>
          <a:p>
            <a:r>
              <a:t>  - Judgment Call, Not Default — Both patterns are judgment calls, not defaults -- know when they solve a real problem versus when they add unnecessary complexity.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DAX -- full topic detail:</a:t>
            </a:r>
          </a:p>
          <a:p/>
          <a:p>
            <a:r>
              <a:t>02.1 Context, Demystified</a:t>
            </a:r>
          </a:p>
          <a:p>
            <a:r>
              <a:t>Why it matters: Almost every 'my measure gives a wrong number' problem is actually a filter-context or row-context misunderstanding -- once this clicks, most DAX bugs become diagnosable in seconds.</a:t>
            </a:r>
          </a:p>
          <a:p>
            <a:r>
              <a:t>  - Row Vs Filter Context — Row context exists inside iterators (SUMX, FILTER); filter context comes from visuals, slicers, and CALCULATE.</a:t>
            </a:r>
          </a:p>
          <a:p>
            <a:r>
              <a:t>  - CALCULATE Transitions Context — CALCULATE is the tool that transitions row context into filter context -- this is the concept, not the syntax, to teach.</a:t>
            </a:r>
          </a:p>
          <a:p>
            <a:r>
              <a:t>  - Card Vs Matrix Totals — The same measure can return different totals in a card vs. a matrix because the filter context is different, not because the measure is broken.</a:t>
            </a:r>
          </a:p>
          <a:p>
            <a:r>
              <a:t>  - Test Measures In Simple Tables — Every new measure should be tested in a simple table visual before trusting it in a complex one.</a:t>
            </a:r>
          </a:p>
          <a:p/>
          <a:p>
            <a:r>
              <a:t>02.2 Patterns That Hold Up Under Scrutiny</a:t>
            </a:r>
          </a:p>
          <a:p>
            <a:r>
              <a:t>Why it matters: Time intelligence and ranking measures are the ones stakeholders actually stare at during a business review -- they need to be right and explainable, not just plausible-looking.</a:t>
            </a:r>
          </a:p>
          <a:p>
            <a:r>
              <a:t>  - Marked Date Table Foundation — Time intelligence functions rely on a proper, contiguous marked date table -- this is where Module 1's foundation pays off.</a:t>
            </a:r>
          </a:p>
          <a:p>
            <a:r>
              <a:t>  - Semi-Additive Needs Explicit Handling — Semi-additive measures (e.g., ending balance) need explicit handling; they don't sum correctly across time by default.</a:t>
            </a:r>
          </a:p>
          <a:p>
            <a:r>
              <a:t>  - RANKX With Hand-Checked Validation — Dynamic Top N/ranking measures should be built with RANKX and validated against a static, hand-checked example.</a:t>
            </a:r>
          </a:p>
          <a:p>
            <a:r>
              <a:t>  - Calculation Groups Reduce Duplication — Calculation groups reduce measure duplication when the same time-intelligence logic applies to many base measures.</a:t>
            </a:r>
          </a:p>
          <a:p/>
          <a:p>
            <a:r>
              <a:t>02.3 Measures That Perform</a:t>
            </a:r>
          </a:p>
          <a:p>
            <a:r>
              <a:t>Why it matters: A correct measure that takes eight seconds to render is still a support ticket waiting to happen -- performance is part of correctness in a production report.</a:t>
            </a:r>
          </a:p>
          <a:p>
            <a:r>
              <a:t>  - Name Steps With VAR — Use VAR to name intermediate results -- it clarifies logic and can prevent redundant evaluation.</a:t>
            </a:r>
          </a:p>
          <a:p>
            <a:r>
              <a:t>  - Diagnose Before Guessing — Diagnose slow measures with the query plan and Performance Analyzer before guessing at a fix.</a:t>
            </a:r>
          </a:p>
          <a:p>
            <a:r>
              <a:t>  - Iterators Are Common Culprits — Iterators (SUMX, FILTER) over large tables are the most common source of slow DAX -- know when a simpler aggregation will do.</a:t>
            </a:r>
          </a:p>
          <a:p>
            <a:r>
              <a:t>  - Correct First, Then Fast — Validate correctness first, then optimize -- a fast wrong answer is worse than a slow right one.</a:t>
            </a:r>
          </a:p>
          <a:p/>
          <a:p>
            <a:r>
              <a:t>02.4 Filter Modification Functions</a:t>
            </a:r>
          </a:p>
          <a:p>
            <a:r>
              <a:t>Why it matters: ALL, REMOVEFILTERS, ALLEXCEPT, and TREATAS are the tools that let a measure deliberately override the filter context around it -- used well, they solve real business questions; used carelessly, they're where “% of total” measures quietly go wrong.</a:t>
            </a:r>
          </a:p>
          <a:p>
            <a:r>
              <a:t>  - ALL And REMOVEFILTERS Clear Everything — ALL and REMOVEFILTERS clear filters entirely, which is exactly what a “% of grand total” measure needs and exactly what breaks a measure that should stay filtered.</a:t>
            </a:r>
          </a:p>
          <a:p>
            <a:r>
              <a:t>  - ALLEXCEPT Keeps Specific Filters — ALLEXCEPT keeps specific filters while clearing everything else -- useful, but easy to misuse if the “kept” columns aren't chosen deliberately.</a:t>
            </a:r>
          </a:p>
          <a:p>
            <a:r>
              <a:t>  - KEEPFILTERS Adds, Not Replaces — KEEPFILTERS adds filters instead of replacing them, a subtle distinction that changes results inside CALCULATE.</a:t>
            </a:r>
          </a:p>
          <a:p>
            <a:r>
              <a:t>  - TREATAS For Virtual Relationships — TREATAS applies a filter from one table's values onto another without a physical relationship -- powerful, but it should be a deliberate exception, not a workaround for bad model design.</a:t>
            </a:r>
          </a:p>
          <a:p/>
          <a:p>
            <a:r>
              <a:t>02.5 Production-Ready DAX</a:t>
            </a:r>
          </a:p>
          <a:p>
            <a:r>
              <a:t>Why it matters: A measure that's correct in isolation can still be a production risk if nobody validated it against edge cases or documented what “correct” even means for that number.</a:t>
            </a:r>
          </a:p>
          <a:p>
            <a:r>
              <a:t>  - Catch Cheap Mistakes Early — Common mistakes -- implicit measures, unhandled blanks, and divide-by-zero -- are cheap to catch before a report ships and expensive to explain after it doesn't.</a:t>
            </a:r>
          </a:p>
          <a:p>
            <a:r>
              <a:t>  - Validate Against Hand-Checked Examples — Check every new measure against a hand-checked example, not just a plausible-looking total.</a:t>
            </a:r>
          </a:p>
          <a:p>
            <a:r>
              <a:t>  - Document Non-Obvious Logic — Document the business logic and assumptions behind non-obvious measures so the next author doesn't have to reverse-engineer them.</a:t>
            </a:r>
          </a:p>
          <a:p>
            <a:r>
              <a:t>  - Trustworthy And Maintainable — “Production-ready” means a measure a stakeholder can trust and a teammate can maintain -- not just one that returns a number.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Power Query -- full topic detail:</a:t>
            </a:r>
          </a:p>
          <a:p/>
          <a:p>
            <a:r>
              <a:t>03.1 Staged, Parameterized Pipelines</a:t>
            </a:r>
          </a:p>
          <a:p>
            <a:r>
              <a:t>Why it matters: A query pipeline built from named, staged steps and parameters can move from dev to test to production data sources in minutes instead of a manual rebuild.</a:t>
            </a:r>
          </a:p>
          <a:p>
            <a:r>
              <a:t>  - Parameters Isolate Environments — Parameters isolate source paths/connections so the same pipeline works across environments.</a:t>
            </a:r>
          </a:p>
          <a:p>
            <a:r>
              <a:t>  - Staged Query Layers — Staging queries (raw → staged → final) make each transformation step reviewable in isolation.</a:t>
            </a:r>
          </a:p>
          <a:p>
            <a:r>
              <a:t>  - Custom Functions Eliminate Duplication — Custom functions eliminate copy-pasted steps across similar queries -- one function, many callers.</a:t>
            </a:r>
          </a:p>
          <a:p>
            <a:r>
              <a:t>  - Step Names As Documentation — Descriptive step names turn the Applied Steps pane into documentation, not a mystery.</a:t>
            </a:r>
          </a:p>
          <a:p/>
          <a:p>
            <a:r>
              <a:t>03.2 Query Folding And Performance</a:t>
            </a:r>
          </a:p>
          <a:p>
            <a:r>
              <a:t>Why it matters: When folding breaks silently, the query still returns correct results -- it just pulls every row into memory and transforms it locally, which can turn a 30-second refresh into a 30-minute one.</a:t>
            </a:r>
          </a:p>
          <a:p>
            <a:r>
              <a:t>  - Folding Pushes Work Down — Folding means Power Query translates steps into a query the source executes natively (e.g., SQL).</a:t>
            </a:r>
          </a:p>
          <a:p>
            <a:r>
              <a:t>  - Steps That Break Folding — Certain steps (custom columns with complex logic, some merges) can break folding -- know which ones.</a:t>
            </a:r>
          </a:p>
          <a:p>
            <a:r>
              <a:t>  - View Native Query Often — Use 'View Native Query' or step-by-step inspection to confirm folding is still happening after each transformation.</a:t>
            </a:r>
          </a:p>
          <a:p>
            <a:r>
              <a:t>  - Deliberate Local Processing — When folding isn't possible, decide deliberately where local processing happens rather than discovering it by accident.</a:t>
            </a:r>
          </a:p>
          <a:p/>
          <a:p>
            <a:r>
              <a:t>03.3 Data Quality As A First-Class Step</a:t>
            </a:r>
          </a:p>
          <a:p>
            <a:r>
              <a:t>Why it matters: Silently dropped or coerced bad rows are one of the most dangerous failure modes in a BI solution -- the report looks fine and the numbers are simply wrong.</a:t>
            </a:r>
          </a:p>
          <a:p>
            <a:r>
              <a:t>  - Explicit Error-Review Query — Build an explicit error-review query that captures rows failing type conversion or business rules instead of discarding them.</a:t>
            </a:r>
          </a:p>
          <a:p>
            <a:r>
              <a:t>  - Reusable Cleansing Functions — Cleansing functions (e.g., text normalization) should be reusable and applied consistently across sources.</a:t>
            </a:r>
          </a:p>
          <a:p>
            <a:r>
              <a:t>  - Decide The Invalid-Row Policy — Decide and document what happens to invalid rows: excluded, corrected, or flagged for manual review.</a:t>
            </a:r>
          </a:p>
          <a:p>
            <a:r>
              <a:t>  - Errors Are A Report Artifact — Treat the error-review query as a report artifact stakeholders can see, not just a developer scratch pad.</a:t>
            </a:r>
          </a:p>
          <a:p/>
          <a:p>
            <a:r>
              <a:t>03.4 Native Queries and Source Systems</a:t>
            </a:r>
          </a:p>
          <a:p>
            <a:r>
              <a:t>Why it matters: Understanding what a source system actually receives -- not just what Power Query displays -- is what separates a query that scales from one that quietly overloads its source every refresh.</a:t>
            </a:r>
          </a:p>
          <a:p>
            <a:r>
              <a:t>  - See The Actual Statement — “View Native Query” shows the exact statement sent to the source, confirming folding is happening and revealing what the source will actually execute.</a:t>
            </a:r>
          </a:p>
          <a:p>
            <a:r>
              <a:t>  - Not Every Source Folds — Some source systems (APIs, flat files) can't fold at all -- know which of your sources can and design around the ones that can't.</a:t>
            </a:r>
          </a:p>
          <a:p>
            <a:r>
              <a:t>  - Security Checkpoint Too — Native query review is also a security checkpoint: it shows exactly what credentials and permissions a refresh depends on.</a:t>
            </a:r>
          </a:p>
          <a:p>
            <a:r>
              <a:t>  - Respect Source System Limits — Treat the source system's own limits (rate limits, connection pools) as a real design constraint, not an afterthought.</a:t>
            </a:r>
          </a:p>
          <a:p/>
          <a:p>
            <a:r>
              <a:t>03.5 Incremental Refresh Preparation</a:t>
            </a:r>
          </a:p>
          <a:p>
            <a:r>
              <a:t>Why it matters: Incremental refresh only works if the query is built to support it from the start -- retrofitting it onto an existing pipeline after the fact usually means redesigning the query, not just flipping a setting.</a:t>
            </a:r>
          </a:p>
          <a:p>
            <a:r>
              <a:t>  - Reliable Last-Modified Column — A reliable, indexed “last modified” or date column is the foundation every incremental refresh policy depends on.</a:t>
            </a:r>
          </a:p>
          <a:p>
            <a:r>
              <a:t>  - Wire RangeStart And RangeEnd — Parameters that define the refresh window (RangeStart/RangeEnd) need to be wired into the query's filtering logic, not just declared.</a:t>
            </a:r>
          </a:p>
          <a:p>
            <a:r>
              <a:t>  - Confirm Folding After Parameters — Confirm the query still folds correctly once range parameters are added -- a parameter that breaks folding defeats the purpose.</a:t>
            </a:r>
          </a:p>
          <a:p>
            <a:r>
              <a:t>  - Foundation For Module 5 — Preparing for incremental refresh here is what makes Module 5's refresh strategy possible later.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Design &amp; UX -- full topic detail:</a:t>
            </a:r>
          </a:p>
          <a:p/>
          <a:p>
            <a:r>
              <a:t>04.1 Guided Interaction Patterns</a:t>
            </a:r>
          </a:p>
          <a:p>
            <a:r>
              <a:t>Why it matters: Users don't read instructions -- the report itself has to teach them where to click and what will happen when they do.</a:t>
            </a:r>
          </a:p>
          <a:p>
            <a:r>
              <a:t>  - Drillthrough For Detail — Drillthrough pages answer 'tell me more about this one thing' without cluttering the main view.</a:t>
            </a:r>
          </a:p>
          <a:p>
            <a:r>
              <a:t>  - Bookmarks Capture State — Bookmarks capture a specific state (filters, visibility, selections) that can be recalled with one click.</a:t>
            </a:r>
          </a:p>
          <a:p>
            <a:r>
              <a:t>  - Tooltips Add Context — Custom tooltips replace a bare number with context -- a mini visual, a trend, a comparison.</a:t>
            </a:r>
          </a:p>
          <a:p>
            <a:r>
              <a:t>  - Make Navigation Obvious — Navigation should be visibly obvious, not just technically functional -- users won't discover a hidden feature.</a:t>
            </a:r>
          </a:p>
          <a:p/>
          <a:p>
            <a:r>
              <a:t>04.2 Hierarchies, Drill &amp; Groups</a:t>
            </a:r>
          </a:p>
          <a:p>
            <a:r>
              <a:t>Why it matters: A hierarchy lets one visual answer 'show me the summary' and 'show me exactly why' without building a separate visual or page for every level of detail.</a:t>
            </a:r>
          </a:p>
          <a:p>
            <a:r>
              <a:t>  - Build Hierarchies Once — Hierarchies (e.g., Category &gt; Subcategory &gt; Product) are built once in the model and reused across every visual that needs them.</a:t>
            </a:r>
          </a:p>
          <a:p>
            <a:r>
              <a:t>  - Drill Up And Down — Drill-down moves a single visual deeper into its own hierarchy; drill-up reverses it -- both stay on the same visual.</a:t>
            </a:r>
          </a:p>
          <a:p>
            <a:r>
              <a:t>  - Drill Across Visuals — Drill-across sends a selection to a different visual or page (via drillthrough or cross-report drill), showing related detail in a different context.</a:t>
            </a:r>
          </a:p>
          <a:p>
            <a:r>
              <a:t>  - Groups And Bins — Groups and bins collapse many raw values into meaningful buckets (an 'Other' category, price bands) without changing the underlying data.</a:t>
            </a:r>
          </a:p>
          <a:p>
            <a:r>
              <a:t>  - Show Next Level Deliberately — Turn on 'Show next level' and 'Expand all' deliberately -- they change how a user explores versus click-drills one level at a time.</a:t>
            </a:r>
          </a:p>
          <a:p/>
          <a:p>
            <a:r>
              <a:t>04.3 Flexible By Design</a:t>
            </a:r>
          </a:p>
          <a:p>
            <a:r>
              <a:t>Why it matters: Field parameters turn one page into several reports' worth of value, which matters enormously when report sprawl is already a real governance problem in most organizations.</a:t>
            </a:r>
          </a:p>
          <a:p>
            <a:r>
              <a:t>  - Field Parameters Swap Fields — Field parameters let users swap the measure or dimension a visual is built on, without duplicating pages.</a:t>
            </a:r>
          </a:p>
          <a:p>
            <a:r>
              <a:t>  - Dynamic Titles Reflect Selection — Dynamic titles that reflect the current selection make a flexible page still feel intentional, not generic.</a:t>
            </a:r>
          </a:p>
          <a:p>
            <a:r>
              <a:t>  - Fewer, More Flexible Pages — Fewer, more flexible pages are easier to maintain and govern than many near-duplicate ones.</a:t>
            </a:r>
          </a:p>
          <a:p>
            <a:r>
              <a:t>  - Sensible Defaults Still Matter — Flexibility should still have sensible defaults -- 'infinitely customizable' isn't the same as 'usable.'</a:t>
            </a:r>
          </a:p>
          <a:p/>
          <a:p>
            <a:r>
              <a:t>04.4 Built For Every Screen And Every User</a:t>
            </a:r>
          </a:p>
          <a:p>
            <a:r>
              <a:t>Why it matters: A report that only works well on a widescreen monitor for a sighted user with perfect color vision has quietly excluded a meaningful share of its actual audience.</a:t>
            </a:r>
          </a:p>
          <a:p>
            <a:r>
              <a:t>  - Mobile Is A Separate Pass — Mobile layout is a separate design pass, not an automatic resize of the desktop layout.</a:t>
            </a:r>
          </a:p>
          <a:p>
            <a:r>
              <a:t>  - Formatting With Meaning — Conditional formatting should communicate meaning (status, threshold, direction), not just add color.</a:t>
            </a:r>
          </a:p>
          <a:p>
            <a:r>
              <a:t>  - Accessibility Review Before Ship — An accessibility review checks tab order, alt text, and color contrast before a report ships.</a:t>
            </a:r>
          </a:p>
          <a:p>
            <a:r>
              <a:t>  - Design For Edge Cases — Design for the edge-case user (screen reader, phone, colorblind) and the default experience improves for everyone.</a:t>
            </a:r>
          </a:p>
          <a:p/>
          <a:p>
            <a:r>
              <a:t>04.5 Audience-Driven Design</a:t>
            </a:r>
          </a:p>
          <a:p>
            <a:r>
              <a:t>Why it matters: A report built for “everyone” usually serves no one well -- an executive scanning for one number and an analyst investigating a trend need fundamentally different layouts, not the same page with more filters.</a:t>
            </a:r>
          </a:p>
          <a:p>
            <a:r>
              <a:t>  - Start With The Audience — Start every report with a specific primary audience and their first question, not a blank canvas and a list of available fields.</a:t>
            </a:r>
          </a:p>
          <a:p>
            <a:r>
              <a:t>  - Shared Model, Different Layouts — An executive summary page and an analyst detail page can share a model without sharing a layout.</a:t>
            </a:r>
          </a:p>
          <a:p>
            <a:r>
              <a:t>  - Match The Audience — Visual density, color use, and interactivity should match how sophisticated and how busy the actual audience is.</a:t>
            </a:r>
          </a:p>
          <a:p>
            <a:r>
              <a:t>  - Ask Who And Why First — Ask “who opens this and what do they need to decide” before placing a single visual.</a:t>
            </a:r>
          </a:p>
          <a:p/>
          <a:p>
            <a:r>
              <a:t>04.6 Slicers and Filters as Design Tools</a:t>
            </a:r>
          </a:p>
          <a:p>
            <a:r>
              <a:t>Why it matters: Slicers and filters are the primary way users interact with a report -- placed and scoped carelessly, they create confusion (does this filter the whole page or just one visual?) faster than any visual design choice.</a:t>
            </a:r>
          </a:p>
          <a:p>
            <a:r>
              <a:t>  - Filter Scope Is A Choice — Filter scope (visual, page, or report level) should be a deliberate choice, communicated clearly, not left to default behavior.</a:t>
            </a:r>
          </a:p>
          <a:p>
            <a:r>
              <a:t>  - Sync Slicers Carefully — Sync slicers across pages only when the same filter should logically apply everywhere -- otherwise it creates surprising side effects.</a:t>
            </a:r>
          </a:p>
          <a:p>
            <a:r>
              <a:t>  - Too Many Slicers — Too many slicers on one page is itself a design smell -- it often means the report is trying to answer too many questions at once.</a:t>
            </a:r>
          </a:p>
          <a:p>
            <a:r>
              <a:t>  - Default Filter State Matters — A well-designed default filter state matters as much as the slicers themselves -- users judge a report by what they see first.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Optimization -- full topic detail:</a:t>
            </a:r>
          </a:p>
          <a:p/>
          <a:p>
            <a:r>
              <a:t>05.1 Evidence Before Optimization</a:t>
            </a:r>
          </a:p>
          <a:p>
            <a:r>
              <a:t>Why it matters: Optimizing based on a guess wastes time and can make performance worse -- a baseline turns 'this feels slow' into 'this specific visual takes 4.2 seconds because of this specific query.'</a:t>
            </a:r>
          </a:p>
          <a:p>
            <a:r>
              <a:t>  - Break Down Load Time — Performance Analyzer breaks down visual load time into DAX query time, visual display time, and other time.</a:t>
            </a:r>
          </a:p>
          <a:p>
            <a:r>
              <a:t>  - DAX Studio For Isolation — DAX Studio shows the underlying query and server timings for a measure in isolation.</a:t>
            </a:r>
          </a:p>
          <a:p>
            <a:r>
              <a:t>  - Change One Thing At A Time — Capture the baseline, change exactly one thing, and re-measure -- don't change five things and hope.</a:t>
            </a:r>
          </a:p>
          <a:p>
            <a:r>
              <a:t>  - Not Every Problem Is DAX — Some 'performance problems' are actually visual count or interaction problems, not DAX problems at all.</a:t>
            </a:r>
          </a:p>
          <a:p/>
          <a:p>
            <a:r>
              <a:t>05.2 Model Size Is A Design Decision</a:t>
            </a:r>
          </a:p>
          <a:p>
            <a:r>
              <a:t>Why it matters: Reducing an unnecessary column's cardinality or removing an unused column can shrink a model more than any DAX tweak -- and it costs nothing at query time once it's done.</a:t>
            </a:r>
          </a:p>
          <a:p>
            <a:r>
              <a:t>  - Watch High-Cardinality Columns — High-cardinality columns (e.g., unique IDs, full timestamps) are expensive -- keep only what's needed at the grain required.</a:t>
            </a:r>
          </a:p>
          <a:p>
            <a:r>
              <a:t>  - Aggregation Tables For Speed — Aggregation tables serve common high-level queries fast while detail tables remain available for drill-down.</a:t>
            </a:r>
          </a:p>
          <a:p>
            <a:r>
              <a:t>  - Composite For Freshness — Composite models let a subset of tables use DirectQuery for freshness while the rest stay in-memory for speed.</a:t>
            </a:r>
          </a:p>
          <a:p>
            <a:r>
              <a:t>  - Column Removal Wins — Column removal and cardinality reduction are usually the highest-leverage, lowest-risk performance wins available.</a:t>
            </a:r>
          </a:p>
          <a:p/>
          <a:p>
            <a:r>
              <a:t>05.3 Refresh Strategy At Scale</a:t>
            </a:r>
          </a:p>
          <a:p>
            <a:r>
              <a:t>Why it matters: A report that takes 20 minutes to refresh isn't just annoying -- it delays every downstream decision that depends on the data being current, and it can hit capacity or gateway limits outright.</a:t>
            </a:r>
          </a:p>
          <a:p>
            <a:r>
              <a:t>  - Incremental Refresh Partitions — Incremental refresh only reprocesses new or changed partitions instead of the entire table.</a:t>
            </a:r>
          </a:p>
          <a:p>
            <a:r>
              <a:t>  - Match Source Change Patterns — Refresh policy design (partition ranges, detection columns) has to match how the source data actually changes.</a:t>
            </a:r>
          </a:p>
          <a:p>
            <a:r>
              <a:t>  - Licensing Sets The Ceiling — Licensing and capacity tier determine what refresh options and frequency are even available.</a:t>
            </a:r>
          </a:p>
          <a:p>
            <a:r>
              <a:t>  - Document The Strategy — A refresh strategy should be documented, not just configured -- the next owner needs to understand why it's set up this way.</a:t>
            </a:r>
          </a:p>
          <a:p/>
          <a:p>
            <a:r>
              <a:t>05.4 Visual and Rendering Performance</a:t>
            </a:r>
          </a:p>
          <a:p>
            <a:r>
              <a:t>Why it matters: Some “slow report” complaints have nothing to do with DAX or the model at all -- too many visuals on a page, unnecessary interactions, and heavy custom visuals can dominate load time on their own.</a:t>
            </a:r>
          </a:p>
          <a:p>
            <a:r>
              <a:t>  - Every Visual Fires A Query — Every visual on a page issues its own query -- fewer, more purposeful visuals often outperform a dense dashboard of small ones.</a:t>
            </a:r>
          </a:p>
          <a:p>
            <a:r>
              <a:t>  - Custom Visuals Cost Time — Custom and R/Python visuals typically render slower than native visuals -- use them where they add real value, not by default.</a:t>
            </a:r>
          </a:p>
          <a:p>
            <a:r>
              <a:t>  - Trim Cross-Highlighting — Disabling unnecessary cross-highlighting and interactions reduces the number of queries fired on every click.</a:t>
            </a:r>
          </a:p>
          <a:p>
            <a:r>
              <a:t>  - Confirm The Real Bottleneck — Performance Analyzer separates DAX time from visual display time -- confirm which one is actually the bottleneck before optimizing the wrong thing.</a:t>
            </a:r>
          </a:p>
          <a:p/>
          <a:p>
            <a:r>
              <a:t>05.5 DirectQuery and Hybrid Patterns</a:t>
            </a:r>
          </a:p>
          <a:p>
            <a:r>
              <a:t>Why it matters: DirectQuery trades import-mode speed for live data -- a hybrid (composite) model lets a team choose that tradeoff table-by-table instead of accepting it for an entire model.</a:t>
            </a:r>
          </a:p>
          <a:p>
            <a:r>
              <a:t>  - DirectQuery Runs Live — DirectQuery queries the source live on every interaction, so source performance becomes the report's performance.</a:t>
            </a:r>
          </a:p>
          <a:p>
            <a:r>
              <a:t>  - Composite For Hybrid Freshness — Composite models let high-value, fast-changing tables use DirectQuery while stable, high-volume tables stay in Import mode.</a:t>
            </a:r>
          </a:p>
          <a:p>
            <a:r>
              <a:t>  - Aggregations Front Detail — Aggregation tables can sit in Import mode in front of a DirectQuery detail table, serving common queries fast while keeping full detail available.</a:t>
            </a:r>
          </a:p>
          <a:p>
            <a:r>
              <a:t>  - Choose For Real Freshness Needs — Choose DirectQuery for freshness requirements that actually exist today, not as a default “just in case” setting.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Analytics &amp; AI -- full topic detail:</a:t>
            </a:r>
          </a:p>
          <a:p/>
          <a:p>
            <a:r>
              <a:t>06.1 What-If, Not Just What-Happened</a:t>
            </a:r>
          </a:p>
          <a:p>
            <a:r>
              <a:t>Why it matters: A what-if parameter turns a static report into a decision tool -- stakeholders can test 'what if margin improves 2%' live instead of asking an analyst to rebuild the report for every scenario.</a:t>
            </a:r>
          </a:p>
          <a:p>
            <a:r>
              <a:t>  - Parameter-Driven Scenarios — What-if parameters generate a slicer-driven value that flows into a measure's calculation.</a:t>
            </a:r>
          </a:p>
          <a:p>
            <a:r>
              <a:t>  - Show The Before And After — Pair the parameter with a clear before/after visual so the impact of the scenario is immediately obvious.</a:t>
            </a:r>
          </a:p>
          <a:p>
            <a:r>
              <a:t>  - Document The Assumption — Document the assumption behind the scenario -- a number without its underlying assumption is easy to misread.</a:t>
            </a:r>
          </a:p>
          <a:p>
            <a:r>
              <a:t>  - Universally Available Analytics — This is the most universally available advanced analytics feature -- it works the same way across clouds.</a:t>
            </a:r>
          </a:p>
          <a:p/>
          <a:p>
            <a:r>
              <a:t>06.2 The Analytics Visual Toolkit</a:t>
            </a:r>
          </a:p>
          <a:p>
            <a:r>
              <a:t>Why it matters: Decomposition trees, forecasting, and key influencers answer 'why' and 'what's next,' not just 'what happened' -- that's a fundamentally different, higher-value conversation with stakeholders.</a:t>
            </a:r>
          </a:p>
          <a:p>
            <a:r>
              <a:t>  - Decomposition Trees Explore Drivers — Decomposition trees let users explore what's driving a metric interactively, without pre-building every breakdown.</a:t>
            </a:r>
          </a:p>
          <a:p>
            <a:r>
              <a:t>  - Forecasting With Intervals — Forecasting visuals project a trend forward with a confidence interval, not a false-precision single number.</a:t>
            </a:r>
          </a:p>
          <a:p>
            <a:r>
              <a:t>  - Key Influencers — Key influencers surface which factors most affect an outcome, using statistical analysis under the hood.</a:t>
            </a:r>
          </a:p>
          <a:p>
            <a:r>
              <a:t>  - Confirm Cloud Availability — These visuals are commonly Commercial-cloud features -- confirm availability before building a delivery plan around them.</a:t>
            </a:r>
          </a:p>
          <a:p/>
          <a:p>
            <a:r>
              <a:t>06.3 AI-Assisted Authoring, Used Deliberately</a:t>
            </a:r>
          </a:p>
          <a:p>
            <a:r>
              <a:t>Why it matters: Python/R visuals and Azure ML integration open real analytical power, but they also introduce dependencies (package policy, network, identity, region) that can quietly break a report outside a Commercial tenant.</a:t>
            </a:r>
          </a:p>
          <a:p>
            <a:r>
              <a:t>  - Python And R Visuals — Python/R visuals require Desktop configuration and depend on organizational package policy in the Service.</a:t>
            </a:r>
          </a:p>
          <a:p>
            <a:r>
              <a:t>  - Azure ML Prerequisites — Azure Machine Learning integration depends on cloud, region, workspace, network, and identity configuration all lining up.</a:t>
            </a:r>
          </a:p>
          <a:p>
            <a:r>
              <a:t>  - Validated, Not Assumed — Treat these features as 'available if validated,' not 'available by default' -- confirm in the actual delivery tenant.</a:t>
            </a:r>
          </a:p>
          <a:p>
            <a:r>
              <a:t>  - Teach The Concept Anyway — Where these aren't available, teach the underlying concept and workflow even if the hands-on lab isn't possible.</a:t>
            </a:r>
          </a:p>
          <a:p/>
          <a:p>
            <a:r>
              <a:t>06.4 Anomaly Detection</a:t>
            </a:r>
          </a:p>
          <a:p>
            <a:r>
              <a:t>Why it matters: A trend line shows what happened; anomaly detection flags the one point that doesn't fit the pattern -- often the exact moment a stakeholder actually needed to know about.</a:t>
            </a:r>
          </a:p>
          <a:p>
            <a:r>
              <a:t>  - Statistical, Not Just Visual — Anomaly detection highlights points in a time series that fall outside an expected statistical range, not just visually obvious spikes.</a:t>
            </a:r>
          </a:p>
          <a:p>
            <a:r>
              <a:t>  - Clean Time Series Required — It works best on a clean, contiguous time series -- the same date table discipline from Module 1 pays off here too.</a:t>
            </a:r>
          </a:p>
          <a:p>
            <a:r>
              <a:t>  - Humans Explain Anomalies — Flagged anomalies need a human explanation attached (a promotion, an outage, a data error) -- the feature finds them, it doesn't explain them.</a:t>
            </a:r>
          </a:p>
          <a:p>
            <a:r>
              <a:t>  - Prompt Investigation, Don't Decide — Use it to prompt investigation, not to make an automated judgment call the business should make itself.</a:t>
            </a:r>
          </a:p>
          <a:p/>
          <a:p>
            <a:r>
              <a:t>06.5 Copilot in Power BI and Fabric</a:t>
            </a:r>
          </a:p>
          <a:p>
            <a:r>
              <a:t>Why it matters: Copilot can draft a report, summarize a page, or explain a visual in plain language -- but it works from the model it's given, so a well-governed semantic model is what makes its answers trustworthy instead of just plausible-sounding.</a:t>
            </a:r>
          </a:p>
          <a:p>
            <a:r>
              <a:t>  - Model Quality Drives Copilot — Copilot's output quality depends directly on model quality -- clear naming, descriptions, and a clean star schema from Module 1 make it dramatically more useful.</a:t>
            </a:r>
          </a:p>
          <a:p>
            <a:r>
              <a:t>  - First Draft, Not Final — Treat Copilot-generated visuals and summaries as a fast first draft to review, not a final, unreviewed answer.</a:t>
            </a:r>
          </a:p>
          <a:p>
            <a:r>
              <a:t>  - Confirm Tenant Availability — Availability and tenant settings for Copilot features vary by licensing and cloud -- confirm what's enabled before planning a delivery around it.</a:t>
            </a:r>
          </a:p>
          <a:p>
            <a:r>
              <a:t>  - Governance Still Applies — Copilot changes how reports get built, not what makes a report correct -- validation and governance still apply.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Design -- full topic detail:</a:t>
            </a:r>
          </a:p>
          <a:p/>
          <a:p>
            <a:r>
              <a:t>07.1 Static And Dynamic RLS</a:t>
            </a:r>
          </a:p>
          <a:p>
            <a:r>
              <a:t>Why it matters: Choosing the wrong RLS pattern for the organization's scale means either constant manual role maintenance or an overengineered dynamic model nobody can audit.</a:t>
            </a:r>
          </a:p>
          <a:p>
            <a:r>
              <a:t>  - Static RLS Is Simple — Static RLS assigns fixed filter values per role -- simple, auditable, but doesn't scale past a small number of roles.</a:t>
            </a:r>
          </a:p>
          <a:p>
            <a:r>
              <a:t>  - Dynamic RLS Uses Identity — Dynamic RLS derives the filter from the logged-in user's identity against a security mapping table.</a:t>
            </a:r>
          </a:p>
          <a:p>
            <a:r>
              <a:t>  - Dynamic Scales, With Tradeoffs — Dynamic RLS scales far better but is harder to test and requires a well-maintained user-to-permission mapping table.</a:t>
            </a:r>
          </a:p>
          <a:p>
            <a:r>
              <a:t>  - Choose For Actual Group Count — Choose the pattern based on how many distinct access groups actually exist today and realistically will in two years.</a:t>
            </a:r>
          </a:p>
          <a:p/>
          <a:p>
            <a:r>
              <a:t>07.2 Testing Security Like A User Would</a:t>
            </a:r>
          </a:p>
          <a:p>
            <a:r>
              <a:t>Why it matters: An RLS role that looks correct in the DAX editor can still leak data in practice -- the only real test is viewing the report exactly as that user would see it.</a:t>
            </a:r>
          </a:p>
          <a:p>
            <a:r>
              <a:t>  - View As Roles In Desktop — Use 'View As Roles' in Desktop to preview the report exactly as a given role would experience it.</a:t>
            </a:r>
          </a:p>
          <a:p>
            <a:r>
              <a:t>  - Test In The Service Too — Test in the Service too -- Desktop and Service can behave differently depending on gateway and dataset configuration.</a:t>
            </a:r>
          </a:p>
          <a:p>
            <a:r>
              <a:t>  - Cover Every Page And Tooltip — Check every visual and every drillthrough/tooltip page under each role, not just the main landing page.</a:t>
            </a:r>
          </a:p>
          <a:p>
            <a:r>
              <a:t>  - Negative Testing Matters — Negative testing matters: confirm a role can't see what it shouldn't, not just that it can see what it should.</a:t>
            </a:r>
          </a:p>
          <a:p/>
          <a:p>
            <a:r>
              <a:t>07.3 Where Build Permission Fits In</a:t>
            </a:r>
          </a:p>
          <a:p>
            <a:r>
              <a:t>Why it matters: Build permission on a dataset is powerful and easy to grant too broadly -- and because it bypasses report-level RLS enforcement in certain connection scenarios, understanding it is core to real security design, not a footnote.</a:t>
            </a:r>
          </a:p>
          <a:p>
            <a:r>
              <a:t>  - What Build Permission Grants — Build permission lets a user create new reports against the shared dataset directly.</a:t>
            </a:r>
          </a:p>
          <a:p>
            <a:r>
              <a:t>  - Live Connections Can Bypass RLS — Depending on connection type, a user with Build permission and a live connection can potentially see data outside their intended RLS scope.</a:t>
            </a:r>
          </a:p>
          <a:p>
            <a:r>
              <a:t>  - Grant Sparingly, Understand Fully — Grant Build deliberately and sparingly, understanding exactly what it unlocks for that user.</a:t>
            </a:r>
          </a:p>
          <a:p>
            <a:r>
              <a:t>  - Audit Build Grants Ongoing — Document who has Build permission on sensitive datasets as part of the ongoing governance review, not a one-time setup step.</a:t>
            </a:r>
          </a:p>
          <a:p/>
          <a:p>
            <a:r>
              <a:t>07.4 Object-Level Security (OLS)</a:t>
            </a:r>
          </a:p>
          <a:p>
            <a:r>
              <a:t>Why it matters: RLS hides rows; OLS hides entire tables or columns -- without it, a sensitive column (salary, SSN, margin) is visible to anyone with access to the table, no matter how well the rows are filtered.</a:t>
            </a:r>
          </a:p>
          <a:p>
            <a:r>
              <a:t>  - OLS Restricts Tables And Columns — OLS restricts visibility of specific tables or columns per role, independent of any row-level filtering.</a:t>
            </a:r>
          </a:p>
          <a:p>
            <a:r>
              <a:t>  - Measures Can Leak Hidden Columns — A hidden column can still leak through a measure that references it -- audit dependent measures before hiding a column.</a:t>
            </a:r>
          </a:p>
          <a:p>
            <a:r>
              <a:t>  - Configured Per Role — OLS is configured per role in the model, the same place static and dynamic RLS roles live.</a:t>
            </a:r>
          </a:p>
          <a:p>
            <a:r>
              <a:t>  - Combine RLS And OLS — Combine RLS and OLS deliberately when a role needs both row-level and column-level restriction -- they solve different problems together.</a:t>
            </a:r>
          </a:p>
          <a:p/>
          <a:p>
            <a:r>
              <a:t>07.5 Sensitivity Labels and Purview</a:t>
            </a:r>
          </a:p>
          <a:p>
            <a:r>
              <a:t>Why it matters: A perfectly secured report can still leak data the moment someone exports it to Excel or emails a screenshot -- sensitivity labels and Purview extend protection past the report itself.</a:t>
            </a:r>
          </a:p>
          <a:p>
            <a:r>
              <a:t>  - Labels Travel With The Data — Sensitivity labels (Public, Confidential, Highly Confidential) travel with the data even after export, not just inside the report.</a:t>
            </a:r>
          </a:p>
          <a:p>
            <a:r>
              <a:t>  - Enforce Export Restrictions — Labels can restrict or watermark export, and enforce encryption on downloaded files.</a:t>
            </a:r>
          </a:p>
          <a:p>
            <a:r>
              <a:t>  - Purview Sees The Tenant — Microsoft Purview gives visibility into where sensitive data actually lives and flows across the tenant, not just inside one workspace.</a:t>
            </a:r>
          </a:p>
          <a:p>
            <a:r>
              <a:t>  - Consistency Or Nothing — Labeling is only effective if it's applied consistently -- an unlabeled sensitive dataset is invisible to every downstream control.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 Deployment -- full topic detail:</a:t>
            </a:r>
          </a:p>
          <a:p/>
          <a:p>
            <a:r>
              <a:t>08.1 Publishing With Intent</a:t>
            </a:r>
          </a:p>
          <a:p>
            <a:r>
              <a:t>Why it matters: A workspace strategy decided in advance prevents the all-too-common outcome of dozens of ungoverned personal workspaces holding business-critical reports nobody officially owns.</a:t>
            </a:r>
          </a:p>
          <a:p>
            <a:r>
              <a:t>  - Plan Workspace Structure First — Workspace structure (by team, by domain, by environment) should be decided before reports start accumulating in it.</a:t>
            </a:r>
          </a:p>
          <a:p>
            <a:r>
              <a:t>  - Apps Package Curated Content — Apps package a curated, permissioned view of workspace content for end users, separate from author-facing workspace access.</a:t>
            </a:r>
          </a:p>
          <a:p>
            <a:r>
              <a:t>  - Deployment Pipelines Across Stages — Deployment pipelines move content through dev/test/production stages without manual re-publishing at each step.</a:t>
            </a:r>
          </a:p>
          <a:p>
            <a:r>
              <a:t>  - Publish With An Owner — Publishing should be a deliberate act with an owner, not an ad hoc click whenever a report 'feels done.'</a:t>
            </a:r>
          </a:p>
          <a:p/>
          <a:p>
            <a:r>
              <a:t>08.2 Refresh You Can Trust</a:t>
            </a:r>
          </a:p>
          <a:p>
            <a:r>
              <a:t>Why it matters: A dashboard nobody trusts because it silently failed to refresh last Tuesday is worse than no dashboard at all -- it actively misleads decisions.</a:t>
            </a:r>
          </a:p>
          <a:p>
            <a:r>
              <a:t>  - Monitor, Don't Just Schedule — Scheduled refresh needs monitoring, not just configuration -- know how failures are surfaced and to whom.</a:t>
            </a:r>
          </a:p>
          <a:p>
            <a:r>
              <a:t>  - Gateways Fail Silently — Gateway configuration and credentials are common points of silent failure; document them clearly.</a:t>
            </a:r>
          </a:p>
          <a:p>
            <a:r>
              <a:t>  - Check Refresh Proactively — Build a habit of checking refresh history proactively rather than waiting for a user to report stale data.</a:t>
            </a:r>
          </a:p>
          <a:p>
            <a:r>
              <a:t>  - Alerts To Someone Who Acts — Failure alerts should go to someone who can act, not just to an inbox nobody monitors.</a:t>
            </a:r>
          </a:p>
          <a:p/>
          <a:p>
            <a:r>
              <a:t>08.3 A Repeatable Release Process</a:t>
            </a:r>
          </a:p>
          <a:p>
            <a:r>
              <a:t>Why it matters: Moving a report from 'my test version' to 'the production version everyone relies on' without a defined process is how untested changes end up in front of executives.</a:t>
            </a:r>
          </a:p>
          <a:p>
            <a:r>
              <a:t>  - Separate Dev, Test, Production — Define distinct dev, test, and production environments -- even a lightweight version of this separation helps.</a:t>
            </a:r>
          </a:p>
          <a:p>
            <a:r>
              <a:t>  - Release Checklist Beats Memory — A release checklist (RLS tested, refresh validated, visuals reviewed) turns tribal memory into a repeatable process.</a:t>
            </a:r>
          </a:p>
          <a:p>
            <a:r>
              <a:t>  - Same Outcome Every Time — Deployment pipelines or a documented manual process should produce the same outcome regardless of who runs it.</a:t>
            </a:r>
          </a:p>
          <a:p>
            <a:r>
              <a:t>  - Process Prevents Skipping — The goal isn't heavyweight process for its own sake -- it's making sure nothing important gets skipped under deadline pressure.</a:t>
            </a:r>
          </a:p>
          <a:p/>
          <a:p>
            <a:r>
              <a:t>08.4 Shared Semantic Models and Thin Reports</a:t>
            </a:r>
          </a:p>
          <a:p>
            <a:r>
              <a:t>Why it matters: Rebuilding the same measures in every new report is how organizations end up with five different definitions of “revenue” -- a shared model with thin reports on top of it is the fix.</a:t>
            </a:r>
          </a:p>
          <a:p>
            <a:r>
              <a:t>  - One Model, Many Reports — A shared semantic model is built and governed once; multiple thin reports connect live to it instead of duplicating its logic.</a:t>
            </a:r>
          </a:p>
          <a:p>
            <a:r>
              <a:t>  - Thin Reports Prevent Drift — Thin reports contain only visuals and layout -- no local measures, no local tables, no drift from the source model.</a:t>
            </a:r>
          </a:p>
          <a:p>
            <a:r>
              <a:t>  - One Number, Everywhere — This pattern is what makes “one number, everywhere” achievable at an organizational scale, not just within a single report.</a:t>
            </a:r>
          </a:p>
          <a:p>
            <a:r>
              <a:t>  - Model Change Management — Changes to the shared model instantly and consistently affect every connected report -- powerful, but it raises the bar on model change management.</a:t>
            </a:r>
          </a:p>
          <a:p/>
          <a:p>
            <a:r>
              <a:t>08.5 Endorsement: Promoted vs Certified</a:t>
            </a:r>
          </a:p>
          <a:p>
            <a:r>
              <a:t>Why it matters: Without endorsement, every dataset and report looks equally trustworthy in the Service -- endorsement is the visible signal that tells users which ones actually are.</a:t>
            </a:r>
          </a:p>
          <a:p>
            <a:r>
              <a:t>  - Promoted Is Self-Service — “Promoted” means the content owner vouches for it -- a lightweight, self-service signal of quality.</a:t>
            </a:r>
          </a:p>
          <a:p>
            <a:r>
              <a:t>  - Certified Passes Formal Review — “Certified” means it passed a formal organizational review -- a stronger signal reserved for content that meets a defined bar.</a:t>
            </a:r>
          </a:p>
          <a:p>
            <a:r>
              <a:t>  - Gate Certification Seriously — Certification should be gated by an actual review process, not handed out to keep authors happy.</a:t>
            </a:r>
          </a:p>
          <a:p>
            <a:r>
              <a:t>  - Endorsement Aids Discovery — Endorsement status directly affects discoverability -- users can search and filter for certified content first.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Monitoring, Administration &amp; Governance -- full topic detail:</a:t>
            </a:r>
          </a:p>
          <a:p/>
          <a:p>
            <a:r>
              <a:t>09.1 Usage As A Signal</a:t>
            </a:r>
          </a:p>
          <a:p>
            <a:r>
              <a:t>Why it matters: Usage metrics tell you which reports are actually load-bearing for the organization and which ones are quietly abandoned -- both are equally important to know.</a:t>
            </a:r>
          </a:p>
          <a:p>
            <a:r>
              <a:t>  - Usage Metrics Reports — Usage metrics reports show views, unique users, and trends over time per report and workspace.</a:t>
            </a:r>
          </a:p>
          <a:p>
            <a:r>
              <a:t>  - Declining Usage Is A Signal — A report with declining usage may be broken, outdated, or simply superseded -- investigate rather than assume.</a:t>
            </a:r>
          </a:p>
          <a:p>
            <a:r>
              <a:t>  - Fresh And Actually Used — Refresh history read alongside usage tells you whether a heavily used report is also a reliably fresh one.</a:t>
            </a:r>
          </a:p>
          <a:p>
            <a:r>
              <a:t>  - Retire With Data — Use usage data to justify retiring reports, not just to justify building new ones.</a:t>
            </a:r>
          </a:p>
          <a:p/>
          <a:p>
            <a:r>
              <a:t>09.2 Tenant Settings With Intention</a:t>
            </a:r>
          </a:p>
          <a:p>
            <a:r>
              <a:t>Why it matters: Tenant settings control organization-wide capabilities like external sharing and export -- getting them wrong is either a security exposure or an unnecessary blocker on legitimate work.</a:t>
            </a:r>
          </a:p>
          <a:p>
            <a:r>
              <a:t>  - Owner Per Setting — Every tenant setting should have a known owner and a documented reason for its current configuration.</a:t>
            </a:r>
          </a:p>
          <a:p>
            <a:r>
              <a:t>  - Export Vs Security Tension — Export and sharing settings are common areas where security and usability pull in opposite directions.</a:t>
            </a:r>
          </a:p>
          <a:p>
            <a:r>
              <a:t>  - Review Before Changing — Changes to tenant settings should go through the same review rigor as any other security-relevant change.</a:t>
            </a:r>
          </a:p>
          <a:p>
            <a:r>
              <a:t>  - Scheduled Setting Reviews — Review tenant settings on a schedule -- they drift out of alignment with actual organizational need over time.</a:t>
            </a:r>
          </a:p>
          <a:p/>
          <a:p>
            <a:r>
              <a:t>09.3 An Operations Runbook That Outlives You</a:t>
            </a:r>
          </a:p>
          <a:p>
            <a:r>
              <a:t>Why it matters: Governance that lives only in one administrator's head disappears the day that person changes roles -- a written runbook is what makes governance durable.</a:t>
            </a:r>
          </a:p>
          <a:p>
            <a:r>
              <a:t>  - Document The Why — Document the 'why' behind key decisions (workspace structure, tenant settings, RLS patterns), not just the 'what.'</a:t>
            </a:r>
          </a:p>
          <a:p>
            <a:r>
              <a:t>  - Specific Enough To Follow Alone — A runbook should be specific enough that a new administrator could follow it without asking the previous owner.</a:t>
            </a:r>
          </a:p>
          <a:p>
            <a:r>
              <a:t>  - Update On A Cadence — Review and update the runbook on a cadence -- stale documentation is almost as risky as no documentation.</a:t>
            </a:r>
          </a:p>
          <a:p>
            <a:r>
              <a:t>  - Runbook Is A Governed Artifact — Treat the runbook itself as a governed artifact with an owner and a review date.</a:t>
            </a:r>
          </a:p>
          <a:p/>
          <a:p>
            <a:r>
              <a:t>09.4 Activity and Audit Logs</a:t>
            </a:r>
          </a:p>
          <a:p>
            <a:r>
              <a:t>Why it matters: When something goes wrong -- a dataset deleted, permissions changed, data exported unexpectedly -- the activity log is the only reliable record of who did what and when.</a:t>
            </a:r>
          </a:p>
          <a:p>
            <a:r>
              <a:t>  - Activity Log Coverage — The activity log captures user actions across the tenant: views, exports, sharing changes, and administrative actions.</a:t>
            </a:r>
          </a:p>
          <a:p>
            <a:r>
              <a:t>  - Know Queries Before Incidents — Audit logs support both security investigations and compliance reporting -- know how to query them before an incident, not during one.</a:t>
            </a:r>
          </a:p>
          <a:p>
            <a:r>
              <a:t>  - Log Retention Is Governance — Retention and access to these logs is itself a governance decision that needs an owner and a documented policy.</a:t>
            </a:r>
          </a:p>
          <a:p>
            <a:r>
              <a:t>  - Review, Don't Just React — Regularly reviewing logs (not just reacting to them) surfaces risky patterns -- like broad, unexpected sharing -- before they become incidents.</a:t>
            </a:r>
          </a:p>
          <a:p/>
          <a:p>
            <a:r>
              <a:t>09.5 Purview and Data Loss Prevention</a:t>
            </a:r>
          </a:p>
          <a:p>
            <a:r>
              <a:t>Why it matters: Governance that only works inside Power BI has a blind spot -- Purview and DLP extend policy enforcement to wherever the data actually travels next, including outside the tenant.</a:t>
            </a:r>
          </a:p>
          <a:p>
            <a:r>
              <a:t>  - Purview Beyond Power BI — Microsoft Purview catalogs sensitive data across the broader Microsoft 365 and Azure estate, not just Power BI content.</a:t>
            </a:r>
          </a:p>
          <a:p>
            <a:r>
              <a:t>  - DLP Acts Automatically — Data Loss Prevention (DLP) policies can automatically detect and act on sensitive data leaving approved boundaries.</a:t>
            </a:r>
          </a:p>
          <a:p>
            <a:r>
              <a:t>  - Labels Plus DLP — Combining sensitivity labels with DLP turns a passive label into an enforced, active control.</a:t>
            </a:r>
          </a:p>
          <a:p>
            <a:r>
              <a:t>  - Organization-Wide Compliance — This is where Power BI governance connects to organization-wide compliance -- it's not a Power BI-only concern.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Premium, Fabric &amp; Capacity Architecture -- full topic detail:</a:t>
            </a:r>
          </a:p>
          <a:p/>
          <a:p>
            <a:r>
              <a:t>10.1 Capacity Models Compared</a:t>
            </a:r>
          </a:p>
          <a:p>
            <a:r>
              <a:t>Why it matters: The 'right' capacity tier depends on workload shape (refresh frequency, concurrent users, dataset size), not just budget -- picking based on price alone often causes a costly re-architecture later.</a:t>
            </a:r>
          </a:p>
          <a:p>
            <a:r>
              <a:t>  - Shared Capacity Has Limits — Shared capacity is fine for smaller, less demanding workloads but has real limits on refresh frequency and dataset size.</a:t>
            </a:r>
          </a:p>
          <a:p>
            <a:r>
              <a:t>  - Premium And Fabric Unlock Scale — Premium/Fabric capacity unlocks larger datasets, more frequent refresh, and dedicated performance, at a cost tradeoff.</a:t>
            </a:r>
          </a:p>
          <a:p>
            <a:r>
              <a:t>  - Map Workload To Tier — Map actual workload characteristics (concurrency, data volume, refresh needs) to capacity tiers before committing.</a:t>
            </a:r>
          </a:p>
          <a:p>
            <a:r>
              <a:t>  - Migration Isn't Free — Capacity decisions are reversible but not free -- migrating workloads after the fact has real cost and effort.</a:t>
            </a:r>
          </a:p>
          <a:p/>
          <a:p>
            <a:r>
              <a:t>10.2 Fabric-Aware Design</a:t>
            </a:r>
          </a:p>
          <a:p>
            <a:r>
              <a:t>Why it matters: OneLake and Direct Lake change some long-held assumptions about when data needs to be imported versus queried live -- modeling decisions made without this context can be needlessly conservative.</a:t>
            </a:r>
          </a:p>
          <a:p>
            <a:r>
              <a:t>  - OneLake Shared Storage — OneLake provides a single, shared storage layer that multiple Fabric workloads can reference without duplication.</a:t>
            </a:r>
          </a:p>
          <a:p>
            <a:r>
              <a:t>  - Direct Lake Performance — Direct Lake mode can deliver near-Import-mode performance while querying data directly from OneLake.</a:t>
            </a:r>
          </a:p>
          <a:p>
            <a:r>
              <a:t>  - Don't Rebuild Everything — Not every existing modeling pattern needs to change for Fabric -- but new projects should evaluate it deliberately.</a:t>
            </a:r>
          </a:p>
          <a:p>
            <a:r>
              <a:t>  - Fabric Adoption Prerequisites — Fabric adoption is itself an architecture decision with tenant, licensing, and readiness prerequisites to confirm first.</a:t>
            </a:r>
          </a:p>
          <a:p/>
          <a:p>
            <a:r>
              <a:t>10.3 Planning For Growth, Not Just Today</a:t>
            </a:r>
          </a:p>
          <a:p>
            <a:r>
              <a:t>Why it matters: An architecture that comfortably handles today's data volume and user count can become the org's biggest technical debt the moment either one grows tenfold.</a:t>
            </a:r>
          </a:p>
          <a:p>
            <a:r>
              <a:t>  - Plan For 10x Scale — Ask 'what does this look like at 10x scale' as a standard part of any new architecture decision.</a:t>
            </a:r>
          </a:p>
          <a:p>
            <a:r>
              <a:t>  - Know The Breaking Points — Capacity, refresh strategy, and model design all have breaking points -- know roughly where they are before hitting them.</a:t>
            </a:r>
          </a:p>
          <a:p>
            <a:r>
              <a:t>  - Review On A Cadence — Plan a capacity/architecture review cadence rather than only revisiting it after something breaks.</a:t>
            </a:r>
          </a:p>
          <a:p>
            <a:r>
              <a:t>  - Proactive Beats Reactive — Growth planning is cheaper before the system is load-bearing than after -- treat it as proactive work, not reactive firefighting.</a:t>
            </a:r>
          </a:p>
          <a:p/>
          <a:p>
            <a:r>
              <a:t>10.4 XMLA Endpoint</a:t>
            </a:r>
          </a:p>
          <a:p>
            <a:r>
              <a:t>Why it matters: The XMLA endpoint turns a Power BI semantic model into something external tools can connect to directly -- it's what makes enterprise-grade model management (version control, scripted deployment, external validation) possible at all.</a:t>
            </a:r>
          </a:p>
          <a:p>
            <a:r>
              <a:t>  - XMLA Connects External Tools — XMLA read/write access lets tools like Tabular Editor and ALM Toolkit connect to a published model exactly like a tabular database.</a:t>
            </a:r>
          </a:p>
          <a:p>
            <a:r>
              <a:t>  - Enables DevOps On The Service — This is the mechanism that makes Module 11's external-tool and DevOps workflows possible on models already in the Service.</a:t>
            </a:r>
          </a:p>
          <a:p>
            <a:r>
              <a:t>  - Read-Only For Other BI Tools — Read-only XMLA access also lets other BI tools query a Power BI model as a data source.</a:t>
            </a:r>
          </a:p>
          <a:p>
            <a:r>
              <a:t>  - Premium Or Fabric Required — XMLA access requires Premium or Fabric capacity and the right tenant setting -- confirm both before planning around it.</a:t>
            </a:r>
          </a:p>
          <a:p/>
          <a:p>
            <a:r>
              <a:t>10.5 Paginated Reports</a:t>
            </a:r>
          </a:p>
          <a:p>
            <a:r>
              <a:t>Why it matters: Some deliverables -- regulatory filings, invoices, multi-page statements -- need pixel-perfect, printable layouts that a standard Power BI canvas was never designed to produce.</a:t>
            </a:r>
          </a:p>
          <a:p>
            <a:r>
              <a:t>  - Print-Ready Layouts — Paginated reports (built in Report Builder) render precise, print-ready layouts that flow correctly across page boundaries.</a:t>
            </a:r>
          </a:p>
          <a:p>
            <a:r>
              <a:t>  - Reuse Semantic Models — They can run against the same shared semantic models used by interactive Power BI reports -- no separate data layer required.</a:t>
            </a:r>
          </a:p>
          <a:p>
            <a:r>
              <a:t>  - For Fixed-Format Documents — Use paginated reports specifically for fixed-format, high-volume, or exportable documents, not as a general reporting default.</a:t>
            </a:r>
          </a:p>
          <a:p>
            <a:r>
              <a:t>  - Different Capacity And Licensing — Paginated report capacity and licensing requirements differ from interactive reports -- confirm availability before committing a delivery plan.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Automation, DevOps &amp; Lifecycle Management -- full topic detail:</a:t>
            </a:r>
          </a:p>
          <a:p/>
          <a:p>
            <a:r>
              <a:t>11.1 PBIP And Version Control</a:t>
            </a:r>
          </a:p>
          <a:p>
            <a:r>
              <a:t>Why it matters: A binary PBIX file is a black box to source control -- PBIP's plain-text project structure is what makes real code review and collaboration on a Power BI file possible.</a:t>
            </a:r>
          </a:p>
          <a:p>
            <a:r>
              <a:t>  - Readable Folders Beat Binary — PBIP splits a report and model into readable folders and files instead of one opaque binary.</a:t>
            </a:r>
          </a:p>
          <a:p>
            <a:r>
              <a:t>  - Meaningful Git Diffs — Plain-text definitions mean Git can show a meaningful diff -- what actually changed, not just 'the file changed.'</a:t>
            </a:r>
          </a:p>
          <a:p>
            <a:r>
              <a:t>  - True Multi-Author Workflow — Multiple authors can work on different parts of the same solution with real merge and review capability.</a:t>
            </a:r>
          </a:p>
          <a:p>
            <a:r>
              <a:t>  - Process Change, Not Just Format — Adopting PBIP is itself a process change for a team, not just a file-format setting to flip once.</a:t>
            </a:r>
          </a:p>
          <a:p/>
          <a:p>
            <a:r>
              <a:t>11.2 External Tools And APIs</a:t>
            </a:r>
          </a:p>
          <a:p>
            <a:r>
              <a:t>Why it matters: The Power BI ecosystem's external tools and REST APIs let teams script and validate things that used to require slow, error-prone manual clicking through the UI.</a:t>
            </a:r>
          </a:p>
          <a:p>
            <a:r>
              <a:t>  - External Tool Ecosystem — External tools (Tabular Editor, DAX Studio, ALM Toolkit) extend what's possible beyond Desktop's built-in UI.</a:t>
            </a:r>
          </a:p>
          <a:p>
            <a:r>
              <a:t>  - REST API For Scripting — The Power BI REST API enables scripted operations -- refresh triggers, dataset metadata, permission audits.</a:t>
            </a:r>
          </a:p>
          <a:p>
            <a:r>
              <a:t>  - Safer Model Migrations — ALM Toolkit-style comparisons make model migrations and merges safer by showing exactly what will change.</a:t>
            </a:r>
          </a:p>
          <a:p>
            <a:r>
              <a:t>  - Automate Repetitive Validation — Automating repetitive validation steps reduces the chance of a manual error during a release.</a:t>
            </a:r>
          </a:p>
          <a:p/>
          <a:p>
            <a:r>
              <a:t>11.3 CI/CD Concepts For BI</a:t>
            </a:r>
          </a:p>
          <a:p>
            <a:r>
              <a:t>Why it matters: Applying deployment-pipeline thinking to semantic models and reports catches breaking changes before they reach production, the same way it does for application code.</a:t>
            </a:r>
          </a:p>
          <a:p>
            <a:r>
              <a:t>  - Automated Validation Before Deploy — A CI/CD mindset for BI means automated validation (does the model still build, do key measures still return expected results) before deployment.</a:t>
            </a:r>
          </a:p>
          <a:p>
            <a:r>
              <a:t>  - Pipelines Reduce Manual Steps — Deployment pipelines or scripted release processes reduce the manual steps that introduce human error.</a:t>
            </a:r>
          </a:p>
          <a:p>
            <a:r>
              <a:t>  - BI Automation Is Emerging — Automated testing for BI is less mature than for application code -- start with what can be automated today and grow from there.</a:t>
            </a:r>
          </a:p>
          <a:p>
            <a:r>
              <a:t>  - Scales Module 8's Process — This module closes the loop with Module 8's repeatable release process -- automation is how that process scales past a handful of reports.</a:t>
            </a:r>
          </a:p>
          <a:p/>
          <a:p>
            <a:r>
              <a:t>11.4 Service Principals for Automation</a:t>
            </a:r>
          </a:p>
          <a:p>
            <a:r>
              <a:t>Why it matters: Scripted deployments and pipelines need an identity to run as -- using a personal account for that is a common shortcut that quietly becomes a security and reliability liability.</a:t>
            </a:r>
          </a:p>
          <a:p>
            <a:r>
              <a:t>  - Application Identity — A service principal is an application identity, separate from any individual's account, used for automated operations.</a:t>
            </a:r>
          </a:p>
          <a:p>
            <a:r>
              <a:t>  - Survives Personnel Change — Automation tied to a personal account breaks the moment that person leaves or changes roles -- a service principal doesn't have that problem.</a:t>
            </a:r>
          </a:p>
          <a:p>
            <a:r>
              <a:t>  - Least Privilege — Grant a service principal only the specific permissions its automation actually needs, following least privilege.</a:t>
            </a:r>
          </a:p>
          <a:p>
            <a:r>
              <a:t>  - Store Secrets In A Vault — Service principal credentials belong in a secrets manager (like Azure Key Vault), never hardcoded in a script or pipeline file.</a:t>
            </a:r>
          </a:p>
          <a:p/>
          <a:p>
            <a:r>
              <a:t>11.5 Fabric Workspace Git Integration</a:t>
            </a:r>
          </a:p>
          <a:p>
            <a:r>
              <a:t>Why it matters: Native Git integration connects a Fabric workspace directly to a repository -- it turns “export, commit, remember to sync” into an actual two-way, trackable connection between the Service and source control.</a:t>
            </a:r>
          </a:p>
          <a:p>
            <a:r>
              <a:t>  - Auto-Sync Workspace To Branch — Workspace items sync to a connected branch automatically, keeping the repository and the live workspace aligned.</a:t>
            </a:r>
          </a:p>
          <a:p>
            <a:r>
              <a:t>  - Built On PBIP Structure — This builds directly on PBIP's plain-text structure -- without it, there'd be nothing meaningful for Git to track.</a:t>
            </a:r>
          </a:p>
          <a:p>
            <a:r>
              <a:t>  - Conflict Resolution Process — Conflicts between workspace changes and repository changes need a clear resolution process, the same as any team Git workflow.</a:t>
            </a:r>
          </a:p>
          <a:p>
            <a:r>
              <a:t>  - Fewer Manual Export Steps — Native integration reduces manual export/import steps, which is exactly where human error tends to creep into a release process.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8.xml"/><Relationship Id="rId4" Type="http://schemas.openxmlformats.org/officeDocument/2006/relationships/slide" Target="slide10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7.xml"/><Relationship Id="rId8" Type="http://schemas.openxmlformats.org/officeDocument/2006/relationships/slide" Target="slide20.xml"/><Relationship Id="rId9" Type="http://schemas.openxmlformats.org/officeDocument/2006/relationships/slide" Target="slide22.xml"/><Relationship Id="rId10" Type="http://schemas.openxmlformats.org/officeDocument/2006/relationships/slide" Target="slide24.xml"/><Relationship Id="rId11" Type="http://schemas.openxmlformats.org/officeDocument/2006/relationships/slide" Target="slide27.xml"/><Relationship Id="rId12" Type="http://schemas.openxmlformats.org/officeDocument/2006/relationships/slide" Target="slide29.xml"/><Relationship Id="rId13" Type="http://schemas.openxmlformats.org/officeDocument/2006/relationships/slide" Target="slide3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8.xml"/><Relationship Id="rId4" Type="http://schemas.openxmlformats.org/officeDocument/2006/relationships/slide" Target="slide10.xml"/><Relationship Id="rId5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.xml"/><Relationship Id="rId3" Type="http://schemas.openxmlformats.org/officeDocument/2006/relationships/slide" Target="slide15.xml"/><Relationship Id="rId4" Type="http://schemas.openxmlformats.org/officeDocument/2006/relationships/slide" Target="slide17.xml"/><Relationship Id="rId5" Type="http://schemas.openxmlformats.org/officeDocument/2006/relationships/slide" Target="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slide" Target="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0.xml"/><Relationship Id="rId3" Type="http://schemas.openxmlformats.org/officeDocument/2006/relationships/slide" Target="slide22.xml"/><Relationship Id="rId4" Type="http://schemas.openxmlformats.org/officeDocument/2006/relationships/slide" Target="slide24.xml"/><Relationship Id="rId5" Type="http://schemas.openxmlformats.org/officeDocument/2006/relationships/slide" Target="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slide" Target="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slide" Target="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slide" Target="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7.xml"/><Relationship Id="rId3" Type="http://schemas.openxmlformats.org/officeDocument/2006/relationships/slide" Target="slide29.xml"/><Relationship Id="rId4" Type="http://schemas.openxmlformats.org/officeDocument/2006/relationships/slide" Target="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slide" Target="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65615" y="-1463040"/>
            <a:ext cx="3657600" cy="3657600"/>
          </a:xfrm>
          <a:prstGeom prst="ellipse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C9962F"/>
                </a:solidFill>
                <a:latin typeface="Calibri"/>
              </a:rPr>
              <a:t>A DATA STORYTELLING &amp; GOVERNANCE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mbria"/>
              </a:rPr>
              <a:t>Advanced Power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88920"/>
            <a:ext cx="1280160" cy="41148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8778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C7D2DD"/>
                </a:solidFill>
                <a:latin typeface="Calibri"/>
              </a:rPr>
              <a:t>From modeling fundamentals to enterprise-grade delivery: an 11-module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C7D2DD"/>
                </a:solidFill>
                <a:latin typeface="Calibri"/>
              </a:rPr>
              <a:t>arc for analysts, BI developers, and platform owners who need Power BI</a:t>
            </a:r>
          </a:p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C7D2DD"/>
                </a:solidFill>
                <a:latin typeface="Calibri"/>
              </a:rPr>
              <a:t>to hold up under real production weight.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9962F"/>
                </a:solidFill>
                <a:latin typeface="Cambria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7D2DD"/>
                </a:solidFill>
                <a:latin typeface="Calibri"/>
              </a:rPr>
              <a:t>Curriculum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48920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9962F"/>
                </a:solidFill>
                <a:latin typeface="Cambria"/>
              </a:rPr>
              <a:t>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532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7D2DD"/>
                </a:solidFill>
                <a:latin typeface="Calibri"/>
              </a:rPr>
              <a:t>Guided 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8920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9962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532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7D2DD"/>
                </a:solidFill>
                <a:latin typeface="Calibri"/>
              </a:rPr>
              <a:t>Capstone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7F"/>
                </a:solidFill>
                <a:latin typeface="Calibri"/>
              </a:rPr>
              <a:t>Program Overview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MEET YOUR INSTRUCTOR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430"/>
                </a:solidFill>
                <a:latin typeface="Cambria"/>
              </a:rPr>
              <a:t>Brandon Campbell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F661E"/>
                </a:solidFill>
                <a:latin typeface="Calibri"/>
              </a:rPr>
              <a:t>Sr. Cloud Solution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0717F"/>
                </a:solidFill>
                <a:latin typeface="Calibri"/>
              </a:rPr>
              <a:t>M.S., Computer Information Systems — Business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12848"/>
            <a:ext cx="914400" cy="3200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6217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B2430"/>
                </a:solidFill>
                <a:latin typeface="Calibri"/>
              </a:rPr>
              <a:t>Brandon brings 22 years of experience as a data analyst and the last 9 years focused specifically on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B2430"/>
                </a:solidFill>
                <a:latin typeface="Calibri"/>
              </a:rPr>
              <a:t>Power BI, helping organizations move from single-author reports to governed, production-grade BI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B2430"/>
                </a:solidFill>
                <a:latin typeface="Calibri"/>
              </a:rPr>
              <a:t>platforms. He is Microsoft Fabric certified and teaches this program the way he builds it for clients: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B2430"/>
                </a:solidFill>
                <a:latin typeface="Calibri"/>
              </a:rPr>
              <a:t>with an eye toward what actually holds up once real data, real users, and real deadlines show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54456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8F661E"/>
                </a:solidFill>
                <a:latin typeface="Cambria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5663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Years as a Data Analyst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4348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454456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8F661E"/>
                </a:solidFill>
                <a:latin typeface="Cambria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505663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Years with Power 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4348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454456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8F661E"/>
                </a:solidFill>
                <a:latin typeface="Cambria"/>
              </a:rPr>
              <a:t>Fabric, Power BI, Data Scientist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05663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Certified Practitioner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868680"/>
            <a:ext cx="4206240" cy="4617720"/>
          </a:xfrm>
          <a:prstGeom prst="roundRect">
            <a:avLst>
              <a:gd name="adj" fmla="val 5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roHeadSho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234440"/>
            <a:ext cx="1584960" cy="2377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80960" y="448056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C7D2DD"/>
                </a:solidFill>
                <a:latin typeface="Cambria"/>
              </a:rPr>
              <a:t>“Taught the way I build it for clients.”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Meet Your Instructor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WHY THIS PROGRAM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B2430"/>
                </a:solidFill>
                <a:latin typeface="Cambria"/>
              </a:rPr>
              <a:t>Most Power BI training stops at chart-building.</a:t>
            </a:r>
          </a:p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B2430"/>
                </a:solidFill>
                <a:latin typeface="Cambria"/>
              </a:rPr>
              <a:t>This one doesn't.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520440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3520440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68880"/>
            <a:ext cx="3008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661E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34640"/>
            <a:ext cx="300837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B2430"/>
                </a:solidFill>
                <a:latin typeface="Cambria"/>
              </a:rPr>
              <a:t>Reports that survive contact with real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931920"/>
            <a:ext cx="30083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60717F"/>
                </a:solidFill>
                <a:latin typeface="Calibri"/>
              </a:rPr>
              <a:t>Large fact tables, messy sources, and slow refreshes expose weak modeling fast. This program builds habits that hold up at scale, not just in a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2148840"/>
            <a:ext cx="3520440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2148840"/>
            <a:ext cx="3520440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468880"/>
            <a:ext cx="3008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661E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00837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B2430"/>
                </a:solidFill>
                <a:latin typeface="Cambria"/>
              </a:rPr>
              <a:t>Governance is part of the design, not an afterthought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931920"/>
            <a:ext cx="30083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60717F"/>
                </a:solidFill>
                <a:latin typeface="Calibri"/>
              </a:rPr>
              <a:t>Row-level security, workspace strategy, and monitoring are taught alongside DAX and visuals -- because a report nobody trusts doesn't get used.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148840"/>
            <a:ext cx="3520440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2148840"/>
            <a:ext cx="3520440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468880"/>
            <a:ext cx="3008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661E"/>
                </a:solidFill>
                <a:latin typeface="Cambr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34640"/>
            <a:ext cx="3008376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B2430"/>
                </a:solidFill>
                <a:latin typeface="Cambria"/>
              </a:rPr>
              <a:t>A path from author to platform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931920"/>
            <a:ext cx="300837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60717F"/>
                </a:solidFill>
                <a:latin typeface="Calibri"/>
              </a:rPr>
              <a:t>Learners move from single-report skills toward the operational and architectural judgment that senior BI roles actually require.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Program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3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CURRICULUM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430"/>
                </a:solidFill>
                <a:latin typeface="Cambria"/>
              </a:rPr>
              <a:t>Four arcs, eleven modules, one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0717F"/>
                </a:solidFill>
                <a:latin typeface="Calibri"/>
              </a:rPr>
              <a:t>Click any module to jump straight there.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724912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24912" cy="457200"/>
          </a:xfrm>
          <a:prstGeom prst="rect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60">
                <a:solidFill>
                  <a:srgbClr val="C9962F"/>
                </a:solidFill>
                <a:latin typeface="Calibri"/>
              </a:rPr>
              <a:t>BUILD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569464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1024128" y="2514600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1. Advanced Semantic Modeling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19272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1024128" y="3264408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2. Advanced DAX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" y="4069080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>
            <a:hlinkClick action="ppaction://hlinksldjump" r:id="rId4"/>
          </p:cNvPr>
          <p:cNvSpPr txBox="1"/>
          <p:nvPr/>
        </p:nvSpPr>
        <p:spPr>
          <a:xfrm>
            <a:off x="1024128" y="4014216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3. Advanced Power 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1828800"/>
            <a:ext cx="2724912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8144" y="1828800"/>
            <a:ext cx="2724912" cy="457200"/>
          </a:xfrm>
          <a:prstGeom prst="rect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8144" y="182880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60">
                <a:solidFill>
                  <a:srgbClr val="C9962F"/>
                </a:solidFill>
                <a:latin typeface="Calibri"/>
              </a:rPr>
              <a:t>PRESENT</a:t>
            </a:r>
          </a:p>
        </p:txBody>
      </p:sp>
      <p:sp>
        <p:nvSpPr>
          <p:cNvPr id="18" name="Oval 17"/>
          <p:cNvSpPr/>
          <p:nvPr/>
        </p:nvSpPr>
        <p:spPr>
          <a:xfrm>
            <a:off x="3694176" y="2569464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5"/>
          </p:cNvPr>
          <p:cNvSpPr txBox="1"/>
          <p:nvPr/>
        </p:nvSpPr>
        <p:spPr>
          <a:xfrm>
            <a:off x="3913632" y="2514600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4. Report Design &amp; UX</a:t>
            </a:r>
          </a:p>
        </p:txBody>
      </p:sp>
      <p:sp>
        <p:nvSpPr>
          <p:cNvPr id="20" name="Oval 19"/>
          <p:cNvSpPr/>
          <p:nvPr/>
        </p:nvSpPr>
        <p:spPr>
          <a:xfrm>
            <a:off x="3694176" y="3319272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6"/>
          </p:cNvPr>
          <p:cNvSpPr txBox="1"/>
          <p:nvPr/>
        </p:nvSpPr>
        <p:spPr>
          <a:xfrm>
            <a:off x="3913632" y="3264408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5. Performance Optimization</a:t>
            </a:r>
          </a:p>
        </p:txBody>
      </p:sp>
      <p:sp>
        <p:nvSpPr>
          <p:cNvPr id="22" name="Oval 21"/>
          <p:cNvSpPr/>
          <p:nvPr/>
        </p:nvSpPr>
        <p:spPr>
          <a:xfrm>
            <a:off x="3694176" y="4069080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3913632" y="4014216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6. Advanced Analytics &amp;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1828800"/>
            <a:ext cx="2724912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1828800"/>
            <a:ext cx="2724912" cy="457200"/>
          </a:xfrm>
          <a:prstGeom prst="rect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182880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60">
                <a:solidFill>
                  <a:srgbClr val="C9962F"/>
                </a:solidFill>
                <a:latin typeface="Calibri"/>
              </a:rPr>
              <a:t>PROTECT &amp; OPERATE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2569464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>
            <a:hlinkClick action="ppaction://hlinksldjump" r:id="rId8"/>
          </p:cNvPr>
          <p:cNvSpPr txBox="1"/>
          <p:nvPr/>
        </p:nvSpPr>
        <p:spPr>
          <a:xfrm>
            <a:off x="6803136" y="2514600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7. Security Design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3319272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6803136" y="3264408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8. Service Deployment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4069080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6803136" y="4014216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9. Monitoring, Administration &amp; Governance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17152" y="1828800"/>
            <a:ext cx="2724912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17152" y="1828800"/>
            <a:ext cx="2724912" cy="457200"/>
          </a:xfrm>
          <a:prstGeom prst="rect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7152" y="1828800"/>
            <a:ext cx="27249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60">
                <a:solidFill>
                  <a:srgbClr val="C9962F"/>
                </a:solidFill>
                <a:latin typeface="Calibri"/>
              </a:rPr>
              <a:t>SCALE</a:t>
            </a:r>
          </a:p>
        </p:txBody>
      </p:sp>
      <p:sp>
        <p:nvSpPr>
          <p:cNvPr id="36" name="Oval 35"/>
          <p:cNvSpPr/>
          <p:nvPr/>
        </p:nvSpPr>
        <p:spPr>
          <a:xfrm>
            <a:off x="9473184" y="2569464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>
            <a:hlinkClick action="ppaction://hlinksldjump" r:id="rId11"/>
          </p:cNvPr>
          <p:cNvSpPr txBox="1"/>
          <p:nvPr/>
        </p:nvSpPr>
        <p:spPr>
          <a:xfrm>
            <a:off x="9692640" y="2514600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10. Premium, Fabric &amp; Capacity Architecture</a:t>
            </a:r>
          </a:p>
        </p:txBody>
      </p:sp>
      <p:sp>
        <p:nvSpPr>
          <p:cNvPr id="38" name="Oval 37"/>
          <p:cNvSpPr/>
          <p:nvPr/>
        </p:nvSpPr>
        <p:spPr>
          <a:xfrm>
            <a:off x="9473184" y="3319272"/>
            <a:ext cx="100584" cy="100584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>
            <a:hlinkClick action="ppaction://hlinksldjump" r:id="rId12"/>
          </p:cNvPr>
          <p:cNvSpPr txBox="1"/>
          <p:nvPr/>
        </p:nvSpPr>
        <p:spPr>
          <a:xfrm>
            <a:off x="9692640" y="3264408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B2430"/>
                </a:solidFill>
                <a:latin typeface="Calibri"/>
              </a:rPr>
              <a:t>11. Automation, DevOps &amp; Lifecycle Management</a:t>
            </a:r>
          </a:p>
        </p:txBody>
      </p:sp>
      <p:sp>
        <p:nvSpPr>
          <p:cNvPr id="40" name="TextBox 39">
            <a:hlinkClick action="ppaction://hlinksldjump" r:id="rId13"/>
          </p:cNvPr>
          <p:cNvSpPr txBox="1"/>
          <p:nvPr/>
        </p:nvSpPr>
        <p:spPr>
          <a:xfrm>
            <a:off x="9692640" y="4014216"/>
            <a:ext cx="20391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8F661E"/>
                </a:solidFill>
                <a:latin typeface="Calibri"/>
              </a:rPr>
              <a:t>Capstone Project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Program 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4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97864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2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56232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163824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3824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PROTECT &amp; OPERATE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416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C9962F"/>
                </a:solidFill>
                <a:latin typeface="Calibri"/>
              </a:rPr>
              <a:t>ARC ·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Model it right before you calculate anything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7D2DD"/>
                </a:solidFill>
                <a:latin typeface="Calibri"/>
              </a:rPr>
              <a:t>The foundation arc: turning raw, flat data into a trustworthy semantic model and a clean transformation layer -- the two things every later module depends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2"/>
          </p:cNvPr>
          <p:cNvSpPr txBox="1"/>
          <p:nvPr/>
        </p:nvSpPr>
        <p:spPr>
          <a:xfrm>
            <a:off x="1097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01 · Advanced Semantic Modeling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3"/>
          </p:cNvPr>
          <p:cNvSpPr txBox="1"/>
          <p:nvPr/>
        </p:nvSpPr>
        <p:spPr>
          <a:xfrm>
            <a:off x="4526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02 · Advanced DAX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4"/>
          </p:cNvPr>
          <p:cNvSpPr txBox="1"/>
          <p:nvPr/>
        </p:nvSpPr>
        <p:spPr>
          <a:xfrm>
            <a:off x="7955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03 · Advanced Power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Advanced Power BI  · 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5</a:t>
            </a:r>
          </a:p>
        </p:txBody>
      </p:sp>
      <p:sp>
        <p:nvSpPr>
          <p:cNvPr id="25" name="TextBox 24">
            <a:hlinkClick action="ppaction://hlinksldjump" r:id="rId5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01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Advanced Semantic Modeling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Turning a flat file into a model that scales, and a schema that survives new requirements.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Intermediate →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Star schema from first principles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Fact and dimension design, grain decisions, and why a wide flat table eventually breaks every report built on 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Relationships that don't fight you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Role-playing dimensions, bridge tables, and composite/DirectQuery model choices with their tradeoffs.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Models built for growth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Handling large fact tables, incremental refresh readiness, and keeping a model maintainable as it scales.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STAR SCHEMA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7840980" y="3832250"/>
            <a:ext cx="1508760" cy="713232"/>
          </a:xfrm>
          <a:prstGeom prst="line">
            <a:avLst/>
          </a:prstGeom>
          <a:ln w="1587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349740" y="3832250"/>
            <a:ext cx="1508760" cy="713232"/>
          </a:xfrm>
          <a:prstGeom prst="line">
            <a:avLst/>
          </a:prstGeom>
          <a:ln w="1587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7840980" y="4545482"/>
            <a:ext cx="1508760" cy="713232"/>
          </a:xfrm>
          <a:prstGeom prst="line">
            <a:avLst/>
          </a:prstGeom>
          <a:ln w="1587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349740" y="4545482"/>
            <a:ext cx="1508760" cy="713232"/>
          </a:xfrm>
          <a:prstGeom prst="line">
            <a:avLst/>
          </a:prstGeom>
          <a:ln w="1587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315200" y="3621938"/>
            <a:ext cx="1051560" cy="42062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3621938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430"/>
                </a:solidFill>
                <a:latin typeface="Calibri"/>
              </a:rPr>
              <a:t>Dim Date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32720" y="3621938"/>
            <a:ext cx="1051560" cy="42062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32720" y="3621938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430"/>
                </a:solidFill>
                <a:latin typeface="Calibri"/>
              </a:rPr>
              <a:t>Dim Product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5048402"/>
            <a:ext cx="1051560" cy="42062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5048402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430"/>
                </a:solidFill>
                <a:latin typeface="Calibri"/>
              </a:rPr>
              <a:t>Dim Customer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332720" y="5048402"/>
            <a:ext cx="1051560" cy="42062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32720" y="5048402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1B2430"/>
                </a:solidFill>
                <a:latin typeface="Calibri"/>
              </a:rPr>
              <a:t>Dim Store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72500" y="4294022"/>
            <a:ext cx="1554480" cy="502920"/>
          </a:xfrm>
          <a:prstGeom prst="roundRect">
            <a:avLst>
              <a:gd name="adj" fmla="val 20000"/>
            </a:avLst>
          </a:prstGeom>
          <a:solidFill>
            <a:srgbClr val="8F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72500" y="4294022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Fact Sales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9480" y="5678424"/>
            <a:ext cx="4160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0717F"/>
                </a:solidFill>
                <a:latin typeface="Calibri"/>
              </a:rPr>
              <a:t>One grain, one fact table -- descriptive context lives in the surrounding dimensions.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Advanced Semantic Modeling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6</a:t>
            </a:r>
          </a:p>
        </p:txBody>
      </p:sp>
      <p:sp>
        <p:nvSpPr>
          <p:cNvPr id="66" name="TextBox 65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01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Advanced Semantic Modeling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Star Schema From First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correct grain and a clean fact/dimension split is the single decision that determines whether every later measure is easy or painful to write.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Relationships That Don't Fight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Most 'DAX bugs' reported by learners later in the program are actually relationship design problems -- ambiguous filter paths, wrong cardinality, or a missing role-playing dimension.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Models Built For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model that works great with 50,000 test rows can fall over with 50 million production rows -- and by then it's expensive to fix.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01.4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Role-Playing Dimensions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The same fact table often needs to be sliced by more than one date -- order date, ship date, invoice date -- and without a deliberate pattern for that, a model quietly loses the ability to analyze more than one of them at once.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Bridge Tables &amp; Composite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Many-to-many relationships and mixed storage modes are two of the most common reasons a “simple” model turns into a support ticket -- both have a right pattern, and both punish shortcuts.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Advanced Semantic Modeling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7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02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Advanced DAX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Getting past copy-pasted measures into real command of filter and row context.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Context, demystified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Filter context vs. row context, and why the same measure can return different numbers on two visuals.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Patterns that hold up under scrutiny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Time intelligence, semi-additive measures, ranking, and calculation groups -- built and explained, not memorized.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Measures that perform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Diagnosing slow DAX, using variables deliberately, and validating logic before layering complexity on top.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ROW vs FILTER CONTEXT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2953512"/>
            <a:ext cx="21259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F661E"/>
                </a:solidFill>
                <a:latin typeface="Calibri"/>
              </a:rPr>
              <a:t>ROW CONTEXT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3246120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96912" y="3246120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Iterator (SUMX, FILTER)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86750" y="4062984"/>
            <a:ext cx="0" cy="91440"/>
          </a:xfrm>
          <a:prstGeom prst="line">
            <a:avLst/>
          </a:prstGeom>
          <a:ln w="15875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223760" y="4154424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96912" y="4154424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Evaluates one row at a time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86750" y="4971288"/>
            <a:ext cx="0" cy="91440"/>
          </a:xfrm>
          <a:prstGeom prst="line">
            <a:avLst/>
          </a:prstGeom>
          <a:ln w="15875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223760" y="5062728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96912" y="5062728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Produces a per-row value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86900" y="2953512"/>
            <a:ext cx="21259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F661E"/>
                </a:solidFill>
                <a:latin typeface="Calibri"/>
              </a:rPr>
              <a:t>FILTER CONTEXT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86900" y="3246120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0052" y="3246120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Visuals, slicers, CALCULATE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549890" y="4062984"/>
            <a:ext cx="0" cy="91440"/>
          </a:xfrm>
          <a:prstGeom prst="line">
            <a:avLst/>
          </a:prstGeom>
          <a:ln w="15875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486900" y="4154424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60052" y="4154424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Filters applied to the model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549890" y="4971288"/>
            <a:ext cx="0" cy="91440"/>
          </a:xfrm>
          <a:prstGeom prst="line">
            <a:avLst/>
          </a:prstGeom>
          <a:ln w="15875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486900" y="5062728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60052" y="5062728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Shapes what's visible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80" y="575157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0717F"/>
                </a:solidFill>
                <a:latin typeface="Calibri"/>
              </a:rPr>
              <a:t>CALCULATE bridges row context into filter context.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Advanced DAX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8</a:t>
            </a:r>
          </a:p>
        </p:txBody>
      </p:sp>
      <p:sp>
        <p:nvSpPr>
          <p:cNvPr id="70" name="TextBox 69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02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Advanced DAX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Context, Demystified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Almost every 'my measure gives a wrong number' problem is actually a filter-context or row-context misunderstanding -- once this clicks, most DAX bugs become diagnosable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02.2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Patterns That Hold Up Under Scrutiny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Time intelligence and ranking measures are the ones stakeholders actually stare at during a business review -- they need to be right and explainable, not just plausible-looking.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02.3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Measures That Perform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correct measure that takes eight seconds to render is still a support ticket waiting to happen -- performance is part of correctness in a production report.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02.4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Filter Modification Functions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ALL, REMOVEFILTERS, ALLEXCEPT, and TREATAS are the tools that let a measure deliberately override the filter context around it -- used well, they solve real business questions; used carelessly, they're where “% of total” measures quietly go wrong.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Production-Ready DAX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measure that's correct in isolation can still be a production risk if nobody validated it against edge cases or documented what “correct” even means for that number.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Advanced DAX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9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03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Advanced Power 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Building a transformation layer that's traceable, testable, and reusable -- not a black box.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Staged, parameterized pipelines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Parameters for source switching, staged queries, and functions that eliminate copy-pasted steps.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Query folding and performance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Understanding when a query pushes work back to the source, and when it silently stops.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Data quality as a first-class 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Error-review patterns and cleansing functions that make bad rows visible instead of silently dropped.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QUERY PIPELINE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20" y="2953512"/>
            <a:ext cx="3977640" cy="658368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2953512"/>
            <a:ext cx="3794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Source (raw)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349740" y="3611880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360920" y="3721608"/>
            <a:ext cx="3977640" cy="658368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3721608"/>
            <a:ext cx="3794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Staging (typed)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49740" y="4379976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360920" y="4489704"/>
            <a:ext cx="3977640" cy="658368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4489704"/>
            <a:ext cx="3794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Transform (parameterized)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349740" y="5148072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360920" y="5257800"/>
            <a:ext cx="3977640" cy="658368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52360" y="5257800"/>
            <a:ext cx="3794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Load (model-ready)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Advanced Power Query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62" name="TextBox 61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03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Advanced Power Query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Staged, Parameterized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query pipeline built from named, staged steps and parameters can move from dev to test to production data sources in minutes instead of a manual rebuild.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03.2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Query Folding And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When folding breaks silently, the query still returns correct results -- it just pulls every row into memory and transforms it locally, which can turn a 30-second refresh into a 30-minute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03.3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Data Quality As A First-Class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Silently dropped or coerced bad rows are one of the most dangerous failure modes in a BI solution -- the report looks fine and the numbers are simply wrong.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03.4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Native Queries and Source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Understanding what a source system actually receives -- not just what Power Query displays -- is what separates a query that scales from one that quietly overloads its source every refresh.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Incremental Refresh Preparation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Incremental refresh only works if the query is built to support it from the start -- retrofitting it onto an existing pipeline after the fact usually means redesigning the query, not just flipping a setting.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Advanced Power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2" y="502920"/>
            <a:ext cx="1197864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56232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163824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3824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PROTECT &amp; OPERATE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416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C9962F"/>
                </a:solidFill>
                <a:latin typeface="Calibri"/>
              </a:rPr>
              <a:t>ARC · 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Turn a correct model into a report people actually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7D2DD"/>
                </a:solidFill>
                <a:latin typeface="Calibri"/>
              </a:rPr>
              <a:t>The experience arc: report UX that guides rather than overwhelms, a model fast enough to stay that way under load, and analytics that go beyond a static chart.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2"/>
          </p:cNvPr>
          <p:cNvSpPr txBox="1"/>
          <p:nvPr/>
        </p:nvSpPr>
        <p:spPr>
          <a:xfrm>
            <a:off x="1097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04 · Report Design &amp; 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3"/>
          </p:cNvPr>
          <p:cNvSpPr txBox="1"/>
          <p:nvPr/>
        </p:nvSpPr>
        <p:spPr>
          <a:xfrm>
            <a:off x="4526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05 · Performance Optimization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4"/>
          </p:cNvPr>
          <p:cNvSpPr txBox="1"/>
          <p:nvPr/>
        </p:nvSpPr>
        <p:spPr>
          <a:xfrm>
            <a:off x="7955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06 · Advanced Analytics &amp;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Advanced Power BI  ·  PRESENT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12</a:t>
            </a:r>
          </a:p>
        </p:txBody>
      </p:sp>
      <p:sp>
        <p:nvSpPr>
          <p:cNvPr id="25" name="TextBox 24">
            <a:hlinkClick action="ppaction://hlinksldjump" r:id="rId5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04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anvas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Report Design &amp; 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Designing navigation and interaction, not just placing visuals on a canvas.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Intermediate →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70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70180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Guided interaction patterns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2903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Drillthrough, bookmarks, custom tooltips, and navigation that leads users somewhere intentional.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618738"/>
            <a:ext cx="6309360" cy="70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618738"/>
            <a:ext cx="54864" cy="70180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69189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Hierarchies, drill &amp; groups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3984498"/>
            <a:ext cx="5852160" cy="2903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Drill-down, drill-across, and custom groups/bins that let one visual answer questions at multiple levels of detail.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448556"/>
            <a:ext cx="6309360" cy="70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448556"/>
            <a:ext cx="54864" cy="70180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52170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Flexible by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814316"/>
            <a:ext cx="5852160" cy="2903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Field parameters and dynamic titles that let one report answer several questions instead of one.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278374"/>
            <a:ext cx="6309360" cy="7018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278374"/>
            <a:ext cx="54864" cy="70180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351526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Built for every screen and every user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644134"/>
            <a:ext cx="5852160" cy="2903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Mobile-optimized layouts, conditional formatting, and an accessibility pass before anything ships.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NATURAL HIERARCHY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60920" y="2953512"/>
            <a:ext cx="3977640" cy="598932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2953512"/>
            <a:ext cx="3794760" cy="5989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Year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349740" y="3552444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360920" y="3662172"/>
            <a:ext cx="3977640" cy="598932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52360" y="3662172"/>
            <a:ext cx="3794760" cy="5989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Quarter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349740" y="4261104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7360920" y="4370832"/>
            <a:ext cx="3977640" cy="598932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4370832"/>
            <a:ext cx="3794760" cy="5989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Month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349740" y="4969764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7360920" y="5079492"/>
            <a:ext cx="3977640" cy="598932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52360" y="5079492"/>
            <a:ext cx="3794760" cy="5989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Day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69480" y="5715000"/>
            <a:ext cx="4160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0717F"/>
                </a:solidFill>
                <a:latin typeface="Calibri"/>
              </a:rPr>
              <a:t>Drill down moves through levels without changing the visual.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Report Design &amp; UX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13</a:t>
            </a:r>
          </a:p>
        </p:txBody>
      </p:sp>
      <p:sp>
        <p:nvSpPr>
          <p:cNvPr id="67" name="TextBox 66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04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Report Design &amp; UX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6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Guided Interaction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Users don't read instructions -- the report itself has to teach them where to click and what will happen when they 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04.2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Hierarchies, Drill &amp;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hierarchy lets one visual answer 'show me the summary' and 'show me exactly why' without building a separate visual or page for every level of detail.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04.3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Flexible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Field parameters turn one page into several reports' worth of value, which matters enormously when report sprawl is already a real governance problem in most organizations.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04.4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Built For Every Screen And Every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report that only works well on a widescreen monitor for a sighted user with perfect color vision has quietly excluded a meaningful share of its actual audience.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04.5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Audience-Driven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report built for “everyone” usually serves no one well -- an executive scanning for one number and an analyst investigating a trend need fundamentally different layouts, not the same page with more filters.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04.6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Slicers and Filters as Design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Slicers and filters are the primary way users interact with a report -- placed and scoped carelessly, they create confusion (does this filter the whole page or just one visual?) faster than any visual design choice.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Report Design &amp; 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14</a:t>
            </a:r>
          </a:p>
        </p:txBody>
      </p:sp>
      <p:sp>
        <p:nvSpPr>
          <p:cNvPr id="33" name="TextBox 32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05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Performance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Finding out why a report is slow before guessing how to fix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Evidence before optimization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Performance Analyzer baselines and DAX Studio comparisons -- measure first, then change one thing.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Model size is a design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Cardinality reduction, aggregation tables, and composite model choices that shrink refresh and query time.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Refresh strategy at scale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Incremental refresh policy design and the licensing/capacity tradeoffs that come with it.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DIAGNOSE, THEN FIX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20" y="2953512"/>
            <a:ext cx="3977640" cy="658368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2953512"/>
            <a:ext cx="3794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Slow measure reported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349740" y="3611880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360920" y="3721608"/>
            <a:ext cx="3977640" cy="658368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3721608"/>
            <a:ext cx="3794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Performance Analyzer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49740" y="4379976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360920" y="4489704"/>
            <a:ext cx="3977640" cy="658368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4489704"/>
            <a:ext cx="3794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Query plan review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349740" y="5148072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360920" y="5257800"/>
            <a:ext cx="3977640" cy="658368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52360" y="5257800"/>
            <a:ext cx="3794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Targeted fix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Performance Optimization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15</a:t>
            </a:r>
          </a:p>
        </p:txBody>
      </p:sp>
      <p:sp>
        <p:nvSpPr>
          <p:cNvPr id="62" name="TextBox 61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05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Performance Optimization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05.1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Evidence Before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Optimizing based on a guess wastes time and can make performance worse -- a baseline turns 'this feels slow' into 'this specific visual takes 4.2 seconds because of this specific query.'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Model Size Is A Design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Reducing an unnecessary column's cardinality or removing an unused column can shrink a model more than any DAX tweak -- and it costs nothing at query time once it's done.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05.3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Refresh Strategy At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report that takes 20 minutes to refresh isn't just annoying -- it delays every downstream decision that depends on the data being current, and it can hit capacity or gateway limits outright.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05.4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Visual and Rendering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Some “slow report” complaints have nothing to do with DAX or the model at all -- too many visuals on a page, unnecessary interactions, and heavy custom visuals can dominate load time on their own.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05.5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DirectQuery and Hybrid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DirectQuery trades import-mode speed for live data -- a hybrid (composite) model lets a team choose that tradeoff table-by-table instead of accepting it for an entire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Performance Optimization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16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06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p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Advanced Analytics &amp;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Going past the default chart into scenario modeling and AI-assisted analysis -- with eyes open about where it's available.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What-if, not just what-happened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Parameter-driven scenario analysis that lets stakeholders test assumptions live in the report.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The analytics visual toolkit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Decomposition trees, forecasting, and key influencers for driver analysis beyond a trend line.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AI-assisted authoring, used deliberately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Python/R visuals and Azure ML integration explored with a clear-eyed view of cloud and tenant availability.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ANOMALY DETECTION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98080" y="4507992"/>
            <a:ext cx="3749040" cy="0"/>
          </a:xfrm>
          <a:prstGeom prst="line">
            <a:avLst/>
          </a:prstGeom>
          <a:ln w="15875">
            <a:solidFill>
              <a:srgbClr val="B9C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98080" y="2999232"/>
            <a:ext cx="0" cy="1508760"/>
          </a:xfrm>
          <a:prstGeom prst="line">
            <a:avLst/>
          </a:prstGeom>
          <a:ln w="15875">
            <a:solidFill>
              <a:srgbClr val="B9C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732395" y="3753612"/>
            <a:ext cx="468630" cy="75438"/>
          </a:xfrm>
          <a:prstGeom prst="line">
            <a:avLst/>
          </a:prstGeom>
          <a:ln w="2222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201025" y="3753612"/>
            <a:ext cx="468630" cy="150876"/>
          </a:xfrm>
          <a:prstGeom prst="line">
            <a:avLst/>
          </a:prstGeom>
          <a:ln w="2222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669655" y="3753612"/>
            <a:ext cx="468630" cy="150876"/>
          </a:xfrm>
          <a:prstGeom prst="line">
            <a:avLst/>
          </a:prstGeom>
          <a:ln w="2222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138285" y="3678174"/>
            <a:ext cx="468630" cy="75438"/>
          </a:xfrm>
          <a:prstGeom prst="line">
            <a:avLst/>
          </a:prstGeom>
          <a:ln w="2222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606915" y="3678174"/>
            <a:ext cx="468630" cy="150876"/>
          </a:xfrm>
          <a:prstGeom prst="line">
            <a:avLst/>
          </a:prstGeom>
          <a:ln w="2222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075545" y="3829050"/>
            <a:ext cx="468630" cy="603504"/>
          </a:xfrm>
          <a:prstGeom prst="line">
            <a:avLst/>
          </a:prstGeom>
          <a:ln w="2222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544175" y="3753612"/>
            <a:ext cx="468630" cy="678942"/>
          </a:xfrm>
          <a:prstGeom prst="line">
            <a:avLst/>
          </a:prstGeom>
          <a:ln w="22225">
            <a:solidFill>
              <a:srgbClr val="D7C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691247" y="3787902"/>
            <a:ext cx="82296" cy="82296"/>
          </a:xfrm>
          <a:prstGeom prst="ellipse">
            <a:avLst/>
          </a:prstGeom>
          <a:solidFill>
            <a:srgbClr val="8F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159877" y="3712464"/>
            <a:ext cx="82296" cy="82296"/>
          </a:xfrm>
          <a:prstGeom prst="ellipse">
            <a:avLst/>
          </a:prstGeom>
          <a:solidFill>
            <a:srgbClr val="8F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28507" y="3863340"/>
            <a:ext cx="82296" cy="82296"/>
          </a:xfrm>
          <a:prstGeom prst="ellipse">
            <a:avLst/>
          </a:prstGeom>
          <a:solidFill>
            <a:srgbClr val="8F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097137" y="3712464"/>
            <a:ext cx="82296" cy="82296"/>
          </a:xfrm>
          <a:prstGeom prst="ellipse">
            <a:avLst/>
          </a:prstGeom>
          <a:solidFill>
            <a:srgbClr val="8F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565767" y="3637026"/>
            <a:ext cx="82296" cy="82296"/>
          </a:xfrm>
          <a:prstGeom prst="ellipse">
            <a:avLst/>
          </a:prstGeom>
          <a:solidFill>
            <a:srgbClr val="8F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34397" y="3787902"/>
            <a:ext cx="82296" cy="82296"/>
          </a:xfrm>
          <a:prstGeom prst="ellipse">
            <a:avLst/>
          </a:prstGeom>
          <a:solidFill>
            <a:srgbClr val="8F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480167" y="4368546"/>
            <a:ext cx="128016" cy="128016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86975" y="404850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8F661E"/>
                </a:solidFill>
                <a:latin typeface="Calibri"/>
              </a:rPr>
              <a:t>Anomaly</a:t>
            </a:r>
          </a:p>
        </p:txBody>
      </p:sp>
      <p:sp>
        <p:nvSpPr>
          <p:cNvPr id="66" name="Oval 65"/>
          <p:cNvSpPr/>
          <p:nvPr/>
        </p:nvSpPr>
        <p:spPr>
          <a:xfrm>
            <a:off x="10971657" y="3712464"/>
            <a:ext cx="82296" cy="82296"/>
          </a:xfrm>
          <a:prstGeom prst="ellipse">
            <a:avLst/>
          </a:prstGeom>
          <a:solidFill>
            <a:srgbClr val="8F6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69480" y="5715000"/>
            <a:ext cx="4160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0717F"/>
                </a:solidFill>
                <a:latin typeface="Calibri"/>
              </a:rPr>
              <a:t>Flags the point that breaks the trend, not just the highest value.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Advanced Analytics &amp; AI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17</a:t>
            </a:r>
          </a:p>
        </p:txBody>
      </p:sp>
      <p:sp>
        <p:nvSpPr>
          <p:cNvPr id="70" name="TextBox 69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06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Advanced Analytics &amp; AI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06.1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What-If, Not Just What-Happened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what-if parameter turns a static report into a decision tool -- stakeholders can test 'what if margin improves 2%' live instead of asking an analyst to rebuild the report for every scenario.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06.2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The Analytics Visual Toolkit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Decomposition trees, forecasting, and key influencers answer 'why' and 'what's next,' not just 'what happened' -- that's a fundamentally different, higher-value conversation with stakeholders.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06.3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AI-Assisted Authoring, Used Deliberately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Python/R visuals and Azure ML integration open real analytical power, but they also introduce dependencies (package policy, network, identity, region) that can quietly break a report outside a Commercial tenant.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06.4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trend line shows what happened; anomaly detection flags the one point that doesn't fit the pattern -- often the exact moment a stakeholder actually needed to know about.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06.5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Copilot in Power BI and Fabric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Copilot can draft a report, summarize a page, or explain a visual in plain language -- but it works from the model it's given, so a well-governed semantic model is what makes its answers trustworthy instead of just plausible-sounding.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Advanced Analytics &amp;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18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2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56232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163824" y="502920"/>
            <a:ext cx="1197864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3824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PROTECT &amp; OPERATE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416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C9962F"/>
                </a:solidFill>
                <a:latin typeface="Calibri"/>
              </a:rPr>
              <a:t>ARC · PROTECT &amp; OPERATE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A report that can't be trusted won't be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7D2DD"/>
                </a:solidFill>
                <a:latin typeface="Calibri"/>
              </a:rPr>
              <a:t>The trust arc: locking data down to the right audience, getting a solution live in the Service, and keeping it healthy once real users depend on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2"/>
          </p:cNvPr>
          <p:cNvSpPr txBox="1"/>
          <p:nvPr/>
        </p:nvSpPr>
        <p:spPr>
          <a:xfrm>
            <a:off x="1097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07 · Security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3"/>
          </p:cNvPr>
          <p:cNvSpPr txBox="1"/>
          <p:nvPr/>
        </p:nvSpPr>
        <p:spPr>
          <a:xfrm>
            <a:off x="4526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08 · Service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4"/>
          </p:cNvPr>
          <p:cNvSpPr txBox="1"/>
          <p:nvPr/>
        </p:nvSpPr>
        <p:spPr>
          <a:xfrm>
            <a:off x="7955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09 · Monitoring, Administration &amp;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Advanced Power BI  ·  PROTECT &amp; OPERATE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19</a:t>
            </a:r>
          </a:p>
        </p:txBody>
      </p:sp>
      <p:sp>
        <p:nvSpPr>
          <p:cNvPr id="25" name="TextBox 24">
            <a:hlinkClick action="ppaction://hlinksldjump" r:id="rId5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PROTECT &amp;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07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Security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Designing row-level security like an architecture decision, not a checkbox.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Static and dynamic RLS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Building roles that scale from a handful of regions to a dynamic, user-driven security model.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Testing security like a user would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Validating roles in Desktop and Service, not just trusting the DAX filter is correct.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Where Build permission fits 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Understanding what elevated permissions expose, and designing around that risk deliberately.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STATIC vs DYNAMIC RLS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2953512"/>
            <a:ext cx="21259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F661E"/>
                </a:solidFill>
                <a:latin typeface="Calibri"/>
              </a:rPr>
              <a:t>STATIC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3246120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96912" y="3246120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Role: fixed region/team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0" y="4154424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4154424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Fixed DAX filter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23760" y="5062728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96912" y="5062728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Simple, auditable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86900" y="2953512"/>
            <a:ext cx="21259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F661E"/>
                </a:solidFill>
                <a:latin typeface="Calibri"/>
              </a:rPr>
              <a:t>DYNAMIC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86900" y="3246120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60052" y="3246120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USERPRINCIPALNAME()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86900" y="4154424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0052" y="4154424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Security mapping table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86900" y="5062728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60052" y="5062728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Scales, harder to test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Security Design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20</a:t>
            </a:r>
          </a:p>
        </p:txBody>
      </p:sp>
      <p:sp>
        <p:nvSpPr>
          <p:cNvPr id="65" name="TextBox 64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PROTECT &amp;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07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Security Design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07.1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Static And Dynamic 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Choosing the wrong RLS pattern for the organization's scale means either constant manual role maintenance or an overengineered dynamic model nobody can audit.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07.2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Testing Security Like A User Would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An RLS role that looks correct in the DAX editor can still leak data in practice -- the only real test is viewing the report exactly as that user would see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07.3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Where Build Permission Fits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Build permission on a dataset is powerful and easy to grant too broadly -- and because it bypasses report-level RLS enforcement in certain connection scenarios, understanding it is core to real security design, not a footnote.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07.4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Object-Level Security (OLS)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RLS hides rows; OLS hides entire tables or columns -- without it, a sensitive column (salary, SSN, margin) is visible to anyone with access to the table, no matter how well the rows are filtered.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07.5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Sensitivity Labels and Purview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perfectly secured report can still leak data the moment someone exports it to Excel or emails a screenshot -- sensitivity labels and Purview extend protection past the report itself.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Security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21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PROTECT &amp;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08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Service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Getting from a working PBIX/PBIP to a solution real people depend on daily.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Intermediate →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Publishing with intent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Workspace strategy, App packaging, and deployment pipelines instead of ad hoc publish clicks.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Refresh you can trust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Scheduled refresh, gateway considerations, and troubleshooting failures before users notice them.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A repeatable release process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Moving a report from dev to test to production with a process, not tribal memory.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DEPLOYMENT PIPELINE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20" y="2953512"/>
            <a:ext cx="3977640" cy="9144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2953512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Dev workspace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349740" y="3867912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360920" y="3977640"/>
            <a:ext cx="3977640" cy="9144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397764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Test workspace (validate)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49740" y="4892040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360920" y="5001768"/>
            <a:ext cx="3977640" cy="9144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5001768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Prod workspace (promote)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Service Deployment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22</a:t>
            </a:r>
          </a:p>
        </p:txBody>
      </p:sp>
      <p:sp>
        <p:nvSpPr>
          <p:cNvPr id="59" name="TextBox 5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PROTECT &amp;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08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Service Deployment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08.1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Publishing With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workspace strategy decided in advance prevents the all-too-common outcome of dozens of ungoverned personal workspaces holding business-critical reports nobody officially owns.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08.2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Refresh You Can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dashboard nobody trusts because it silently failed to refresh last Tuesday is worse than no dashboard at all -- it actively misleads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08.3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A Repeatable Release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Moving a report from 'my test version' to 'the production version everyone relies on' without a defined process is how untested changes end up in front of executives.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08.4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Shared Semantic Models and Thin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Rebuilding the same measures in every new report is how organizations end up with five different definitions of “revenue” -- a shared model with thin reports on top of it is the fix.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08.5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Endorsement: Promoted vs Certified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Without endorsement, every dataset and report looks equally trustworthy in the Service -- endorsement is the visible signal that tells users which ones actually 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Service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23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PROTECT &amp;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09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Monitoring, Administration &amp;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Running Power BI like a platform, not a pile of individually-managed reports.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Usage as a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Usage metrics and refresh history read as operational data, not vanity numbers.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Tenant settings with intention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Understanding what each governance lever controls and who should be allowed to change it.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An operations runbook that outlives you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Documenting the processes so governance survives a team change, not just a tenure.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USAGE → SIGNAL → 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20" y="2953512"/>
            <a:ext cx="3977640" cy="9144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2953512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Usage metrics (views, load time)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349740" y="3867912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360920" y="3977640"/>
            <a:ext cx="3977640" cy="9144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397764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App / workspace signals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49740" y="4892040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360920" y="5001768"/>
            <a:ext cx="3977640" cy="9144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5001768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Alert or governance action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Monitoring, Administration &amp; Governance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24</a:t>
            </a:r>
          </a:p>
        </p:txBody>
      </p:sp>
      <p:sp>
        <p:nvSpPr>
          <p:cNvPr id="59" name="TextBox 5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PROTECT &amp;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09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Monitoring, Administration &amp; Governance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09.1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Usage As A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Usage metrics tell you which reports are actually load-bearing for the organization and which ones are quietly abandoned -- both are equally important to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09.2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Tenant Settings With Intention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Tenant settings control organization-wide capabilities like external sharing and export -- getting them wrong is either a security exposure or an unnecessary blocker on legitimate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09.3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An Operations Runbook That Outlives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Governance that lives only in one administrator's head disappears the day that person changes roles -- a written runbook is what makes governance durable.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09.4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Activity and Audit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When something goes wrong -- a dataset deleted, permissions changed, data exported unexpectedly -- the activity log is the only reliable record of who did what and when.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09.5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Purview and Data Loss Prevention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Governance that only works inside Power BI has a blind spot -- Purview and DLP extend policy enforcement to wherever the data actually travels next, including outside the tenant.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Monitoring, Administration &amp; 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25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6232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56232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163824" y="502920"/>
            <a:ext cx="1197864" cy="54864"/>
          </a:xfrm>
          <a:prstGeom prst="rect">
            <a:avLst/>
          </a:prstGeom>
          <a:solidFill>
            <a:srgbClr val="2B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3824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C7D2DD"/>
                </a:solidFill>
                <a:latin typeface="Calibri"/>
              </a:rPr>
              <a:t>PROTECT &amp; OPERATE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416" y="502920"/>
            <a:ext cx="1197864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612648"/>
            <a:ext cx="11978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C9962F"/>
                </a:solidFill>
                <a:latin typeface="Calibri"/>
              </a:rPr>
              <a:t>ARC ·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From one great report to a platform that scales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7D2DD"/>
                </a:solidFill>
                <a:latin typeface="Calibri"/>
              </a:rPr>
              <a:t>The platform arc: capacity and architecture decisions, engineering discipline around Power BI artifacts, and the capstone that proves it all fits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action="ppaction://hlinksldjump" r:id="rId2"/>
          </p:cNvPr>
          <p:cNvSpPr txBox="1"/>
          <p:nvPr/>
        </p:nvSpPr>
        <p:spPr>
          <a:xfrm>
            <a:off x="1097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10 · Premium, Fabric &amp; Capacity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160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B3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4160520"/>
            <a:ext cx="64008" cy="141732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3"/>
          </p:cNvPr>
          <p:cNvSpPr txBox="1"/>
          <p:nvPr/>
        </p:nvSpPr>
        <p:spPr>
          <a:xfrm>
            <a:off x="4526280" y="4370832"/>
            <a:ext cx="2743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11 · Automation, DevOps &amp; Lifecycle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Advanced Power BI  · 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26</a:t>
            </a:r>
          </a:p>
        </p:txBody>
      </p:sp>
      <p:sp>
        <p:nvSpPr>
          <p:cNvPr id="22" name="TextBox 21">
            <a:hlinkClick action="ppaction://hlinksldjump" r:id="rId4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10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Premium, Fabric &amp; Capacity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Choosing the right capacity and architecture before scale forces the decision for you.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Capacity models compared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Shared, Premium, and Fabric capacity tradeoffs mapped to real workload patterns, not just price sheets.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Fabric-aware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OneLake and Direct Lake concepts, and what they change about how a model should be built.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Planning for growth, not just today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Architecture decisions that anticipate the next 10x of data volume and user count.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SHARED vs DEDICATED CAPACITY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2953512"/>
            <a:ext cx="21259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F661E"/>
                </a:solidFill>
                <a:latin typeface="Calibri"/>
              </a:rPr>
              <a:t>SHARED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23760" y="3246120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96912" y="3246120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Pay-per-user (Pro)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0" y="4154424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4154424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Shared, variable resources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23760" y="5062728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96912" y="5062728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Best for small teams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86900" y="2953512"/>
            <a:ext cx="21259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F661E"/>
                </a:solidFill>
                <a:latin typeface="Calibri"/>
              </a:rPr>
              <a:t>PREMIUM / FABRIC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86900" y="3246120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60052" y="3246120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Dedicated capacity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86900" y="4154424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0052" y="4154424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Predictable performance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86900" y="5062728"/>
            <a:ext cx="2125980" cy="816864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60052" y="5062728"/>
            <a:ext cx="1979676" cy="8168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B2430"/>
                </a:solidFill>
                <a:latin typeface="Calibri"/>
              </a:rPr>
              <a:t>Enterprise scale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Premium, Fabric &amp; Capacity Architecture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27</a:t>
            </a:r>
          </a:p>
        </p:txBody>
      </p:sp>
      <p:sp>
        <p:nvSpPr>
          <p:cNvPr id="65" name="TextBox 64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10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Premium, Fabric &amp; Capacity Architecture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Capacity Models Compared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The 'right' capacity tier depends on workload shape (refresh frequency, concurrent users, dataset size), not just budget -- picking based on price alone often causes a costly re-architecture later.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Fabric-Aware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OneLake and Direct Lake change some long-held assumptions about when data needs to be imported versus queried live -- modeling decisions made without this context can be needlessly conservative.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10.3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Planning For Growth, Not Just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An architecture that comfortably handles today's data volume and user count can become the org's biggest technical debt the moment either one grows tenfold.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10.4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XMLA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The XMLA endpoint turns a Power BI semantic model into something external tools can connect to directly -- it's what makes enterprise-grade model management (version control, scripted deployment, external validation) possible at 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Paginated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Some deliverables -- regulatory filings, invoices, multi-page statements -- need pixel-perfect, printable layouts that a standard Power BI canvas was never designed to produce.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Premium, Fabric &amp; Capacity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28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11 of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829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7829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018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7018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6207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07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5396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5396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4585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4585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774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774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2963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2963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2152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2152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1341" y="566928"/>
            <a:ext cx="889461" cy="54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1341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 spc="60">
                <a:solidFill>
                  <a:srgbClr val="60717F"/>
                </a:solidFill>
                <a:latin typeface="Calibr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40530" y="566928"/>
            <a:ext cx="889461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0530" y="676656"/>
            <a:ext cx="88946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60">
                <a:solidFill>
                  <a:srgbClr val="C9962F"/>
                </a:solidFill>
                <a:latin typeface="Calibri"/>
              </a:rPr>
              <a:t>11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1253642"/>
            <a:ext cx="373076" cy="373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8760" y="1024128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8F661E"/>
                </a:solidFill>
                <a:latin typeface="Cambria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1005840"/>
            <a:ext cx="6858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2430"/>
                </a:solidFill>
                <a:latin typeface="Cambria"/>
              </a:rPr>
              <a:t>Automation, DevOps &amp; Lifecycle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148132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0717F"/>
                </a:solidFill>
                <a:latin typeface="Calibri"/>
              </a:rPr>
              <a:t>Treating Power BI artifacts like source code, because eventually they have to be.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88366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0A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1883664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 spc="40">
                <a:solidFill>
                  <a:srgbClr val="C9962F"/>
                </a:solidFill>
                <a:latin typeface="Calibri"/>
              </a:rPr>
              <a:t>LEVEL: Advanced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4505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8F661E"/>
                </a:solidFill>
                <a:latin typeface="Calibri"/>
              </a:rPr>
              <a:t>WHAT LEARNERS WALK AWAY WITH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2788920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2788920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286207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PBIP and version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154680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Git-friendly project files that make Power BI diffable, reviewable, and mergeable.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889248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89248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962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External tools and APIs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55008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Using the broader tooling ecosystem to script, validate, and automate what used to be manual.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989576"/>
            <a:ext cx="6309360" cy="97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89576"/>
            <a:ext cx="54864" cy="972312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627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CI/CD concepts for BI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55336"/>
            <a:ext cx="5852160" cy="560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Deployment pipeline thinking applied to semantic models and reports, not just application code.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2450592"/>
            <a:ext cx="452628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578608"/>
            <a:ext cx="4197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70">
                <a:solidFill>
                  <a:srgbClr val="60717F"/>
                </a:solidFill>
                <a:latin typeface="Calibri"/>
              </a:rPr>
              <a:t>CI/CD FLOW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20" y="2953512"/>
            <a:ext cx="3977640" cy="9144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2953512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Commit (Git / PBIP)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349740" y="3867912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360920" y="3977640"/>
            <a:ext cx="3977640" cy="9144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3977640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Build &amp; validate (pipeline)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49740" y="4892040"/>
            <a:ext cx="0" cy="109728"/>
          </a:xfrm>
          <a:prstGeom prst="line">
            <a:avLst/>
          </a:prstGeom>
          <a:ln w="19050">
            <a:solidFill>
              <a:srgbClr val="8F6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360920" y="5001768"/>
            <a:ext cx="3977640" cy="9144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 w="12700">
            <a:solidFill>
              <a:srgbClr val="B9C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5001768"/>
            <a:ext cx="3794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430"/>
                </a:solidFill>
                <a:latin typeface="Calibri"/>
              </a:rPr>
              <a:t>Deploy: Dev → Test → Prod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Automation, DevOps &amp; Lifecycle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29</a:t>
            </a:r>
          </a:p>
        </p:txBody>
      </p:sp>
      <p:sp>
        <p:nvSpPr>
          <p:cNvPr id="59" name="TextBox 5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40">
                <a:solidFill>
                  <a:srgbClr val="C9962F"/>
                </a:solidFill>
                <a:latin typeface="Calibri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295" y="21945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0717F"/>
                </a:solidFill>
                <a:latin typeface="Calibri"/>
              </a:rPr>
              <a:t>Module 11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430"/>
                </a:solidFill>
                <a:latin typeface="Cambria"/>
              </a:rPr>
              <a:t>Automation, DevOps &amp; Lifecycle Management · Topic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0717F"/>
                </a:solidFill>
                <a:latin typeface="Calibri"/>
              </a:rPr>
              <a:t>5 topics covered in this module — full detail in speaker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PBIP And Version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 binary PBIX file is a black box to source control -- PBIP's plain-text project structure is what makes real code review and collaboration on a Power BI file possible.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30552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External Tools And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59736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The Power BI ecosystem's external tools and REST APIs let teams script and validate things that used to require slow, error-prone manual clicking through the 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CI/CD Concepts For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Applying deployment-pipeline thinking to semantic models and reports catches breaking changes before they reach production, the same way it does for application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4512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25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11.4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81984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Service Principals for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11168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Scripted deployments and pipelines need an identity to run as -- using a personal account for that is a common shortcut that quietly becomes a security and reliability liability.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5944"/>
            <a:ext cx="5349240" cy="1405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773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F661E"/>
                </a:solidFill>
                <a:latin typeface="Cambria"/>
              </a:rPr>
              <a:t>11.5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33416"/>
            <a:ext cx="4946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430"/>
                </a:solidFill>
                <a:latin typeface="Cambria"/>
              </a:rPr>
              <a:t>Fabric Workspace Git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62600"/>
            <a:ext cx="4946904" cy="655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Native Git integration connects a Fabric workspace directly to a repository -- it turns “export, commit, remember to sync” into an actual two-way, trackable connection between the Service and source control.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Advanced Power BI  ·  Automation, DevOps &amp; Lifecycle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17F"/>
                </a:solidFill>
                <a:latin typeface="Calibri"/>
              </a:rPr>
              <a:t>30</a:t>
            </a:r>
          </a:p>
        </p:txBody>
      </p:sp>
      <p:sp>
        <p:nvSpPr>
          <p:cNvPr id="29" name="TextBox 28">
            <a:hlinkClick action="ppaction://hlinksldjump" r:id="rId3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C9962F"/>
                </a:solidFill>
                <a:latin typeface="Calibri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One dataset. One deadline.</a:t>
            </a:r>
          </a:p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Every skill from Modules 1-11.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7D2DD"/>
                </a:solidFill>
                <a:latin typeface="Calibri"/>
              </a:rPr>
              <a:t>Learners take a single messy source dataset from raw files to a governed, secured, production-ready Power BI solution -- end to end, without a script to follow.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A182A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13632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15968"/>
            <a:ext cx="23591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7D2DD"/>
                </a:solidFill>
                <a:latin typeface="Calibri"/>
              </a:rPr>
              <a:t>Model 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2112" y="3493008"/>
            <a:ext cx="228600" cy="0"/>
          </a:xfrm>
          <a:prstGeom prst="line">
            <a:avLst/>
          </a:prstGeom>
          <a:ln w="19050">
            <a:solidFill>
              <a:srgbClr val="C99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47872" y="3246120"/>
            <a:ext cx="502920" cy="502920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3246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A182A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913632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Build a star schema, handle grain and role-playing dates, and validate relationships.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4315968"/>
            <a:ext cx="23591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7D2DD"/>
                </a:solidFill>
                <a:latin typeface="Calibri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07024" y="3493008"/>
            <a:ext cx="228600" cy="0"/>
          </a:xfrm>
          <a:prstGeom prst="line">
            <a:avLst/>
          </a:prstGeom>
          <a:ln w="19050">
            <a:solidFill>
              <a:srgbClr val="C99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272784" y="3246120"/>
            <a:ext cx="502920" cy="502920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3246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A182A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3913632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Calculate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4315968"/>
            <a:ext cx="23591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7D2DD"/>
                </a:solidFill>
                <a:latin typeface="Calibri"/>
              </a:rPr>
              <a:t>Write the DAX measures the business actually asked for, not the easy ones.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31936" y="3493008"/>
            <a:ext cx="228600" cy="0"/>
          </a:xfrm>
          <a:prstGeom prst="line">
            <a:avLst/>
          </a:prstGeom>
          <a:ln w="19050">
            <a:solidFill>
              <a:srgbClr val="C99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997696" y="3246120"/>
            <a:ext cx="502920" cy="502920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3246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A182A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913632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4315968"/>
            <a:ext cx="23591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7D2DD"/>
                </a:solidFill>
                <a:latin typeface="Calibri"/>
              </a:rPr>
              <a:t>Present it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356848" y="3493008"/>
            <a:ext cx="228600" cy="0"/>
          </a:xfrm>
          <a:prstGeom prst="line">
            <a:avLst/>
          </a:prstGeom>
          <a:ln w="19050">
            <a:solidFill>
              <a:srgbClr val="C99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722608" y="3246120"/>
            <a:ext cx="502920" cy="502920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22608" y="3246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A182A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22608" y="3913632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Design a navigable, accessible report with drillthrough and a mobile layout.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22608" y="4315968"/>
            <a:ext cx="23591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7D2DD"/>
                </a:solidFill>
                <a:latin typeface="Calibri"/>
              </a:rPr>
              <a:t>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4081760" y="3493008"/>
            <a:ext cx="228600" cy="0"/>
          </a:xfrm>
          <a:prstGeom prst="line">
            <a:avLst/>
          </a:prstGeom>
          <a:ln w="19050">
            <a:solidFill>
              <a:srgbClr val="C996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4447520" y="3246120"/>
            <a:ext cx="502920" cy="502920"/>
          </a:xfrm>
          <a:prstGeom prst="ellipse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47520" y="3246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A182A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0" y="3913632"/>
            <a:ext cx="2359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Ship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0" y="4315968"/>
            <a:ext cx="23591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7D2DD"/>
                </a:solidFill>
                <a:latin typeface="Calibri"/>
              </a:rPr>
              <a:t>Publish, secure with RLS, and document it like it has to survive an audit.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Advanced Power BI  ·  Capstone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31</a:t>
            </a:r>
          </a:p>
        </p:txBody>
      </p:sp>
      <p:sp>
        <p:nvSpPr>
          <p:cNvPr id="37" name="TextBox 36">
            <a:hlinkClick action="ppaction://hlinksldjump" r:id="rId2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C9962F"/>
                </a:solidFill>
                <a:latin typeface="Calibri"/>
              </a:rPr>
              <a:t>WHERE LEARNERS END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9875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Confident modeling, defensible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numbers, and reports people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80"/>
            <a:ext cx="1280160" cy="41148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7D2DD"/>
                </a:solidFill>
                <a:latin typeface="Calibri"/>
              </a:rPr>
              <a:t>Advanced Power BI is built for teams who are past the tutorials and need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7D2DD"/>
                </a:solidFill>
                <a:latin typeface="Calibri"/>
              </a:rPr>
              <a:t>the judgment, patterns, and habits that hold up in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Advanced Power BI  ·  Program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7D2DD"/>
                </a:solidFill>
                <a:latin typeface="Calibri"/>
              </a:rPr>
              <a:t>32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9859975" y="6519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C9962F"/>
                </a:solidFill>
                <a:latin typeface="Calibri"/>
              </a:rPr>
              <a:t>↑ Curriculum Map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