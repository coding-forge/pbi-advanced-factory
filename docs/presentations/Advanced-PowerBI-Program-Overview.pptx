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-914400"/>
            <a:ext cx="3291840" cy="3291840"/>
          </a:xfrm>
          <a:prstGeom prst="ellipse">
            <a:avLst/>
          </a:prstGeom>
          <a:solidFill>
            <a:srgbClr val="2D41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DC97"/>
                </a:solidFill>
                <a:latin typeface="Calibri"/>
              </a:rPr>
              <a:t>A DATA STORYTELLING &amp; GOVERNANCE CURRICULUM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9875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Cambria"/>
              </a:rPr>
              <a:t>Advanced Power 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868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9DAE8"/>
                </a:solidFill>
                <a:latin typeface="Calibri"/>
              </a:rPr>
              <a:t>From modeling fundamentals to enterprise-grade delivery: an 11-module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9DAE8"/>
                </a:solidFill>
                <a:latin typeface="Calibri"/>
              </a:rPr>
              <a:t>arc for analysts, BI developers, and platform owners who need Power BI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9DAE8"/>
                </a:solidFill>
                <a:latin typeface="Calibri"/>
              </a:rPr>
              <a:t>to hold up under real production weight.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DDC97"/>
                </a:solidFill>
                <a:latin typeface="Cambria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49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9DAE8"/>
                </a:solidFill>
                <a:latin typeface="Calibri"/>
              </a:rPr>
              <a:t>Curriculum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47091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DDC97"/>
                </a:solidFill>
                <a:latin typeface="Cambria"/>
              </a:rPr>
              <a:t>40+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5349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9DAE8"/>
                </a:solidFill>
                <a:latin typeface="Calibri"/>
              </a:rPr>
              <a:t>Guided 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7091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DDC97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349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9DAE8"/>
                </a:solidFill>
                <a:latin typeface="Calibri"/>
              </a:rPr>
              <a:t>Capstone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093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B7E"/>
                </a:solidFill>
                <a:latin typeface="Calibri"/>
              </a:rPr>
              <a:t>Program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WHY THIS PROGRAM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11822"/>
                </a:solidFill>
                <a:latin typeface="Cambria"/>
              </a:rPr>
              <a:t>Most Power BI training stops at chart-building.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11822"/>
                </a:solidFill>
                <a:latin typeface="Cambria"/>
              </a:rPr>
              <a:t>This one doesn't.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82296" cy="3931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286000"/>
            <a:ext cx="822960" cy="822960"/>
          </a:xfrm>
          <a:prstGeom prst="ellipse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171" y="2467051"/>
            <a:ext cx="460857" cy="4608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3337560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11822"/>
                </a:solidFill>
                <a:latin typeface="Cambria"/>
              </a:rPr>
              <a:t>Reports that survive contact with real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2880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B6B7E"/>
                </a:solidFill>
                <a:latin typeface="Calibri"/>
              </a:rPr>
              <a:t>Large fact tables, messy sources, and slow refreshes expose weak modeling fast. This program builds habits that hold up at scale, not just in a demo.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52044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965960"/>
            <a:ext cx="82296" cy="3931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09160" y="2286000"/>
            <a:ext cx="822960" cy="822960"/>
          </a:xfrm>
          <a:prstGeom prst="ellipse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211" y="2467051"/>
            <a:ext cx="460857" cy="4608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60" y="3337560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11822"/>
                </a:solidFill>
                <a:latin typeface="Cambria"/>
              </a:rPr>
              <a:t>Governance is part of the design, not an afterthought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4160520"/>
            <a:ext cx="2880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B6B7E"/>
                </a:solidFill>
                <a:latin typeface="Calibri"/>
              </a:rPr>
              <a:t>Row-level security, workspace strategy, and monitoring are taught alongside DAX and visuals -- because a report nobody trusts doesn't get used.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965960"/>
            <a:ext cx="352044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965960"/>
            <a:ext cx="82296" cy="3931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58200" y="2286000"/>
            <a:ext cx="822960" cy="822960"/>
          </a:xfrm>
          <a:prstGeom prst="ellipse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9251" y="2467051"/>
            <a:ext cx="460857" cy="4608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58200" y="3337560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11822"/>
                </a:solidFill>
                <a:latin typeface="Cambria"/>
              </a:rPr>
              <a:t>A path from author to platform owner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160520"/>
            <a:ext cx="2880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B6B7E"/>
                </a:solidFill>
                <a:latin typeface="Calibri"/>
              </a:rPr>
              <a:t>Learners move from single-report skills toward the operational and architectural judgment that senior BI roles actually require.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Program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DC97"/>
                </a:solidFill>
                <a:latin typeface="Calibri"/>
              </a:rPr>
              <a:t>CURRICULUM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Four arcs, eleven modules, one capstone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697480" cy="4480560"/>
          </a:xfrm>
          <a:prstGeom prst="roundRect">
            <a:avLst>
              <a:gd name="adj" fmla="val 6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697480" cy="502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1724"/>
                </a:solidFill>
                <a:latin typeface="Calibri"/>
              </a:rPr>
              <a:t>BUILD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359152"/>
            <a:ext cx="109728" cy="109728"/>
          </a:xfrm>
          <a:prstGeom prst="ellipse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28600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1. Advanced Semantic Modeling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593592"/>
            <a:ext cx="109728" cy="109728"/>
          </a:xfrm>
          <a:prstGeom prst="ellipse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2044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2. Advanced DAX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828032"/>
            <a:ext cx="109728" cy="109728"/>
          </a:xfrm>
          <a:prstGeom prst="ellipse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75488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3. Advanced Power Query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1600200"/>
            <a:ext cx="2697480" cy="4480560"/>
          </a:xfrm>
          <a:prstGeom prst="roundRect">
            <a:avLst>
              <a:gd name="adj" fmla="val 6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1600200"/>
            <a:ext cx="2697480" cy="50292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600200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1724"/>
                </a:solidFill>
                <a:latin typeface="Calibri"/>
              </a:rPr>
              <a:t>PRESENT</a:t>
            </a:r>
          </a:p>
        </p:txBody>
      </p:sp>
      <p:sp>
        <p:nvSpPr>
          <p:cNvPr id="16" name="Oval 15"/>
          <p:cNvSpPr/>
          <p:nvPr/>
        </p:nvSpPr>
        <p:spPr>
          <a:xfrm>
            <a:off x="3794760" y="2359152"/>
            <a:ext cx="109728" cy="109728"/>
          </a:xfrm>
          <a:prstGeom prst="ellipse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228600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4. Report Design &amp; UX</a:t>
            </a:r>
          </a:p>
        </p:txBody>
      </p:sp>
      <p:sp>
        <p:nvSpPr>
          <p:cNvPr id="18" name="Oval 17"/>
          <p:cNvSpPr/>
          <p:nvPr/>
        </p:nvSpPr>
        <p:spPr>
          <a:xfrm>
            <a:off x="3794760" y="3593592"/>
            <a:ext cx="109728" cy="109728"/>
          </a:xfrm>
          <a:prstGeom prst="ellipse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352044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5. Performance Optimization</a:t>
            </a:r>
          </a:p>
        </p:txBody>
      </p:sp>
      <p:sp>
        <p:nvSpPr>
          <p:cNvPr id="20" name="Oval 19"/>
          <p:cNvSpPr/>
          <p:nvPr/>
        </p:nvSpPr>
        <p:spPr>
          <a:xfrm>
            <a:off x="3794760" y="4828032"/>
            <a:ext cx="109728" cy="109728"/>
          </a:xfrm>
          <a:prstGeom prst="ellipse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475488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6. Advanced Analytics &amp; 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1600200"/>
            <a:ext cx="2697480" cy="4480560"/>
          </a:xfrm>
          <a:prstGeom prst="roundRect">
            <a:avLst>
              <a:gd name="adj" fmla="val 6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600200"/>
            <a:ext cx="2697480" cy="50292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600200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1724"/>
                </a:solidFill>
                <a:latin typeface="Calibri"/>
              </a:rPr>
              <a:t>PROTECT &amp; OPERATE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0" y="2359152"/>
            <a:ext cx="109728" cy="109728"/>
          </a:xfrm>
          <a:prstGeom prst="ellipse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228600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7. Security Design</a:t>
            </a:r>
          </a:p>
        </p:txBody>
      </p:sp>
      <p:sp>
        <p:nvSpPr>
          <p:cNvPr id="27" name="Oval 26"/>
          <p:cNvSpPr/>
          <p:nvPr/>
        </p:nvSpPr>
        <p:spPr>
          <a:xfrm>
            <a:off x="6675120" y="3593592"/>
            <a:ext cx="109728" cy="109728"/>
          </a:xfrm>
          <a:prstGeom prst="ellipse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352044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8. Service Deployment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4828032"/>
            <a:ext cx="109728" cy="109728"/>
          </a:xfrm>
          <a:prstGeom prst="ellipse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475488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9. Monitoring &amp; Governance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1600200"/>
            <a:ext cx="2697480" cy="4480560"/>
          </a:xfrm>
          <a:prstGeom prst="roundRect">
            <a:avLst>
              <a:gd name="adj" fmla="val 6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81160" y="1600200"/>
            <a:ext cx="2697480" cy="50292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1600200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1724"/>
                </a:solidFill>
                <a:latin typeface="Calibri"/>
              </a:rPr>
              <a:t>SCALE</a:t>
            </a:r>
          </a:p>
        </p:txBody>
      </p:sp>
      <p:sp>
        <p:nvSpPr>
          <p:cNvPr id="34" name="Oval 33"/>
          <p:cNvSpPr/>
          <p:nvPr/>
        </p:nvSpPr>
        <p:spPr>
          <a:xfrm>
            <a:off x="9555480" y="2359152"/>
            <a:ext cx="109728" cy="109728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28600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10. Capacity &amp; Architecture</a:t>
            </a:r>
          </a:p>
        </p:txBody>
      </p:sp>
      <p:sp>
        <p:nvSpPr>
          <p:cNvPr id="36" name="Oval 35"/>
          <p:cNvSpPr/>
          <p:nvPr/>
        </p:nvSpPr>
        <p:spPr>
          <a:xfrm>
            <a:off x="9555480" y="3593592"/>
            <a:ext cx="109728" cy="109728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352044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11. DevOps &amp; Lifecycle</a:t>
            </a:r>
          </a:p>
        </p:txBody>
      </p:sp>
      <p:sp>
        <p:nvSpPr>
          <p:cNvPr id="38" name="Oval 37"/>
          <p:cNvSpPr/>
          <p:nvPr/>
        </p:nvSpPr>
        <p:spPr>
          <a:xfrm>
            <a:off x="9555480" y="4828032"/>
            <a:ext cx="109728" cy="109728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475488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DAE8"/>
                </a:solidFill>
                <a:latin typeface="Calibri"/>
              </a:rPr>
              <a:t>Capstone Project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Advanced Power BI  ·  Program Overview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DC97"/>
                </a:solidFill>
                <a:latin typeface="Calibri"/>
              </a:rPr>
              <a:t>ARC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Model it right before you calculate anything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C9DAE8"/>
                </a:solidFill>
                <a:latin typeface="Calibri"/>
              </a:rPr>
              <a:t>The foundation arc: turning raw, flat data into a trustworthy semantic model and a clean transformation layer -- the two things every later module depends 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64008" cy="13716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01 · Advanced Semantic Modeling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4297680"/>
            <a:ext cx="64008" cy="13716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02 · Advanced DAX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4297680"/>
            <a:ext cx="64008" cy="13716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03 · Advanced Power 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Advanced Power BI  · 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97"/>
                </a:solidFill>
                <a:latin typeface="Calibri"/>
              </a:rPr>
              <a:t>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01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Advanced Semantic Modeling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Turning a flat file into a model that scales, and a schema that survives new requirements.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97"/>
                </a:solidFill>
                <a:latin typeface="Calibri"/>
              </a:rPr>
              <a:t>LEVEL: Intermediate →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Star schema from first 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Fact and dimension design, grain decisions, and why a wide flat table eventually breaks every report built on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Relationships that don't fight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Role-playing dimensions, bridge tables, and composite/DirectQuery model choices with their tradeoffs.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Models built for 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Handling large fact tables, incremental refresh readiness, and keeping a model maintainable as it scales.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Advanced Semantic Modeling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97"/>
                </a:solidFill>
                <a:latin typeface="Calibri"/>
              </a:rPr>
              <a:t>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02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Advanced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Getting past copy-pasted measures into real command of filter and row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97"/>
                </a:solidFill>
                <a:latin typeface="Calibri"/>
              </a:rPr>
              <a:t>LEVEL: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Context, demystified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Filter context vs. row context, and why the same measure can return different numbers on two visuals.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Patterns that hold up under scrutiny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Time intelligence, semi-additive measures, ranking, and calculation groups -- built and explained, not memorized.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Measures that perform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Diagnosing slow DAX, using variables deliberately, and validating logic before layering complexity on top.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Advanced DAX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97"/>
                </a:solidFill>
                <a:latin typeface="Calibri"/>
              </a:rPr>
              <a:t>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Advanced Power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Building a transformation layer that's traceable, testable, and reusable -- not a black box.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97"/>
                </a:solidFill>
                <a:latin typeface="Calibri"/>
              </a:rPr>
              <a:t>LEVEL: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Staged, parameterized pipelines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Parameters for source switching, staged queries, and functions that eliminate copy-pasted steps.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Query folding and performance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Understanding when a query pushes work back to the source, and when it silently stops.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Data quality as a first-class 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Error-review patterns and cleansing functions that make bad rows visible instead of silently dropped.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Advanced Power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B44D"/>
                </a:solidFill>
                <a:latin typeface="Calibri"/>
              </a:rPr>
              <a:t>ARC · PRESENT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Turn a correct model into a report people actually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C9DAE8"/>
                </a:solidFill>
                <a:latin typeface="Calibri"/>
              </a:rPr>
              <a:t>The experience arc: report UX that guides rather than overwhelms, a model fast enough to stay that way under load, and analytics that go beyond a static chart.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64008" cy="137160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04 · Report Design &amp;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4297680"/>
            <a:ext cx="64008" cy="137160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05 · Performance 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4297680"/>
            <a:ext cx="64008" cy="137160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06 · Advanced Analytics &amp;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Advanced Power BI  ·  PRESENT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B44D"/>
                </a:solidFill>
                <a:latin typeface="Calibri"/>
              </a:rPr>
              <a:t>PRESENT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04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nvas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Report Design &amp; 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Designing navigation and interaction, not just placing visuals on a canvas.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B44D"/>
                </a:solidFill>
                <a:latin typeface="Calibri"/>
              </a:rPr>
              <a:t>LEVEL: Intermediate →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Guided interaction 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Drillthrough, bookmarks, custom tooltips, and navigation that leads users somewhere intentional.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Flexible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Field parameters and dynamic titles that let one report answer several questions instead of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Built for every screen and every 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Mobile-optimized layouts, conditional formatting, and an accessibility pass before anything ships.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Report Design &amp; 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B44D"/>
                </a:solidFill>
                <a:latin typeface="Calibri"/>
              </a:rPr>
              <a:t>PRESENT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05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Performance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Finding out why a report is slow before guessing how to fix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B44D"/>
                </a:solidFill>
                <a:latin typeface="Calibri"/>
              </a:rPr>
              <a:t>LEVEL: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Evidence before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Performance Analyzer baselines and DAX Studio comparisons -- measure first, then change one thing.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Model size is a design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Cardinality reduction, aggregation tables, and composite model choices that shrink refresh and query 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Refresh strategy at 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Incremental refresh policy design and the licensing/capacity tradeoffs that come with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Performance Optimization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B44D"/>
                </a:solidFill>
                <a:latin typeface="Calibri"/>
              </a:rPr>
              <a:t>PRESENT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06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Advanced Analytics &amp;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Going past the default chart into scenario modeling and AI-assisted analysis -- with eyes open about where it's available.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B44D"/>
                </a:solidFill>
                <a:latin typeface="Calibri"/>
              </a:rPr>
              <a:t>LEVEL: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What-if, not just what-happened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Parameter-driven scenario analysis that lets stakeholders test assumptions live in the report.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The analytics visual toolkit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Decomposition trees, forecasting, and key influencers for driver analysis beyond a trend 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AI-assisted authoring, used deliberately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Python/R visuals and Azure ML integration explored with a clear-eyed view of cloud and tenant availability.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Advanced Analytics &amp;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EA8E0"/>
                </a:solidFill>
                <a:latin typeface="Calibri"/>
              </a:rPr>
              <a:t>ARC · PROTECT &amp;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A report that can't be trusted won't be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C9DAE8"/>
                </a:solidFill>
                <a:latin typeface="Calibri"/>
              </a:rPr>
              <a:t>The trust arc: locking data down to the right audience, getting a solution live in the Service, and keeping it healthy once real users depend on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64008" cy="137160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07 · Security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4297680"/>
            <a:ext cx="64008" cy="137160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08 · Service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4297680"/>
            <a:ext cx="64008" cy="137160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09 · Monitoring &amp;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Advanced Power BI  ·  PROTECT &amp; OPERATE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EA8E0"/>
                </a:solidFill>
                <a:latin typeface="Calibri"/>
              </a:rPr>
              <a:t>PROTECT &amp; OPERATE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07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Security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Designing row-level security like an architecture decision, not a checkbox.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EA8E0"/>
                </a:solidFill>
                <a:latin typeface="Calibri"/>
              </a:rPr>
              <a:t>LEVEL: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Static and dynamic RLS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Building roles that scale from a handful of regions to a dynamic, user-driven security model.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Testing security like a user would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Validating roles in Desktop and Service, not just trusting the DAX filter is correct.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Where Build permission fits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Understanding what elevated permissions expose, and designing around that risk deliberately.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Security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EA8E0"/>
                </a:solidFill>
                <a:latin typeface="Calibri"/>
              </a:rPr>
              <a:t>PROTECT &amp; OPERATE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08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Service Deployment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Getting from a working PBIX/PBIP to a solution real people depend on daily.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EA8E0"/>
                </a:solidFill>
                <a:latin typeface="Calibri"/>
              </a:rPr>
              <a:t>LEVEL: Intermediate →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Publishing with intent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Workspace strategy, App packaging, and deployment pipelines instead of ad hoc publish clicks.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Refresh you can trust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Scheduled refresh, gateway considerations, and troubleshooting failures before users notice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A repeatable release process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Moving a report from dev to test to production with a process, not tribal memory.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Service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EA8E0"/>
                </a:solidFill>
                <a:latin typeface="Calibri"/>
              </a:rPr>
              <a:t>PROTECT &amp; OPERATE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09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Monitoring, Administration &amp; 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Running Power BI like a platform, not a pile of individually-managed reports.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EA8E0"/>
                </a:solidFill>
                <a:latin typeface="Calibri"/>
              </a:rPr>
              <a:t>LEVEL: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Usage as a 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Usage metrics and refresh history read as operational data, not vanity numbers.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Tenant settings with intention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Understanding what each governance lever controls and who should be allowed to change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6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An operations runbook that outlives 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Documenting the processes so governance survives a team change, not just a tenure.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Monitoring, Administration &amp; 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7A5F"/>
                </a:solidFill>
                <a:latin typeface="Calibri"/>
              </a:rPr>
              <a:t>ARC ·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From one great report to a platform that scales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C9DAE8"/>
                </a:solidFill>
                <a:latin typeface="Calibri"/>
              </a:rPr>
              <a:t>The platform arc: capacity and architecture decisions, engineering discipline around Power BI artifacts, and the capstone that proves it all fits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64008" cy="13716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10 · Capacity &amp;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4297680"/>
            <a:ext cx="64008" cy="13716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11 · DevOps &amp; Lifecycle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297680"/>
            <a:ext cx="3429000" cy="1371600"/>
          </a:xfrm>
          <a:prstGeom prst="roundRect">
            <a:avLst>
              <a:gd name="adj" fmla="val 8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4297680"/>
            <a:ext cx="64008" cy="13716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526280"/>
            <a:ext cx="2971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Capstone · End-to-End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Advanced Power BI  · 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07A5F"/>
                </a:solidFill>
                <a:latin typeface="Calibri"/>
              </a:rPr>
              <a:t>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Premium, Fabric &amp; Capacity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Choosing the right capacity and architecture before scale forces the decision for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07A5F"/>
                </a:solidFill>
                <a:latin typeface="Calibri"/>
              </a:rPr>
              <a:t>LEVEL: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Capacity models compared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Shared, Premium, and Fabric capacity tradeoffs mapped to real workload patterns, not just price sheets.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Fabric-aware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OneLake and Direct Lake concepts, and what they change about how a model should be built.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Planning for growth, not just today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Architecture decisions that anticipate the next 10x of data volume and user count.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Premium, Fabric &amp; Capacity Architecture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07A5F"/>
                </a:solidFill>
                <a:latin typeface="Calibri"/>
              </a:rPr>
              <a:t>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20240"/>
            <a:ext cx="1051560" cy="105156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" y="2151583"/>
            <a:ext cx="588873" cy="588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004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Automation, DevOps &amp; Lifecycle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C9DAE8"/>
                </a:solidFill>
                <a:latin typeface="Calibri"/>
              </a:rPr>
              <a:t>Treating Power BI artifacts like source code, because eventually they have to be.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07A5F"/>
                </a:solidFill>
                <a:latin typeface="Calibri"/>
              </a:rPr>
              <a:t>LEVEL: Advanced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9A6A"/>
                </a:solidFill>
                <a:latin typeface="Calibri"/>
              </a:rPr>
              <a:t>WHAT LEARNERS WALK AWAY WITH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05156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051560"/>
            <a:ext cx="73152" cy="12344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17957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PBIP and version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Git-friendly project files that make Power BI diffable, reviewable, and mergeable.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46888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468880"/>
            <a:ext cx="73152" cy="12344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59689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External tools and APIs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718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Using the broader tooling ecosystem to script, validate, and automate what used to be manual.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886200"/>
            <a:ext cx="73152" cy="12344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01421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1822"/>
                </a:solidFill>
                <a:latin typeface="Cambria"/>
              </a:rPr>
              <a:t>CI/CD concepts for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B6B7E"/>
                </a:solidFill>
                <a:latin typeface="Calibri"/>
              </a:rPr>
              <a:t>Deployment pipeline thinking applied to semantic models and reports, not just application code.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Advanced Power BI  ·  Automation, DevOps &amp; Lifecycle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E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051560"/>
            <a:ext cx="1371600" cy="1371600"/>
          </a:xfrm>
          <a:prstGeom prst="ellipse">
            <a:avLst/>
          </a:prstGeom>
          <a:solidFill>
            <a:srgbClr val="E8B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1353312"/>
            <a:ext cx="768096" cy="7680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14600" y="10972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B44D"/>
                </a:solidFill>
                <a:latin typeface="Calibri"/>
              </a:rPr>
              <a:t>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463040"/>
            <a:ext cx="868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One dataset. One deadline.</a:t>
            </a:r>
          </a:p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Every skill from Modules 1-11.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9DAE8"/>
                </a:solidFill>
                <a:latin typeface="Calibri"/>
              </a:rPr>
              <a:t>Learners take a single messy source dataset from raw files to a governed, secured, production-ready Power BI solution -- end to end, without a script to follow.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2514600" cy="2377440"/>
          </a:xfrm>
          <a:prstGeom prst="roundRect">
            <a:avLst>
              <a:gd name="adj" fmla="val 6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B44D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52628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Model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1965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C9DAE8"/>
                </a:solidFill>
                <a:latin typeface="Calibri"/>
              </a:rPr>
              <a:t>Build a star schema, handle grain and role-playing dates, and validate relationships.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3657600"/>
            <a:ext cx="2514600" cy="2377440"/>
          </a:xfrm>
          <a:prstGeom prst="roundRect">
            <a:avLst>
              <a:gd name="adj" fmla="val 6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38404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B44D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52628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Calculate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937760"/>
            <a:ext cx="1965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C9DAE8"/>
                </a:solidFill>
                <a:latin typeface="Calibri"/>
              </a:rPr>
              <a:t>Write the DAX measures the business actually asked for, not the easy ones.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57600"/>
            <a:ext cx="2514600" cy="2377440"/>
          </a:xfrm>
          <a:prstGeom prst="roundRect">
            <a:avLst>
              <a:gd name="adj" fmla="val 6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8404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B44D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52628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Present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937760"/>
            <a:ext cx="1965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C9DAE8"/>
                </a:solidFill>
                <a:latin typeface="Calibri"/>
              </a:rPr>
              <a:t>Design a navigable, accessible report with drillthrough and a mobile layout.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3657600"/>
            <a:ext cx="2514600" cy="2377440"/>
          </a:xfrm>
          <a:prstGeom prst="roundRect">
            <a:avLst>
              <a:gd name="adj" fmla="val 6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8404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B44D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52628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Ship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4937760"/>
            <a:ext cx="1965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C9DAE8"/>
                </a:solidFill>
                <a:latin typeface="Calibri"/>
              </a:rPr>
              <a:t>Publish, secure with RLS, and document it like it has to survive an audit.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Advanced Power BI  ·  Capstone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011680" y="3291840"/>
            <a:ext cx="5486400" cy="5486400"/>
          </a:xfrm>
          <a:prstGeom prst="ellipse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DC97"/>
                </a:solidFill>
                <a:latin typeface="Calibri"/>
              </a:rPr>
              <a:t>WHERE LEARNERS END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Confident modeling, defensible</a:t>
            </a:r>
          </a:p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numbers, and reports people trust.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8229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C9DAE8"/>
                </a:solidFill>
                <a:latin typeface="Calibri"/>
              </a:rPr>
              <a:t>Advanced Power BI is built for teams who are past the tutorials and need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C9DAE8"/>
                </a:solidFill>
                <a:latin typeface="Calibri"/>
              </a:rPr>
              <a:t>the judgment, patterns, and habits that hold up in production.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Advanced Power BI  ·  Program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C9DAE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