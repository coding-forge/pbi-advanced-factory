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talk track: Welcome students to this module and explain that the goal is not to memorize features. The goal is to understand when a pattern helps authors build more trustworthy, maintainable, user-friendly Power BI solutions.</a:t>
            </a:r>
          </a:p>
          <a:p>
            <a:r>
              <a:t>Module framing: Frame this module as intentional access design. Security depends on model relationships, role logic, and testing evidence.</a:t>
            </a:r>
          </a:p>
          <a:p>
            <a:r>
              <a:t>Set expectations: presentation will introduce the theme, then the lab will let learners build or evaluate the pattern hands-on. Encourage questions about tradeoffs, not just button clicks.</a:t>
            </a:r>
          </a:p>
          <a:p>
            <a:r>
              <a:t>Further learning: Row-level security: https://learn.microsoft.com/fabric/security/service-admin-row-level-security | Power BI security whitepaper/guidance: https://learn.microsoft.com/power-bi/guidance/powerbi-implementation-planning-security | Sensitivity labels: https://learn.microsoft.com/power-bi/enterprise/service-security-sensitivity-label-overview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Emphasize sequence and dependency. Explain what students should already know from prior modules and what this module adds on top.</a:t>
            </a:r>
          </a:p>
          <a:p>
            <a:r>
              <a:t>Module framing: Frame this module as intentional access design. Security depends on model relationships, role logic, and testing evidence.</a:t>
            </a:r>
          </a:p>
          <a:p>
            <a:r>
              <a:t>Transition: After this slide, move from the concept map into the specific pattern or lab activity.</a:t>
            </a:r>
          </a:p>
          <a:p>
            <a:r>
              <a:t>Further learning: Row-level security: https://learn.microsoft.com/fabric/security/service-admin-row-level-security | Power BI security whitepaper/guidance: https://learn.microsoft.com/power-bi/guidance/powerbi-implementation-planning-security | Sensitivity labels: https://learn.microsoft.com/power-bi/enterprise/service-security-sensitivity-label-overview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1. Power BI security layers.</a:t>
            </a:r>
          </a:p>
          <a:p>
            <a:r>
              <a:t>Talking points to expand: Talking points, learner value, and lab connection Talking points • Tenant settings • Workspace roles • App audiences Why it helps • Sharing links • Build permission Lab connection Coverage: Covered. Use the lab README to demonstrate or discuss this topic. Review terms: audiences, layers, links, workspace. 03</a:t>
            </a:r>
          </a:p>
          <a:p>
            <a:r>
              <a:t>Why it matters: Frame this module as intentional access design. Security depends on model relationships, role logic, and testing evidence.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Row-level security: https://learn.microsoft.com/fabric/security/service-admin-row-level-security | Power BI security whitepaper/guidance: https://learn.microsoft.com/power-bi/guidance/powerbi-implementation-planning-security | Sensitivity labels: https://learn.microsoft.com/power-bi/enterprise/service-security-sensitivity-label-overview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2. Content access vs. data access.</a:t>
            </a:r>
          </a:p>
          <a:p>
            <a:r>
              <a:t>Talking points to expand: Talking points, learner value, and lab connection Talking points • Who can open the report? • Who can build from the semantic model? Why it helps • What data is visible after access is granted? Lab connection Coverage: Covered. Use the lab README to demonstrate or discuss this topic. Review terms: after, granted. 04</a:t>
            </a:r>
          </a:p>
          <a:p>
            <a:r>
              <a:t>Why it matters: Frame this module as intentional access design. Security depends on model relationships, role logic, and testing evidence.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Row-level security: https://learn.microsoft.com/fabric/security/service-admin-row-level-security | Power BI security whitepaper/guidance: https://learn.microsoft.com/power-bi/guidance/powerbi-implementation-planning-security | Sensitivity labels: https://learn.microsoft.com/power-bi/enterprise/service-security-sensitivity-label-overview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3. Static RLS.</a:t>
            </a:r>
          </a:p>
          <a:p>
            <a:r>
              <a:t>Talking points to expand: Talking points, learner value, and lab connection Talking points • Role filters • Territory examples Why it helps • Testing roles • Maintenance tradeoffs Lab connection Coverage: Covered. Use the lab README to demonstrate or discuss this topic. Review terms: examples, maintenance, tradeoffs. 05</a:t>
            </a:r>
          </a:p>
          <a:p>
            <a:r>
              <a:t>Why it matters: Frame this module as intentional access design. Security depends on model relationships, role logic, and testing evidence.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Row-level security: https://learn.microsoft.com/fabric/security/service-admin-row-level-security | Power BI security whitepaper/guidance: https://learn.microsoft.com/power-bi/guidance/powerbi-implementation-planning-security | Sensitivity labels: https://learn.microsoft.com/power-bi/enterprise/service-security-sensitivity-label-overview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4. Dynamic RLS.</a:t>
            </a:r>
          </a:p>
          <a:p>
            <a:r>
              <a:t>Talking points to expand: Talking points, learner value, and lab connection Talking points • Security mapping tables • `USERPRINCIPALNAME()` Why it helps • Many-to-many security mapping • Identity validation Lab connection Coverage: Covered. Use the lab README to demonstrate or discuss this topic. Review terms: identity. 06</a:t>
            </a:r>
          </a:p>
          <a:p>
            <a:r>
              <a:t>Why it matters: Frame this module as intentional access design. Security depends on model relationships, role logic, and testing evidence.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Row-level security: https://learn.microsoft.com/fabric/security/service-admin-row-level-security | Power BI security whitepaper/guidance: https://learn.microsoft.com/power-bi/guidance/powerbi-implementation-planning-security | Sensitivity labels: https://learn.microsoft.com/power-bi/enterprise/service-security-sensitivity-label-overview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5. Service role assignment.</a:t>
            </a:r>
          </a:p>
          <a:p>
            <a:r>
              <a:t>Talking points to expand: Talking points, learner value, and lab connection Talking points • Assigning users and groups • Testing as role Why it helps • Workspace role implications • App distribution Lab connection Coverage: Partial. Use the lab README to demonstrate or discuss this topic. Review terms: assigning, assignment, distribution, implications, workspace. 07</a:t>
            </a:r>
          </a:p>
          <a:p>
            <a:r>
              <a:t>Why it matters: Frame this module as intentional access design. Security depends on model relationships, role logic, and testing evidence.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Row-level security: https://learn.microsoft.com/fabric/security/service-admin-row-level-security | Power BI security whitepaper/guidance: https://learn.microsoft.com/power-bi/guidance/powerbi-implementation-planning-security | Sensitivity labels: https://learn.microsoft.com/power-bi/enterprise/service-security-sensitivity-label-overview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6. Build permission.</a:t>
            </a:r>
          </a:p>
          <a:p>
            <a:r>
              <a:t>Talking points to expand: Talking points, learner value, and lab connection Talking points • Semantic model reuse • Thin reports Why it helps • Analyze in Excel • Downstream data access risk Lab connection Coverage: Covered. Use the lab README to demonstrate or discuss this topic. Review terms: reports. 08</a:t>
            </a:r>
          </a:p>
          <a:p>
            <a:r>
              <a:t>Why it matters: Frame this module as intentional access design. Security depends on model relationships, role logic, and testing evidence.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Row-level security: https://learn.microsoft.com/fabric/security/service-admin-row-level-security | Power BI security whitepaper/guidance: https://learn.microsoft.com/power-bi/guidance/powerbi-implementation-planning-security | Sensitivity labels: https://learn.microsoft.com/power-bi/enterprise/service-security-sensitivity-label-overview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7. Object-level security.</a:t>
            </a:r>
          </a:p>
          <a:p>
            <a:r>
              <a:t>Talking points to expand: Talking points, learner value, and lab connection Talking points • Hiding tables or columns • Tooling and capacity considerations Why it helps • Validation requirements Lab connection Coverage: Covered. Use the lab README to demonstrate or discuss this topic. Review terms: considerations, hiding. 09</a:t>
            </a:r>
          </a:p>
          <a:p>
            <a:r>
              <a:t>Why it matters: Frame this module as intentional access design. Security depends on model relationships, role logic, and testing evidence.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Row-level security: https://learn.microsoft.com/fabric/security/service-admin-row-level-security | Power BI security whitepaper/guidance: https://learn.microsoft.com/power-bi/guidance/powerbi-implementation-planning-security | Sensitivity labels: https://learn.microsoft.com/power-bi/enterprise/service-security-sensitivity-label-overview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8. Sensitivity labels and Purview.</a:t>
            </a:r>
          </a:p>
          <a:p>
            <a:r>
              <a:t>Talking points to expand: Talking points, learner value, and lab connection Talking points • Label inheritance • Export controls Why it helps • MIP/Purview setup • Tenant policy dependency Lab connection Coverage: Covered. Use the lab README to demonstrate or discuss this topic. Review terms: dependency, setup. 10</a:t>
            </a:r>
          </a:p>
          <a:p>
            <a:r>
              <a:t>Why it matters: Frame this module as intentional access design. Security depends on model relationships, role logic, and testing evidence.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Row-level security: https://learn.microsoft.com/fabric/security/service-admin-row-level-security | Power BI security whitepaper/guidance: https://learn.microsoft.com/power-bi/guidance/powerbi-implementation-planning-security | Sensitivity labels: https://learn.microsoft.com/power-bi/enterprise/service-security-sensitivity-label-overview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9. Sharing and external users.</a:t>
            </a:r>
          </a:p>
          <a:p>
            <a:r>
              <a:t>Talking points to expand: Talking points, learner value, and lab connection Talking points • Direct sharing • Apps • Workspace access Why it helps • B2B and guest users • Gov restrictions Lab connection Coverage: Partial. Use the lab README to demonstrate or discuss this topic. Review terms: direct, guest, restrictions, workspace. 11</a:t>
            </a:r>
          </a:p>
          <a:p>
            <a:r>
              <a:t>Why it matters: Frame this module as intentional access design. Security depends on model relationships, role logic, and testing evidence.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Row-level security: https://learn.microsoft.com/fabric/security/service-admin-row-level-security | Power BI security whitepaper/guidance: https://learn.microsoft.com/power-bi/guidance/powerbi-implementation-planning-security | Sensitivity labels: https://learn.microsoft.com/power-bi/enterprise/service-security-sensitivity-label-overview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10. Security testing.</a:t>
            </a:r>
          </a:p>
          <a:p>
            <a:r>
              <a:t>Talking points to expand: Talking points, learner value, and lab connection Talking points • Test as role • Test users • Group membership Why it helps • Negative testing • Documentation Lab connection Coverage: Covered. Use the lab README to demonstrate or discuss this topic. Review terms: documentation, membership, negative. 12</a:t>
            </a:r>
          </a:p>
          <a:p>
            <a:r>
              <a:t>Why it matters: Frame this module as intentional access design. Security depends on model relationships, role logic, and testing evidence.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Row-level security: https://learn.microsoft.com/fabric/security/service-admin-row-level-security | Power BI security whitepaper/guidance: https://learn.microsoft.com/power-bi/guidance/powerbi-implementation-planning-security | Sensitivity labels: https://learn.microsoft.com/power-bi/enterprise/service-security-sensitivity-label-overview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11. Azure Government considerations.</a:t>
            </a:r>
          </a:p>
          <a:p>
            <a:r>
              <a:t>Talking points to expand: Talking points, learner value, and lab connection Talking points • RLS is Gov-ready. • OLS, labels, Purview, external sharing, and B2B require validation. Why it helps • Customer policy may be stricter than platform capability. Lab connection Coverage: Covered. Use the lab README to demonstrate or discuss this topic. Review terms: capability, considerations, platform, stricter. 13</a:t>
            </a:r>
          </a:p>
          <a:p>
            <a:r>
              <a:t>Why it matters: Frame this module as intentional access design. Security depends on model relationships, role logic, and testing evidence.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Row-level security: https://learn.microsoft.com/fabric/security/service-admin-row-level-security | Power BI security whitepaper/guidance: https://learn.microsoft.com/power-bi/guidance/powerbi-implementation-planning-security | Sensitivity labels: https://learn.microsoft.com/power-bi/enterprise/service-security-sensitivity-label-overview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12. Security review checklist.</a:t>
            </a:r>
          </a:p>
          <a:p>
            <a:r>
              <a:t>Talking points to expand: Talking points, learner value, and lab connection Talking points • Access path • Data filter path • Export behavior Why it helps • Build permission • Validation evidence Lab connection Coverage: Covered. Use the lab README to demonstrate or discuss this topic. Review terms: evidence. 14</a:t>
            </a:r>
          </a:p>
          <a:p>
            <a:r>
              <a:t>Why it matters: Frame this module as intentional access design. Security depends on model relationships, role logic, and testing evidence.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Row-level security: https://learn.microsoft.com/fabric/security/service-admin-row-level-security | Power BI security whitepaper/guidance: https://learn.microsoft.com/power-bi/guidance/powerbi-implementation-planning-security | Sensitivity labels: https://learn.microsoft.com/power-bi/enterprise/service-security-sensitivity-label-overview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Use this slide as the handoff for self-study. Do not read every link aloud. Point out which source is most relevant to the lab just completed and which source helps learners go deeper after class.</a:t>
            </a:r>
          </a:p>
          <a:p>
            <a:r>
              <a:t>Suggested prompt: Ask learners to bookmark the source that best matches the skill they want to improve next.</a:t>
            </a:r>
          </a:p>
          <a:p>
            <a:r>
              <a:t>Further learning: Row-level security: https://learn.microsoft.com/fabric/security/service-admin-row-level-security | Power BI security whitepaper/guidance: https://learn.microsoft.com/power-bi/guidance/powerbi-implementation-planning-security | Sensitivity labels: https://learn.microsoft.com/power-bi/enterprise/service-security-sensitivity-label-overview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FFFFFF"/>
                </a:solidFill>
                <a:latin typeface="Aptos Display"/>
              </a:defRPr>
            </a:pPr>
            <a:r>
              <a:t>Security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02C39A"/>
                </a:solidFill>
                <a:latin typeface="Aptos"/>
              </a:defRPr>
            </a:pPr>
            <a:r>
              <a:t>Power BI Advanced Factory teaching deck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91440" cy="12344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What students learn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Key concepts and talking points from the module outline.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1828800"/>
            <a:ext cx="91440" cy="123444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matters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How the topic helps authors and report consumers.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828800"/>
            <a:ext cx="91440" cy="12344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How labs connect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Where learners apply the theme hands-on.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Module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this to introduce the section before hands-on labs.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143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1. Power BI security layers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Tenant settings; Workspace roles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143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2. Content access vs. data access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Who can open the report?; Who can build from the semantic model?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286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3. Static RLS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Role filters; Territory examples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286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4. Dynamic RLS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Security mapping tables; `USERPRINCIPALNAME()`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429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5. Service role assignment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Assigning users and groups; Testing as role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429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6. Build permission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Semantic model reuse; Thin reports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4572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7. Object-level security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Hiding tables or columns; Tooling and capacity considerations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4572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8. Sensitivity labels and Purview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Label inheritance; Export controls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1. Power BI security layers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Tenant settings</a:t>
            </a:r>
            <a:br/>
            <a:r>
              <a:t>• Workspace roles</a:t>
            </a:r>
            <a:br/>
            <a:r>
              <a:t>• App audiences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Sharing links</a:t>
            </a:r>
            <a:br/>
            <a:r>
              <a:t>• Build permission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audiences, layers, links, workspace.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2. Content access vs. data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Who can open the report?</a:t>
            </a:r>
            <a:br/>
            <a:r>
              <a:t>• Who can build from the semantic model?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What data is visible after access is granted?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after, granted.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3. Static RLS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Role filters</a:t>
            </a:r>
            <a:br/>
            <a:r>
              <a:t>• Territory examples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Testing roles</a:t>
            </a:r>
            <a:br/>
            <a:r>
              <a:t>• Maintenance tradeoffs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examples, maintenance, tradeoffs.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4. Dynamic RLS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Security mapping tables</a:t>
            </a:r>
            <a:br/>
            <a:r>
              <a:t>• `USERPRINCIPALNAME()`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Many-to-many security mapping</a:t>
            </a:r>
            <a:br/>
            <a:r>
              <a:t>• Identity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identity.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5. Service role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Assigning users and groups</a:t>
            </a:r>
            <a:br/>
            <a:r>
              <a:t>• Testing as role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Workspace role implications</a:t>
            </a:r>
            <a:br/>
            <a:r>
              <a:t>• App distribution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Partial. Use the lab README to demonstrate or discuss this topic. Review terms: assigning, assignment, distribution, implications, workspace.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6. Build permission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Semantic model reuse</a:t>
            </a:r>
            <a:br/>
            <a:r>
              <a:t>• Thin reports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Analyze in Excel</a:t>
            </a:r>
            <a:br/>
            <a:r>
              <a:t>• Downstream data access risk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reports.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7. Object-level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Hiding tables or columns</a:t>
            </a:r>
            <a:br/>
            <a:r>
              <a:t>• Tooling and capacity considerations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Validation requirements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considerations, hiding.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8. Sensitivity labels and Purview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Label inheritance</a:t>
            </a:r>
            <a:br/>
            <a:r>
              <a:t>• Export controls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MIP/Purview setup</a:t>
            </a:r>
            <a:br/>
            <a:r>
              <a:t>• Tenant policy dependency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dependency, setup.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9. Sharing and external users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Direct sharing</a:t>
            </a:r>
            <a:br/>
            <a:r>
              <a:t>• Apps</a:t>
            </a:r>
            <a:br/>
            <a:r>
              <a:t>• Workspace access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B2B and guest users</a:t>
            </a:r>
            <a:br/>
            <a:r>
              <a:t>• Gov restrictions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Partial. Use the lab README to demonstrate or discuss this topic. Review terms: direct, guest, restrictions, workspace.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10. Security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Test as role</a:t>
            </a:r>
            <a:br/>
            <a:r>
              <a:t>• Test users</a:t>
            </a:r>
            <a:br/>
            <a:r>
              <a:t>• Group membership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Negative testing</a:t>
            </a:r>
            <a:br/>
            <a:r>
              <a:t>• Documentation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documentation, membership, negative.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11. Azure Government considerations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RLS is Gov-ready.</a:t>
            </a:r>
            <a:br/>
            <a:r>
              <a:t>• OLS, labels, Purview, external sharing, and B2B require validation.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Customer policy may be stricter than platform capability.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capability, considerations, platform, stricter.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12. Security review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Access path</a:t>
            </a:r>
            <a:br/>
            <a:r>
              <a:t>• Data filter path</a:t>
            </a:r>
            <a:br/>
            <a:r>
              <a:t>• Export behavior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Build permission</a:t>
            </a:r>
            <a:br/>
            <a:r>
              <a:t>• Validation evidence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evidence.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Sources and further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these official Microsoft docs for deeper study.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143000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52728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guidance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https://learn.microsoft.com/power-bi/guidance/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92807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92807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02536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Desktop docs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https://learn.microsoft.com/power-bi/fundamentals/desktop-getting-started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42615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642615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52344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Query M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https://learn.microsoft.com/powerquery-m/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392423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392423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502151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DAX reference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https://learn.microsoft.com/dax/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42231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142231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51959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Project files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https://learn.microsoft.com/power-bi/developer/projects/projects-overview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