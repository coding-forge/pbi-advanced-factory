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to Module 7. Frame security as the module that decides who can see what — not just at the report level, but all the way down to which rows and columns of the semantic model a signed-in user is even allowed to read.</a:t>
            </a:r>
          </a:p>
          <a:p>
            <a:r>
              <a:t>Set expectations up front: Power BI security is layered. Workspace roles, App audiences, sharing links, Build permission, RLS, OLS, and sensitivity labels are all separate decisions that combine to produce the effective access a user gets. Today's goal is to make each layer explicit instead of leaving it as an accident.</a:t>
            </a:r>
          </a:p>
          <a:p>
            <a:r>
              <a:t>Preview the lab: students will build a static RLS role that filters DimTerritory to a single region, then a dynamic RLS role that uses USERPRINCIPALNAME() against a SecurityUserTerritory mapping table imported from the workshop's synthetic CSV, and will test both roles using View as in Desktop.</a:t>
            </a:r>
          </a:p>
          <a:p>
            <a:r>
              <a:t>Call the Azure Government angle out immediately: static and dynamic RLS are Gov-ready, but OLS, sensitivity labels, Purview integration, external sharing and B2B are all 'Verify for Gov' — they depend on tenant, capacity, and Purview configuration that the classroom tenant may or may not enable.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fourteen agenda items quickly. Group them mentally for the room: topics 1-2 frame the security-layers model; 3-5 are the RLS core (static, dynamic, Service assignment); 6-9 cover the surrounding governance surface (Build permission, OLS, labels, sharing); 10-12 are validation, Gov posture, and the review checklist; 13-14 are the lab and wrap-up.</a:t>
            </a:r>
          </a:p>
          <a:p>
            <a:r>
              <a:t>Flag that topics 7, 8, and parts of 9 are Verify-for-Gov — they are still important to teach, but the hands-on lab treats OLS and sensitivity labels as conceptual only.</a:t>
            </a:r>
          </a:p>
          <a:p>
            <a:r>
              <a:t>Tell students the lab (topic 13) is where dynamic RLS with a real mapping table and USERPRINCIPALNAME() becomes concrete: they will build the role, wire the relationship, and test it as sample UPN values from the mapping CSV.</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mental model: Power BI security is not one setting — it is a stack. If any single layer is misconfigured, the effective access a user gets is wrong, even if every other layer looks correct.</a:t>
            </a:r>
          </a:p>
          <a:p>
            <a:r>
              <a:t>Walk the rows top-down. Tenant settings are the outermost gate — if the tenant admin has disabled external sharing at the tenant level, no amount of workspace or item sharing overrides that. Workspace roles are broad and blunt: a Contributor can publish content into the workspace, which means Contributor is effectively an authoring role, not a consumer role.</a:t>
            </a:r>
          </a:p>
          <a:p>
            <a:r>
              <a:t>For App audiences, use a concrete example: the same workspace can publish one App with an 'Executives' audience that sees a summary page and a 'Sales analyst' audience that sees the full detail page — App audiences do NOT filter data, only which pages and items are visible; RLS is what filters data.</a:t>
            </a:r>
          </a:p>
          <a:p>
            <a:r>
              <a:t>Land the RLS/OLS row hard because that's the module core: RLS filters rows a user is allowed to see inside a table; OLS hides an entire table or column from the metadata so the user doesn't even know it exists. They solve different problems and are configured very differently — RLS in Manage roles, OLS via XMLA-compatible tooling.</a:t>
            </a:r>
          </a:p>
          <a:p>
            <a:r>
              <a:t>Close with the footer note: passing the lab's static and dynamic RLS exercises is not the same as shipping a secure report. All the other layers still need to be reviewed before a real deployment.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as the mental frame that keeps the rest of the module clear. Three questions, three layers, three separate decisions.</a:t>
            </a:r>
          </a:p>
          <a:p>
            <a:r>
              <a:t>Give the concrete failure story: a well-meaning author grants a colleague Viewer on the workspace and Build on the semantic model 'so they can play with it in Excel.' The colleague opens Analyze in Excel and pulls every row of FactSales — the report's RLS role never applied to their Excel connection because Build permission bypasses the report layer entirely. That is not a bug; that is how Build permission is defined.</a:t>
            </a:r>
          </a:p>
          <a:p>
            <a:r>
              <a:t>Reinforce that RLS is a data-access mechanism, not a content-access one. RLS only kicks in for users who query the semantic model as members of an assigned RLS role. If they connect a different way — or if they are a workspace Admin/Member — the role may not apply.</a:t>
            </a:r>
          </a:p>
          <a:p>
            <a:r>
              <a:t>Tell students Exercise 4 has them walk the security-role-matrix.csv persona rows and identify which layer each row's expectation lives in — view, Build, RLS, or a combination. It's a paper exercise, but a critical one for review discipline.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RLS is the simplest pattern: one role per hard-coded scope, with a DAX filter expression baked directly into the role definition. Walk the table so students see that every row of it uses the same recipe — role name, target table, filter expression.</a:t>
            </a:r>
          </a:p>
          <a:p>
            <a:r>
              <a:t>Anchor to the lab: the East Region role in row 1 is the exact role Exercise 1 has them build. Show the click path out loud — Modeling → Manage roles → New → name the role 'East Region' → select DimTerritory → enter the filter [TerritoryRegion] = "East" → Save — so they know exactly what to expect when they get to the lab.</a:t>
            </a:r>
          </a:p>
          <a:p>
            <a:r>
              <a:t>Stress the placement rule: the filter goes on the dimension table (DimTerritory), not on FactSales. Because DimTerritory relates one-to-many into FactSales, filtering DimTerritory automatically filters FactSales through relationship propagation. Putting the filter on FactSales directly is a common mistake and is much slower.</a:t>
            </a:r>
          </a:p>
          <a:p>
            <a:r>
              <a:t>Point out the maintenance tradeoff explicitly: you need one role per region, and if a new region is added or an existing one is renamed, someone has to edit the role definition. That is the exact pain point dynamic RLS — the next topic — is designed to solve.</a:t>
            </a:r>
          </a:p>
          <a:p>
            <a:r>
              <a:t>Wrap by mentioning testing: Modeling → View as lets an author simulate any single role or combination of roles in Desktop before publishing. Students should always View as before assigning users in the Service.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Dynamic RLS replaces N static roles with a single role that reads the current user's identity at query time and looks up their allowed rows from a mapping table. Introduce the pieces in the order they appear on the slide, left to right.</a:t>
            </a:r>
          </a:p>
          <a:p>
            <a:r>
              <a:t>Piece 1: USERPRINCIPALNAME() is a DAX function that returns the signed-in user's UPN — the same string as their Entra ID sign-in, e.g. jsmith@contoso.gov. In Desktop, View as lets you spoof any UPN string for testing.</a:t>
            </a:r>
          </a:p>
          <a:p>
            <a:r>
              <a:t>Piece 2: SecurityUserTerritory is a mapping table imported from security-user-territory.csv via the Web connector. Each row is one (UserPrincipalName, TerritoryKey) pair. A user with two territories has two rows; a user with one territory has one row. The role's DAX filter — [UserPrincipalName] = USERPRINCIPALNAME() — is placed on THIS table, not on DimTerritory or FactSales.</a:t>
            </a:r>
          </a:p>
          <a:p>
            <a:r>
              <a:t>Piece 3 and 4: Once the security table is filtered to just the current user's rows, the one-to-many relationship into DimTerritory propagates that filter forward, and DimTerritory's one-to-many relationship into FactSales completes the chain. The signed-in user only sees FactSales rows for territories they are mapped to.</a:t>
            </a:r>
          </a:p>
          <a:p>
            <a:r>
              <a:t>Close with the operational payoff and the identity gotcha: one role handles every user, and adding or removing access is a data update to the mapping table — no role edit. But identity must match exactly: the UPN in the mapping table has to be identical to what USERPRINCIPALNAME() returns for that user in the target tenant, including domain and case. Guest users and B2B accounts especially need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Desktop to Service: everything in the previous two topics defined roles; this topic is about who is IN each role once the model is published.</a:t>
            </a:r>
          </a:p>
          <a:p>
            <a:r>
              <a:t>Walk the Service click path — workspace → semantic model → Security — and emphasize the assignment box takes users OR groups. Push groups hard: assigning 'Sales-East-Region' as an Entra group means adding or removing salespeople is an identity-team operation, not a Power BI operation, which is exactly the separation of duties an enterprise wants.</a:t>
            </a:r>
          </a:p>
          <a:p>
            <a:r>
              <a:t>Now the failure mode: workspace roles Admin/Member/Contributor bypass RLS. If your tester is a workspace Member, they see all the data regardless of role assignment and the test result is meaningless. Only Viewer respects RLS. Tell students they must have a Viewer test account (or use Test as role) — they cannot QA RLS from their author account.</a:t>
            </a:r>
          </a:p>
          <a:p>
            <a:r>
              <a:t>Close on distribution shape: publish through Apps with audiences instead of granting the whole business Viewer on the workspace. The workspace stays a controlled authoring environment; the App is the consumption surface where RLS reliably applies for everyone.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Build as the 'surprise' permission: most authors don't realize it's a separate grant until a stakeholder asks 'can I pull this into Excel?' and it turns out sharing the report isn't enough.</a:t>
            </a:r>
          </a:p>
          <a:p>
            <a:r>
              <a:t>Walk the mechanics: Build is granted on the semantic model, not on the report. Once granted, the user can point a new report, Excel, or an XMLA client at the model as if they had built it themselves. RLS still applies to their queries as long as they are an assigned role member and not a workspace Admin/Member/Contributor.</a:t>
            </a:r>
          </a:p>
          <a:p>
            <a:r>
              <a:t>Give the thin-report vision explicitly: the goal in an enterprise deployment is often one certified 'Sales' semantic model with Build permission granted to a controlled set of analyst authors, who then each ship small purpose-built reports — not five copies of the same model.</a:t>
            </a:r>
          </a:p>
          <a:p>
            <a:r>
              <a:t>Set up Exercise 4 as a persona walk-through: for each persona in security-role-matrix.csv, decide whether they should have Build, and if yes, which RLS role they belong to. There is no single right answer — the exercise is about the reasoning being explicit and documented.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boundary that separates OLS from RLS: RLS filters rows within a table; OLS hides the whole table or specific columns so the user cannot even see the structure exists. Different problem, different tool.</a:t>
            </a:r>
          </a:p>
          <a:p>
            <a:r>
              <a:t>Explain the tooling realistically: OLS is authored in TMDL via an XMLA-compatible editor like Tabular Editor — Desktop's Manage roles surface does not expose OLS. That tooling requirement is one of the reasons OLS gets labeled Verify for Gov: not every tenant permits or supports the external tooling path.</a:t>
            </a:r>
          </a:p>
          <a:p>
            <a:r>
              <a:t>Give the classic use case pair: an HR semantic model where the 'Compensation' table is hidden entirely from most analysts (whole-table OLS), and a 'Customer' table where a sensitive PII column is hidden from the marketing role even though the rest of the table is visible (column-level OLS).</a:t>
            </a:r>
          </a:p>
          <a:p>
            <a:r>
              <a:t>Land the Build-permission connection: hiding a column visually in a report is not the same thing as OLS — an author with Build permission and no OLS restriction can still see the hidden column in Excel or a new report. Real protection requires OLS on the model, not visual hiding on the report.</a:t>
            </a:r>
          </a:p>
          <a:p>
            <a:r>
              <a:t>Wrap by explicitly telling students the lab treats OLS as conceptual: identify what you'd protect and how, but don't attempt the actual OLS build in this environment without confirming tenant, capacity, and Tabular Editor access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sensitivity labels as the classification-and-DLP layer: they mark an item with a policy (Public, Internal, Confidential, Highly Confidential, etc.) and let downstream systems — Excel, Outlook, DLP — enforce that policy at export time.</a:t>
            </a:r>
          </a:p>
          <a:p>
            <a:r>
              <a:t>Walk the inheritance row: applying a label to a semantic model is the highest-leverage move, because every report and every export built off that model inherits it. If you only label individual reports, you'll miss exports through Build permission.</a:t>
            </a:r>
          </a:p>
          <a:p>
            <a:r>
              <a:t>Contrast with RLS very deliberately: sensitivity labels do NOT filter data. A 'Confidential' label does not hide any rows — it just classifies the artifact and controls export behavior. RLS still has to filter what a user is allowed to read. Students routinely conflate these; correct it early.</a:t>
            </a:r>
          </a:p>
          <a:p>
            <a:r>
              <a:t>Cover the dependency chain: labels come from Purview Information Protection, DLP policies are authored in Purview, and Excel enforcement uses the MIP client on the user's machine. All three have to be present and configured for the story to work end to end — which is exactly why this is Verify for Gov.</a:t>
            </a:r>
          </a:p>
          <a:p>
            <a:r>
              <a:t>Close by noting the tenant-level nature: available labels, mandatory labeling, and default labels are tenant-level policy decisions, not per-workspace, so an author cannot 'just add a new label' — it has to be provisioned through the Purview and tenant admin path.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Sharing is deceptively simple looking — a Share button on every item — but there are actually four distinct sharing paths, and a real user's effective access is the sum of whichever paths they have been granted.</a:t>
            </a:r>
          </a:p>
          <a:p>
            <a:r>
              <a:t>Walk each path with one clarifying detail. Direct share: per-item, fast, audit-nightmare at scale. App with audiences: the recommended pattern — the audience decides what the consumer sees, and RLS applies. Workspace roles: broad and blunt, and only Viewer respects RLS — which we covered in the Service assignment topic.</a:t>
            </a:r>
          </a:p>
          <a:p>
            <a:r>
              <a:t>Now B2B guests. This is the highest-value gotcha in the whole module. External guest users get an Entra ID B2B account whose UPN in Power BI is often of the form guest_externaldomain.com#EXT#@yourtenant.onmicrosoft.com. If your dynamic RLS mapping table has their original external UPN, the filter [UserPrincipalName] = USERPRINCIPALNAME() will never match — the guest sees zero rows. Fix it by populating the guest UPN form your tenant actually issues.</a:t>
            </a:r>
          </a:p>
          <a:p>
            <a:r>
              <a:t>Land the Gov posture explicitly: external sharing, B2B, and guest-user behavior are commonly restricted in GCC, GCC High, and DoD tenants. Do not design a workflow that depends on external sharing until tenant policy has been confirmed in writing.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tone: security testing is not optional. An RLS role that has not been tested positively AND negatively should never be assigned to real users.</a:t>
            </a:r>
          </a:p>
          <a:p>
            <a:r>
              <a:t>Walk the Desktop path: Modeling → View as, tick 'Other user' and enter a UPN, then tick one or more roles. Every visual in Desktop now re-renders as if that user were signed in. Point out that Other user is what makes dynamic RLS testable in Desktop — otherwise USERPRINCIPALNAME() would return the author's own UPN and always return author-visible data.</a:t>
            </a:r>
          </a:p>
          <a:p>
            <a:r>
              <a:t>Now the Service path and its gotcha: Test as role is the Service equivalent, but it only reveals what a Viewer-level assignment would see. If your test account is a workspace Member, the actual sign-in test will still bypass RLS — which is why you need a dedicated Viewer test account for real end-to-end validation.</a:t>
            </a:r>
          </a:p>
          <a:p>
            <a:r>
              <a:t>Positive vs. negative test: positive is 'jsmith@contoso.gov sees the East region's 12,437 customer rows and $8.4M in sales, as expected.' Negative is 'jsmith@contoso.gov sees ZERO rows from the West region, confirming their filter is working the other direction too.' Both must pass. Documenting both is what the lab's expected-result sections are asking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module's Gov-readiness truth table. Walk it top to bottom; it is the row-by-row justification for why the lab treats some topics as hands-on and others as conceptual.</a:t>
            </a:r>
          </a:p>
          <a:p>
            <a:r>
              <a:t>Anchor the Gov-ready rows first: static RLS, dynamic RLS, Desktop testing, Service role assignment, and Build permission are all Gov-ready. Anything students build in Exercises 1-4 is on that Gov-ready foundation.</a:t>
            </a:r>
          </a:p>
          <a:p>
            <a:r>
              <a:t>Now the Verify-for-Gov rows. OLS depends on XMLA-compatible tooling and capacity SKU that may or may not be enabled. Sensitivity labels require Purview Information Protection configuration end to end. External sharing and B2B are frequently restricted by GCC / GCC High / DoD policy at the tenant level.</a:t>
            </a:r>
          </a:p>
          <a:p>
            <a:r>
              <a:t>Land the closing rule of thumb: customer policy can be stricter than platform capability. A feature being technically supported in a Gov tenant does not mean the customer's own policy permits it. Validate both. That single habit prevents the vast majority of 'why can't we ship this?' surprises late in a Gov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the operating checklist for any real deployment review, not just a training artifact. Every bullet on this slide is derived from a specific failure mode we covered in the last hour.</a:t>
            </a:r>
          </a:p>
          <a:p>
            <a:r>
              <a:t>Access path: this is the sum-of-paths habit from the Sharing topic. Do not judge a user's access by their most obvious entitlement — total up every share, App, workspace, and B2B grant they have and evaluate the union.</a:t>
            </a:r>
          </a:p>
          <a:p>
            <a:r>
              <a:t>Data filter path and Build permission bullets tie back to the topics with the same names — walk each RLS role and each Build grant explicitly, once per row, so nothing is judged by memory or vibe.</a:t>
            </a:r>
          </a:p>
          <a:p>
            <a:r>
              <a:t>Export behavior is the label / Purview / DLP integration layer — confirm every export surface behaves the way policy expects, including Excel via MIP.</a:t>
            </a:r>
          </a:p>
          <a:p>
            <a:r>
              <a:t>Validation evidence is the discipline that makes the whole thing defensible: for every role you assigned, keep the UPN-tested / role-assigned / expected-vs-actual record from the Security Testing topic. That evidence is what you show in a compliance review, not a screenshot of the Manage roles dialog.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literal table of contents for the hands-on portion — walk it top to bottom so students know exactly what is coming and how the exercises stack.</a:t>
            </a:r>
          </a:p>
          <a:p>
            <a:r>
              <a:t>Highlight the two CSVs and how each maps to an exercise: security-user-territory.csv is what makes Exercise 2's dynamic RLS real — it's the mapping table the role reads against USERPRINCIPALNAME(). security-role-matrix.csv is the persona-expectation reference for Exercises 3 and 4.</a:t>
            </a:r>
          </a:p>
          <a:p>
            <a:r>
              <a:t>Set the expectation for the two optional labs: OLS and sensitivity labels are marked conceptual on purpose. In this classroom environment we don't want students to try the hands-on path unless they have already confirmed tenant, capacity, and Purview prerequisites — which is unlikely inside a workshop tenant.</a:t>
            </a:r>
          </a:p>
          <a:p>
            <a:r>
              <a:t>Close by reminding them documentation is part of every exercise — the expected customer / sales counts for the East region role, the results per UPN for the dynamic role, and the persona-by-persona Build decision. If they don't write it down, they haven't finished the exercise.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this as a mixed check-and-discussion segment: the first nine items are validation confirmations pulled straight from the README's checklist — walk them out loud and ask 'did everyone confirm this?' for each row.</a:t>
            </a:r>
          </a:p>
          <a:p>
            <a:r>
              <a:t>The last three items are the discussion questions — pick two, call on specific students, and let the answer take two or three minutes each. The workspace-Member bypass question and the guest-UPN question especially reward being answered out loud because both are places students often think they understand until they try to articulate the reasoning.</a:t>
            </a:r>
          </a:p>
          <a:p>
            <a:r>
              <a:t>For the production release gate question, connect it back to the Security Review Checklist topic — tell students the answer should include access path, data filter path, export behavior, Build permission review, and validation evidence, at minimum.</a:t>
            </a:r>
          </a:p>
          <a:p>
            <a:r>
              <a:t>Close by connecting forward: Module 8 (Service enterprise deployment) picks up exactly where this module ended — workspaces, Apps, refresh, and distribution — so anything they leave unresolved here about workspace roles and App audiences will resurface immediately in Module 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Congratulate the class on completing the security module — this is one of the highest-stakes modules in the workshop because the failure modes it covers are the ones that show up as data-exposure incidents in production, not just as bugs.</a:t>
            </a:r>
          </a:p>
          <a:p>
            <a:r>
              <a:t>Remind them to keep the RLS roles they built — static East Region and dynamic Territory Security — in the PBIP model, because Module 8 will publish and distribute that same model and the roles need to still be in place when it lands in the Service.</a:t>
            </a:r>
          </a:p>
          <a:p>
            <a:r>
              <a:t>Take final questions before moving on, especially anything about workspace-role bypass, Build permission, and B2B UPN mapping — those are the three areas most likely to cause quiet production incidents if left ambiguous.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80644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17320"/>
            <a:ext cx="5486400" cy="457200"/>
          </a:xfrm>
          <a:prstGeom prst="rect">
            <a:avLst/>
          </a:prstGeom>
          <a:noFill/>
        </p:spPr>
        <p:txBody>
          <a:bodyPr wrap="square" anchor="t" lIns="0" rIns="0" tIns="0" bIns="0">
            <a:spAutoFit/>
          </a:bodyPr>
          <a:lstStyle/>
          <a:p>
            <a:pPr algn="l">
              <a:lnSpc>
                <a:spcPct val="100000"/>
              </a:lnSpc>
              <a:spcAft>
                <a:spcPts val="0"/>
              </a:spcAft>
            </a:pPr>
            <a:r>
              <a:rPr sz="1600" b="1" i="0">
                <a:solidFill>
                  <a:srgbClr val="E8B44A"/>
                </a:solidFill>
                <a:latin typeface="Calibri"/>
              </a:rPr>
              <a:t>MODULE 07</a:t>
            </a:r>
          </a:p>
        </p:txBody>
      </p:sp>
      <p:sp>
        <p:nvSpPr>
          <p:cNvPr id="5" name="TextBox 4"/>
          <p:cNvSpPr txBox="1"/>
          <p:nvPr/>
        </p:nvSpPr>
        <p:spPr>
          <a:xfrm>
            <a:off x="822960" y="1874519"/>
            <a:ext cx="9601200" cy="1920240"/>
          </a:xfrm>
          <a:prstGeom prst="rect">
            <a:avLst/>
          </a:prstGeom>
          <a:noFill/>
        </p:spPr>
        <p:txBody>
          <a:bodyPr wrap="square" anchor="t" lIns="0" rIns="0" tIns="0" bIns="0">
            <a:spAutoFit/>
          </a:bodyPr>
          <a:lstStyle/>
          <a:p>
            <a:pPr algn="l">
              <a:lnSpc>
                <a:spcPct val="105000"/>
              </a:lnSpc>
              <a:spcAft>
                <a:spcPts val="0"/>
              </a:spcAft>
            </a:pPr>
            <a:r>
              <a:rPr sz="4400" b="1" i="0">
                <a:solidFill>
                  <a:srgbClr val="FFFFFF"/>
                </a:solidFill>
                <a:latin typeface="Cambria"/>
              </a:rPr>
              <a:t>Security Design</a:t>
            </a:r>
          </a:p>
        </p:txBody>
      </p:sp>
      <p:sp>
        <p:nvSpPr>
          <p:cNvPr id="6" name="TextBox 5"/>
          <p:cNvSpPr txBox="1"/>
          <p:nvPr/>
        </p:nvSpPr>
        <p:spPr>
          <a:xfrm>
            <a:off x="822960" y="3703320"/>
            <a:ext cx="9601200" cy="914400"/>
          </a:xfrm>
          <a:prstGeom prst="rect">
            <a:avLst/>
          </a:prstGeom>
          <a:noFill/>
        </p:spPr>
        <p:txBody>
          <a:bodyPr wrap="square" anchor="t" lIns="0" rIns="0" tIns="0" bIns="0">
            <a:spAutoFit/>
          </a:bodyPr>
          <a:lstStyle/>
          <a:p>
            <a:pPr algn="l">
              <a:lnSpc>
                <a:spcPct val="100000"/>
              </a:lnSpc>
              <a:spcAft>
                <a:spcPts val="0"/>
              </a:spcAft>
            </a:pPr>
            <a:r>
              <a:rPr sz="2000" b="0" i="1">
                <a:solidFill>
                  <a:srgbClr val="CADCFC"/>
                </a:solidFill>
                <a:latin typeface="Calibri"/>
              </a:rPr>
              <a:t>Layered Power BI security: RLS, dynamic role filters, OLS, Build permission, sensitivity labels, and Gov-aware sharing patterns.</a:t>
            </a:r>
          </a:p>
        </p:txBody>
      </p:sp>
      <p:sp>
        <p:nvSpPr>
          <p:cNvPr id="7" name="TextBox 6"/>
          <p:cNvSpPr txBox="1"/>
          <p:nvPr/>
        </p:nvSpPr>
        <p:spPr>
          <a:xfrm>
            <a:off x="822960" y="6035040"/>
            <a:ext cx="9144000" cy="548640"/>
          </a:xfrm>
          <a:prstGeom prst="rect">
            <a:avLst/>
          </a:prstGeom>
          <a:noFill/>
        </p:spPr>
        <p:txBody>
          <a:bodyPr wrap="square" anchor="t" lIns="0" rIns="0" tIns="0" bIns="0">
            <a:spAutoFit/>
          </a:bodyPr>
          <a:lstStyle/>
          <a:p>
            <a:pPr algn="l">
              <a:lnSpc>
                <a:spcPct val="100000"/>
              </a:lnSpc>
              <a:spcAft>
                <a:spcPts val="0"/>
              </a:spcAft>
            </a:pPr>
            <a:r>
              <a:rPr sz="1300" b="0" i="0">
                <a:solidFill>
                  <a:srgbClr val="CADCFC"/>
                </a:solidFill>
                <a:latin typeface="Calibri"/>
              </a:rPr>
              <a:t>Advanced Power BI Training — Instructor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MODULE 07 AGENDA</a:t>
            </a:r>
          </a:p>
        </p:txBody>
      </p:sp>
      <p:sp>
        <p:nvSpPr>
          <p:cNvPr id="5" name="TextBox 4"/>
          <p:cNvSpPr txBox="1"/>
          <p:nvPr/>
        </p:nvSpPr>
        <p:spPr>
          <a:xfrm>
            <a:off x="640080" y="868680"/>
            <a:ext cx="8229600" cy="640080"/>
          </a:xfrm>
          <a:prstGeom prst="rect">
            <a:avLst/>
          </a:prstGeom>
          <a:noFill/>
        </p:spPr>
        <p:txBody>
          <a:bodyPr wrap="square" anchor="t" lIns="0" rIns="0" tIns="0" bIns="0">
            <a:spAutoFit/>
          </a:bodyPr>
          <a:lstStyle/>
          <a:p>
            <a:pPr algn="l">
              <a:lnSpc>
                <a:spcPct val="100000"/>
              </a:lnSpc>
              <a:spcAft>
                <a:spcPts val="0"/>
              </a:spcAft>
            </a:pPr>
            <a:r>
              <a:rPr sz="3200" b="1" i="0">
                <a:solidFill>
                  <a:srgbClr val="141B45"/>
                </a:solidFill>
                <a:latin typeface="Cambria"/>
              </a:rPr>
              <a:t>What We'll Cover</a:t>
            </a:r>
          </a:p>
        </p:txBody>
      </p:sp>
      <p:sp>
        <p:nvSpPr>
          <p:cNvPr id="6" name="Rectangle 5"/>
          <p:cNvSpPr/>
          <p:nvPr/>
        </p:nvSpPr>
        <p:spPr>
          <a:xfrm>
            <a:off x="640080" y="178308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8308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a:t>
            </a:r>
          </a:p>
        </p:txBody>
      </p:sp>
      <p:sp>
        <p:nvSpPr>
          <p:cNvPr id="8" name="TextBox 7"/>
          <p:cNvSpPr txBox="1"/>
          <p:nvPr/>
        </p:nvSpPr>
        <p:spPr>
          <a:xfrm>
            <a:off x="1170432" y="180136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Power BI security layers</a:t>
            </a:r>
          </a:p>
        </p:txBody>
      </p:sp>
      <p:sp>
        <p:nvSpPr>
          <p:cNvPr id="9" name="Rectangle 8"/>
          <p:cNvSpPr/>
          <p:nvPr/>
        </p:nvSpPr>
        <p:spPr>
          <a:xfrm>
            <a:off x="640080" y="2442754"/>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42754"/>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2</a:t>
            </a:r>
          </a:p>
        </p:txBody>
      </p:sp>
      <p:sp>
        <p:nvSpPr>
          <p:cNvPr id="11" name="TextBox 10"/>
          <p:cNvSpPr txBox="1"/>
          <p:nvPr/>
        </p:nvSpPr>
        <p:spPr>
          <a:xfrm>
            <a:off x="1170432" y="2461042"/>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Content access vs. data access</a:t>
            </a:r>
          </a:p>
        </p:txBody>
      </p:sp>
      <p:sp>
        <p:nvSpPr>
          <p:cNvPr id="12" name="Rectangle 11"/>
          <p:cNvSpPr/>
          <p:nvPr/>
        </p:nvSpPr>
        <p:spPr>
          <a:xfrm>
            <a:off x="640080" y="3102428"/>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102428"/>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3</a:t>
            </a:r>
          </a:p>
        </p:txBody>
      </p:sp>
      <p:sp>
        <p:nvSpPr>
          <p:cNvPr id="14" name="TextBox 13"/>
          <p:cNvSpPr txBox="1"/>
          <p:nvPr/>
        </p:nvSpPr>
        <p:spPr>
          <a:xfrm>
            <a:off x="1170432" y="3120716"/>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Static RLS</a:t>
            </a:r>
          </a:p>
        </p:txBody>
      </p:sp>
      <p:sp>
        <p:nvSpPr>
          <p:cNvPr id="15" name="Rectangle 14"/>
          <p:cNvSpPr/>
          <p:nvPr/>
        </p:nvSpPr>
        <p:spPr>
          <a:xfrm>
            <a:off x="640080" y="3762102"/>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762102"/>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4</a:t>
            </a:r>
          </a:p>
        </p:txBody>
      </p:sp>
      <p:sp>
        <p:nvSpPr>
          <p:cNvPr id="17" name="TextBox 16"/>
          <p:cNvSpPr txBox="1"/>
          <p:nvPr/>
        </p:nvSpPr>
        <p:spPr>
          <a:xfrm>
            <a:off x="1170432" y="3780390"/>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Dynamic RLS</a:t>
            </a:r>
          </a:p>
        </p:txBody>
      </p:sp>
      <p:sp>
        <p:nvSpPr>
          <p:cNvPr id="18" name="Rectangle 17"/>
          <p:cNvSpPr/>
          <p:nvPr/>
        </p:nvSpPr>
        <p:spPr>
          <a:xfrm>
            <a:off x="640080" y="4421776"/>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421776"/>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5</a:t>
            </a:r>
          </a:p>
        </p:txBody>
      </p:sp>
      <p:sp>
        <p:nvSpPr>
          <p:cNvPr id="20" name="TextBox 19"/>
          <p:cNvSpPr txBox="1"/>
          <p:nvPr/>
        </p:nvSpPr>
        <p:spPr>
          <a:xfrm>
            <a:off x="1170432" y="4440064"/>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Service role assignment</a:t>
            </a:r>
          </a:p>
        </p:txBody>
      </p:sp>
      <p:sp>
        <p:nvSpPr>
          <p:cNvPr id="21" name="Rectangle 20"/>
          <p:cNvSpPr/>
          <p:nvPr/>
        </p:nvSpPr>
        <p:spPr>
          <a:xfrm>
            <a:off x="640080" y="508145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508145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6</a:t>
            </a:r>
          </a:p>
        </p:txBody>
      </p:sp>
      <p:sp>
        <p:nvSpPr>
          <p:cNvPr id="23" name="TextBox 22"/>
          <p:cNvSpPr txBox="1"/>
          <p:nvPr/>
        </p:nvSpPr>
        <p:spPr>
          <a:xfrm>
            <a:off x="1170432" y="509973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Build permission</a:t>
            </a:r>
          </a:p>
        </p:txBody>
      </p:sp>
      <p:sp>
        <p:nvSpPr>
          <p:cNvPr id="24" name="Rectangle 23"/>
          <p:cNvSpPr/>
          <p:nvPr/>
        </p:nvSpPr>
        <p:spPr>
          <a:xfrm>
            <a:off x="640080" y="5741124"/>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741124"/>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7</a:t>
            </a:r>
          </a:p>
        </p:txBody>
      </p:sp>
      <p:sp>
        <p:nvSpPr>
          <p:cNvPr id="26" name="TextBox 25"/>
          <p:cNvSpPr txBox="1"/>
          <p:nvPr/>
        </p:nvSpPr>
        <p:spPr>
          <a:xfrm>
            <a:off x="1170432" y="5759412"/>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Object-level security (OLS)</a:t>
            </a:r>
          </a:p>
        </p:txBody>
      </p:sp>
      <p:sp>
        <p:nvSpPr>
          <p:cNvPr id="27" name="Rectangle 26"/>
          <p:cNvSpPr/>
          <p:nvPr/>
        </p:nvSpPr>
        <p:spPr>
          <a:xfrm>
            <a:off x="6309360" y="178308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178308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8</a:t>
            </a:r>
          </a:p>
        </p:txBody>
      </p:sp>
      <p:sp>
        <p:nvSpPr>
          <p:cNvPr id="29" name="TextBox 28"/>
          <p:cNvSpPr txBox="1"/>
          <p:nvPr/>
        </p:nvSpPr>
        <p:spPr>
          <a:xfrm>
            <a:off x="6839712" y="180136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Sensitivity labels and Purview</a:t>
            </a:r>
          </a:p>
        </p:txBody>
      </p:sp>
      <p:sp>
        <p:nvSpPr>
          <p:cNvPr id="30" name="Rectangle 29"/>
          <p:cNvSpPr/>
          <p:nvPr/>
        </p:nvSpPr>
        <p:spPr>
          <a:xfrm>
            <a:off x="6309360" y="2442754"/>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2442754"/>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9</a:t>
            </a:r>
          </a:p>
        </p:txBody>
      </p:sp>
      <p:sp>
        <p:nvSpPr>
          <p:cNvPr id="32" name="TextBox 31"/>
          <p:cNvSpPr txBox="1"/>
          <p:nvPr/>
        </p:nvSpPr>
        <p:spPr>
          <a:xfrm>
            <a:off x="6839712" y="2461042"/>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Sharing and external users</a:t>
            </a:r>
          </a:p>
        </p:txBody>
      </p:sp>
      <p:sp>
        <p:nvSpPr>
          <p:cNvPr id="33" name="Rectangle 32"/>
          <p:cNvSpPr/>
          <p:nvPr/>
        </p:nvSpPr>
        <p:spPr>
          <a:xfrm>
            <a:off x="6309360" y="3102428"/>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0" y="3102428"/>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10</a:t>
            </a:r>
          </a:p>
        </p:txBody>
      </p:sp>
      <p:sp>
        <p:nvSpPr>
          <p:cNvPr id="35" name="TextBox 34"/>
          <p:cNvSpPr txBox="1"/>
          <p:nvPr/>
        </p:nvSpPr>
        <p:spPr>
          <a:xfrm>
            <a:off x="6839712" y="3120716"/>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Security testing</a:t>
            </a:r>
          </a:p>
        </p:txBody>
      </p:sp>
      <p:sp>
        <p:nvSpPr>
          <p:cNvPr id="36" name="Rectangle 35"/>
          <p:cNvSpPr/>
          <p:nvPr/>
        </p:nvSpPr>
        <p:spPr>
          <a:xfrm>
            <a:off x="6309360" y="3762102"/>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9360" y="3762102"/>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11</a:t>
            </a:r>
          </a:p>
        </p:txBody>
      </p:sp>
      <p:sp>
        <p:nvSpPr>
          <p:cNvPr id="38" name="TextBox 37"/>
          <p:cNvSpPr txBox="1"/>
          <p:nvPr/>
        </p:nvSpPr>
        <p:spPr>
          <a:xfrm>
            <a:off x="6839712" y="3780390"/>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Azure Government considerations</a:t>
            </a:r>
          </a:p>
        </p:txBody>
      </p:sp>
      <p:sp>
        <p:nvSpPr>
          <p:cNvPr id="39" name="Rectangle 38"/>
          <p:cNvSpPr/>
          <p:nvPr/>
        </p:nvSpPr>
        <p:spPr>
          <a:xfrm>
            <a:off x="6309360" y="4421776"/>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09360" y="4421776"/>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12</a:t>
            </a:r>
          </a:p>
        </p:txBody>
      </p:sp>
      <p:sp>
        <p:nvSpPr>
          <p:cNvPr id="41" name="TextBox 40"/>
          <p:cNvSpPr txBox="1"/>
          <p:nvPr/>
        </p:nvSpPr>
        <p:spPr>
          <a:xfrm>
            <a:off x="6839712" y="4440064"/>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Security review checklist</a:t>
            </a:r>
          </a:p>
        </p:txBody>
      </p:sp>
      <p:sp>
        <p:nvSpPr>
          <p:cNvPr id="42" name="Rectangle 41"/>
          <p:cNvSpPr/>
          <p:nvPr/>
        </p:nvSpPr>
        <p:spPr>
          <a:xfrm>
            <a:off x="6309360" y="508145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508145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13</a:t>
            </a:r>
          </a:p>
        </p:txBody>
      </p:sp>
      <p:sp>
        <p:nvSpPr>
          <p:cNvPr id="44" name="TextBox 43"/>
          <p:cNvSpPr txBox="1"/>
          <p:nvPr/>
        </p:nvSpPr>
        <p:spPr>
          <a:xfrm>
            <a:off x="6839712" y="509973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Module lab walkthrough</a:t>
            </a:r>
          </a:p>
        </p:txBody>
      </p:sp>
      <p:sp>
        <p:nvSpPr>
          <p:cNvPr id="45" name="Rectangle 44"/>
          <p:cNvSpPr/>
          <p:nvPr/>
        </p:nvSpPr>
        <p:spPr>
          <a:xfrm>
            <a:off x="6309360" y="5741124"/>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09360" y="5741124"/>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14</a:t>
            </a:r>
          </a:p>
        </p:txBody>
      </p:sp>
      <p:sp>
        <p:nvSpPr>
          <p:cNvPr id="47" name="TextBox 46"/>
          <p:cNvSpPr txBox="1"/>
          <p:nvPr/>
        </p:nvSpPr>
        <p:spPr>
          <a:xfrm>
            <a:off x="6839712" y="5759412"/>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Knowledge check and discussion</a:t>
            </a:r>
          </a:p>
        </p:txBody>
      </p:sp>
      <p:sp>
        <p:nvSpPr>
          <p:cNvPr id="48" name="TextBox 4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01</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Power BI Security Layers</a:t>
            </a:r>
          </a:p>
        </p:txBody>
      </p:sp>
      <p:graphicFrame>
        <p:nvGraphicFramePr>
          <p:cNvPr id="6" name="Table 5"/>
          <p:cNvGraphicFramePr>
            <a:graphicFrameLocks noGrp="1"/>
          </p:cNvGraphicFramePr>
          <p:nvPr/>
        </p:nvGraphicFramePr>
        <p:xfrm>
          <a:off x="640080" y="1325880"/>
          <a:ext cx="10881360" cy="4663440"/>
        </p:xfrm>
        <a:graphic>
          <a:graphicData uri="http://schemas.openxmlformats.org/drawingml/2006/table">
            <a:tbl>
              <a:tblPr firstRow="1" bandRow="1">
                <a:tableStyleId>{5C22544A-7EE6-4342-B048-85BDC9FD1C3A}</a:tableStyleId>
              </a:tblPr>
              <a:tblGrid>
                <a:gridCol w="2377440"/>
                <a:gridCol w="5120640"/>
                <a:gridCol w="3383280"/>
              </a:tblGrid>
              <a:tr h="666205">
                <a:tc>
                  <a:txBody>
                    <a:bodyPr/>
                    <a:lstStyle/>
                    <a:p>
                      <a:pPr algn="l"/>
                      <a:r>
                        <a:rPr b="1" sz="1250">
                          <a:solidFill>
                            <a:srgbClr val="FFFFFF"/>
                          </a:solidFill>
                          <a:latin typeface="Calibri"/>
                        </a:rPr>
                        <a:t>Layer</a:t>
                      </a:r>
                    </a:p>
                  </a:txBody>
                  <a:tcPr>
                    <a:solidFill>
                      <a:srgbClr val="1E2761"/>
                    </a:solidFill>
                  </a:tcPr>
                </a:tc>
                <a:tc>
                  <a:txBody>
                    <a:bodyPr/>
                    <a:lstStyle/>
                    <a:p>
                      <a:pPr algn="l"/>
                      <a:r>
                        <a:rPr b="1" sz="1250">
                          <a:solidFill>
                            <a:srgbClr val="FFFFFF"/>
                          </a:solidFill>
                          <a:latin typeface="Calibri"/>
                        </a:rPr>
                        <a:t>Controls</a:t>
                      </a:r>
                    </a:p>
                  </a:txBody>
                  <a:tcPr>
                    <a:solidFill>
                      <a:srgbClr val="1E2761"/>
                    </a:solidFill>
                  </a:tcPr>
                </a:tc>
                <a:tc>
                  <a:txBody>
                    <a:bodyPr/>
                    <a:lstStyle/>
                    <a:p>
                      <a:pPr algn="l"/>
                      <a:r>
                        <a:rPr b="1" sz="1250">
                          <a:solidFill>
                            <a:srgbClr val="FFFFFF"/>
                          </a:solidFill>
                          <a:latin typeface="Calibri"/>
                        </a:rPr>
                        <a:t>Where it is configured</a:t>
                      </a:r>
                    </a:p>
                  </a:txBody>
                  <a:tcPr>
                    <a:solidFill>
                      <a:srgbClr val="1E2761"/>
                    </a:solidFill>
                  </a:tcPr>
                </a:tc>
              </a:tr>
              <a:tr h="666205">
                <a:tc>
                  <a:txBody>
                    <a:bodyPr/>
                    <a:lstStyle/>
                    <a:p>
                      <a:r>
                        <a:rPr sz="1150">
                          <a:solidFill>
                            <a:srgbClr val="1F2328"/>
                          </a:solidFill>
                          <a:latin typeface="Calibri"/>
                        </a:rPr>
                        <a:t>Tenant settings</a:t>
                      </a:r>
                    </a:p>
                  </a:txBody>
                  <a:tcPr>
                    <a:solidFill>
                      <a:srgbClr val="FFFFFF"/>
                    </a:solidFill>
                  </a:tcPr>
                </a:tc>
                <a:tc>
                  <a:txBody>
                    <a:bodyPr/>
                    <a:lstStyle/>
                    <a:p>
                      <a:r>
                        <a:rPr sz="1150">
                          <a:solidFill>
                            <a:srgbClr val="1F2328"/>
                          </a:solidFill>
                          <a:latin typeface="Calibri"/>
                        </a:rPr>
                        <a:t>Global enablement of features like external sharing, export, Analyze in Excel, and custom visuals.</a:t>
                      </a:r>
                    </a:p>
                  </a:txBody>
                  <a:tcPr>
                    <a:solidFill>
                      <a:srgbClr val="FFFFFF"/>
                    </a:solidFill>
                  </a:tcPr>
                </a:tc>
                <a:tc>
                  <a:txBody>
                    <a:bodyPr/>
                    <a:lstStyle/>
                    <a:p>
                      <a:r>
                        <a:rPr sz="1150">
                          <a:solidFill>
                            <a:srgbClr val="1F2328"/>
                          </a:solidFill>
                          <a:latin typeface="Calibri"/>
                        </a:rPr>
                        <a:t>Power BI Admin portal (tenant admin).</a:t>
                      </a:r>
                    </a:p>
                  </a:txBody>
                  <a:tcPr>
                    <a:solidFill>
                      <a:srgbClr val="FFFFFF"/>
                    </a:solidFill>
                  </a:tcPr>
                </a:tc>
              </a:tr>
              <a:tr h="666205">
                <a:tc>
                  <a:txBody>
                    <a:bodyPr/>
                    <a:lstStyle/>
                    <a:p>
                      <a:r>
                        <a:rPr sz="1150">
                          <a:solidFill>
                            <a:srgbClr val="1F2328"/>
                          </a:solidFill>
                          <a:latin typeface="Calibri"/>
                        </a:rPr>
                        <a:t>Workspace roles</a:t>
                      </a:r>
                    </a:p>
                  </a:txBody>
                  <a:tcPr>
                    <a:solidFill>
                      <a:srgbClr val="F6F8FC"/>
                    </a:solidFill>
                  </a:tcPr>
                </a:tc>
                <a:tc>
                  <a:txBody>
                    <a:bodyPr/>
                    <a:lstStyle/>
                    <a:p>
                      <a:r>
                        <a:rPr sz="1150">
                          <a:solidFill>
                            <a:srgbClr val="1F2328"/>
                          </a:solidFill>
                          <a:latin typeface="Calibri"/>
                        </a:rPr>
                        <a:t>Admin / Member / Contributor / Viewer inside a workspace — broad content and publishing rights.</a:t>
                      </a:r>
                    </a:p>
                  </a:txBody>
                  <a:tcPr>
                    <a:solidFill>
                      <a:srgbClr val="F6F8FC"/>
                    </a:solidFill>
                  </a:tcPr>
                </a:tc>
                <a:tc>
                  <a:txBody>
                    <a:bodyPr/>
                    <a:lstStyle/>
                    <a:p>
                      <a:r>
                        <a:rPr sz="1150">
                          <a:solidFill>
                            <a:srgbClr val="1F2328"/>
                          </a:solidFill>
                          <a:latin typeface="Calibri"/>
                        </a:rPr>
                        <a:t>Workspace → Access.</a:t>
                      </a:r>
                    </a:p>
                  </a:txBody>
                  <a:tcPr>
                    <a:solidFill>
                      <a:srgbClr val="F6F8FC"/>
                    </a:solidFill>
                  </a:tcPr>
                </a:tc>
              </a:tr>
              <a:tr h="666205">
                <a:tc>
                  <a:txBody>
                    <a:bodyPr/>
                    <a:lstStyle/>
                    <a:p>
                      <a:r>
                        <a:rPr sz="1150">
                          <a:solidFill>
                            <a:srgbClr val="1F2328"/>
                          </a:solidFill>
                          <a:latin typeface="Calibri"/>
                        </a:rPr>
                        <a:t>App audiences</a:t>
                      </a:r>
                    </a:p>
                  </a:txBody>
                  <a:tcPr>
                    <a:solidFill>
                      <a:srgbClr val="FFFFFF"/>
                    </a:solidFill>
                  </a:tcPr>
                </a:tc>
                <a:tc>
                  <a:txBody>
                    <a:bodyPr/>
                    <a:lstStyle/>
                    <a:p>
                      <a:r>
                        <a:rPr sz="1150">
                          <a:solidFill>
                            <a:srgbClr val="1F2328"/>
                          </a:solidFill>
                          <a:latin typeface="Calibri"/>
                        </a:rPr>
                        <a:t>Which users see which pages and which artifacts through a published App.</a:t>
                      </a:r>
                    </a:p>
                  </a:txBody>
                  <a:tcPr>
                    <a:solidFill>
                      <a:srgbClr val="FFFFFF"/>
                    </a:solidFill>
                  </a:tcPr>
                </a:tc>
                <a:tc>
                  <a:txBody>
                    <a:bodyPr/>
                    <a:lstStyle/>
                    <a:p>
                      <a:r>
                        <a:rPr sz="1150">
                          <a:solidFill>
                            <a:srgbClr val="1F2328"/>
                          </a:solidFill>
                          <a:latin typeface="Calibri"/>
                        </a:rPr>
                        <a:t>Workspace → Create/Update App → Audiences.</a:t>
                      </a:r>
                    </a:p>
                  </a:txBody>
                  <a:tcPr>
                    <a:solidFill>
                      <a:srgbClr val="FFFFFF"/>
                    </a:solidFill>
                  </a:tcPr>
                </a:tc>
              </a:tr>
              <a:tr h="666205">
                <a:tc>
                  <a:txBody>
                    <a:bodyPr/>
                    <a:lstStyle/>
                    <a:p>
                      <a:r>
                        <a:rPr sz="1150">
                          <a:solidFill>
                            <a:srgbClr val="1F2328"/>
                          </a:solidFill>
                          <a:latin typeface="Calibri"/>
                        </a:rPr>
                        <a:t>Sharing links &amp; Build permission</a:t>
                      </a:r>
                    </a:p>
                  </a:txBody>
                  <a:tcPr>
                    <a:solidFill>
                      <a:srgbClr val="F6F8FC"/>
                    </a:solidFill>
                  </a:tcPr>
                </a:tc>
                <a:tc>
                  <a:txBody>
                    <a:bodyPr/>
                    <a:lstStyle/>
                    <a:p>
                      <a:r>
                        <a:rPr sz="1150">
                          <a:solidFill>
                            <a:srgbClr val="1F2328"/>
                          </a:solidFill>
                          <a:latin typeface="Calibri"/>
                        </a:rPr>
                        <a:t>Direct per-item share; Build lets a user reuse the semantic model in a new report or Analyze in Excel.</a:t>
                      </a:r>
                    </a:p>
                  </a:txBody>
                  <a:tcPr>
                    <a:solidFill>
                      <a:srgbClr val="F6F8FC"/>
                    </a:solidFill>
                  </a:tcPr>
                </a:tc>
                <a:tc>
                  <a:txBody>
                    <a:bodyPr/>
                    <a:lstStyle/>
                    <a:p>
                      <a:r>
                        <a:rPr sz="1150">
                          <a:solidFill>
                            <a:srgbClr val="1F2328"/>
                          </a:solidFill>
                          <a:latin typeface="Calibri"/>
                        </a:rPr>
                        <a:t>Item → Share / Manage permissions.</a:t>
                      </a:r>
                    </a:p>
                  </a:txBody>
                  <a:tcPr>
                    <a:solidFill>
                      <a:srgbClr val="F6F8FC"/>
                    </a:solidFill>
                  </a:tcPr>
                </a:tc>
              </a:tr>
              <a:tr h="666205">
                <a:tc>
                  <a:txBody>
                    <a:bodyPr/>
                    <a:lstStyle/>
                    <a:p>
                      <a:r>
                        <a:rPr sz="1150">
                          <a:solidFill>
                            <a:srgbClr val="1F2328"/>
                          </a:solidFill>
                          <a:latin typeface="Calibri"/>
                        </a:rPr>
                        <a:t>RLS and OLS</a:t>
                      </a:r>
                    </a:p>
                  </a:txBody>
                  <a:tcPr>
                    <a:solidFill>
                      <a:srgbClr val="FFFFFF"/>
                    </a:solidFill>
                  </a:tcPr>
                </a:tc>
                <a:tc>
                  <a:txBody>
                    <a:bodyPr/>
                    <a:lstStyle/>
                    <a:p>
                      <a:r>
                        <a:rPr sz="1150">
                          <a:solidFill>
                            <a:srgbClr val="1F2328"/>
                          </a:solidFill>
                          <a:latin typeface="Calibri"/>
                        </a:rPr>
                        <a:t>RLS filters rows a user can read; OLS hides entire tables or columns from a user.</a:t>
                      </a:r>
                    </a:p>
                  </a:txBody>
                  <a:tcPr>
                    <a:solidFill>
                      <a:srgbClr val="FFFFFF"/>
                    </a:solidFill>
                  </a:tcPr>
                </a:tc>
                <a:tc>
                  <a:txBody>
                    <a:bodyPr/>
                    <a:lstStyle/>
                    <a:p>
                      <a:r>
                        <a:rPr sz="1150">
                          <a:solidFill>
                            <a:srgbClr val="1F2328"/>
                          </a:solidFill>
                          <a:latin typeface="Calibri"/>
                        </a:rPr>
                        <a:t>Desktop → Modeling → Manage roles; OLS via XMLA/tools.</a:t>
                      </a:r>
                    </a:p>
                  </a:txBody>
                  <a:tcPr>
                    <a:solidFill>
                      <a:srgbClr val="FFFFFF"/>
                    </a:solidFill>
                  </a:tcPr>
                </a:tc>
              </a:tr>
              <a:tr h="666210">
                <a:tc>
                  <a:txBody>
                    <a:bodyPr/>
                    <a:lstStyle/>
                    <a:p>
                      <a:r>
                        <a:rPr sz="1150">
                          <a:solidFill>
                            <a:srgbClr val="1F2328"/>
                          </a:solidFill>
                          <a:latin typeface="Calibri"/>
                        </a:rPr>
                        <a:t>Sensitivity labels</a:t>
                      </a:r>
                    </a:p>
                  </a:txBody>
                  <a:tcPr>
                    <a:solidFill>
                      <a:srgbClr val="F6F8FC"/>
                    </a:solidFill>
                  </a:tcPr>
                </a:tc>
                <a:tc>
                  <a:txBody>
                    <a:bodyPr/>
                    <a:lstStyle/>
                    <a:p>
                      <a:r>
                        <a:rPr sz="1150">
                          <a:solidFill>
                            <a:srgbClr val="1F2328"/>
                          </a:solidFill>
                          <a:latin typeface="Calibri"/>
                        </a:rPr>
                        <a:t>Classify items (e.g. Confidential) and enforce export / DLP behavior downstream.</a:t>
                      </a:r>
                    </a:p>
                  </a:txBody>
                  <a:tcPr>
                    <a:solidFill>
                      <a:srgbClr val="F6F8FC"/>
                    </a:solidFill>
                  </a:tcPr>
                </a:tc>
                <a:tc>
                  <a:txBody>
                    <a:bodyPr/>
                    <a:lstStyle/>
                    <a:p>
                      <a:r>
                        <a:rPr sz="1150">
                          <a:solidFill>
                            <a:srgbClr val="1F2328"/>
                          </a:solidFill>
                          <a:latin typeface="Calibri"/>
                        </a:rPr>
                        <a:t>Requires Microsoft Purview Information Protection.</a:t>
                      </a:r>
                    </a:p>
                  </a:txBody>
                  <a:tcPr>
                    <a:solidFill>
                      <a:srgbClr val="F6F8FC"/>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the lab focuses on the RLS row of this table (Exercises 1-3). All other layers are set up outside Desktop — do not confuse a well-built RLS role with a complete security design.</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02</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Content Access vs. Data Access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Content access answers 'can this user open the report or see the semantic model in a workspace or App?' — workspace roles, App audiences, and direct sharing decide this.</a:t>
            </a:r>
          </a:p>
          <a:p>
            <a:pPr>
              <a:lnSpc>
                <a:spcPct val="105000"/>
              </a:lnSpc>
              <a:spcAft>
                <a:spcPts val="1000"/>
              </a:spcAft>
              <a:buClr>
                <a:srgbClr val="1E2761"/>
              </a:buClr>
              <a:buFont typeface="Arial"/>
              <a:buChar char="•"/>
            </a:pPr>
            <a:r>
              <a:rPr sz="1450">
                <a:solidFill>
                  <a:srgbClr val="1F2328"/>
                </a:solidFill>
                <a:latin typeface="Calibri"/>
              </a:rPr>
              <a:t>Build permission answers 'can this user connect to the underlying semantic model from a new report, Excel, or XMLA endpoint?' — it is separate from view access.</a:t>
            </a:r>
          </a:p>
          <a:p>
            <a:pPr>
              <a:lnSpc>
                <a:spcPct val="105000"/>
              </a:lnSpc>
              <a:spcAft>
                <a:spcPts val="1000"/>
              </a:spcAft>
              <a:buClr>
                <a:srgbClr val="1E2761"/>
              </a:buClr>
              <a:buFont typeface="Arial"/>
              <a:buChar char="•"/>
            </a:pPr>
            <a:r>
              <a:rPr sz="1450">
                <a:solidFill>
                  <a:srgbClr val="1F2328"/>
                </a:solidFill>
                <a:latin typeface="Calibri"/>
              </a:rPr>
              <a:t>Data access answers 'once inside, which rows and columns does this user actually read?' — RLS filters rows, OLS hides tables and columns.</a:t>
            </a:r>
          </a:p>
          <a:p>
            <a:pPr>
              <a:lnSpc>
                <a:spcPct val="105000"/>
              </a:lnSpc>
              <a:spcAft>
                <a:spcPts val="1000"/>
              </a:spcAft>
              <a:buClr>
                <a:srgbClr val="1E2761"/>
              </a:buClr>
              <a:buFont typeface="Arial"/>
              <a:buChar char="•"/>
            </a:pPr>
            <a:r>
              <a:rPr sz="1450">
                <a:solidFill>
                  <a:srgbClr val="1F2328"/>
                </a:solidFill>
                <a:latin typeface="Calibri"/>
              </a:rPr>
              <a:t>These three questions are answered by three different layers. Granting one does not grant the others, and denying one does not automatically deny the others.</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Treating 'they can open the report' as equivalent to 'they can only see their own data' is the single most common security-design mistake in Power BI.</a:t>
            </a:r>
          </a:p>
          <a:p>
            <a:pPr>
              <a:lnSpc>
                <a:spcPct val="105000"/>
              </a:lnSpc>
              <a:spcAft>
                <a:spcPts val="1000"/>
              </a:spcAft>
              <a:buClr>
                <a:srgbClr val="E8B44A"/>
              </a:buClr>
              <a:buFont typeface="Arial"/>
              <a:buChar char="•"/>
            </a:pPr>
            <a:r>
              <a:rPr sz="1450">
                <a:solidFill>
                  <a:srgbClr val="1F2328"/>
                </a:solidFill>
                <a:latin typeface="Calibri"/>
              </a:rPr>
              <a:t>A user with only Read access to a report can still be given Build permission on the underlying semantic model — at which point they can reuse the whole model and see every row RLS would have filtered in the report.</a:t>
            </a:r>
          </a:p>
          <a:p>
            <a:pPr>
              <a:lnSpc>
                <a:spcPct val="105000"/>
              </a:lnSpc>
              <a:spcAft>
                <a:spcPts val="1000"/>
              </a:spcAft>
              <a:buClr>
                <a:srgbClr val="E8B44A"/>
              </a:buClr>
              <a:buFont typeface="Arial"/>
              <a:buChar char="•"/>
            </a:pPr>
            <a:r>
              <a:rPr sz="1450">
                <a:solidFill>
                  <a:srgbClr val="1F2328"/>
                </a:solidFill>
                <a:latin typeface="Calibri"/>
              </a:rPr>
              <a:t>Separating the three questions makes review checklists tractable: for every user/group, you check content access, Build permission, and RLS role assignment as three distinct rows — not one blurred column.</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4 is a discussion exercise that walks students through exactly this distinction using the security-role-matrix.csv persona-to-role file.</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03</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Static RLS — Role-to-Filter Mapping</a:t>
            </a:r>
          </a:p>
        </p:txBody>
      </p:sp>
      <p:graphicFrame>
        <p:nvGraphicFramePr>
          <p:cNvPr id="6" name="Table 5"/>
          <p:cNvGraphicFramePr>
            <a:graphicFrameLocks noGrp="1"/>
          </p:cNvGraphicFramePr>
          <p:nvPr/>
        </p:nvGraphicFramePr>
        <p:xfrm>
          <a:off x="640080" y="1325880"/>
          <a:ext cx="10881359" cy="4663440"/>
        </p:xfrm>
        <a:graphic>
          <a:graphicData uri="http://schemas.openxmlformats.org/drawingml/2006/table">
            <a:tbl>
              <a:tblPr firstRow="1" bandRow="1">
                <a:tableStyleId>{5C22544A-7EE6-4342-B048-85BDC9FD1C3A}</a:tableStyleId>
              </a:tblPr>
              <a:tblGrid>
                <a:gridCol w="2530548"/>
                <a:gridCol w="2699252"/>
                <a:gridCol w="5651559"/>
              </a:tblGrid>
              <a:tr h="777240">
                <a:tc>
                  <a:txBody>
                    <a:bodyPr/>
                    <a:lstStyle/>
                    <a:p>
                      <a:pPr algn="l"/>
                      <a:r>
                        <a:rPr b="1" sz="1250">
                          <a:solidFill>
                            <a:srgbClr val="FFFFFF"/>
                          </a:solidFill>
                          <a:latin typeface="Calibri"/>
                        </a:rPr>
                        <a:t>Role name</a:t>
                      </a:r>
                    </a:p>
                  </a:txBody>
                  <a:tcPr>
                    <a:solidFill>
                      <a:srgbClr val="1E2761"/>
                    </a:solidFill>
                  </a:tcPr>
                </a:tc>
                <a:tc>
                  <a:txBody>
                    <a:bodyPr/>
                    <a:lstStyle/>
                    <a:p>
                      <a:pPr algn="l"/>
                      <a:r>
                        <a:rPr b="1" sz="1250">
                          <a:solidFill>
                            <a:srgbClr val="FFFFFF"/>
                          </a:solidFill>
                          <a:latin typeface="Calibri"/>
                        </a:rPr>
                        <a:t>Table filtered</a:t>
                      </a:r>
                    </a:p>
                  </a:txBody>
                  <a:tcPr>
                    <a:solidFill>
                      <a:srgbClr val="1E2761"/>
                    </a:solidFill>
                  </a:tcPr>
                </a:tc>
                <a:tc>
                  <a:txBody>
                    <a:bodyPr/>
                    <a:lstStyle/>
                    <a:p>
                      <a:pPr algn="l"/>
                      <a:r>
                        <a:rPr b="1" sz="1250">
                          <a:solidFill>
                            <a:srgbClr val="FFFFFF"/>
                          </a:solidFill>
                          <a:latin typeface="Calibri"/>
                        </a:rPr>
                        <a:t>DAX filter expression</a:t>
                      </a:r>
                    </a:p>
                  </a:txBody>
                  <a:tcPr>
                    <a:solidFill>
                      <a:srgbClr val="1E2761"/>
                    </a:solidFill>
                  </a:tcPr>
                </a:tc>
              </a:tr>
              <a:tr h="777240">
                <a:tc>
                  <a:txBody>
                    <a:bodyPr/>
                    <a:lstStyle/>
                    <a:p>
                      <a:r>
                        <a:rPr sz="1150">
                          <a:solidFill>
                            <a:srgbClr val="1F2328"/>
                          </a:solidFill>
                          <a:latin typeface="Calibri"/>
                        </a:rPr>
                        <a:t>East Region</a:t>
                      </a:r>
                    </a:p>
                  </a:txBody>
                  <a:tcPr>
                    <a:solidFill>
                      <a:srgbClr val="FFFFFF"/>
                    </a:solidFill>
                  </a:tcPr>
                </a:tc>
                <a:tc>
                  <a:txBody>
                    <a:bodyPr/>
                    <a:lstStyle/>
                    <a:p>
                      <a:r>
                        <a:rPr sz="1150">
                          <a:solidFill>
                            <a:srgbClr val="1F2328"/>
                          </a:solidFill>
                          <a:latin typeface="Calibri"/>
                        </a:rPr>
                        <a:t>DimTerritory</a:t>
                      </a:r>
                    </a:p>
                  </a:txBody>
                  <a:tcPr>
                    <a:solidFill>
                      <a:srgbClr val="FFFFFF"/>
                    </a:solidFill>
                  </a:tcPr>
                </a:tc>
                <a:tc>
                  <a:txBody>
                    <a:bodyPr/>
                    <a:lstStyle/>
                    <a:p>
                      <a:r>
                        <a:rPr sz="1150">
                          <a:solidFill>
                            <a:srgbClr val="1F2328"/>
                          </a:solidFill>
                          <a:latin typeface="Calibri"/>
                        </a:rPr>
                        <a:t>[TerritoryRegion] = "East"</a:t>
                      </a:r>
                    </a:p>
                  </a:txBody>
                  <a:tcPr>
                    <a:solidFill>
                      <a:srgbClr val="FFFFFF"/>
                    </a:solidFill>
                  </a:tcPr>
                </a:tc>
              </a:tr>
              <a:tr h="777240">
                <a:tc>
                  <a:txBody>
                    <a:bodyPr/>
                    <a:lstStyle/>
                    <a:p>
                      <a:r>
                        <a:rPr sz="1150">
                          <a:solidFill>
                            <a:srgbClr val="1F2328"/>
                          </a:solidFill>
                          <a:latin typeface="Calibri"/>
                        </a:rPr>
                        <a:t>West Region</a:t>
                      </a:r>
                    </a:p>
                  </a:txBody>
                  <a:tcPr>
                    <a:solidFill>
                      <a:srgbClr val="F6F8FC"/>
                    </a:solidFill>
                  </a:tcPr>
                </a:tc>
                <a:tc>
                  <a:txBody>
                    <a:bodyPr/>
                    <a:lstStyle/>
                    <a:p>
                      <a:r>
                        <a:rPr sz="1150">
                          <a:solidFill>
                            <a:srgbClr val="1F2328"/>
                          </a:solidFill>
                          <a:latin typeface="Calibri"/>
                        </a:rPr>
                        <a:t>DimTerritory</a:t>
                      </a:r>
                    </a:p>
                  </a:txBody>
                  <a:tcPr>
                    <a:solidFill>
                      <a:srgbClr val="F6F8FC"/>
                    </a:solidFill>
                  </a:tcPr>
                </a:tc>
                <a:tc>
                  <a:txBody>
                    <a:bodyPr/>
                    <a:lstStyle/>
                    <a:p>
                      <a:r>
                        <a:rPr sz="1150">
                          <a:solidFill>
                            <a:srgbClr val="1F2328"/>
                          </a:solidFill>
                          <a:latin typeface="Calibri"/>
                        </a:rPr>
                        <a:t>[TerritoryRegion] = "West"</a:t>
                      </a:r>
                    </a:p>
                  </a:txBody>
                  <a:tcPr>
                    <a:solidFill>
                      <a:srgbClr val="F6F8FC"/>
                    </a:solidFill>
                  </a:tcPr>
                </a:tc>
              </a:tr>
              <a:tr h="777240">
                <a:tc>
                  <a:txBody>
                    <a:bodyPr/>
                    <a:lstStyle/>
                    <a:p>
                      <a:r>
                        <a:rPr sz="1150">
                          <a:solidFill>
                            <a:srgbClr val="1F2328"/>
                          </a:solidFill>
                          <a:latin typeface="Calibri"/>
                        </a:rPr>
                        <a:t>North Region</a:t>
                      </a:r>
                    </a:p>
                  </a:txBody>
                  <a:tcPr>
                    <a:solidFill>
                      <a:srgbClr val="FFFFFF"/>
                    </a:solidFill>
                  </a:tcPr>
                </a:tc>
                <a:tc>
                  <a:txBody>
                    <a:bodyPr/>
                    <a:lstStyle/>
                    <a:p>
                      <a:r>
                        <a:rPr sz="1150">
                          <a:solidFill>
                            <a:srgbClr val="1F2328"/>
                          </a:solidFill>
                          <a:latin typeface="Calibri"/>
                        </a:rPr>
                        <a:t>DimTerritory</a:t>
                      </a:r>
                    </a:p>
                  </a:txBody>
                  <a:tcPr>
                    <a:solidFill>
                      <a:srgbClr val="FFFFFF"/>
                    </a:solidFill>
                  </a:tcPr>
                </a:tc>
                <a:tc>
                  <a:txBody>
                    <a:bodyPr/>
                    <a:lstStyle/>
                    <a:p>
                      <a:r>
                        <a:rPr sz="1150">
                          <a:solidFill>
                            <a:srgbClr val="1F2328"/>
                          </a:solidFill>
                          <a:latin typeface="Calibri"/>
                        </a:rPr>
                        <a:t>[TerritoryRegion] = "North"</a:t>
                      </a:r>
                    </a:p>
                  </a:txBody>
                  <a:tcPr>
                    <a:solidFill>
                      <a:srgbClr val="FFFFFF"/>
                    </a:solidFill>
                  </a:tcPr>
                </a:tc>
              </a:tr>
              <a:tr h="777240">
                <a:tc>
                  <a:txBody>
                    <a:bodyPr/>
                    <a:lstStyle/>
                    <a:p>
                      <a:r>
                        <a:rPr sz="1150">
                          <a:solidFill>
                            <a:srgbClr val="1F2328"/>
                          </a:solidFill>
                          <a:latin typeface="Calibri"/>
                        </a:rPr>
                        <a:t>US Only</a:t>
                      </a:r>
                    </a:p>
                  </a:txBody>
                  <a:tcPr>
                    <a:solidFill>
                      <a:srgbClr val="F6F8FC"/>
                    </a:solidFill>
                  </a:tcPr>
                </a:tc>
                <a:tc>
                  <a:txBody>
                    <a:bodyPr/>
                    <a:lstStyle/>
                    <a:p>
                      <a:r>
                        <a:rPr sz="1150">
                          <a:solidFill>
                            <a:srgbClr val="1F2328"/>
                          </a:solidFill>
                          <a:latin typeface="Calibri"/>
                        </a:rPr>
                        <a:t>DimTerritory</a:t>
                      </a:r>
                    </a:p>
                  </a:txBody>
                  <a:tcPr>
                    <a:solidFill>
                      <a:srgbClr val="F6F8FC"/>
                    </a:solidFill>
                  </a:tcPr>
                </a:tc>
                <a:tc>
                  <a:txBody>
                    <a:bodyPr/>
                    <a:lstStyle/>
                    <a:p>
                      <a:r>
                        <a:rPr sz="1150">
                          <a:solidFill>
                            <a:srgbClr val="1F2328"/>
                          </a:solidFill>
                          <a:latin typeface="Calibri"/>
                        </a:rPr>
                        <a:t>[TerritoryCountry] = "United States"</a:t>
                      </a:r>
                    </a:p>
                  </a:txBody>
                  <a:tcPr>
                    <a:solidFill>
                      <a:srgbClr val="F6F8FC"/>
                    </a:solidFill>
                  </a:tcPr>
                </a:tc>
              </a:tr>
              <a:tr h="777240">
                <a:tc>
                  <a:txBody>
                    <a:bodyPr/>
                    <a:lstStyle/>
                    <a:p>
                      <a:r>
                        <a:rPr sz="1150">
                          <a:solidFill>
                            <a:srgbClr val="1F2328"/>
                          </a:solidFill>
                          <a:latin typeface="Calibri"/>
                        </a:rPr>
                        <a:t>Read-only Sample</a:t>
                      </a:r>
                    </a:p>
                  </a:txBody>
                  <a:tcPr>
                    <a:solidFill>
                      <a:srgbClr val="FFFFFF"/>
                    </a:solidFill>
                  </a:tcPr>
                </a:tc>
                <a:tc>
                  <a:txBody>
                    <a:bodyPr/>
                    <a:lstStyle/>
                    <a:p>
                      <a:r>
                        <a:rPr sz="1150">
                          <a:solidFill>
                            <a:srgbClr val="1F2328"/>
                          </a:solidFill>
                          <a:latin typeface="Calibri"/>
                        </a:rPr>
                        <a:t>DimCustomer</a:t>
                      </a:r>
                    </a:p>
                  </a:txBody>
                  <a:tcPr>
                    <a:solidFill>
                      <a:srgbClr val="FFFFFF"/>
                    </a:solidFill>
                  </a:tcPr>
                </a:tc>
                <a:tc>
                  <a:txBody>
                    <a:bodyPr/>
                    <a:lstStyle/>
                    <a:p>
                      <a:r>
                        <a:rPr sz="1150">
                          <a:solidFill>
                            <a:srgbClr val="1F2328"/>
                          </a:solidFill>
                          <a:latin typeface="Calibri"/>
                        </a:rPr>
                        <a:t>[CustomerType] = "Reseller"</a:t>
                      </a:r>
                    </a:p>
                  </a:txBody>
                  <a:tcPr>
                    <a:solidFill>
                      <a:srgbClr val="FFFFFF"/>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1 has students create the East Region role exactly as shown above via Modeling → Manage roles, then verify it using Modeling → View as. Filters are placed on the dimension — not on FactSales — so they propagate through the star schema.</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04</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Dynamic RLS — USERPRINCIPALNAME() Filter Flow</a:t>
            </a:r>
          </a:p>
        </p:txBody>
      </p:sp>
      <p:sp>
        <p:nvSpPr>
          <p:cNvPr id="6" name="Rectangle 5"/>
          <p:cNvSpPr/>
          <p:nvPr/>
        </p:nvSpPr>
        <p:spPr>
          <a:xfrm>
            <a:off x="502920" y="2651760"/>
            <a:ext cx="2331720" cy="1280160"/>
          </a:xfrm>
          <a:prstGeom prst="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788920"/>
            <a:ext cx="2148840" cy="594360"/>
          </a:xfrm>
          <a:prstGeom prst="rect">
            <a:avLst/>
          </a:prstGeom>
          <a:noFill/>
        </p:spPr>
        <p:txBody>
          <a:bodyPr wrap="square" anchor="ctr" lIns="0" rIns="0" tIns="0" bIns="0">
            <a:spAutoFit/>
          </a:bodyPr>
          <a:lstStyle/>
          <a:p>
            <a:pPr algn="ctr">
              <a:lnSpc>
                <a:spcPct val="100000"/>
              </a:lnSpc>
              <a:spcAft>
                <a:spcPts val="0"/>
              </a:spcAft>
            </a:pPr>
            <a:r>
              <a:rPr sz="1300" b="1" i="0">
                <a:solidFill>
                  <a:srgbClr val="141B45"/>
                </a:solidFill>
                <a:latin typeface="Calibri"/>
              </a:rPr>
              <a:t>Signed-in user</a:t>
            </a:r>
            <a:br/>
            <a:r>
              <a:rPr sz="1300" b="1" i="0">
                <a:solidFill>
                  <a:srgbClr val="141B45"/>
                </a:solidFill>
                <a:latin typeface="Calibri"/>
              </a:rPr>
              <a:t>USERPRINCIPALNAME()</a:t>
            </a:r>
          </a:p>
        </p:txBody>
      </p:sp>
      <p:sp>
        <p:nvSpPr>
          <p:cNvPr id="8" name="TextBox 7"/>
          <p:cNvSpPr txBox="1"/>
          <p:nvPr/>
        </p:nvSpPr>
        <p:spPr>
          <a:xfrm>
            <a:off x="594360" y="3364992"/>
            <a:ext cx="2148840" cy="502920"/>
          </a:xfrm>
          <a:prstGeom prst="rect">
            <a:avLst/>
          </a:prstGeom>
          <a:noFill/>
        </p:spPr>
        <p:txBody>
          <a:bodyPr wrap="square" anchor="ctr" lIns="0" rIns="0" tIns="0" bIns="0">
            <a:spAutoFit/>
          </a:bodyPr>
          <a:lstStyle/>
          <a:p>
            <a:pPr algn="ctr">
              <a:lnSpc>
                <a:spcPct val="110000"/>
              </a:lnSpc>
              <a:spcAft>
                <a:spcPts val="0"/>
              </a:spcAft>
            </a:pPr>
            <a:r>
              <a:rPr sz="1050" b="0" i="1">
                <a:solidFill>
                  <a:srgbClr val="4B5563"/>
                </a:solidFill>
                <a:latin typeface="Calibri"/>
              </a:rPr>
              <a:t>e.g. jsmith@contoso.gov</a:t>
            </a:r>
          </a:p>
        </p:txBody>
      </p:sp>
      <p:sp>
        <p:nvSpPr>
          <p:cNvPr id="9" name="Rectangle 8"/>
          <p:cNvSpPr/>
          <p:nvPr/>
        </p:nvSpPr>
        <p:spPr>
          <a:xfrm>
            <a:off x="3246120" y="2651760"/>
            <a:ext cx="2331720" cy="12801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37560" y="2788920"/>
            <a:ext cx="2148840" cy="594360"/>
          </a:xfrm>
          <a:prstGeom prst="rect">
            <a:avLst/>
          </a:prstGeom>
          <a:noFill/>
        </p:spPr>
        <p:txBody>
          <a:bodyPr wrap="square" anchor="ctr" lIns="0" rIns="0" tIns="0" bIns="0">
            <a:spAutoFit/>
          </a:bodyPr>
          <a:lstStyle/>
          <a:p>
            <a:pPr algn="ctr">
              <a:lnSpc>
                <a:spcPct val="100000"/>
              </a:lnSpc>
              <a:spcAft>
                <a:spcPts val="0"/>
              </a:spcAft>
            </a:pPr>
            <a:r>
              <a:rPr sz="1300" b="1" i="0">
                <a:solidFill>
                  <a:srgbClr val="FFFFFF"/>
                </a:solidFill>
                <a:latin typeface="Calibri"/>
              </a:rPr>
              <a:t>SecurityUserTerritory</a:t>
            </a:r>
            <a:br/>
            <a:r>
              <a:rPr sz="1300" b="1" i="0">
                <a:solidFill>
                  <a:srgbClr val="FFFFFF"/>
                </a:solidFill>
                <a:latin typeface="Calibri"/>
              </a:rPr>
              <a:t>(mapping table)</a:t>
            </a:r>
          </a:p>
        </p:txBody>
      </p:sp>
      <p:sp>
        <p:nvSpPr>
          <p:cNvPr id="11" name="TextBox 10"/>
          <p:cNvSpPr txBox="1"/>
          <p:nvPr/>
        </p:nvSpPr>
        <p:spPr>
          <a:xfrm>
            <a:off x="3337560" y="3364992"/>
            <a:ext cx="2148840" cy="502920"/>
          </a:xfrm>
          <a:prstGeom prst="rect">
            <a:avLst/>
          </a:prstGeom>
          <a:noFill/>
        </p:spPr>
        <p:txBody>
          <a:bodyPr wrap="square" anchor="ctr" lIns="0" rIns="0" tIns="0" bIns="0">
            <a:spAutoFit/>
          </a:bodyPr>
          <a:lstStyle/>
          <a:p>
            <a:pPr algn="ctr">
              <a:lnSpc>
                <a:spcPct val="110000"/>
              </a:lnSpc>
              <a:spcAft>
                <a:spcPts val="0"/>
              </a:spcAft>
            </a:pPr>
            <a:r>
              <a:rPr sz="1050" b="0" i="1">
                <a:solidFill>
                  <a:srgbClr val="CADCFC"/>
                </a:solidFill>
                <a:latin typeface="Calibri"/>
              </a:rPr>
              <a:t>[UserPrincipalName] = USERPRINCIPALNAME()</a:t>
            </a:r>
          </a:p>
        </p:txBody>
      </p:sp>
      <p:sp>
        <p:nvSpPr>
          <p:cNvPr id="12" name="Rectangle 11"/>
          <p:cNvSpPr/>
          <p:nvPr/>
        </p:nvSpPr>
        <p:spPr>
          <a:xfrm>
            <a:off x="5989320" y="2651760"/>
            <a:ext cx="2331720" cy="1280160"/>
          </a:xfrm>
          <a:prstGeom prst="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80760" y="2788920"/>
            <a:ext cx="2148840" cy="594360"/>
          </a:xfrm>
          <a:prstGeom prst="rect">
            <a:avLst/>
          </a:prstGeom>
          <a:noFill/>
        </p:spPr>
        <p:txBody>
          <a:bodyPr wrap="square" anchor="ctr" lIns="0" rIns="0" tIns="0" bIns="0">
            <a:spAutoFit/>
          </a:bodyPr>
          <a:lstStyle/>
          <a:p>
            <a:pPr algn="ctr">
              <a:lnSpc>
                <a:spcPct val="100000"/>
              </a:lnSpc>
              <a:spcAft>
                <a:spcPts val="0"/>
              </a:spcAft>
            </a:pPr>
            <a:r>
              <a:rPr sz="1300" b="1" i="0">
                <a:solidFill>
                  <a:srgbClr val="141B45"/>
                </a:solidFill>
                <a:latin typeface="Calibri"/>
              </a:rPr>
              <a:t>DimTerritory</a:t>
            </a:r>
            <a:br/>
            <a:r>
              <a:rPr sz="1300" b="1" i="0">
                <a:solidFill>
                  <a:srgbClr val="141B45"/>
                </a:solidFill>
                <a:latin typeface="Calibri"/>
              </a:rPr>
              <a:t>(filtered rows)</a:t>
            </a:r>
          </a:p>
        </p:txBody>
      </p:sp>
      <p:sp>
        <p:nvSpPr>
          <p:cNvPr id="14" name="TextBox 13"/>
          <p:cNvSpPr txBox="1"/>
          <p:nvPr/>
        </p:nvSpPr>
        <p:spPr>
          <a:xfrm>
            <a:off x="6080760" y="3364992"/>
            <a:ext cx="2148840" cy="502920"/>
          </a:xfrm>
          <a:prstGeom prst="rect">
            <a:avLst/>
          </a:prstGeom>
          <a:noFill/>
        </p:spPr>
        <p:txBody>
          <a:bodyPr wrap="square" anchor="ctr" lIns="0" rIns="0" tIns="0" bIns="0">
            <a:spAutoFit/>
          </a:bodyPr>
          <a:lstStyle/>
          <a:p>
            <a:pPr algn="ctr">
              <a:lnSpc>
                <a:spcPct val="110000"/>
              </a:lnSpc>
              <a:spcAft>
                <a:spcPts val="0"/>
              </a:spcAft>
            </a:pPr>
            <a:r>
              <a:rPr sz="1050" b="0" i="1">
                <a:solidFill>
                  <a:srgbClr val="4B5563"/>
                </a:solidFill>
                <a:latin typeface="Calibri"/>
              </a:rPr>
              <a:t>Only TerritoryKeys the user maps to</a:t>
            </a:r>
          </a:p>
        </p:txBody>
      </p:sp>
      <p:sp>
        <p:nvSpPr>
          <p:cNvPr id="15" name="Rectangle 14"/>
          <p:cNvSpPr/>
          <p:nvPr/>
        </p:nvSpPr>
        <p:spPr>
          <a:xfrm>
            <a:off x="8732520" y="2651760"/>
            <a:ext cx="2331720" cy="12801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3960" y="2788920"/>
            <a:ext cx="2148840" cy="594360"/>
          </a:xfrm>
          <a:prstGeom prst="rect">
            <a:avLst/>
          </a:prstGeom>
          <a:noFill/>
        </p:spPr>
        <p:txBody>
          <a:bodyPr wrap="square" anchor="ctr" lIns="0" rIns="0" tIns="0" bIns="0">
            <a:spAutoFit/>
          </a:bodyPr>
          <a:lstStyle/>
          <a:p>
            <a:pPr algn="ctr">
              <a:lnSpc>
                <a:spcPct val="100000"/>
              </a:lnSpc>
              <a:spcAft>
                <a:spcPts val="0"/>
              </a:spcAft>
            </a:pPr>
            <a:r>
              <a:rPr sz="1300" b="1" i="0">
                <a:solidFill>
                  <a:srgbClr val="FFFFFF"/>
                </a:solidFill>
                <a:latin typeface="Calibri"/>
              </a:rPr>
              <a:t>FactSales</a:t>
            </a:r>
            <a:br/>
            <a:r>
              <a:rPr sz="1300" b="1" i="0">
                <a:solidFill>
                  <a:srgbClr val="FFFFFF"/>
                </a:solidFill>
                <a:latin typeface="Calibri"/>
              </a:rPr>
              <a:t>(filtered rows)</a:t>
            </a:r>
          </a:p>
        </p:txBody>
      </p:sp>
      <p:sp>
        <p:nvSpPr>
          <p:cNvPr id="17" name="TextBox 16"/>
          <p:cNvSpPr txBox="1"/>
          <p:nvPr/>
        </p:nvSpPr>
        <p:spPr>
          <a:xfrm>
            <a:off x="8823960" y="3364992"/>
            <a:ext cx="2148840" cy="502920"/>
          </a:xfrm>
          <a:prstGeom prst="rect">
            <a:avLst/>
          </a:prstGeom>
          <a:noFill/>
        </p:spPr>
        <p:txBody>
          <a:bodyPr wrap="square" anchor="ctr" lIns="0" rIns="0" tIns="0" bIns="0">
            <a:spAutoFit/>
          </a:bodyPr>
          <a:lstStyle/>
          <a:p>
            <a:pPr algn="ctr">
              <a:lnSpc>
                <a:spcPct val="110000"/>
              </a:lnSpc>
              <a:spcAft>
                <a:spcPts val="0"/>
              </a:spcAft>
            </a:pPr>
            <a:r>
              <a:rPr sz="1050" b="0" i="1">
                <a:solidFill>
                  <a:srgbClr val="CADCFC"/>
                </a:solidFill>
                <a:latin typeface="Calibri"/>
              </a:rPr>
              <a:t>Only rows for allowed territories</a:t>
            </a:r>
          </a:p>
        </p:txBody>
      </p:sp>
      <p:sp>
        <p:nvSpPr>
          <p:cNvPr id="18" name="Right Arrow 17"/>
          <p:cNvSpPr/>
          <p:nvPr/>
        </p:nvSpPr>
        <p:spPr>
          <a:xfrm>
            <a:off x="2852928" y="3145536"/>
            <a:ext cx="374904" cy="292608"/>
          </a:xfrm>
          <a:prstGeom prst="rightArrow">
            <a:avLst/>
          </a:prstGeom>
          <a:solidFill>
            <a:srgbClr val="E8B4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Arrow 18"/>
          <p:cNvSpPr/>
          <p:nvPr/>
        </p:nvSpPr>
        <p:spPr>
          <a:xfrm>
            <a:off x="5596128" y="3145536"/>
            <a:ext cx="374904" cy="292608"/>
          </a:xfrm>
          <a:prstGeom prst="rightArrow">
            <a:avLst/>
          </a:prstGeom>
          <a:solidFill>
            <a:srgbClr val="E8B4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Arrow 19"/>
          <p:cNvSpPr/>
          <p:nvPr/>
        </p:nvSpPr>
        <p:spPr>
          <a:xfrm>
            <a:off x="8339328" y="3145536"/>
            <a:ext cx="374904" cy="292608"/>
          </a:xfrm>
          <a:prstGeom prst="rightArrow">
            <a:avLst/>
          </a:prstGeom>
          <a:solidFill>
            <a:srgbClr val="E8B4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1417320"/>
            <a:ext cx="10881360" cy="502920"/>
          </a:xfrm>
          <a:prstGeom prst="rect">
            <a:avLst/>
          </a:prstGeom>
          <a:noFill/>
        </p:spPr>
        <p:txBody>
          <a:bodyPr wrap="square" anchor="t" lIns="0" rIns="0" tIns="0" bIns="0">
            <a:spAutoFit/>
          </a:bodyPr>
          <a:lstStyle/>
          <a:p>
            <a:pPr algn="l">
              <a:lnSpc>
                <a:spcPct val="100000"/>
              </a:lnSpc>
              <a:spcAft>
                <a:spcPts val="0"/>
              </a:spcAft>
            </a:pPr>
            <a:r>
              <a:rPr sz="1600" b="1" i="0">
                <a:solidFill>
                  <a:srgbClr val="141B45"/>
                </a:solidFill>
                <a:latin typeface="Cambria"/>
              </a:rPr>
              <a:t>Filter propagation for a single dynamic-RLS query</a:t>
            </a:r>
          </a:p>
        </p:txBody>
      </p:sp>
      <p:sp>
        <p:nvSpPr>
          <p:cNvPr id="22" name="TextBox 21"/>
          <p:cNvSpPr txBox="1"/>
          <p:nvPr/>
        </p:nvSpPr>
        <p:spPr>
          <a:xfrm>
            <a:off x="640080" y="1874519"/>
            <a:ext cx="10881360" cy="777240"/>
          </a:xfrm>
          <a:prstGeom prst="rect">
            <a:avLst/>
          </a:prstGeom>
          <a:noFill/>
        </p:spPr>
        <p:txBody>
          <a:bodyPr wrap="square" anchor="t" lIns="0" rIns="0" tIns="0" bIns="0">
            <a:spAutoFit/>
          </a:bodyPr>
          <a:lstStyle/>
          <a:p>
            <a:pPr algn="l">
              <a:lnSpc>
                <a:spcPct val="120000"/>
              </a:lnSpc>
              <a:spcAft>
                <a:spcPts val="0"/>
              </a:spcAft>
            </a:pPr>
            <a:r>
              <a:rPr sz="1250" b="0" i="1">
                <a:solidFill>
                  <a:srgbClr val="4B5563"/>
                </a:solidFill>
                <a:latin typeface="Calibri"/>
              </a:rPr>
              <a:t>The role filter fires on the security mapping table using the signed-in user's UPN, then propagates one-to-many into DimTerritory, and finally into FactSales. The role's filter expression lives on the security table — never on FactSales.</a:t>
            </a:r>
          </a:p>
        </p:txBody>
      </p:sp>
      <p:sp>
        <p:nvSpPr>
          <p:cNvPr id="23" name="Rectangle 22"/>
          <p:cNvSpPr/>
          <p:nvPr/>
        </p:nvSpPr>
        <p:spPr>
          <a:xfrm>
            <a:off x="502920" y="4434840"/>
            <a:ext cx="11201400" cy="1417320"/>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4526280"/>
            <a:ext cx="10789920" cy="365760"/>
          </a:xfrm>
          <a:prstGeom prst="rect">
            <a:avLst/>
          </a:prstGeom>
          <a:noFill/>
        </p:spPr>
        <p:txBody>
          <a:bodyPr wrap="square" anchor="t" lIns="0" rIns="0" tIns="0" bIns="0">
            <a:spAutoFit/>
          </a:bodyPr>
          <a:lstStyle/>
          <a:p>
            <a:pPr algn="l">
              <a:lnSpc>
                <a:spcPct val="100000"/>
              </a:lnSpc>
              <a:spcAft>
                <a:spcPts val="0"/>
              </a:spcAft>
            </a:pPr>
            <a:r>
              <a:rPr sz="1300" b="1" i="0">
                <a:solidFill>
                  <a:srgbClr val="141B45"/>
                </a:solidFill>
                <a:latin typeface="Calibri"/>
              </a:rPr>
              <a:t>Role: 'Dynamic Territory Security'  —  Filter on SecurityUserTerritory:</a:t>
            </a:r>
          </a:p>
        </p:txBody>
      </p:sp>
      <p:sp>
        <p:nvSpPr>
          <p:cNvPr id="25" name="TextBox 24"/>
          <p:cNvSpPr txBox="1"/>
          <p:nvPr/>
        </p:nvSpPr>
        <p:spPr>
          <a:xfrm>
            <a:off x="731520" y="4937760"/>
            <a:ext cx="10789920" cy="457200"/>
          </a:xfrm>
          <a:prstGeom prst="rect">
            <a:avLst/>
          </a:prstGeom>
          <a:noFill/>
        </p:spPr>
        <p:txBody>
          <a:bodyPr wrap="square" anchor="t" lIns="0" rIns="0" tIns="0" bIns="0">
            <a:spAutoFit/>
          </a:bodyPr>
          <a:lstStyle/>
          <a:p>
            <a:pPr algn="ctr">
              <a:lnSpc>
                <a:spcPct val="100000"/>
              </a:lnSpc>
              <a:spcAft>
                <a:spcPts val="0"/>
              </a:spcAft>
            </a:pPr>
            <a:r>
              <a:rPr sz="1700" b="1" i="0">
                <a:solidFill>
                  <a:srgbClr val="141B45"/>
                </a:solidFill>
                <a:latin typeface="Consolas"/>
              </a:rPr>
              <a:t>[UserPrincipalName] = USERPRINCIPALNAME()</a:t>
            </a:r>
          </a:p>
        </p:txBody>
      </p:sp>
      <p:sp>
        <p:nvSpPr>
          <p:cNvPr id="26" name="TextBox 25"/>
          <p:cNvSpPr txBox="1"/>
          <p:nvPr/>
        </p:nvSpPr>
        <p:spPr>
          <a:xfrm>
            <a:off x="731520" y="5394960"/>
            <a:ext cx="10789920" cy="365760"/>
          </a:xfrm>
          <a:prstGeom prst="rect">
            <a:avLst/>
          </a:prstGeom>
          <a:noFill/>
        </p:spPr>
        <p:txBody>
          <a:bodyPr wrap="square" anchor="t" lIns="0" rIns="0" tIns="0" bIns="0">
            <a:spAutoFit/>
          </a:bodyPr>
          <a:lstStyle/>
          <a:p>
            <a:pPr algn="ctr">
              <a:lnSpc>
                <a:spcPct val="100000"/>
              </a:lnSpc>
              <a:spcAft>
                <a:spcPts val="0"/>
              </a:spcAft>
            </a:pPr>
            <a:r>
              <a:rPr sz="1150" b="0" i="1">
                <a:solidFill>
                  <a:srgbClr val="4B5563"/>
                </a:solidFill>
                <a:latin typeface="Calibri"/>
              </a:rPr>
              <a:t>Relationship path: SecurityUserTerritory[TerritoryKey] 1 → * DimTerritory[TerritoryKey] 1 → * FactSales[TerritoryKey]</a:t>
            </a:r>
          </a:p>
        </p:txBody>
      </p:sp>
      <p:sp>
        <p:nvSpPr>
          <p:cNvPr id="27" name="TextBox 26"/>
          <p:cNvSpPr txBox="1"/>
          <p:nvPr/>
        </p:nvSpPr>
        <p:spPr>
          <a:xfrm>
            <a:off x="640080" y="608076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2 has students import security-user-territory.csv, relate it to DimTerritory on TerritoryKey, and add the filter shown above to the security table inside the 'Dynamic Territory Security' role.</a:t>
            </a:r>
          </a:p>
        </p:txBody>
      </p:sp>
      <p:sp>
        <p:nvSpPr>
          <p:cNvPr id="28" name="TextBox 2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05</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Service Role Assignment</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In the Service, open the semantic model → Security to assign users or Entra ID groups (preferred) to each RLS role defined in Desktop.</a:t>
            </a:r>
          </a:p>
          <a:p>
            <a:pPr>
              <a:lnSpc>
                <a:spcPct val="105000"/>
              </a:lnSpc>
              <a:spcAft>
                <a:spcPts val="1000"/>
              </a:spcAft>
              <a:buClr>
                <a:srgbClr val="1E2761"/>
              </a:buClr>
              <a:buFont typeface="Arial"/>
              <a:buChar char="•"/>
            </a:pPr>
            <a:r>
              <a:rPr sz="1450">
                <a:solidFill>
                  <a:srgbClr val="1F2328"/>
                </a:solidFill>
                <a:latin typeface="Calibri"/>
              </a:rPr>
              <a:t>Use 'Test as role' in the Service to preview data for a specific user or role — the Service equivalent of Desktop's View as.</a:t>
            </a:r>
          </a:p>
          <a:p>
            <a:pPr>
              <a:lnSpc>
                <a:spcPct val="105000"/>
              </a:lnSpc>
              <a:spcAft>
                <a:spcPts val="1000"/>
              </a:spcAft>
              <a:buClr>
                <a:srgbClr val="1E2761"/>
              </a:buClr>
              <a:buFont typeface="Arial"/>
              <a:buChar char="•"/>
            </a:pPr>
            <a:r>
              <a:rPr sz="1450">
                <a:solidFill>
                  <a:srgbClr val="1F2328"/>
                </a:solidFill>
                <a:latin typeface="Calibri"/>
              </a:rPr>
              <a:t>Workspace roles override RLS in one direction: Admin, Member, and Contributor on the workspace bypass RLS on models in that workspace. Only Viewer respects RLS.</a:t>
            </a:r>
          </a:p>
          <a:p>
            <a:pPr>
              <a:lnSpc>
                <a:spcPct val="105000"/>
              </a:lnSpc>
              <a:spcAft>
                <a:spcPts val="1000"/>
              </a:spcAft>
              <a:buClr>
                <a:srgbClr val="1E2761"/>
              </a:buClr>
              <a:buFont typeface="Arial"/>
              <a:buChar char="•"/>
            </a:pPr>
            <a:r>
              <a:rPr sz="1450">
                <a:solidFill>
                  <a:srgbClr val="1F2328"/>
                </a:solidFill>
                <a:latin typeface="Calibri"/>
              </a:rPr>
              <a:t>Distribute content via an App with audiences instead of granting broad workspace access — App consumers get Viewer semantics, so RLS applies.</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Assigning Entra ID groups instead of individual users means role membership is managed in the identity system, not inside Power BI — a huge governance win.</a:t>
            </a:r>
          </a:p>
          <a:p>
            <a:pPr>
              <a:lnSpc>
                <a:spcPct val="105000"/>
              </a:lnSpc>
              <a:spcAft>
                <a:spcPts val="1000"/>
              </a:spcAft>
              <a:buClr>
                <a:srgbClr val="E8B44A"/>
              </a:buClr>
              <a:buFont typeface="Arial"/>
              <a:buChar char="•"/>
            </a:pPr>
            <a:r>
              <a:rPr sz="1450">
                <a:solidFill>
                  <a:srgbClr val="1F2328"/>
                </a:solidFill>
                <a:latin typeface="Calibri"/>
              </a:rPr>
              <a:t>The workspace-role bypass is the most surprising failure mode: if you 'quickly add' a tester as Member so they can help you QA, RLS silently stops applying to them and any test result is invalid.</a:t>
            </a:r>
          </a:p>
          <a:p>
            <a:pPr>
              <a:lnSpc>
                <a:spcPct val="105000"/>
              </a:lnSpc>
              <a:spcAft>
                <a:spcPts val="1000"/>
              </a:spcAft>
              <a:buClr>
                <a:srgbClr val="E8B44A"/>
              </a:buClr>
              <a:buFont typeface="Arial"/>
              <a:buChar char="•"/>
            </a:pPr>
            <a:r>
              <a:rPr sz="1450">
                <a:solidFill>
                  <a:srgbClr val="1F2328"/>
                </a:solidFill>
                <a:latin typeface="Calibri"/>
              </a:rPr>
              <a:t>App distribution is the pattern that scales: authors and stewards stay in the workspace; consumers only touch the App, where RLS reliably applies.</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3 has students publish to an approved training workspace, assign a user or group to a role, and test as role in the Service where available.</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06</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Build Permission</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Build is a per-semantic-model permission that lets a user connect to the model from a new report, Analyze in Excel, or the XMLA endpoint — not just view an existing report.</a:t>
            </a:r>
          </a:p>
          <a:p>
            <a:pPr>
              <a:lnSpc>
                <a:spcPct val="105000"/>
              </a:lnSpc>
              <a:spcAft>
                <a:spcPts val="1000"/>
              </a:spcAft>
              <a:buClr>
                <a:srgbClr val="1E2761"/>
              </a:buClr>
              <a:buFont typeface="Arial"/>
              <a:buChar char="•"/>
            </a:pPr>
            <a:r>
              <a:rPr sz="1450">
                <a:solidFill>
                  <a:srgbClr val="1F2328"/>
                </a:solidFill>
                <a:latin typeface="Calibri"/>
              </a:rPr>
              <a:t>Build is what makes 'thin reports' possible: one shared, certified semantic model, many small reports built by different authors on top of it.</a:t>
            </a:r>
          </a:p>
          <a:p>
            <a:pPr>
              <a:lnSpc>
                <a:spcPct val="105000"/>
              </a:lnSpc>
              <a:spcAft>
                <a:spcPts val="1000"/>
              </a:spcAft>
              <a:buClr>
                <a:srgbClr val="1E2761"/>
              </a:buClr>
              <a:buFont typeface="Arial"/>
              <a:buChar char="•"/>
            </a:pPr>
            <a:r>
              <a:rPr sz="1450">
                <a:solidFill>
                  <a:srgbClr val="1F2328"/>
                </a:solidFill>
                <a:latin typeface="Calibri"/>
              </a:rPr>
              <a:t>RLS still applies to Build users, but only if they are assigned to an RLS role and are not a workspace Admin/Member/Contributor.</a:t>
            </a:r>
          </a:p>
          <a:p>
            <a:pPr>
              <a:lnSpc>
                <a:spcPct val="105000"/>
              </a:lnSpc>
              <a:spcAft>
                <a:spcPts val="1000"/>
              </a:spcAft>
              <a:buClr>
                <a:srgbClr val="1E2761"/>
              </a:buClr>
              <a:buFont typeface="Arial"/>
              <a:buChar char="•"/>
            </a:pPr>
            <a:r>
              <a:rPr sz="1450">
                <a:solidFill>
                  <a:srgbClr val="1F2328"/>
                </a:solidFill>
                <a:latin typeface="Calibri"/>
              </a:rPr>
              <a:t>Analyze in Excel connects through the XMLA endpoint, respects RLS the same way a Power BI report does, and is subject to tenant setting enablement.</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Build permission is the primary path an author uses to reuse a certified semantic model without republishing it — core to a shared-model governance strategy.</a:t>
            </a:r>
          </a:p>
          <a:p>
            <a:pPr>
              <a:lnSpc>
                <a:spcPct val="105000"/>
              </a:lnSpc>
              <a:spcAft>
                <a:spcPts val="1000"/>
              </a:spcAft>
              <a:buClr>
                <a:srgbClr val="E8B44A"/>
              </a:buClr>
              <a:buFont typeface="Arial"/>
              <a:buChar char="•"/>
            </a:pPr>
            <a:r>
              <a:rPr sz="1450">
                <a:solidFill>
                  <a:srgbClr val="1F2328"/>
                </a:solidFill>
                <a:latin typeface="Calibri"/>
              </a:rPr>
              <a:t>Granting Read on a report but Build on the model is a real risk: the user can pull data out of the model in ways the report itself never exposed, so RLS coverage of the underlying tables becomes the last line of defense.</a:t>
            </a:r>
          </a:p>
          <a:p>
            <a:pPr>
              <a:lnSpc>
                <a:spcPct val="105000"/>
              </a:lnSpc>
              <a:spcAft>
                <a:spcPts val="1000"/>
              </a:spcAft>
              <a:buClr>
                <a:srgbClr val="E8B44A"/>
              </a:buClr>
              <a:buFont typeface="Arial"/>
              <a:buChar char="•"/>
            </a:pPr>
            <a:r>
              <a:rPr sz="1450">
                <a:solidFill>
                  <a:srgbClr val="1F2328"/>
                </a:solidFill>
                <a:latin typeface="Calibri"/>
              </a:rPr>
              <a:t>This is why Build permission belongs on a security review checklist as its own row, not folded under 'sharing' — it grants an entirely different capability.</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4 is the Build permission discussion — which personas in security-role-matrix.csv should have Build, and what governance controls should wrap it.</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07</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Object-Level Security (OLS)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OLS hides entire tables or columns from users assigned to a role — the objects disappear from field lists, from DAX intellisense, and from downstream tools.</a:t>
            </a:r>
          </a:p>
          <a:p>
            <a:pPr>
              <a:lnSpc>
                <a:spcPct val="105000"/>
              </a:lnSpc>
              <a:spcAft>
                <a:spcPts val="1000"/>
              </a:spcAft>
              <a:buClr>
                <a:srgbClr val="1E2761"/>
              </a:buClr>
              <a:buFont typeface="Arial"/>
              <a:buChar char="•"/>
            </a:pPr>
            <a:r>
              <a:rPr sz="1450">
                <a:solidFill>
                  <a:srgbClr val="1F2328"/>
                </a:solidFill>
                <a:latin typeface="Calibri"/>
              </a:rPr>
              <a:t>OLS is defined in the Tabular Model Definition Language (TMDL) via XMLA-compatible tooling — Tabular Editor is the standard authoring surface; there is no built-in OLS editor in Desktop.</a:t>
            </a:r>
          </a:p>
          <a:p>
            <a:pPr>
              <a:lnSpc>
                <a:spcPct val="105000"/>
              </a:lnSpc>
              <a:spcAft>
                <a:spcPts val="1000"/>
              </a:spcAft>
              <a:buClr>
                <a:srgbClr val="1E2761"/>
              </a:buClr>
              <a:buFont typeface="Arial"/>
              <a:buChar char="•"/>
            </a:pPr>
            <a:r>
              <a:rPr sz="1450">
                <a:solidFill>
                  <a:srgbClr val="1F2328"/>
                </a:solidFill>
                <a:latin typeface="Calibri"/>
              </a:rPr>
              <a:t>Common use cases: hide a Salary or SSN column from a role that should see the rest of an HR table; hide an entire Compensation table from a role that only needs the Employee dimension.</a:t>
            </a:r>
          </a:p>
          <a:p>
            <a:pPr>
              <a:lnSpc>
                <a:spcPct val="105000"/>
              </a:lnSpc>
              <a:spcAft>
                <a:spcPts val="1000"/>
              </a:spcAft>
              <a:buClr>
                <a:srgbClr val="1E2761"/>
              </a:buClr>
              <a:buFont typeface="Arial"/>
              <a:buChar char="•"/>
            </a:pPr>
            <a:r>
              <a:rPr sz="1450">
                <a:solidFill>
                  <a:srgbClr val="1F2328"/>
                </a:solidFill>
                <a:latin typeface="Calibri"/>
              </a:rPr>
              <a:t>OLS layers with RLS — a role can filter rows AND hide columns/tables. Test both layers together, not separately.</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RLS alone cannot solve the 'they can see the customer table but not the credit-card column' problem — that is exactly what OLS is designed for.</a:t>
            </a:r>
          </a:p>
          <a:p>
            <a:pPr>
              <a:lnSpc>
                <a:spcPct val="105000"/>
              </a:lnSpc>
              <a:spcAft>
                <a:spcPts val="1000"/>
              </a:spcAft>
              <a:buClr>
                <a:srgbClr val="E8B44A"/>
              </a:buClr>
              <a:buFont typeface="Arial"/>
              <a:buChar char="•"/>
            </a:pPr>
            <a:r>
              <a:rPr sz="1450">
                <a:solidFill>
                  <a:srgbClr val="1F2328"/>
                </a:solidFill>
                <a:latin typeface="Calibri"/>
              </a:rPr>
              <a:t>Hiding a column, not just visually removing it from a report, is what prevents an author with Build permission from selecting it in Excel or a thin report.</a:t>
            </a:r>
          </a:p>
          <a:p>
            <a:pPr>
              <a:lnSpc>
                <a:spcPct val="105000"/>
              </a:lnSpc>
              <a:spcAft>
                <a:spcPts val="1000"/>
              </a:spcAft>
              <a:buClr>
                <a:srgbClr val="E8B44A"/>
              </a:buClr>
              <a:buFont typeface="Arial"/>
              <a:buChar char="•"/>
            </a:pPr>
            <a:r>
              <a:rPr sz="1450">
                <a:solidFill>
                  <a:srgbClr val="1F2328"/>
                </a:solidFill>
                <a:latin typeface="Calibri"/>
              </a:rPr>
              <a:t>OLS is 'Verify for Gov' because it depends on XMLA-compatible tooling, capacity SKU, and tenant settings that are not universally available in government tenants.</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OLS is a conceptual/optional lab — identify sensitive fields and document whether they should be removed, hidden, or protected with OLS. Do not attempt an OLS build without validating tenant, capacity, and tooling first.</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08</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Sensitivity Labels and Purview</a:t>
            </a:r>
          </a:p>
        </p:txBody>
      </p:sp>
      <p:graphicFrame>
        <p:nvGraphicFramePr>
          <p:cNvPr id="6" name="Table 5"/>
          <p:cNvGraphicFramePr>
            <a:graphicFrameLocks noGrp="1"/>
          </p:cNvGraphicFramePr>
          <p:nvPr/>
        </p:nvGraphicFramePr>
        <p:xfrm>
          <a:off x="640080" y="1325880"/>
          <a:ext cx="10881359" cy="4663440"/>
        </p:xfrm>
        <a:graphic>
          <a:graphicData uri="http://schemas.openxmlformats.org/drawingml/2006/table">
            <a:tbl>
              <a:tblPr firstRow="1" bandRow="1">
                <a:tableStyleId>{5C22544A-7EE6-4342-B048-85BDC9FD1C3A}</a:tableStyleId>
              </a:tblPr>
              <a:tblGrid>
                <a:gridCol w="2193142"/>
                <a:gridCol w="5061097"/>
                <a:gridCol w="3627120"/>
              </a:tblGrid>
              <a:tr h="777240">
                <a:tc>
                  <a:txBody>
                    <a:bodyPr/>
                    <a:lstStyle/>
                    <a:p>
                      <a:pPr algn="l"/>
                      <a:r>
                        <a:rPr b="1" sz="1250">
                          <a:solidFill>
                            <a:srgbClr val="FFFFFF"/>
                          </a:solidFill>
                          <a:latin typeface="Calibri"/>
                        </a:rPr>
                        <a:t>Aspect</a:t>
                      </a:r>
                    </a:p>
                  </a:txBody>
                  <a:tcPr>
                    <a:solidFill>
                      <a:srgbClr val="1E2761"/>
                    </a:solidFill>
                  </a:tcPr>
                </a:tc>
                <a:tc>
                  <a:txBody>
                    <a:bodyPr/>
                    <a:lstStyle/>
                    <a:p>
                      <a:pPr algn="l"/>
                      <a:r>
                        <a:rPr b="1" sz="1250">
                          <a:solidFill>
                            <a:srgbClr val="FFFFFF"/>
                          </a:solidFill>
                          <a:latin typeface="Calibri"/>
                        </a:rPr>
                        <a:t>Behavior in Power BI</a:t>
                      </a:r>
                    </a:p>
                  </a:txBody>
                  <a:tcPr>
                    <a:solidFill>
                      <a:srgbClr val="1E2761"/>
                    </a:solidFill>
                  </a:tcPr>
                </a:tc>
                <a:tc>
                  <a:txBody>
                    <a:bodyPr/>
                    <a:lstStyle/>
                    <a:p>
                      <a:pPr algn="l"/>
                      <a:r>
                        <a:rPr b="1" sz="1250">
                          <a:solidFill>
                            <a:srgbClr val="FFFFFF"/>
                          </a:solidFill>
                          <a:latin typeface="Calibri"/>
                        </a:rPr>
                        <a:t>Dependency / Gov note</a:t>
                      </a:r>
                    </a:p>
                  </a:txBody>
                  <a:tcPr>
                    <a:solidFill>
                      <a:srgbClr val="1E2761"/>
                    </a:solidFill>
                  </a:tcPr>
                </a:tc>
              </a:tr>
              <a:tr h="777240">
                <a:tc>
                  <a:txBody>
                    <a:bodyPr/>
                    <a:lstStyle/>
                    <a:p>
                      <a:r>
                        <a:rPr sz="1150">
                          <a:solidFill>
                            <a:srgbClr val="1F2328"/>
                          </a:solidFill>
                          <a:latin typeface="Calibri"/>
                        </a:rPr>
                        <a:t>Label inheritance</a:t>
                      </a:r>
                    </a:p>
                  </a:txBody>
                  <a:tcPr>
                    <a:solidFill>
                      <a:srgbClr val="FFFFFF"/>
                    </a:solidFill>
                  </a:tcPr>
                </a:tc>
                <a:tc>
                  <a:txBody>
                    <a:bodyPr/>
                    <a:lstStyle/>
                    <a:p>
                      <a:r>
                        <a:rPr sz="1150">
                          <a:solidFill>
                            <a:srgbClr val="1F2328"/>
                          </a:solidFill>
                          <a:latin typeface="Calibri"/>
                        </a:rPr>
                        <a:t>A sensitivity label applied to a semantic model propagates to downstream reports, dashboards, and exports built from that model.</a:t>
                      </a:r>
                    </a:p>
                  </a:txBody>
                  <a:tcPr>
                    <a:solidFill>
                      <a:srgbClr val="FFFFFF"/>
                    </a:solidFill>
                  </a:tcPr>
                </a:tc>
                <a:tc>
                  <a:txBody>
                    <a:bodyPr/>
                    <a:lstStyle/>
                    <a:p>
                      <a:r>
                        <a:rPr sz="1150">
                          <a:solidFill>
                            <a:srgbClr val="1F2328"/>
                          </a:solidFill>
                          <a:latin typeface="Calibri"/>
                        </a:rPr>
                        <a:t>Requires Microsoft Purview Information Protection tenant configuration.</a:t>
                      </a:r>
                    </a:p>
                  </a:txBody>
                  <a:tcPr>
                    <a:solidFill>
                      <a:srgbClr val="FFFFFF"/>
                    </a:solidFill>
                  </a:tcPr>
                </a:tc>
              </a:tr>
              <a:tr h="777240">
                <a:tc>
                  <a:txBody>
                    <a:bodyPr/>
                    <a:lstStyle/>
                    <a:p>
                      <a:r>
                        <a:rPr sz="1150">
                          <a:solidFill>
                            <a:srgbClr val="1F2328"/>
                          </a:solidFill>
                          <a:latin typeface="Calibri"/>
                        </a:rPr>
                        <a:t>Export controls</a:t>
                      </a:r>
                    </a:p>
                  </a:txBody>
                  <a:tcPr>
                    <a:solidFill>
                      <a:srgbClr val="F6F8FC"/>
                    </a:solidFill>
                  </a:tcPr>
                </a:tc>
                <a:tc>
                  <a:txBody>
                    <a:bodyPr/>
                    <a:lstStyle/>
                    <a:p>
                      <a:r>
                        <a:rPr sz="1150">
                          <a:solidFill>
                            <a:srgbClr val="1F2328"/>
                          </a:solidFill>
                          <a:latin typeface="Calibri"/>
                        </a:rPr>
                        <a:t>Labels can enforce DLP behavior on Export to Excel, PDF, PowerPoint, and Analyze in Excel downloads.</a:t>
                      </a:r>
                    </a:p>
                  </a:txBody>
                  <a:tcPr>
                    <a:solidFill>
                      <a:srgbClr val="F6F8FC"/>
                    </a:solidFill>
                  </a:tcPr>
                </a:tc>
                <a:tc>
                  <a:txBody>
                    <a:bodyPr/>
                    <a:lstStyle/>
                    <a:p>
                      <a:r>
                        <a:rPr sz="1150">
                          <a:solidFill>
                            <a:srgbClr val="1F2328"/>
                          </a:solidFill>
                          <a:latin typeface="Calibri"/>
                        </a:rPr>
                        <a:t>DLP policy authoring happens in Purview, not in Power BI.</a:t>
                      </a:r>
                    </a:p>
                  </a:txBody>
                  <a:tcPr>
                    <a:solidFill>
                      <a:srgbClr val="F6F8FC"/>
                    </a:solidFill>
                  </a:tcPr>
                </a:tc>
              </a:tr>
              <a:tr h="777240">
                <a:tc>
                  <a:txBody>
                    <a:bodyPr/>
                    <a:lstStyle/>
                    <a:p>
                      <a:r>
                        <a:rPr sz="1150">
                          <a:solidFill>
                            <a:srgbClr val="1F2328"/>
                          </a:solidFill>
                          <a:latin typeface="Calibri"/>
                        </a:rPr>
                        <a:t>Analyze in Excel</a:t>
                      </a:r>
                    </a:p>
                  </a:txBody>
                  <a:tcPr>
                    <a:solidFill>
                      <a:srgbClr val="FFFFFF"/>
                    </a:solidFill>
                  </a:tcPr>
                </a:tc>
                <a:tc>
                  <a:txBody>
                    <a:bodyPr/>
                    <a:lstStyle/>
                    <a:p>
                      <a:r>
                        <a:rPr sz="1150">
                          <a:solidFill>
                            <a:srgbClr val="1F2328"/>
                          </a:solidFill>
                          <a:latin typeface="Calibri"/>
                        </a:rPr>
                        <a:t>Downloaded workbook inherits the model's label; Excel enforces it via MIP.</a:t>
                      </a:r>
                    </a:p>
                  </a:txBody>
                  <a:tcPr>
                    <a:solidFill>
                      <a:srgbClr val="FFFFFF"/>
                    </a:solidFill>
                  </a:tcPr>
                </a:tc>
                <a:tc>
                  <a:txBody>
                    <a:bodyPr/>
                    <a:lstStyle/>
                    <a:p>
                      <a:r>
                        <a:rPr sz="1150">
                          <a:solidFill>
                            <a:srgbClr val="1F2328"/>
                          </a:solidFill>
                          <a:latin typeface="Calibri"/>
                        </a:rPr>
                        <a:t>Requires MIP client on the user's machine; behavior varies by Excel version.</a:t>
                      </a:r>
                    </a:p>
                  </a:txBody>
                  <a:tcPr>
                    <a:solidFill>
                      <a:srgbClr val="FFFFFF"/>
                    </a:solidFill>
                  </a:tcPr>
                </a:tc>
              </a:tr>
              <a:tr h="777240">
                <a:tc>
                  <a:txBody>
                    <a:bodyPr/>
                    <a:lstStyle/>
                    <a:p>
                      <a:r>
                        <a:rPr sz="1150">
                          <a:solidFill>
                            <a:srgbClr val="1F2328"/>
                          </a:solidFill>
                          <a:latin typeface="Calibri"/>
                        </a:rPr>
                        <a:t>Label vs. RLS</a:t>
                      </a:r>
                    </a:p>
                  </a:txBody>
                  <a:tcPr>
                    <a:solidFill>
                      <a:srgbClr val="F6F8FC"/>
                    </a:solidFill>
                  </a:tcPr>
                </a:tc>
                <a:tc>
                  <a:txBody>
                    <a:bodyPr/>
                    <a:lstStyle/>
                    <a:p>
                      <a:r>
                        <a:rPr sz="1150">
                          <a:solidFill>
                            <a:srgbClr val="1F2328"/>
                          </a:solidFill>
                          <a:latin typeface="Calibri"/>
                        </a:rPr>
                        <a:t>Labels classify and control export/DLP; they do NOT filter rows. RLS still does the row filtering.</a:t>
                      </a:r>
                    </a:p>
                  </a:txBody>
                  <a:tcPr>
                    <a:solidFill>
                      <a:srgbClr val="F6F8FC"/>
                    </a:solidFill>
                  </a:tcPr>
                </a:tc>
                <a:tc>
                  <a:txBody>
                    <a:bodyPr/>
                    <a:lstStyle/>
                    <a:p>
                      <a:r>
                        <a:rPr sz="1150">
                          <a:solidFill>
                            <a:srgbClr val="1F2328"/>
                          </a:solidFill>
                          <a:latin typeface="Calibri"/>
                        </a:rPr>
                        <a:t>Do not treat a label as a substitute for RLS.</a:t>
                      </a:r>
                    </a:p>
                  </a:txBody>
                  <a:tcPr>
                    <a:solidFill>
                      <a:srgbClr val="F6F8FC"/>
                    </a:solidFill>
                  </a:tcPr>
                </a:tc>
              </a:tr>
              <a:tr h="777240">
                <a:tc>
                  <a:txBody>
                    <a:bodyPr/>
                    <a:lstStyle/>
                    <a:p>
                      <a:r>
                        <a:rPr sz="1150">
                          <a:solidFill>
                            <a:srgbClr val="1F2328"/>
                          </a:solidFill>
                          <a:latin typeface="Calibri"/>
                        </a:rPr>
                        <a:t>Tenant policy dependency</a:t>
                      </a:r>
                    </a:p>
                  </a:txBody>
                  <a:tcPr>
                    <a:solidFill>
                      <a:srgbClr val="FFFFFF"/>
                    </a:solidFill>
                  </a:tcPr>
                </a:tc>
                <a:tc>
                  <a:txBody>
                    <a:bodyPr/>
                    <a:lstStyle/>
                    <a:p>
                      <a:r>
                        <a:rPr sz="1150">
                          <a:solidFill>
                            <a:srgbClr val="1F2328"/>
                          </a:solidFill>
                          <a:latin typeface="Calibri"/>
                        </a:rPr>
                        <a:t>Available labels, mandatory labeling, and default labels are all set at the tenant level, not per workspace.</a:t>
                      </a:r>
                    </a:p>
                  </a:txBody>
                  <a:tcPr>
                    <a:solidFill>
                      <a:srgbClr val="FFFFFF"/>
                    </a:solidFill>
                  </a:tcPr>
                </a:tc>
                <a:tc>
                  <a:txBody>
                    <a:bodyPr/>
                    <a:lstStyle/>
                    <a:p>
                      <a:r>
                        <a:rPr sz="1150">
                          <a:solidFill>
                            <a:srgbClr val="1F2328"/>
                          </a:solidFill>
                          <a:latin typeface="Calibri"/>
                        </a:rPr>
                        <a:t>Verify for Gov — confirm Purview and MIP availability in target Gov tenant.</a:t>
                      </a:r>
                    </a:p>
                  </a:txBody>
                  <a:tcPr>
                    <a:solidFill>
                      <a:srgbClr val="FFFFFF"/>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Sensitivity labels are a conceptual/optional lab — review available labels, apply one where the tenant permits, and document Purview and DLP dependencies. Do not gate the module on hands-on label configuration.</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09</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Sharing and External Users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Direct share (per-item Share button) grants view access to one item to a specific user — fast, but hard to audit at scale.</a:t>
            </a:r>
          </a:p>
          <a:p>
            <a:pPr>
              <a:lnSpc>
                <a:spcPct val="105000"/>
              </a:lnSpc>
              <a:spcAft>
                <a:spcPts val="1000"/>
              </a:spcAft>
              <a:buClr>
                <a:srgbClr val="1E2761"/>
              </a:buClr>
              <a:buFont typeface="Arial"/>
              <a:buChar char="•"/>
            </a:pPr>
            <a:r>
              <a:rPr sz="1450">
                <a:solidFill>
                  <a:srgbClr val="1F2328"/>
                </a:solidFill>
                <a:latin typeface="Calibri"/>
              </a:rPr>
              <a:t>App access with audiences is the recommended distribution pattern: consumers see only the App, RLS applies cleanly, and the workspace stays a controlled authoring space.</a:t>
            </a:r>
          </a:p>
          <a:p>
            <a:pPr>
              <a:lnSpc>
                <a:spcPct val="105000"/>
              </a:lnSpc>
              <a:spcAft>
                <a:spcPts val="1000"/>
              </a:spcAft>
              <a:buClr>
                <a:srgbClr val="1E2761"/>
              </a:buClr>
              <a:buFont typeface="Arial"/>
              <a:buChar char="•"/>
            </a:pPr>
            <a:r>
              <a:rPr sz="1450">
                <a:solidFill>
                  <a:srgbClr val="1F2328"/>
                </a:solidFill>
                <a:latin typeface="Calibri"/>
              </a:rPr>
              <a:t>Workspace access (Admin/Member/Contributor/Viewer) is broad; only Viewer respects RLS — the other three bypass it.</a:t>
            </a:r>
          </a:p>
          <a:p>
            <a:pPr>
              <a:lnSpc>
                <a:spcPct val="105000"/>
              </a:lnSpc>
              <a:spcAft>
                <a:spcPts val="1000"/>
              </a:spcAft>
              <a:buClr>
                <a:srgbClr val="1E2761"/>
              </a:buClr>
              <a:buFont typeface="Arial"/>
              <a:buChar char="•"/>
            </a:pPr>
            <a:r>
              <a:rPr sz="1450">
                <a:solidFill>
                  <a:srgbClr val="1F2328"/>
                </a:solidFill>
                <a:latin typeface="Calibri"/>
              </a:rPr>
              <a:t>B2B guest users are external identities added to your tenant via Entra ID B2B; their UPN in Power BI is typically the guest #EXT# form, which must match what your dynamic RLS mapping expects.</a:t>
            </a:r>
          </a:p>
          <a:p>
            <a:pPr>
              <a:lnSpc>
                <a:spcPct val="105000"/>
              </a:lnSpc>
              <a:spcAft>
                <a:spcPts val="1000"/>
              </a:spcAft>
              <a:buClr>
                <a:srgbClr val="1E2761"/>
              </a:buClr>
              <a:buFont typeface="Arial"/>
              <a:buChar char="•"/>
            </a:pPr>
            <a:r>
              <a:rPr sz="1450">
                <a:solidFill>
                  <a:srgbClr val="1F2328"/>
                </a:solidFill>
                <a:latin typeface="Calibri"/>
              </a:rPr>
              <a:t>Government and regulated tenants often restrict or disable external sharing and B2B entirely at the tenant policy level.</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The four sharing paths above answer different questions and combine unpredictably — review each user's effective access as the SUM of all paths, not just the most obvious one.</a:t>
            </a:r>
          </a:p>
          <a:p>
            <a:pPr>
              <a:lnSpc>
                <a:spcPct val="105000"/>
              </a:lnSpc>
              <a:spcAft>
                <a:spcPts val="1000"/>
              </a:spcAft>
              <a:buClr>
                <a:srgbClr val="E8B44A"/>
              </a:buClr>
              <a:buFont typeface="Arial"/>
              <a:buChar char="•"/>
            </a:pPr>
            <a:r>
              <a:rPr sz="1450">
                <a:solidFill>
                  <a:srgbClr val="1F2328"/>
                </a:solidFill>
                <a:latin typeface="Calibri"/>
              </a:rPr>
              <a:t>Because B2B guests carry a non-obvious UPN form (with #EXT#), dynamic RLS mapping tables that were built assuming internal UPNs will silently exclude every guest user — a common production bug.</a:t>
            </a:r>
          </a:p>
          <a:p>
            <a:pPr>
              <a:lnSpc>
                <a:spcPct val="105000"/>
              </a:lnSpc>
              <a:spcAft>
                <a:spcPts val="1000"/>
              </a:spcAft>
              <a:buClr>
                <a:srgbClr val="E8B44A"/>
              </a:buClr>
              <a:buFont typeface="Arial"/>
              <a:buChar char="•"/>
            </a:pPr>
            <a:r>
              <a:rPr sz="1450">
                <a:solidFill>
                  <a:srgbClr val="1F2328"/>
                </a:solidFill>
                <a:latin typeface="Calibri"/>
              </a:rPr>
              <a:t>Assuming external sharing 'just works' in a Gov tenant is one of the most common planning mistakes — always confirm tenant policy first.</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Concept note from README: Direct sharing, App access, workspace access, and B2B guest access are separate decisions — external and guest behavior are Verify for Gov.</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10</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Security Testing</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Desktop: Modeling → View as → Other user + one or more roles — lets you simulate any UPN and any role combination locally before publishing.</a:t>
            </a:r>
          </a:p>
          <a:p>
            <a:pPr>
              <a:lnSpc>
                <a:spcPct val="105000"/>
              </a:lnSpc>
              <a:spcAft>
                <a:spcPts val="1000"/>
              </a:spcAft>
              <a:buClr>
                <a:srgbClr val="1E2761"/>
              </a:buClr>
              <a:buFont typeface="Arial"/>
              <a:buChar char="•"/>
            </a:pPr>
            <a:r>
              <a:rPr sz="1450">
                <a:solidFill>
                  <a:srgbClr val="1F2328"/>
                </a:solidFill>
                <a:latin typeface="Calibri"/>
              </a:rPr>
              <a:t>Service: semantic model → Security → Test as role — the Service equivalent, and the one that will actually pick up any workspace-role bypass behavior.</a:t>
            </a:r>
          </a:p>
          <a:p>
            <a:pPr>
              <a:lnSpc>
                <a:spcPct val="105000"/>
              </a:lnSpc>
              <a:spcAft>
                <a:spcPts val="1000"/>
              </a:spcAft>
              <a:buClr>
                <a:srgbClr val="1E2761"/>
              </a:buClr>
              <a:buFont typeface="Arial"/>
              <a:buChar char="•"/>
            </a:pPr>
            <a:r>
              <a:rPr sz="1450">
                <a:solidFill>
                  <a:srgbClr val="1F2328"/>
                </a:solidFill>
                <a:latin typeface="Calibri"/>
              </a:rPr>
              <a:t>Positive test: a user assigned to their intended role sees exactly the rows they should. Negative test: the same user does NOT see rows from any other role's scope.</a:t>
            </a:r>
          </a:p>
          <a:p>
            <a:pPr>
              <a:lnSpc>
                <a:spcPct val="105000"/>
              </a:lnSpc>
              <a:spcAft>
                <a:spcPts val="1000"/>
              </a:spcAft>
              <a:buClr>
                <a:srgbClr val="1E2761"/>
              </a:buClr>
              <a:buFont typeface="Arial"/>
              <a:buChar char="•"/>
            </a:pPr>
            <a:r>
              <a:rPr sz="1450">
                <a:solidFill>
                  <a:srgbClr val="1F2328"/>
                </a:solidFill>
                <a:latin typeface="Calibri"/>
              </a:rPr>
              <a:t>Test with a real Viewer account, not just the author account — workspace Admin/Member/Contributor bypass RLS and will give false-clean test results.</a:t>
            </a:r>
          </a:p>
          <a:p>
            <a:pPr>
              <a:lnSpc>
                <a:spcPct val="105000"/>
              </a:lnSpc>
              <a:spcAft>
                <a:spcPts val="1000"/>
              </a:spcAft>
              <a:buClr>
                <a:srgbClr val="1E2761"/>
              </a:buClr>
              <a:buFont typeface="Arial"/>
              <a:buChar char="•"/>
            </a:pPr>
            <a:r>
              <a:rPr sz="1450">
                <a:solidFill>
                  <a:srgbClr val="1F2328"/>
                </a:solidFill>
                <a:latin typeface="Calibri"/>
              </a:rPr>
              <a:t>Document each test result: the UPN tested, the role, and the visible customer/sales counts — the README's Exercise 1-3 all ask for this documentation.</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Untested roles are worse than no roles — they create a false sense of safety while silently letting users through or blocking legitimate access.</a:t>
            </a:r>
          </a:p>
          <a:p>
            <a:pPr>
              <a:lnSpc>
                <a:spcPct val="105000"/>
              </a:lnSpc>
              <a:spcAft>
                <a:spcPts val="1000"/>
              </a:spcAft>
              <a:buClr>
                <a:srgbClr val="E8B44A"/>
              </a:buClr>
              <a:buFont typeface="Arial"/>
              <a:buChar char="•"/>
            </a:pPr>
            <a:r>
              <a:rPr sz="1450">
                <a:solidFill>
                  <a:srgbClr val="1F2328"/>
                </a:solidFill>
                <a:latin typeface="Calibri"/>
              </a:rPr>
              <a:t>Negative testing (confirming a user CANNOT see what they shouldn't) is what catches misplaced filter direction, wrong relationship keys, or a typo in the DAX filter expression.</a:t>
            </a:r>
          </a:p>
          <a:p>
            <a:pPr>
              <a:lnSpc>
                <a:spcPct val="105000"/>
              </a:lnSpc>
              <a:spcAft>
                <a:spcPts val="1000"/>
              </a:spcAft>
              <a:buClr>
                <a:srgbClr val="E8B44A"/>
              </a:buClr>
              <a:buFont typeface="Arial"/>
              <a:buChar char="•"/>
            </a:pPr>
            <a:r>
              <a:rPr sz="1450">
                <a:solidFill>
                  <a:srgbClr val="1F2328"/>
                </a:solidFill>
                <a:latin typeface="Calibri"/>
              </a:rPr>
              <a:t>The workspace-Admin false-clean result is the single biggest source of 'RLS looked fine in test, failed in production' incidents.</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3 has students test static and dynamic roles in Desktop and, where available, publish and test in the Service with sample UPNs from security-user-territory.csv.</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11</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Azure Government Considerations</a:t>
            </a:r>
          </a:p>
        </p:txBody>
      </p:sp>
      <p:graphicFrame>
        <p:nvGraphicFramePr>
          <p:cNvPr id="6" name="Table 5"/>
          <p:cNvGraphicFramePr>
            <a:graphicFrameLocks noGrp="1"/>
          </p:cNvGraphicFramePr>
          <p:nvPr/>
        </p:nvGraphicFramePr>
        <p:xfrm>
          <a:off x="640080" y="1325880"/>
          <a:ext cx="10881359" cy="4663440"/>
        </p:xfrm>
        <a:graphic>
          <a:graphicData uri="http://schemas.openxmlformats.org/drawingml/2006/table">
            <a:tbl>
              <a:tblPr firstRow="1" bandRow="1">
                <a:tableStyleId>{5C22544A-7EE6-4342-B048-85BDC9FD1C3A}</a:tableStyleId>
              </a:tblPr>
              <a:tblGrid>
                <a:gridCol w="2867955"/>
                <a:gridCol w="2193142"/>
                <a:gridCol w="5820262"/>
              </a:tblGrid>
              <a:tr h="518160">
                <a:tc>
                  <a:txBody>
                    <a:bodyPr/>
                    <a:lstStyle/>
                    <a:p>
                      <a:pPr algn="l"/>
                      <a:r>
                        <a:rPr b="1" sz="1250">
                          <a:solidFill>
                            <a:srgbClr val="FFFFFF"/>
                          </a:solidFill>
                          <a:latin typeface="Calibri"/>
                        </a:rPr>
                        <a:t>Feature</a:t>
                      </a:r>
                    </a:p>
                  </a:txBody>
                  <a:tcPr>
                    <a:solidFill>
                      <a:srgbClr val="1E2761"/>
                    </a:solidFill>
                  </a:tcPr>
                </a:tc>
                <a:tc>
                  <a:txBody>
                    <a:bodyPr/>
                    <a:lstStyle/>
                    <a:p>
                      <a:pPr algn="l"/>
                      <a:r>
                        <a:rPr b="1" sz="1250">
                          <a:solidFill>
                            <a:srgbClr val="FFFFFF"/>
                          </a:solidFill>
                          <a:latin typeface="Calibri"/>
                        </a:rPr>
                        <a:t>Gov status</a:t>
                      </a:r>
                    </a:p>
                  </a:txBody>
                  <a:tcPr>
                    <a:solidFill>
                      <a:srgbClr val="1E2761"/>
                    </a:solidFill>
                  </a:tcPr>
                </a:tc>
                <a:tc>
                  <a:txBody>
                    <a:bodyPr/>
                    <a:lstStyle/>
                    <a:p>
                      <a:pPr algn="l"/>
                      <a:r>
                        <a:rPr b="1" sz="1250">
                          <a:solidFill>
                            <a:srgbClr val="FFFFFF"/>
                          </a:solidFill>
                          <a:latin typeface="Calibri"/>
                        </a:rPr>
                        <a:t>Validation focus</a:t>
                      </a:r>
                    </a:p>
                  </a:txBody>
                  <a:tcPr>
                    <a:solidFill>
                      <a:srgbClr val="1E2761"/>
                    </a:solidFill>
                  </a:tcPr>
                </a:tc>
              </a:tr>
              <a:tr h="518160">
                <a:tc>
                  <a:txBody>
                    <a:bodyPr/>
                    <a:lstStyle/>
                    <a:p>
                      <a:r>
                        <a:rPr sz="1150">
                          <a:solidFill>
                            <a:srgbClr val="1F2328"/>
                          </a:solidFill>
                          <a:latin typeface="Calibri"/>
                        </a:rPr>
                        <a:t>Static RLS</a:t>
                      </a:r>
                    </a:p>
                  </a:txBody>
                  <a:tcPr>
                    <a:solidFill>
                      <a:srgbClr val="FFFFFF"/>
                    </a:solidFill>
                  </a:tcPr>
                </a:tc>
                <a:tc>
                  <a:txBody>
                    <a:bodyPr/>
                    <a:lstStyle/>
                    <a:p>
                      <a:r>
                        <a:rPr sz="1150">
                          <a:solidFill>
                            <a:srgbClr val="1F2328"/>
                          </a:solidFill>
                          <a:latin typeface="Calibri"/>
                        </a:rPr>
                        <a:t>Gov-ready</a:t>
                      </a:r>
                    </a:p>
                  </a:txBody>
                  <a:tcPr>
                    <a:solidFill>
                      <a:srgbClr val="FFFFFF"/>
                    </a:solidFill>
                  </a:tcPr>
                </a:tc>
                <a:tc>
                  <a:txBody>
                    <a:bodyPr/>
                    <a:lstStyle/>
                    <a:p>
                      <a:r>
                        <a:rPr sz="1150">
                          <a:solidFill>
                            <a:srgbClr val="1F2328"/>
                          </a:solidFill>
                          <a:latin typeface="Calibri"/>
                        </a:rPr>
                        <a:t>Core Power BI capability — no extra tenant validation required.</a:t>
                      </a:r>
                    </a:p>
                  </a:txBody>
                  <a:tcPr>
                    <a:solidFill>
                      <a:srgbClr val="FFFFFF"/>
                    </a:solidFill>
                  </a:tcPr>
                </a:tc>
              </a:tr>
              <a:tr h="518160">
                <a:tc>
                  <a:txBody>
                    <a:bodyPr/>
                    <a:lstStyle/>
                    <a:p>
                      <a:r>
                        <a:rPr sz="1150">
                          <a:solidFill>
                            <a:srgbClr val="1F2328"/>
                          </a:solidFill>
                          <a:latin typeface="Calibri"/>
                        </a:rPr>
                        <a:t>Dynamic RLS</a:t>
                      </a:r>
                    </a:p>
                  </a:txBody>
                  <a:tcPr>
                    <a:solidFill>
                      <a:srgbClr val="F6F8FC"/>
                    </a:solidFill>
                  </a:tcPr>
                </a:tc>
                <a:tc>
                  <a:txBody>
                    <a:bodyPr/>
                    <a:lstStyle/>
                    <a:p>
                      <a:r>
                        <a:rPr sz="1150">
                          <a:solidFill>
                            <a:srgbClr val="1F2328"/>
                          </a:solidFill>
                          <a:latin typeface="Calibri"/>
                        </a:rPr>
                        <a:t>Gov-ready</a:t>
                      </a:r>
                    </a:p>
                  </a:txBody>
                  <a:tcPr>
                    <a:solidFill>
                      <a:srgbClr val="F6F8FC"/>
                    </a:solidFill>
                  </a:tcPr>
                </a:tc>
                <a:tc>
                  <a:txBody>
                    <a:bodyPr/>
                    <a:lstStyle/>
                    <a:p>
                      <a:r>
                        <a:rPr sz="1150">
                          <a:solidFill>
                            <a:srgbClr val="1F2328"/>
                          </a:solidFill>
                          <a:latin typeface="Calibri"/>
                        </a:rPr>
                        <a:t>Validate UPN format, Entra ID sync, and guest-user UPN mapping in target tenant.</a:t>
                      </a:r>
                    </a:p>
                  </a:txBody>
                  <a:tcPr>
                    <a:solidFill>
                      <a:srgbClr val="F6F8FC"/>
                    </a:solidFill>
                  </a:tcPr>
                </a:tc>
              </a:tr>
              <a:tr h="518160">
                <a:tc>
                  <a:txBody>
                    <a:bodyPr/>
                    <a:lstStyle/>
                    <a:p>
                      <a:r>
                        <a:rPr sz="1150">
                          <a:solidFill>
                            <a:srgbClr val="1F2328"/>
                          </a:solidFill>
                          <a:latin typeface="Calibri"/>
                        </a:rPr>
                        <a:t>Role testing in Desktop</a:t>
                      </a:r>
                    </a:p>
                  </a:txBody>
                  <a:tcPr>
                    <a:solidFill>
                      <a:srgbClr val="FFFFFF"/>
                    </a:solidFill>
                  </a:tcPr>
                </a:tc>
                <a:tc>
                  <a:txBody>
                    <a:bodyPr/>
                    <a:lstStyle/>
                    <a:p>
                      <a:r>
                        <a:rPr sz="1150">
                          <a:solidFill>
                            <a:srgbClr val="1F2328"/>
                          </a:solidFill>
                          <a:latin typeface="Calibri"/>
                        </a:rPr>
                        <a:t>Gov-ready</a:t>
                      </a:r>
                    </a:p>
                  </a:txBody>
                  <a:tcPr>
                    <a:solidFill>
                      <a:srgbClr val="FFFFFF"/>
                    </a:solidFill>
                  </a:tcPr>
                </a:tc>
                <a:tc>
                  <a:txBody>
                    <a:bodyPr/>
                    <a:lstStyle/>
                    <a:p>
                      <a:r>
                        <a:rPr sz="1150">
                          <a:solidFill>
                            <a:srgbClr val="1F2328"/>
                          </a:solidFill>
                          <a:latin typeface="Calibri"/>
                        </a:rPr>
                        <a:t>Core Desktop capability — always available.</a:t>
                      </a:r>
                    </a:p>
                  </a:txBody>
                  <a:tcPr>
                    <a:solidFill>
                      <a:srgbClr val="FFFFFF"/>
                    </a:solidFill>
                  </a:tcPr>
                </a:tc>
              </a:tr>
              <a:tr h="518160">
                <a:tc>
                  <a:txBody>
                    <a:bodyPr/>
                    <a:lstStyle/>
                    <a:p>
                      <a:r>
                        <a:rPr sz="1150">
                          <a:solidFill>
                            <a:srgbClr val="1F2328"/>
                          </a:solidFill>
                          <a:latin typeface="Calibri"/>
                        </a:rPr>
                        <a:t>Role assignment in Service</a:t>
                      </a:r>
                    </a:p>
                  </a:txBody>
                  <a:tcPr>
                    <a:solidFill>
                      <a:srgbClr val="F6F8FC"/>
                    </a:solidFill>
                  </a:tcPr>
                </a:tc>
                <a:tc>
                  <a:txBody>
                    <a:bodyPr/>
                    <a:lstStyle/>
                    <a:p>
                      <a:r>
                        <a:rPr sz="1150">
                          <a:solidFill>
                            <a:srgbClr val="1F2328"/>
                          </a:solidFill>
                          <a:latin typeface="Calibri"/>
                        </a:rPr>
                        <a:t>Gov-ready</a:t>
                      </a:r>
                    </a:p>
                  </a:txBody>
                  <a:tcPr>
                    <a:solidFill>
                      <a:srgbClr val="F6F8FC"/>
                    </a:solidFill>
                  </a:tcPr>
                </a:tc>
                <a:tc>
                  <a:txBody>
                    <a:bodyPr/>
                    <a:lstStyle/>
                    <a:p>
                      <a:r>
                        <a:rPr sz="1150">
                          <a:solidFill>
                            <a:srgbClr val="1F2328"/>
                          </a:solidFill>
                          <a:latin typeface="Calibri"/>
                        </a:rPr>
                        <a:t>Requires workspace/model permission model to be in place.</a:t>
                      </a:r>
                    </a:p>
                  </a:txBody>
                  <a:tcPr>
                    <a:solidFill>
                      <a:srgbClr val="F6F8FC"/>
                    </a:solidFill>
                  </a:tcPr>
                </a:tc>
              </a:tr>
              <a:tr h="518160">
                <a:tc>
                  <a:txBody>
                    <a:bodyPr/>
                    <a:lstStyle/>
                    <a:p>
                      <a:r>
                        <a:rPr sz="1150">
                          <a:solidFill>
                            <a:srgbClr val="1F2328"/>
                          </a:solidFill>
                          <a:latin typeface="Calibri"/>
                        </a:rPr>
                        <a:t>Build permission</a:t>
                      </a:r>
                    </a:p>
                  </a:txBody>
                  <a:tcPr>
                    <a:solidFill>
                      <a:srgbClr val="FFFFFF"/>
                    </a:solidFill>
                  </a:tcPr>
                </a:tc>
                <a:tc>
                  <a:txBody>
                    <a:bodyPr/>
                    <a:lstStyle/>
                    <a:p>
                      <a:r>
                        <a:rPr sz="1150">
                          <a:solidFill>
                            <a:srgbClr val="1F2328"/>
                          </a:solidFill>
                          <a:latin typeface="Calibri"/>
                        </a:rPr>
                        <a:t>Gov-ready</a:t>
                      </a:r>
                    </a:p>
                  </a:txBody>
                  <a:tcPr>
                    <a:solidFill>
                      <a:srgbClr val="FFFFFF"/>
                    </a:solidFill>
                  </a:tcPr>
                </a:tc>
                <a:tc>
                  <a:txBody>
                    <a:bodyPr/>
                    <a:lstStyle/>
                    <a:p>
                      <a:r>
                        <a:rPr sz="1150">
                          <a:solidFill>
                            <a:srgbClr val="1F2328"/>
                          </a:solidFill>
                          <a:latin typeface="Calibri"/>
                        </a:rPr>
                        <a:t>Validate tenant governance and downstream (Excel, XMLA) access policy.</a:t>
                      </a:r>
                    </a:p>
                  </a:txBody>
                  <a:tcPr>
                    <a:solidFill>
                      <a:srgbClr val="FFFFFF"/>
                    </a:solidFill>
                  </a:tcPr>
                </a:tc>
              </a:tr>
              <a:tr h="518160">
                <a:tc>
                  <a:txBody>
                    <a:bodyPr/>
                    <a:lstStyle/>
                    <a:p>
                      <a:r>
                        <a:rPr sz="1150">
                          <a:solidFill>
                            <a:srgbClr val="1F2328"/>
                          </a:solidFill>
                          <a:latin typeface="Calibri"/>
                        </a:rPr>
                        <a:t>OLS</a:t>
                      </a:r>
                    </a:p>
                  </a:txBody>
                  <a:tcPr>
                    <a:solidFill>
                      <a:srgbClr val="F6F8FC"/>
                    </a:solidFill>
                  </a:tcPr>
                </a:tc>
                <a:tc>
                  <a:txBody>
                    <a:bodyPr/>
                    <a:lstStyle/>
                    <a:p>
                      <a:r>
                        <a:rPr sz="1150">
                          <a:solidFill>
                            <a:srgbClr val="1F2328"/>
                          </a:solidFill>
                          <a:latin typeface="Calibri"/>
                        </a:rPr>
                        <a:t>Verify for Gov</a:t>
                      </a:r>
                    </a:p>
                  </a:txBody>
                  <a:tcPr>
                    <a:solidFill>
                      <a:srgbClr val="F6F8FC"/>
                    </a:solidFill>
                  </a:tcPr>
                </a:tc>
                <a:tc>
                  <a:txBody>
                    <a:bodyPr/>
                    <a:lstStyle/>
                    <a:p>
                      <a:r>
                        <a:rPr sz="1150">
                          <a:solidFill>
                            <a:srgbClr val="1F2328"/>
                          </a:solidFill>
                          <a:latin typeface="Calibri"/>
                        </a:rPr>
                        <a:t>Requires XMLA-compatible tooling and compatible capacity SKU.</a:t>
                      </a:r>
                    </a:p>
                  </a:txBody>
                  <a:tcPr>
                    <a:solidFill>
                      <a:srgbClr val="F6F8FC"/>
                    </a:solidFill>
                  </a:tcPr>
                </a:tc>
              </a:tr>
              <a:tr h="518160">
                <a:tc>
                  <a:txBody>
                    <a:bodyPr/>
                    <a:lstStyle/>
                    <a:p>
                      <a:r>
                        <a:rPr sz="1150">
                          <a:solidFill>
                            <a:srgbClr val="1F2328"/>
                          </a:solidFill>
                          <a:latin typeface="Calibri"/>
                        </a:rPr>
                        <a:t>Sensitivity labels / Purview</a:t>
                      </a:r>
                    </a:p>
                  </a:txBody>
                  <a:tcPr>
                    <a:solidFill>
                      <a:srgbClr val="FFFFFF"/>
                    </a:solidFill>
                  </a:tcPr>
                </a:tc>
                <a:tc>
                  <a:txBody>
                    <a:bodyPr/>
                    <a:lstStyle/>
                    <a:p>
                      <a:r>
                        <a:rPr sz="1150">
                          <a:solidFill>
                            <a:srgbClr val="1F2328"/>
                          </a:solidFill>
                          <a:latin typeface="Calibri"/>
                        </a:rPr>
                        <a:t>Verify for Gov</a:t>
                      </a:r>
                    </a:p>
                  </a:txBody>
                  <a:tcPr>
                    <a:solidFill>
                      <a:srgbClr val="FFFFFF"/>
                    </a:solidFill>
                  </a:tcPr>
                </a:tc>
                <a:tc>
                  <a:txBody>
                    <a:bodyPr/>
                    <a:lstStyle/>
                    <a:p>
                      <a:r>
                        <a:rPr sz="1150">
                          <a:solidFill>
                            <a:srgbClr val="1F2328"/>
                          </a:solidFill>
                          <a:latin typeface="Calibri"/>
                        </a:rPr>
                        <a:t>Requires Purview Information Protection configuration and cloud support.</a:t>
                      </a:r>
                    </a:p>
                  </a:txBody>
                  <a:tcPr>
                    <a:solidFill>
                      <a:srgbClr val="FFFFFF"/>
                    </a:solidFill>
                  </a:tcPr>
                </a:tc>
              </a:tr>
              <a:tr h="518160">
                <a:tc>
                  <a:txBody>
                    <a:bodyPr/>
                    <a:lstStyle/>
                    <a:p>
                      <a:r>
                        <a:rPr sz="1150">
                          <a:solidFill>
                            <a:srgbClr val="1F2328"/>
                          </a:solidFill>
                          <a:latin typeface="Calibri"/>
                        </a:rPr>
                        <a:t>External sharing / B2B</a:t>
                      </a:r>
                    </a:p>
                  </a:txBody>
                  <a:tcPr>
                    <a:solidFill>
                      <a:srgbClr val="F6F8FC"/>
                    </a:solidFill>
                  </a:tcPr>
                </a:tc>
                <a:tc>
                  <a:txBody>
                    <a:bodyPr/>
                    <a:lstStyle/>
                    <a:p>
                      <a:r>
                        <a:rPr sz="1150">
                          <a:solidFill>
                            <a:srgbClr val="1F2328"/>
                          </a:solidFill>
                          <a:latin typeface="Calibri"/>
                        </a:rPr>
                        <a:t>Verify for Gov</a:t>
                      </a:r>
                    </a:p>
                  </a:txBody>
                  <a:tcPr>
                    <a:solidFill>
                      <a:srgbClr val="F6F8FC"/>
                    </a:solidFill>
                  </a:tcPr>
                </a:tc>
                <a:tc>
                  <a:txBody>
                    <a:bodyPr/>
                    <a:lstStyle/>
                    <a:p>
                      <a:r>
                        <a:rPr sz="1150">
                          <a:solidFill>
                            <a:srgbClr val="1F2328"/>
                          </a:solidFill>
                          <a:latin typeface="Calibri"/>
                        </a:rPr>
                        <a:t>Often restricted by GCC / GCC High / DoD policy and data-handling rules.</a:t>
                      </a:r>
                    </a:p>
                  </a:txBody>
                  <a:tcPr>
                    <a:solidFill>
                      <a:srgbClr val="F6F8FC"/>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Rule of thumb: customer policy may be stricter than what the platform technically supports. Always validate customer-specific policy alongside platform capability before treating a Verify-for-Gov feature as available.</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12</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Security Review Checklist</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Access path: for each persona, list every path they have to the content — direct share, App audience, workspace role, external/B2B — not just the intended path.</a:t>
            </a:r>
          </a:p>
          <a:p>
            <a:pPr>
              <a:lnSpc>
                <a:spcPct val="105000"/>
              </a:lnSpc>
              <a:spcAft>
                <a:spcPts val="1000"/>
              </a:spcAft>
              <a:buClr>
                <a:srgbClr val="1E2761"/>
              </a:buClr>
              <a:buFont typeface="Arial"/>
              <a:buChar char="•"/>
            </a:pPr>
            <a:r>
              <a:rPr sz="1450">
                <a:solidFill>
                  <a:srgbClr val="1F2328"/>
                </a:solidFill>
                <a:latin typeface="Calibri"/>
              </a:rPr>
              <a:t>Data filter path: confirm each RLS role's filter is on the correct table, uses the expected DAX expression, and that relationship direction propagates the filter into FactSales.</a:t>
            </a:r>
          </a:p>
          <a:p>
            <a:pPr>
              <a:lnSpc>
                <a:spcPct val="105000"/>
              </a:lnSpc>
              <a:spcAft>
                <a:spcPts val="1000"/>
              </a:spcAft>
              <a:buClr>
                <a:srgbClr val="1E2761"/>
              </a:buClr>
              <a:buFont typeface="Arial"/>
              <a:buChar char="•"/>
            </a:pPr>
            <a:r>
              <a:rPr sz="1450">
                <a:solidFill>
                  <a:srgbClr val="1F2328"/>
                </a:solidFill>
                <a:latin typeface="Calibri"/>
              </a:rPr>
              <a:t>Export behavior: identify every export surface (Export to Excel, Analyze in Excel, PDF, PowerPoint, XMLA) and confirm sensitivity labels / DLP behave as expected.</a:t>
            </a:r>
          </a:p>
          <a:p>
            <a:pPr>
              <a:lnSpc>
                <a:spcPct val="105000"/>
              </a:lnSpc>
              <a:spcAft>
                <a:spcPts val="1000"/>
              </a:spcAft>
              <a:buClr>
                <a:srgbClr val="1E2761"/>
              </a:buClr>
              <a:buFont typeface="Arial"/>
              <a:buChar char="•"/>
            </a:pPr>
            <a:r>
              <a:rPr sz="1450">
                <a:solidFill>
                  <a:srgbClr val="1F2328"/>
                </a:solidFill>
                <a:latin typeface="Calibri"/>
              </a:rPr>
              <a:t>Build permission: list every user or group with Build on the semantic model and confirm each one is in an appropriate RLS role — or has a documented reason not to be.</a:t>
            </a:r>
          </a:p>
          <a:p>
            <a:pPr>
              <a:lnSpc>
                <a:spcPct val="105000"/>
              </a:lnSpc>
              <a:spcAft>
                <a:spcPts val="1000"/>
              </a:spcAft>
              <a:buClr>
                <a:srgbClr val="1E2761"/>
              </a:buClr>
              <a:buFont typeface="Arial"/>
              <a:buChar char="•"/>
            </a:pPr>
            <a:r>
              <a:rPr sz="1450">
                <a:solidFill>
                  <a:srgbClr val="1F2328"/>
                </a:solidFill>
                <a:latin typeface="Calibri"/>
              </a:rPr>
              <a:t>Validation evidence: for each role, keep a record of the positive and negative test results — UPN tested, role assigned, expected visible rows, actual visible rows.</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A checklist turns 'is this secure?' from a subjective judgement into a repeatable, audit-friendly artifact.</a:t>
            </a:r>
          </a:p>
          <a:p>
            <a:pPr>
              <a:lnSpc>
                <a:spcPct val="105000"/>
              </a:lnSpc>
              <a:spcAft>
                <a:spcPts val="1000"/>
              </a:spcAft>
              <a:buClr>
                <a:srgbClr val="E8B44A"/>
              </a:buClr>
              <a:buFont typeface="Arial"/>
              <a:buChar char="•"/>
            </a:pPr>
            <a:r>
              <a:rPr sz="1450">
                <a:solidFill>
                  <a:srgbClr val="1F2328"/>
                </a:solidFill>
                <a:latin typeface="Calibri"/>
              </a:rPr>
              <a:t>Every item on the list maps directly to a failure mode this module covered — workspace-role bypass, Build-permission surprise, guest UPN mismatch, label vs. RLS confusion, untested roles.</a:t>
            </a:r>
          </a:p>
          <a:p>
            <a:pPr>
              <a:lnSpc>
                <a:spcPct val="105000"/>
              </a:lnSpc>
              <a:spcAft>
                <a:spcPts val="1000"/>
              </a:spcAft>
              <a:buClr>
                <a:srgbClr val="E8B44A"/>
              </a:buClr>
              <a:buFont typeface="Arial"/>
              <a:buChar char="•"/>
            </a:pPr>
            <a:r>
              <a:rPr sz="1450">
                <a:solidFill>
                  <a:srgbClr val="1F2328"/>
                </a:solidFill>
                <a:latin typeface="Calibri"/>
              </a:rPr>
              <a:t>Documented evidence is what makes 'we tested this' defensible in a security or compliance review — without evidence, testing may as well not have happened.</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the README's validation checklist is a subset of this review — the review here is what you'd add on top for a production deployment.</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8B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TOPIC 13 — WHAT YOU'LL BUILD</a:t>
            </a:r>
          </a:p>
        </p:txBody>
      </p:sp>
      <p:sp>
        <p:nvSpPr>
          <p:cNvPr id="5" name="TextBox 4"/>
          <p:cNvSpPr txBox="1"/>
          <p:nvPr/>
        </p:nvSpPr>
        <p:spPr>
          <a:xfrm>
            <a:off x="640080" y="868680"/>
            <a:ext cx="9601200" cy="640080"/>
          </a:xfrm>
          <a:prstGeom prst="rect">
            <a:avLst/>
          </a:prstGeom>
          <a:noFill/>
        </p:spPr>
        <p:txBody>
          <a:bodyPr wrap="square" anchor="t" lIns="0" rIns="0" tIns="0" bIns="0">
            <a:spAutoFit/>
          </a:bodyPr>
          <a:lstStyle/>
          <a:p>
            <a:pPr algn="l">
              <a:lnSpc>
                <a:spcPct val="100000"/>
              </a:lnSpc>
              <a:spcAft>
                <a:spcPts val="0"/>
              </a:spcAft>
            </a:pPr>
            <a:r>
              <a:rPr sz="3000" b="1" i="0">
                <a:solidFill>
                  <a:srgbClr val="141B45"/>
                </a:solidFill>
                <a:latin typeface="Cambria"/>
              </a:rPr>
              <a:t>Module Lab Walkthrough</a:t>
            </a:r>
          </a:p>
        </p:txBody>
      </p:sp>
      <p:sp>
        <p:nvSpPr>
          <p:cNvPr id="6" name="Rectangle 5"/>
          <p:cNvSpPr/>
          <p:nvPr/>
        </p:nvSpPr>
        <p:spPr>
          <a:xfrm>
            <a:off x="640080" y="1783080"/>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025396"/>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1783080"/>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Data overview: security-user-territory.csv and security-role-matrix.csv via raw GitHub URL (Get data → Web).</a:t>
            </a:r>
          </a:p>
        </p:txBody>
      </p:sp>
      <p:sp>
        <p:nvSpPr>
          <p:cNvPr id="9" name="Rectangle 8"/>
          <p:cNvSpPr/>
          <p:nvPr/>
        </p:nvSpPr>
        <p:spPr>
          <a:xfrm>
            <a:off x="640080" y="2706624"/>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948940"/>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706624"/>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1: Static RLS — create 'East Region' role filtering DimTerritory[TerritoryRegion] = "East".</a:t>
            </a:r>
          </a:p>
        </p:txBody>
      </p:sp>
      <p:sp>
        <p:nvSpPr>
          <p:cNvPr id="12" name="Rectangle 11"/>
          <p:cNvSpPr/>
          <p:nvPr/>
        </p:nvSpPr>
        <p:spPr>
          <a:xfrm>
            <a:off x="640080" y="3630168"/>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387248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3630168"/>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1 test: Modeling → View as → East Region; document expected visible customer and sales totals.</a:t>
            </a:r>
          </a:p>
        </p:txBody>
      </p:sp>
      <p:sp>
        <p:nvSpPr>
          <p:cNvPr id="15" name="Rectangle 14"/>
          <p:cNvSpPr/>
          <p:nvPr/>
        </p:nvSpPr>
        <p:spPr>
          <a:xfrm>
            <a:off x="640080" y="4553712"/>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4796028"/>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4553712"/>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2: Dynamic RLS — import security-user-territory.csv and relate to DimTerritory on TerritoryKey.</a:t>
            </a:r>
          </a:p>
        </p:txBody>
      </p:sp>
      <p:sp>
        <p:nvSpPr>
          <p:cNvPr id="18" name="Rectangle 17"/>
          <p:cNvSpPr/>
          <p:nvPr/>
        </p:nvSpPr>
        <p:spPr>
          <a:xfrm>
            <a:off x="640080" y="5477256"/>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5719572"/>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98448" y="5477256"/>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2 role: create 'Dynamic Territory Security' with filter [UserPrincipalName] = USERPRINCIPALNAME() on the security table.</a:t>
            </a:r>
          </a:p>
        </p:txBody>
      </p:sp>
      <p:sp>
        <p:nvSpPr>
          <p:cNvPr id="21" name="Rectangle 20"/>
          <p:cNvSpPr/>
          <p:nvPr/>
        </p:nvSpPr>
        <p:spPr>
          <a:xfrm>
            <a:off x="6309360" y="1783080"/>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92240" y="2025396"/>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67728" y="1783080"/>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2 test: View as with sample UPNs from the mapping table (single-territory and multi-territory users).</a:t>
            </a:r>
          </a:p>
        </p:txBody>
      </p:sp>
      <p:sp>
        <p:nvSpPr>
          <p:cNvPr id="24" name="Rectangle 23"/>
          <p:cNvSpPr/>
          <p:nvPr/>
        </p:nvSpPr>
        <p:spPr>
          <a:xfrm>
            <a:off x="6309360" y="2706624"/>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92240" y="2948940"/>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67728" y="2706624"/>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3: Publish to approved training workspace, assign users/groups, Test as role in Service where available.</a:t>
            </a:r>
          </a:p>
        </p:txBody>
      </p:sp>
      <p:sp>
        <p:nvSpPr>
          <p:cNvPr id="27" name="Rectangle 26"/>
          <p:cNvSpPr/>
          <p:nvPr/>
        </p:nvSpPr>
        <p:spPr>
          <a:xfrm>
            <a:off x="6309360" y="3630168"/>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92240" y="387248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67728" y="3630168"/>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4: Build permission discussion — walk security-role-matrix.csv personas and decide Build + RLS for each.</a:t>
            </a:r>
          </a:p>
        </p:txBody>
      </p:sp>
      <p:sp>
        <p:nvSpPr>
          <p:cNvPr id="30" name="Rectangle 29"/>
          <p:cNvSpPr/>
          <p:nvPr/>
        </p:nvSpPr>
        <p:spPr>
          <a:xfrm>
            <a:off x="6309360" y="4553712"/>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92240" y="4796028"/>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67728" y="4553712"/>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Optional: OLS — identify sensitive fields; document remove/hide/OLS decision (Verify for Gov, conceptual only).</a:t>
            </a:r>
          </a:p>
        </p:txBody>
      </p:sp>
      <p:sp>
        <p:nvSpPr>
          <p:cNvPr id="33" name="Rectangle 32"/>
          <p:cNvSpPr/>
          <p:nvPr/>
        </p:nvSpPr>
        <p:spPr>
          <a:xfrm>
            <a:off x="6309360" y="5477256"/>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92240" y="5719572"/>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67728" y="5477256"/>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Optional: Sensitivity labels — review labels, apply where tenant permits, document Purview and DLP dependencies.</a:t>
            </a:r>
          </a:p>
        </p:txBody>
      </p:sp>
      <p:sp>
        <p:nvSpPr>
          <p:cNvPr id="36" name="TextBox 35"/>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8B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TOPIC 14 — WRAP-UP</a:t>
            </a:r>
          </a:p>
        </p:txBody>
      </p:sp>
      <p:sp>
        <p:nvSpPr>
          <p:cNvPr id="5" name="TextBox 4"/>
          <p:cNvSpPr txBox="1"/>
          <p:nvPr/>
        </p:nvSpPr>
        <p:spPr>
          <a:xfrm>
            <a:off x="640080" y="868680"/>
            <a:ext cx="9601200" cy="640080"/>
          </a:xfrm>
          <a:prstGeom prst="rect">
            <a:avLst/>
          </a:prstGeom>
          <a:noFill/>
        </p:spPr>
        <p:txBody>
          <a:bodyPr wrap="square" anchor="t" lIns="0" rIns="0" tIns="0" bIns="0">
            <a:spAutoFit/>
          </a:bodyPr>
          <a:lstStyle/>
          <a:p>
            <a:pPr algn="l">
              <a:lnSpc>
                <a:spcPct val="100000"/>
              </a:lnSpc>
              <a:spcAft>
                <a:spcPts val="0"/>
              </a:spcAft>
            </a:pPr>
            <a:r>
              <a:rPr sz="3000" b="1" i="0">
                <a:solidFill>
                  <a:srgbClr val="141B45"/>
                </a:solidFill>
                <a:latin typeface="Cambria"/>
              </a:rPr>
              <a:t>Knowledge Check &amp; Discussion</a:t>
            </a:r>
          </a:p>
        </p:txBody>
      </p:sp>
      <p:sp>
        <p:nvSpPr>
          <p:cNvPr id="6" name="Rectangle 5"/>
          <p:cNvSpPr/>
          <p:nvPr/>
        </p:nvSpPr>
        <p:spPr>
          <a:xfrm>
            <a:off x="640080" y="1783080"/>
            <a:ext cx="5120640" cy="64160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94843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1783080"/>
            <a:ext cx="4279392" cy="64160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Static RLS role filters the expected data on DimTerritory.</a:t>
            </a:r>
          </a:p>
        </p:txBody>
      </p:sp>
      <p:sp>
        <p:nvSpPr>
          <p:cNvPr id="9" name="Rectangle 8"/>
          <p:cNvSpPr/>
          <p:nvPr/>
        </p:nvSpPr>
        <p:spPr>
          <a:xfrm>
            <a:off x="640080" y="2552700"/>
            <a:ext cx="5120640" cy="64160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71805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552700"/>
            <a:ext cx="4279392" cy="64160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Dynamic RLS role uses USERPRINCIPALNAME() on the security mapping table.</a:t>
            </a:r>
          </a:p>
        </p:txBody>
      </p:sp>
      <p:sp>
        <p:nvSpPr>
          <p:cNvPr id="12" name="Rectangle 11"/>
          <p:cNvSpPr/>
          <p:nvPr/>
        </p:nvSpPr>
        <p:spPr>
          <a:xfrm>
            <a:off x="640080" y="3322320"/>
            <a:ext cx="5120640" cy="64160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348767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3322320"/>
            <a:ext cx="4279392" cy="64160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SecurityUserTerritory relates correctly to DimTerritory via TerritoryKey.</a:t>
            </a:r>
          </a:p>
        </p:txBody>
      </p:sp>
      <p:sp>
        <p:nvSpPr>
          <p:cNvPr id="15" name="Rectangle 14"/>
          <p:cNvSpPr/>
          <p:nvPr/>
        </p:nvSpPr>
        <p:spPr>
          <a:xfrm>
            <a:off x="640080" y="4091940"/>
            <a:ext cx="5120640" cy="64160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425729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4091940"/>
            <a:ext cx="4279392" cy="64160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Desktop role testing (View as) is documented with expected counts.</a:t>
            </a:r>
          </a:p>
        </p:txBody>
      </p:sp>
      <p:sp>
        <p:nvSpPr>
          <p:cNvPr id="18" name="Rectangle 17"/>
          <p:cNvSpPr/>
          <p:nvPr/>
        </p:nvSpPr>
        <p:spPr>
          <a:xfrm>
            <a:off x="640080" y="4861560"/>
            <a:ext cx="5120640" cy="64160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502691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98448" y="4861560"/>
            <a:ext cx="4279392" cy="64160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Service role testing (Test as role) is documented where available.</a:t>
            </a:r>
          </a:p>
        </p:txBody>
      </p:sp>
      <p:sp>
        <p:nvSpPr>
          <p:cNvPr id="21" name="Rectangle 20"/>
          <p:cNvSpPr/>
          <p:nvPr/>
        </p:nvSpPr>
        <p:spPr>
          <a:xfrm>
            <a:off x="640080" y="5631180"/>
            <a:ext cx="5120640" cy="64160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579653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98448" y="5631180"/>
            <a:ext cx="4279392" cy="64160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Build permission behavior is documented per persona in the role matrix.</a:t>
            </a:r>
          </a:p>
        </p:txBody>
      </p:sp>
      <p:sp>
        <p:nvSpPr>
          <p:cNvPr id="24" name="Rectangle 23"/>
          <p:cNvSpPr/>
          <p:nvPr/>
        </p:nvSpPr>
        <p:spPr>
          <a:xfrm>
            <a:off x="6309360" y="1783080"/>
            <a:ext cx="5120640" cy="64160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92240" y="194843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67728" y="1783080"/>
            <a:ext cx="4279392" cy="64160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OLS is marked Verify for Gov and documented conceptually only.</a:t>
            </a:r>
          </a:p>
        </p:txBody>
      </p:sp>
      <p:sp>
        <p:nvSpPr>
          <p:cNvPr id="27" name="Rectangle 26"/>
          <p:cNvSpPr/>
          <p:nvPr/>
        </p:nvSpPr>
        <p:spPr>
          <a:xfrm>
            <a:off x="6309360" y="2552700"/>
            <a:ext cx="5120640" cy="64160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92240" y="271805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67728" y="2552700"/>
            <a:ext cx="4279392" cy="64160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Sensitivity labels and Purview are marked Verify for Gov.</a:t>
            </a:r>
          </a:p>
        </p:txBody>
      </p:sp>
      <p:sp>
        <p:nvSpPr>
          <p:cNvPr id="30" name="Rectangle 29"/>
          <p:cNvSpPr/>
          <p:nvPr/>
        </p:nvSpPr>
        <p:spPr>
          <a:xfrm>
            <a:off x="6309360" y="3322320"/>
            <a:ext cx="5120640" cy="64160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92240" y="348767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67728" y="3322320"/>
            <a:ext cx="4279392" cy="64160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External sharing and B2B limitations are documented for the target tenant.</a:t>
            </a:r>
          </a:p>
        </p:txBody>
      </p:sp>
      <p:sp>
        <p:nvSpPr>
          <p:cNvPr id="33" name="Rectangle 32"/>
          <p:cNvSpPr/>
          <p:nvPr/>
        </p:nvSpPr>
        <p:spPr>
          <a:xfrm>
            <a:off x="6309360" y="4091940"/>
            <a:ext cx="5120640" cy="64160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92240" y="425729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67728" y="4091940"/>
            <a:ext cx="4279392" cy="64160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Discussion: when would you accept a workspace Member bypass, and how would you audit it?</a:t>
            </a:r>
          </a:p>
        </p:txBody>
      </p:sp>
      <p:sp>
        <p:nvSpPr>
          <p:cNvPr id="36" name="Rectangle 35"/>
          <p:cNvSpPr/>
          <p:nvPr/>
        </p:nvSpPr>
        <p:spPr>
          <a:xfrm>
            <a:off x="6309360" y="4861560"/>
            <a:ext cx="5120640" cy="64160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92240" y="502691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67728" y="4861560"/>
            <a:ext cx="4279392" cy="64160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Discussion: how would you validate guest / B2B UPN mapping before assigning dynamic RLS to external users?</a:t>
            </a:r>
          </a:p>
        </p:txBody>
      </p:sp>
      <p:sp>
        <p:nvSpPr>
          <p:cNvPr id="39" name="Rectangle 38"/>
          <p:cNvSpPr/>
          <p:nvPr/>
        </p:nvSpPr>
        <p:spPr>
          <a:xfrm>
            <a:off x="6309360" y="5631180"/>
            <a:ext cx="5120640" cy="64160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92240" y="579653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67728" y="5631180"/>
            <a:ext cx="4279392" cy="64160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Discussion: which items on the Security Review Checklist would you add to a production release gate?</a:t>
            </a:r>
          </a:p>
        </p:txBody>
      </p:sp>
      <p:sp>
        <p:nvSpPr>
          <p:cNvPr id="42" name="TextBox 41"/>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058400" cy="914400"/>
          </a:xfrm>
          <a:prstGeom prst="rect">
            <a:avLst/>
          </a:prstGeom>
          <a:noFill/>
        </p:spPr>
        <p:txBody>
          <a:bodyPr wrap="square" anchor="t" lIns="0" rIns="0" tIns="0" bIns="0">
            <a:spAutoFit/>
          </a:bodyPr>
          <a:lstStyle/>
          <a:p>
            <a:pPr algn="l">
              <a:lnSpc>
                <a:spcPct val="100000"/>
              </a:lnSpc>
              <a:spcAft>
                <a:spcPts val="0"/>
              </a:spcAft>
            </a:pPr>
            <a:r>
              <a:rPr sz="3600" b="1" i="0">
                <a:solidFill>
                  <a:srgbClr val="FFFFFF"/>
                </a:solidFill>
                <a:latin typeface="Cambria"/>
              </a:rPr>
              <a:t>Module 07 Complete</a:t>
            </a:r>
          </a:p>
        </p:txBody>
      </p:sp>
      <p:sp>
        <p:nvSpPr>
          <p:cNvPr id="4" name="TextBox 3"/>
          <p:cNvSpPr txBox="1"/>
          <p:nvPr/>
        </p:nvSpPr>
        <p:spPr>
          <a:xfrm>
            <a:off x="822960" y="3017520"/>
            <a:ext cx="10058400" cy="1280160"/>
          </a:xfrm>
          <a:prstGeom prst="rect">
            <a:avLst/>
          </a:prstGeom>
          <a:noFill/>
        </p:spPr>
        <p:txBody>
          <a:bodyPr wrap="square" anchor="t" lIns="0" rIns="0" tIns="0" bIns="0">
            <a:spAutoFit/>
          </a:bodyPr>
          <a:lstStyle/>
          <a:p>
            <a:pPr algn="l">
              <a:lnSpc>
                <a:spcPct val="115000"/>
              </a:lnSpc>
              <a:spcAft>
                <a:spcPts val="0"/>
              </a:spcAft>
            </a:pPr>
            <a:r>
              <a:rPr sz="1700" b="0" i="1">
                <a:solidFill>
                  <a:srgbClr val="CADCFC"/>
                </a:solidFill>
                <a:latin typeface="Calibri"/>
              </a:rPr>
              <a:t>Learners can now design layered security: static and dynamic RLS, Service role assignment, Build permission, OLS, sensitivity labels, and a Gov-aware review checklist.</a:t>
            </a:r>
          </a:p>
        </p:txBody>
      </p:sp>
      <p:sp>
        <p:nvSpPr>
          <p:cNvPr id="5" name="Rectangle 4"/>
          <p:cNvSpPr/>
          <p:nvPr/>
        </p:nvSpPr>
        <p:spPr>
          <a:xfrm>
            <a:off x="822960" y="4023360"/>
            <a:ext cx="10332720" cy="10058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4160520"/>
            <a:ext cx="9875520" cy="777240"/>
          </a:xfrm>
          <a:prstGeom prst="rect">
            <a:avLst/>
          </a:prstGeom>
          <a:noFill/>
        </p:spPr>
        <p:txBody>
          <a:bodyPr wrap="square" anchor="ctr" lIns="0" rIns="0" tIns="0" bIns="0">
            <a:spAutoFit/>
          </a:bodyPr>
          <a:lstStyle/>
          <a:p>
            <a:pPr algn="l">
              <a:lnSpc>
                <a:spcPct val="100000"/>
              </a:lnSpc>
              <a:spcAft>
                <a:spcPts val="0"/>
              </a:spcAft>
            </a:pPr>
            <a:r>
              <a:rPr sz="1600" b="1" i="0">
                <a:solidFill>
                  <a:srgbClr val="E8B44A"/>
                </a:solidFill>
                <a:latin typeface="Calibri"/>
              </a:rPr>
              <a:t>Up next: Module 08: Power BI Service Enterprise Deployment — publishing, workspaces, Apps, gateways, and refresh on top of today's secured semantic model.</a:t>
            </a:r>
          </a:p>
        </p:txBody>
      </p:sp>
      <p:sp>
        <p:nvSpPr>
          <p:cNvPr id="7" name="TextBox 6"/>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CADCFC"/>
                </a:solidFill>
                <a:latin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