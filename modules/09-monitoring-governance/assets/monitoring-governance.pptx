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to Module 9. Frame this module as the transition from 'building reports' to 'operating a platform.' Everything up to now has been about producing content — today is about keeping it healthy, trusted, and compliant after it's deployed.</a:t>
            </a:r>
          </a:p>
          <a:p>
            <a:r>
              <a:t>Set the stakes: unmonitored Power BI environments accumulate failing refreshes, orphaned workspaces, over-shared reports, and unlabeled sensitive data — all of which erode user trust and create governance risk. Monitoring exists specifically to catch those issues before they become incidents.</a:t>
            </a:r>
          </a:p>
          <a:p>
            <a:r>
              <a:t>Preview what students will do: they'll walk through usage metrics, refresh history, tenant settings, gateway health, activity logs, admin monitoring, capacity metrics, and Purview/DLP — then consolidate everything into a written operations runbook in Exercise 5.</a:t>
            </a:r>
          </a:p>
          <a:p>
            <a:r>
              <a:t>Flag the Azure Government angle up front: usage metrics and refresh history are Gov-ready, but gateway monitoring, activity/audit logs, admin monitoring workspace, capacity metrics, and Purview/DLP are all 'Verify for Gov.' We treat those as conceptual or documented rather than assumed to be available in every classroom tenant.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thirteen topics quickly. Group them mentally: 1 sets the 'why'; 2-3 are the day-to-day operational signals (usage and refresh); 4-6 cover governance controls (tenant settings, gateway, audit logs); 7-9 are admin and compliance surfaces (admin workspace, capacity, Purview/DLP); 10-11 are the human side (adoption, operations model); 12-13 wrap up with the lab and discussion.</a:t>
            </a:r>
          </a:p>
          <a:p>
            <a:r>
              <a:t>Call out that several topics — activity logs, admin monitoring, capacity metrics, Purview/DLP — are Verify for Gov. Students may not be able to touch them in the classroom tenant, so we'll treat those as read-and-document rather than click-and-configure.</a:t>
            </a:r>
          </a:p>
          <a:p>
            <a:r>
              <a:t>Tell students the payoff of the whole module is Exercise 5's operations runbook: everything we discuss becomes a section in a real support document they could hand to an operations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shift in perspective: Modules 1-8 have been about building content. Module 9 is the first module where we treat Power BI as a *production system* that needs to be run, not just built. Every production system — database, API, website — has owners, monitoring, incident paths, and change control. Power BI is no different.</a:t>
            </a:r>
          </a:p>
          <a:p>
            <a:r>
              <a:t>Explain each of the five drivers on the slide with a concrete example: production support means 'someone is responsible when it breaks'; adoption means 'we know which reports are actually used'; risk controls means 'sharing and export aren't a free-for-all'; refresh reliability means 'we know before users do that data is stale'; ownership means 'every asset has a name attached to it.'</a:t>
            </a:r>
          </a:p>
          <a:p>
            <a:r>
              <a:t>Reframe governance so students don't hear it as 'the department of no.' Governance's dual job is to elevate trusted content (endorsement, certified badges, promoted content) so users can find it, and to identify or restrict risky content (sensitivity labels, DLP, tenant settings) so it doesn't leak. Both halves matter equally.</a:t>
            </a:r>
          </a:p>
          <a:p>
            <a:r>
              <a:t>Ask the footer prompt out loud and let two or three students answer. Most rooms will reveal that current-state monitoring is 'a user emails us.' Use that as the launching point for the rest of the module — today is about not being that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usage metrics as the workhorse signal of Power BI operations: they exist for every published report and App, they're free, and they update daily. Show students the exact click-path — the More options menu on a report in a workspace, 'View usage metrics report' — so they know where to look in Exercise 1.</a:t>
            </a:r>
          </a:p>
          <a:p>
            <a:r>
              <a:t>Walk through the three fields to interpret together. Views tell you volume; unique viewers tell you reach; the trend tells you direction. All three matter — a report with high views but a shrinking unique viewer count is being re-visited by a small core, which is a very different story from broad adoption.</a:t>
            </a:r>
          </a:p>
          <a:p>
            <a:r>
              <a:t>Give a concrete adoption interpretation example: if a Sales Ops App shows 200 views per day but only 12 unique viewers, and the intended audience is 40 sales managers, you have a discoverability or enablement problem — not a performance problem. That's an adoption signal that leads to a training or communication action, not a rebuild.</a:t>
            </a:r>
          </a:p>
          <a:p>
            <a:r>
              <a:t>Close by naming the failure mode: if usage metrics are unavailable in a target tenant, don't skip the exercise — document *why* they're unavailable (tenant policy off, license too low, workspace permission missing). That documentation is itself a governance artifact and belongs in the operations runbook.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click-path: workspace, click into a semantic model, and either open Settings or click the refresh history icon at the top. Every student needs to know this path cold because they'll use it every time a refresh alert comes in.</a:t>
            </a:r>
          </a:p>
          <a:p>
            <a:r>
              <a:t>Explain what refresh history shows: not just success/fail, but timing (start, end, duration) and — crucially — an expandable error per data source when a run fails. That per-source error text is where triage actually starts; the top-level 'Failed' status is not enough.</a:t>
            </a:r>
          </a:p>
          <a:p>
            <a:r>
              <a:t>Teach the fixed triage sequence: read the error text first, don't jump to conclusions. Only then move to credentials (are they expired? did the account password rotate?), then gateway mapping (is the on-premises data gateway online, on a supported version, and mapped to this semantic model's data source?), then upstream (is the SQL server or file share actually reachable?). Give a concrete example — an 'invalid credential' error almost always maps to a rotated service account, not a gateway problem.</a:t>
            </a:r>
          </a:p>
          <a:p>
            <a:r>
              <a:t>Set expectations for Exercise 2: even if they don't have a failing refresh handy in the classroom, the exercise still walks them through refresh history for a real semantic model and asks them to document how they *would* triage a hypothetical failure. That documentation is what feeds into the operations runbook.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tenant settings as the 'defaults' every user in the tenant inherits. If a setting is left at its default 'Enabled for the entire organization,' every one of the tenant's authors gets that capability — which is rarely what a governed environment actually wants.</a:t>
            </a:r>
          </a:p>
          <a:p>
            <a:r>
              <a:t>Walk the six rows one at a time. For sharing, emphasize scoping to security groups: the 'entire organization' toggle is almost never the right answer for a governed tenant. For export/download, connect it forward to sensitivity labels — you can restrict export by label so a 'Confidential' report can't be dumped to CSV.</a:t>
            </a:r>
          </a:p>
          <a:p>
            <a:r>
              <a:t>Spend extra time on 'Publish to web' because it's the highest-risk setting in the entire tenant: it publishes an anonymous, unauthenticated embed of a report to the public internet. Almost every governed tenant disables it entirely, or restricts to a single approved security group and audits any existing embeds.</a:t>
            </a:r>
          </a:p>
          <a:p>
            <a:r>
              <a:t>For certification vs promoted — clarify the hierarchy: Promoted is 'the author says this is good,' Certified is 'the organization has reviewed this as an authoritative source.' Certification should only be enabled once there's a written review process — otherwise the badge means nothing.</a:t>
            </a:r>
          </a:p>
          <a:p>
            <a:r>
              <a:t>Close by reminding students that Exercise 3 is a review-and-document exercise: they don't necessarily change anything in the classroom tenant, but they produce a list of the settings that require a customer policy decision — which is exactly what the operations runbook needs.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gateway plainly: it's a small Windows service running on a server (or cluster of servers) inside the customer's network that lets Power BI in the cloud reach data sources that aren't publicly reachable. Without it, on-premises SQL and file-share refreshes cannot happen at all.</a:t>
            </a:r>
          </a:p>
          <a:p>
            <a:r>
              <a:t>Explain the cluster concept: a gateway cluster is one primary and one or more member gateways, which together provide load distribution and high availability. Monitoring means checking each member is online, all are on a supported version, and the cluster as a whole is healthy — not just 'the primary is up.'</a:t>
            </a:r>
          </a:p>
          <a:p>
            <a:r>
              <a:t>Walk through data source mappings: every semantic model that refreshes through a gateway has one or more data source mappings on the semantic model's settings page, pointing to a specific gateway cluster and stored credential. When these drift — the gateway is renamed, the credential expires — the refresh fails with a 'gateway not found' or credential error, which triages very differently from a source problem.</a:t>
            </a:r>
          </a:p>
          <a:p>
            <a:r>
              <a:t>Reinforce the Verify-for-Gov note: gateway monitoring depends on having gateway admin permission plus network reachability plus the right admin surfaces enabled. In the classroom tenant, students may not have any of those, so Exercise 4 has an explicit alternate path — use the runbook template to document the gateway topology, owner, and escalation path conceptually.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topic honestly: activity logs and audit logs are the answer to almost every governance question that starts with 'who did what, when.' A tenant that doesn't collect them cannot answer basic compliance questions like 'who shared this report externally last month.'</a:t>
            </a:r>
          </a:p>
          <a:p>
            <a:r>
              <a:t>Walk each event type and connect it to a real question: 'Who's actually opening the leadership dashboard?' → ViewReport. 'Who added a guest user to that workspace?' → AddWorkspaceUser. 'Did anyone export the payroll report to Excel this quarter?' → ExportReport. 'When did the tenant admin turn Publish-to-Web back on?' → UpdateTenantSetting. These aren't hypothetical — they're the exact questions audit and compliance teams ask.</a:t>
            </a:r>
          </a:p>
          <a:p>
            <a:r>
              <a:t>Explain the two collection paths: the Power BI activity log via the REST API (or PowerShell's Get-PowerBIActivityEvent), which keeps ~30 days of history, versus the unified M365 audit log via Purview, which keeps longer but requires audit to be explicitly enabled. Most enterprises pipe both into a SIEM for long-term retention.</a:t>
            </a:r>
          </a:p>
          <a:p>
            <a:r>
              <a:t>Give a concrete investigation walkthrough: suppose an executive asks 'has our quarterly financials report been shared outside finance?' The audit path is: query activity log for ShareReport and AddWorkspaceUser events on that report and its workspace, filter by recipient domain and role, and produce a timeline. Under five minutes if the logs exist — impossible if they don't.</a:t>
            </a:r>
          </a:p>
          <a:p>
            <a:r>
              <a:t>Close with the Verify-for-Gov reminder: activity/audit logs require admin permissions and audit configuration that vary by cloud. The optional 'Activity logs' lab is conceptual for most students because they don't have tenant admin in the classroom.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admin monitoring workspace as a relatively recent (and evolving) Microsoft-provided workspace: when your tenant has it enabled and you have the Fabric or Power BI administrator role, a workspace literally named 'Admin monitoring' shows up automatically in your workspace list, prepopulated with reports.</a:t>
            </a:r>
          </a:p>
          <a:p>
            <a:r>
              <a:t>Describe what students would typically see there today: a Feature Usage &amp; Adoption report (per-workspace, per-user activity), the Purview Hub (sensitivity label and endorsement inventory), and Fabric-oriented reports like chargeback. Set expectations that the exact list evolves — don't memorize it, know the categories.</a:t>
            </a:r>
          </a:p>
          <a:p>
            <a:r>
              <a:t>Explain who can see it: only users with Fabric administrator or Power BI administrator role. A regular workspace admin or Pro user will not see this workspace at all. That role gating is intentional — the data inside is tenant-wide.</a:t>
            </a:r>
          </a:p>
          <a:p>
            <a:r>
              <a:t>Handle the availability question head-on: this workspace's contents and even its existence depend on tenant version and cloud. In classroom Gov tenants it may not be present. Even when unavailable, students should note it in the runbook as 'we would use this for tenant-level adoption tracking once available' — that's what 'Verify for Gov' means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capacity metrics as the answer to 'is our platform sized correctly, or are we silently degrading?' The Microsoft Fabric Capacity Metrics app is the tool for it: a capacity admin installs it from AppSource and connects it to the capacity, and it then reports CPU and memory usage over time.</a:t>
            </a:r>
          </a:p>
          <a:p>
            <a:r>
              <a:t>Introduce the Capacity Unit (CU) as the metric that matters: everything in Fabric — a report query, a dataflow refresh, a semantic model reprocess — consumes CUs. The app shows CU consumption over time, split by interactive workload (user activity) and background workload (refreshes). This split is important because they compete for the same capacity.</a:t>
            </a:r>
          </a:p>
          <a:p>
            <a:r>
              <a:t>Explain the refresh impact pattern concretely: a large scheduled refresh at 8am can spike background CU right when interactive users start opening reports, which is why the app's stacked timeline view is so useful — you can literally see refresh CU displacing interactive CU. The fix is often to stagger refreshes off-peak, not to buy more capacity.</a:t>
            </a:r>
          </a:p>
          <a:p>
            <a:r>
              <a:t>Walk through the throttling states in order: sustained overload triggers interactive delay (users notice slowness), then interactive rejection (report queries fail), then background rejection (refreshes fail). Each is a distinct signal and each has distinct remediation — scaling up, scheduling changes, autoscale, or workload migration.</a:t>
            </a:r>
          </a:p>
          <a:p>
            <a:r>
              <a:t>Reinforce Verify-for-Gov: the app itself must be available in the target cloud, the user must be a capacity admin, and the workload must actually be running on a Premium/Fabric SKU. If any of those is missing the student documents capacity requirements in the runbook instead of clicking through the 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Purview and DLP as the compliance layer sitting on top of Power BI. Sensitivity labels are the 'what' — classification of content — and DLP is the 'so what' — automatic enforcement when labeled content is at risk.</a:t>
            </a:r>
          </a:p>
          <a:p>
            <a:r>
              <a:t>Walk through how labels get to Power BI: they're defined once in the Purview compliance portal (the same labels that apply to Word, Excel, SharePoint, and Outlook), and once tenant settings for sensitivity labels are enabled, they appear as a Sensitivity dropdown on every report and semantic model in the Service. Authors apply them; the label then persists into exports — an Excel export of a 'Confidential' report opens as a Confidential Excel file.</a:t>
            </a:r>
          </a:p>
          <a:p>
            <a:r>
              <a:t>Explain DLP with a concrete scenario: a DLP policy can say 'if a report is labeled Highly Confidential and a user tries to share it with an external guest, block the share and notify the compliance team.' That kind of real-time enforcement is only possible because labels are attached to the content.</a:t>
            </a:r>
          </a:p>
          <a:p>
            <a:r>
              <a:t>Introduce the Purview Hub as the tenant-wide inventory view: it lives inside the admin monitoring workspace and shows how many items are labeled vs unlabeled, endorsed vs unendorsed, and where the compliance gaps are. This is the natural starting point for a governance sweep.</a:t>
            </a:r>
          </a:p>
          <a:p>
            <a:r>
              <a:t>Reinforce Verify-for-Gov: Purview cloud availability, label config, DLP licensing, and tenant settings all have to line up before any of this works. In the classroom students most likely document the compliance requirements rather than actually applying labels.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diagram to consolidate the last several topics into one picture. Read it left to right: telemetry sources on the left are the raw events happening in the tenant — report views, refreshes, gateway ops, admin actions, label events. Those flow into the collection surfaces in the middle — usage metrics reports, refresh history, activity/audit logs, the admin monitoring workspace, the capacity metrics app. And each surface feeds a distinct governance outcome on the right.</a:t>
            </a:r>
          </a:p>
          <a:p>
            <a:r>
              <a:t>Walk each row across as a story: 'Report views' → 'Usage metrics reports' → 'Adoption follow-up.' 'Semantic model refreshes' → 'Refresh history' → 'Refresh incident response.' 'Tenant admin actions' → 'Activity log' → 'Governance evidence.' 'Sensitivity label events' → 'Capacity metrics app / Purview Hub' → 'Capacity &amp; DLP action.' The point is that every telemetry source has an outcome; if you can't articulate the outcome, you're collecting telemetry for no reason.</a:t>
            </a:r>
          </a:p>
          <a:p>
            <a:r>
              <a:t>Give the adoption interpretation framing directly: high usage isn't automatically good — it needs training and support investment to stay reliable. Low or declining usage isn't automatically bad — you have to diagnose whether it's an enablement gap, a discoverability gap, or a genuine retirement candidate. The same telemetry leads to different actions depending on the interpretation.</a:t>
            </a:r>
          </a:p>
          <a:p>
            <a:r>
              <a:t>Close by tying to Exercise 5's operations runbook: the runbook should have a section for each collection surface on this diagram, naming the owner, the review cadence, and the action path when the signal fires.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operations model as the human wrapper around all the telemetry we've been discussing. Signals without owners, cadences, and paths are just noise — the operations model turns them into a system.</a:t>
            </a:r>
          </a:p>
          <a:p>
            <a:r>
              <a:t>Insist on the dual-owner pattern: business owner (who decides what the content should show, who the audience is, when it retires) and technical owner (who fixes the refresh, updates the model, deals with gateway issues). One person can play both roles in a small team, but they're distinct responsibilities and the runbook should list them separately.</a:t>
            </a:r>
          </a:p>
          <a:p>
            <a:r>
              <a:t>Walk through the three main incident types with a triage sketch for each. Refresh failure: check refresh history → error text → credentials → gateway. Capacity throttling: check capacity metrics app for CU trend → identify the workload displacing others → reschedule or scale. Sharing/DLP violation: check activity log for the ShareReport or ExportReport event → identify actor and content → apply the documented remediation. Each is a runbook section.</a:t>
            </a:r>
          </a:p>
          <a:p>
            <a:r>
              <a:t>Explain change control briefly: production semantic models and reports should be deployed via Power BI deployment pipelines (Dev → Test → Prod stages) so changes are reviewed and reversible, not edited directly in the production workspace. That's the answer to 'we're afraid to touch that report.'</a:t>
            </a:r>
          </a:p>
          <a:p>
            <a:r>
              <a:t>Cadence: give the concrete weekly/monthly/quarterly/annual pattern on the slide and emphasize the point of Exercise 5 is to make this real for a specific piece of content — pick one App, fill in each section of the runbook template, and you'll have a working operations model artifact by the end of class.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the literal table of contents for the hands-on portion. Walk each row and pair it to what students will actually click.</a:t>
            </a:r>
          </a:p>
          <a:p>
            <a:r>
              <a:t>Emphasize the ordering: Exercises 1-3 are Gov-ready and hands-on; Exercise 4 is Verify-for-Gov with a documented alternate path; the four Optional labs are all Verify-for-Gov and may be conceptual/documentation-only in the classroom tenant.</a:t>
            </a:r>
          </a:p>
          <a:p>
            <a:r>
              <a:t>Point students at the operations-runbook-template.md file so they know where the scaffold lives. Exercise 5 is not writing from scratch — it's filling in a template with the observations they've collected from the earlier exercises.</a:t>
            </a:r>
          </a:p>
          <a:p>
            <a:r>
              <a:t>Set the finish-line expectation clearly: by the end of the lab, every learner should have a draft runbook, at least one adoption follow-up action, and at least one refresh triage note documented. If they don't have those artifacts, they haven't actually completed Module 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as a discussion-driven wrap-up. Walk the checklist as a checkpoint — by a show of hands, who has each artifact completed? — and then open the two discussion questions to the room.</a:t>
            </a:r>
          </a:p>
          <a:p>
            <a:r>
              <a:t>For the certification question, push learners to describe a real review process: who reviews content, against what criteria, how often re-review happens, and how certification is revoked. The point is that 'Certified' is only meaningful if a review process is genuinely enforced — otherwise it's just a badge.</a:t>
            </a:r>
          </a:p>
          <a:p>
            <a:r>
              <a:t>For the auditor question, walk backwards from the answer: to prove 'no external sharing in the last 90 days,' you need activity log data covering that window, with ShareReport and AddWorkspaceUser events, filterable by recipient domain. If any of that is missing (log retention too short, audit not enabled, no domain filter), the organization cannot answer the question. That's how governance requirements get concrete.</a:t>
            </a:r>
          </a:p>
          <a:p>
            <a:r>
              <a:t>Close by connecting forward: Module 10 shifts from operating today's content to architecting for scale on Premium and Fabric capacity. Everything students learned today about capacity metrics, refresh impact, and throttling is the diagnostic layer underneath the architecture decisions in Module 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Congratulate the class on completing the operations module. This is the module where Power BI stops being 'a reporting tool' and starts being 'a governed platform.' The runbook artifact they produced today is the deliverable that platform owners actually hand to support teams in real projects.</a:t>
            </a:r>
          </a:p>
          <a:p>
            <a:r>
              <a:t>Recap the through-line: telemetry (usage, refresh, activity, capacity, labels) → collection surfaces (metrics reports, refresh history, audit logs, admin workspace, capacity app, Purview Hub) → governance outcomes (adoption action, incident response, evidence, policy tuning). If a signal doesn't have an outcome, revisit whether you're collecting it for the right reason.</a:t>
            </a:r>
          </a:p>
          <a:p>
            <a:r>
              <a:t>Take final questions, especially on the Verify-for-Gov topics — activity logs, admin monitoring, capacity metrics, Purview/DLP — since those are the areas most likely to differ between the classroom tenant and the learner's real environment.</a:t>
            </a:r>
          </a:p>
          <a:p>
            <a:r>
              <a:t>Preview Module 10 as the architectural counterpart to today: today was about operating the platform we have; Module 10 is about sizing and architecting Premium/Fabric capacity for the workload we expect. Capacity metrics from today's Exercise will come back immediately as the diagnostic evidence behind those architecture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0644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54864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E8B44A"/>
                </a:solidFill>
                <a:latin typeface="Calibri"/>
              </a:rPr>
              <a:t>MODULE 09</a:t>
            </a:r>
          </a:p>
        </p:txBody>
      </p:sp>
      <p:sp>
        <p:nvSpPr>
          <p:cNvPr id="5" name="TextBox 4"/>
          <p:cNvSpPr txBox="1"/>
          <p:nvPr/>
        </p:nvSpPr>
        <p:spPr>
          <a:xfrm>
            <a:off x="822960" y="1874519"/>
            <a:ext cx="9601200" cy="192024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Cambria"/>
              </a:rPr>
              <a:t>Monitoring, Administration, and Governance</a:t>
            </a:r>
          </a:p>
        </p:txBody>
      </p:sp>
      <p:sp>
        <p:nvSpPr>
          <p:cNvPr id="6" name="TextBox 5"/>
          <p:cNvSpPr txBox="1"/>
          <p:nvPr/>
        </p:nvSpPr>
        <p:spPr>
          <a:xfrm>
            <a:off x="822960" y="3703320"/>
            <a:ext cx="9601200" cy="914400"/>
          </a:xfrm>
          <a:prstGeom prst="rect">
            <a:avLst/>
          </a:prstGeom>
          <a:noFill/>
        </p:spPr>
        <p:txBody>
          <a:bodyPr wrap="square" anchor="t" lIns="0" rIns="0" tIns="0" bIns="0">
            <a:spAutoFit/>
          </a:bodyPr>
          <a:lstStyle/>
          <a:p>
            <a:pPr algn="l">
              <a:lnSpc>
                <a:spcPct val="100000"/>
              </a:lnSpc>
              <a:spcAft>
                <a:spcPts val="0"/>
              </a:spcAft>
            </a:pPr>
            <a:r>
              <a:rPr sz="2000" b="0" i="1">
                <a:solidFill>
                  <a:srgbClr val="CADCFC"/>
                </a:solidFill>
                <a:latin typeface="Calibri"/>
              </a:rPr>
              <a:t>Operating deployed Power BI content: usage metrics, refresh reliability, tenant controls, audit evidence, capacity health, and Purview/DLP — built into a support-ready runbook.</a:t>
            </a:r>
          </a:p>
        </p:txBody>
      </p:sp>
      <p:sp>
        <p:nvSpPr>
          <p:cNvPr id="7" name="TextBox 6"/>
          <p:cNvSpPr txBox="1"/>
          <p:nvPr/>
        </p:nvSpPr>
        <p:spPr>
          <a:xfrm>
            <a:off x="822960" y="6035040"/>
            <a:ext cx="9144000" cy="548640"/>
          </a:xfrm>
          <a:prstGeom prst="rect">
            <a:avLst/>
          </a:prstGeom>
          <a:noFill/>
        </p:spPr>
        <p:txBody>
          <a:bodyPr wrap="square" anchor="t" lIns="0" rIns="0" tIns="0" bIns="0">
            <a:spAutoFit/>
          </a:bodyPr>
          <a:lstStyle/>
          <a:p>
            <a:pPr algn="l">
              <a:lnSpc>
                <a:spcPct val="100000"/>
              </a:lnSpc>
              <a:spcAft>
                <a:spcPts val="0"/>
              </a:spcAft>
            </a:pPr>
            <a:r>
              <a:rPr sz="1300" b="0" i="0">
                <a:solidFill>
                  <a:srgbClr val="CADCFC"/>
                </a:solidFill>
                <a:latin typeface="Calibri"/>
              </a:rPr>
              <a:t>Advanced Power BI Training — 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MODULE 09 AGENDA</a:t>
            </a:r>
          </a:p>
        </p:txBody>
      </p:sp>
      <p:sp>
        <p:nvSpPr>
          <p:cNvPr id="5" name="TextBox 4"/>
          <p:cNvSpPr txBox="1"/>
          <p:nvPr/>
        </p:nvSpPr>
        <p:spPr>
          <a:xfrm>
            <a:off x="640080" y="868680"/>
            <a:ext cx="8229600" cy="640080"/>
          </a:xfrm>
          <a:prstGeom prst="rect">
            <a:avLst/>
          </a:prstGeom>
          <a:noFill/>
        </p:spPr>
        <p:txBody>
          <a:bodyPr wrap="square" anchor="t" lIns="0" rIns="0" tIns="0" bIns="0">
            <a:spAutoFit/>
          </a:bodyPr>
          <a:lstStyle/>
          <a:p>
            <a:pPr algn="l">
              <a:lnSpc>
                <a:spcPct val="100000"/>
              </a:lnSpc>
              <a:spcAft>
                <a:spcPts val="0"/>
              </a:spcAft>
            </a:pPr>
            <a:r>
              <a:rPr sz="3200" b="1" i="0">
                <a:solidFill>
                  <a:srgbClr val="141B45"/>
                </a:solidFill>
                <a:latin typeface="Cambria"/>
              </a:rPr>
              <a:t>What We'll Cover</a:t>
            </a:r>
          </a:p>
        </p:txBody>
      </p:sp>
      <p:sp>
        <p:nvSpPr>
          <p:cNvPr id="6" name="Rectangle 5"/>
          <p:cNvSpPr/>
          <p:nvPr/>
        </p:nvSpPr>
        <p:spPr>
          <a:xfrm>
            <a:off x="64008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a:t>
            </a:r>
          </a:p>
        </p:txBody>
      </p:sp>
      <p:sp>
        <p:nvSpPr>
          <p:cNvPr id="8" name="TextBox 7"/>
          <p:cNvSpPr txBox="1"/>
          <p:nvPr/>
        </p:nvSpPr>
        <p:spPr>
          <a:xfrm>
            <a:off x="117043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Why monitoring and governance matter</a:t>
            </a:r>
          </a:p>
        </p:txBody>
      </p:sp>
      <p:sp>
        <p:nvSpPr>
          <p:cNvPr id="9" name="Rectangle 8"/>
          <p:cNvSpPr/>
          <p:nvPr/>
        </p:nvSpPr>
        <p:spPr>
          <a:xfrm>
            <a:off x="64008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2</a:t>
            </a:r>
          </a:p>
        </p:txBody>
      </p:sp>
      <p:sp>
        <p:nvSpPr>
          <p:cNvPr id="11" name="TextBox 10"/>
          <p:cNvSpPr txBox="1"/>
          <p:nvPr/>
        </p:nvSpPr>
        <p:spPr>
          <a:xfrm>
            <a:off x="117043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Usage metrics</a:t>
            </a:r>
          </a:p>
        </p:txBody>
      </p:sp>
      <p:sp>
        <p:nvSpPr>
          <p:cNvPr id="12" name="Rectangle 11"/>
          <p:cNvSpPr/>
          <p:nvPr/>
        </p:nvSpPr>
        <p:spPr>
          <a:xfrm>
            <a:off x="64008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3</a:t>
            </a:r>
          </a:p>
        </p:txBody>
      </p:sp>
      <p:sp>
        <p:nvSpPr>
          <p:cNvPr id="14" name="TextBox 13"/>
          <p:cNvSpPr txBox="1"/>
          <p:nvPr/>
        </p:nvSpPr>
        <p:spPr>
          <a:xfrm>
            <a:off x="117043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Refresh monitoring</a:t>
            </a:r>
          </a:p>
        </p:txBody>
      </p:sp>
      <p:sp>
        <p:nvSpPr>
          <p:cNvPr id="15" name="Rectangle 14"/>
          <p:cNvSpPr/>
          <p:nvPr/>
        </p:nvSpPr>
        <p:spPr>
          <a:xfrm>
            <a:off x="64008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4</a:t>
            </a:r>
          </a:p>
        </p:txBody>
      </p:sp>
      <p:sp>
        <p:nvSpPr>
          <p:cNvPr id="17" name="TextBox 16"/>
          <p:cNvSpPr txBox="1"/>
          <p:nvPr/>
        </p:nvSpPr>
        <p:spPr>
          <a:xfrm>
            <a:off x="117043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Tenant settings</a:t>
            </a:r>
          </a:p>
        </p:txBody>
      </p:sp>
      <p:sp>
        <p:nvSpPr>
          <p:cNvPr id="18" name="Rectangle 17"/>
          <p:cNvSpPr/>
          <p:nvPr/>
        </p:nvSpPr>
        <p:spPr>
          <a:xfrm>
            <a:off x="64008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5</a:t>
            </a:r>
          </a:p>
        </p:txBody>
      </p:sp>
      <p:sp>
        <p:nvSpPr>
          <p:cNvPr id="20" name="TextBox 19"/>
          <p:cNvSpPr txBox="1"/>
          <p:nvPr/>
        </p:nvSpPr>
        <p:spPr>
          <a:xfrm>
            <a:off x="117043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Gateway monitoring</a:t>
            </a:r>
          </a:p>
        </p:txBody>
      </p:sp>
      <p:sp>
        <p:nvSpPr>
          <p:cNvPr id="21" name="Rectangle 20"/>
          <p:cNvSpPr/>
          <p:nvPr/>
        </p:nvSpPr>
        <p:spPr>
          <a:xfrm>
            <a:off x="64008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6</a:t>
            </a:r>
          </a:p>
        </p:txBody>
      </p:sp>
      <p:sp>
        <p:nvSpPr>
          <p:cNvPr id="23" name="TextBox 22"/>
          <p:cNvSpPr txBox="1"/>
          <p:nvPr/>
        </p:nvSpPr>
        <p:spPr>
          <a:xfrm>
            <a:off x="117043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Activity and audit logs</a:t>
            </a:r>
          </a:p>
        </p:txBody>
      </p:sp>
      <p:sp>
        <p:nvSpPr>
          <p:cNvPr id="24" name="Rectangle 23"/>
          <p:cNvSpPr/>
          <p:nvPr/>
        </p:nvSpPr>
        <p:spPr>
          <a:xfrm>
            <a:off x="64008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7</a:t>
            </a:r>
          </a:p>
        </p:txBody>
      </p:sp>
      <p:sp>
        <p:nvSpPr>
          <p:cNvPr id="26" name="TextBox 25"/>
          <p:cNvSpPr txBox="1"/>
          <p:nvPr/>
        </p:nvSpPr>
        <p:spPr>
          <a:xfrm>
            <a:off x="117043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Admin monitoring workspace</a:t>
            </a:r>
          </a:p>
        </p:txBody>
      </p:sp>
      <p:sp>
        <p:nvSpPr>
          <p:cNvPr id="27" name="Rectangle 26"/>
          <p:cNvSpPr/>
          <p:nvPr/>
        </p:nvSpPr>
        <p:spPr>
          <a:xfrm>
            <a:off x="630936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8</a:t>
            </a:r>
          </a:p>
        </p:txBody>
      </p:sp>
      <p:sp>
        <p:nvSpPr>
          <p:cNvPr id="29" name="TextBox 28"/>
          <p:cNvSpPr txBox="1"/>
          <p:nvPr/>
        </p:nvSpPr>
        <p:spPr>
          <a:xfrm>
            <a:off x="683971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Capacity metrics</a:t>
            </a:r>
          </a:p>
        </p:txBody>
      </p:sp>
      <p:sp>
        <p:nvSpPr>
          <p:cNvPr id="30" name="Rectangle 29"/>
          <p:cNvSpPr/>
          <p:nvPr/>
        </p:nvSpPr>
        <p:spPr>
          <a:xfrm>
            <a:off x="630936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9</a:t>
            </a:r>
          </a:p>
        </p:txBody>
      </p:sp>
      <p:sp>
        <p:nvSpPr>
          <p:cNvPr id="32" name="TextBox 31"/>
          <p:cNvSpPr txBox="1"/>
          <p:nvPr/>
        </p:nvSpPr>
        <p:spPr>
          <a:xfrm>
            <a:off x="683971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Purview and DLP</a:t>
            </a:r>
          </a:p>
        </p:txBody>
      </p:sp>
      <p:sp>
        <p:nvSpPr>
          <p:cNvPr id="33" name="Rectangle 32"/>
          <p:cNvSpPr/>
          <p:nvPr/>
        </p:nvSpPr>
        <p:spPr>
          <a:xfrm>
            <a:off x="630936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10</a:t>
            </a:r>
          </a:p>
        </p:txBody>
      </p:sp>
      <p:sp>
        <p:nvSpPr>
          <p:cNvPr id="35" name="TextBox 34"/>
          <p:cNvSpPr txBox="1"/>
          <p:nvPr/>
        </p:nvSpPr>
        <p:spPr>
          <a:xfrm>
            <a:off x="683971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Adoption tracking</a:t>
            </a:r>
          </a:p>
        </p:txBody>
      </p:sp>
      <p:sp>
        <p:nvSpPr>
          <p:cNvPr id="36" name="Rectangle 35"/>
          <p:cNvSpPr/>
          <p:nvPr/>
        </p:nvSpPr>
        <p:spPr>
          <a:xfrm>
            <a:off x="630936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11</a:t>
            </a:r>
          </a:p>
        </p:txBody>
      </p:sp>
      <p:sp>
        <p:nvSpPr>
          <p:cNvPr id="38" name="TextBox 37"/>
          <p:cNvSpPr txBox="1"/>
          <p:nvPr/>
        </p:nvSpPr>
        <p:spPr>
          <a:xfrm>
            <a:off x="683971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Operations model</a:t>
            </a:r>
          </a:p>
        </p:txBody>
      </p:sp>
      <p:sp>
        <p:nvSpPr>
          <p:cNvPr id="39" name="Rectangle 38"/>
          <p:cNvSpPr/>
          <p:nvPr/>
        </p:nvSpPr>
        <p:spPr>
          <a:xfrm>
            <a:off x="630936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12</a:t>
            </a:r>
          </a:p>
        </p:txBody>
      </p:sp>
      <p:sp>
        <p:nvSpPr>
          <p:cNvPr id="41" name="TextBox 40"/>
          <p:cNvSpPr txBox="1"/>
          <p:nvPr/>
        </p:nvSpPr>
        <p:spPr>
          <a:xfrm>
            <a:off x="683971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Module lab walkthrough</a:t>
            </a:r>
          </a:p>
        </p:txBody>
      </p:sp>
      <p:sp>
        <p:nvSpPr>
          <p:cNvPr id="42" name="Rectangle 41"/>
          <p:cNvSpPr/>
          <p:nvPr/>
        </p:nvSpPr>
        <p:spPr>
          <a:xfrm>
            <a:off x="630936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13</a:t>
            </a:r>
          </a:p>
        </p:txBody>
      </p:sp>
      <p:sp>
        <p:nvSpPr>
          <p:cNvPr id="44" name="TextBox 43"/>
          <p:cNvSpPr txBox="1"/>
          <p:nvPr/>
        </p:nvSpPr>
        <p:spPr>
          <a:xfrm>
            <a:off x="683971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Knowledge check and discussion</a:t>
            </a:r>
          </a:p>
        </p:txBody>
      </p:sp>
      <p:sp>
        <p:nvSpPr>
          <p:cNvPr id="45" name="TextBox 44"/>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Why Monitoring and Governance Matter</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Production Power BI content needs the same discipline as any production system: known owners, monitored signals, documented incident paths, and change control.</a:t>
            </a:r>
          </a:p>
          <a:p>
            <a:pPr>
              <a:lnSpc>
                <a:spcPct val="105000"/>
              </a:lnSpc>
              <a:spcAft>
                <a:spcPts val="1000"/>
              </a:spcAft>
              <a:buClr>
                <a:srgbClr val="1E2761"/>
              </a:buClr>
              <a:buFont typeface="Arial"/>
              <a:buChar char="•"/>
            </a:pPr>
            <a:r>
              <a:rPr sz="1450">
                <a:solidFill>
                  <a:srgbClr val="1F2328"/>
                </a:solidFill>
                <a:latin typeface="Calibri"/>
              </a:rPr>
              <a:t>Five operational concerns drive this module: production support, adoption, risk controls, refresh reliability, and clear ownership.</a:t>
            </a:r>
          </a:p>
          <a:p>
            <a:pPr>
              <a:lnSpc>
                <a:spcPct val="105000"/>
              </a:lnSpc>
              <a:spcAft>
                <a:spcPts val="1000"/>
              </a:spcAft>
              <a:buClr>
                <a:srgbClr val="1E2761"/>
              </a:buClr>
              <a:buFont typeface="Arial"/>
              <a:buChar char="•"/>
            </a:pPr>
            <a:r>
              <a:rPr sz="1450">
                <a:solidFill>
                  <a:srgbClr val="1F2328"/>
                </a:solidFill>
                <a:latin typeface="Calibri"/>
              </a:rPr>
              <a:t>Governance isn't only about restrictions — it's about making trusted content easy to find (certified/promoted endorsement) and untrusted content easy to identify.</a:t>
            </a:r>
          </a:p>
          <a:p>
            <a:pPr>
              <a:lnSpc>
                <a:spcPct val="105000"/>
              </a:lnSpc>
              <a:spcAft>
                <a:spcPts val="1000"/>
              </a:spcAft>
              <a:buClr>
                <a:srgbClr val="1E2761"/>
              </a:buClr>
              <a:buFont typeface="Arial"/>
              <a:buChar char="•"/>
            </a:pPr>
            <a:r>
              <a:rPr sz="1450">
                <a:solidFill>
                  <a:srgbClr val="1F2328"/>
                </a:solidFill>
                <a:latin typeface="Calibri"/>
              </a:rPr>
              <a:t>Monitoring turns invisible failures visible: a silent refresh failure or a rarely-viewed 'critical' report is a governance signal, not just an IT issue.</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Without monitoring, refresh failures are discovered by users — when a leadership dashboard is stale on Monday morning — which destroys trust in the platform.</a:t>
            </a:r>
          </a:p>
          <a:p>
            <a:pPr>
              <a:lnSpc>
                <a:spcPct val="105000"/>
              </a:lnSpc>
              <a:spcAft>
                <a:spcPts val="1000"/>
              </a:spcAft>
              <a:buClr>
                <a:srgbClr val="E8B44A"/>
              </a:buClr>
              <a:buFont typeface="Arial"/>
              <a:buChar char="•"/>
            </a:pPr>
            <a:r>
              <a:rPr sz="1450">
                <a:solidFill>
                  <a:srgbClr val="1F2328"/>
                </a:solidFill>
                <a:latin typeface="Calibri"/>
              </a:rPr>
              <a:t>Without governance controls (tenant settings, sensitivity labels, certification), sharing and export decisions default to whatever each author chooses, which is how sensitive data leaves the tenant unintentionally.</a:t>
            </a:r>
          </a:p>
          <a:p>
            <a:pPr>
              <a:lnSpc>
                <a:spcPct val="105000"/>
              </a:lnSpc>
              <a:spcAft>
                <a:spcPts val="1000"/>
              </a:spcAft>
              <a:buClr>
                <a:srgbClr val="E8B44A"/>
              </a:buClr>
              <a:buFont typeface="Arial"/>
              <a:buChar char="•"/>
            </a:pPr>
            <a:r>
              <a:rPr sz="1450">
                <a:solidFill>
                  <a:srgbClr val="1F2328"/>
                </a:solidFill>
                <a:latin typeface="Calibri"/>
              </a:rPr>
              <a:t>Clear ownership per workspace and per report shortens incident response time from hours (hunting for who owns this) to minutes (paging the documented owner).</a:t>
            </a:r>
          </a:p>
          <a:p>
            <a:pPr>
              <a:lnSpc>
                <a:spcPct val="105000"/>
              </a:lnSpc>
              <a:spcAft>
                <a:spcPts val="1000"/>
              </a:spcAft>
              <a:buClr>
                <a:srgbClr val="E8B44A"/>
              </a:buClr>
              <a:buFont typeface="Arial"/>
              <a:buChar char="•"/>
            </a:pPr>
            <a:r>
              <a:rPr sz="1450">
                <a:solidFill>
                  <a:srgbClr val="1F2328"/>
                </a:solidFill>
                <a:latin typeface="Calibri"/>
              </a:rPr>
              <a:t>This is exactly the frame Exercise 5's operations runbook is built around — owners, monitoring cadence, incident paths, and change control.</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Instructor prompt: ask the room — 'in your current environment, who gets paged when a semantic model refresh fails at 3am, and how do they even find out?'</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02</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Usage Metrics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Every report and App in the Service exposes a usage metrics report showing views, unique viewers, and view trend over the last 90 days.</a:t>
            </a:r>
          </a:p>
          <a:p>
            <a:pPr>
              <a:lnSpc>
                <a:spcPct val="105000"/>
              </a:lnSpc>
              <a:spcAft>
                <a:spcPts val="1000"/>
              </a:spcAft>
              <a:buClr>
                <a:srgbClr val="1E2761"/>
              </a:buClr>
              <a:buFont typeface="Arial"/>
              <a:buChar char="•"/>
            </a:pPr>
            <a:r>
              <a:rPr sz="1450">
                <a:solidFill>
                  <a:srgbClr val="1F2328"/>
                </a:solidFill>
                <a:latin typeface="Calibri"/>
              </a:rPr>
              <a:t>Open it from the report's More options menu (…) → 'View usage metrics report' in the workspace; App-level metrics are available from the App itself.</a:t>
            </a:r>
          </a:p>
          <a:p>
            <a:pPr>
              <a:lnSpc>
                <a:spcPct val="105000"/>
              </a:lnSpc>
              <a:spcAft>
                <a:spcPts val="1000"/>
              </a:spcAft>
              <a:buClr>
                <a:srgbClr val="1E2761"/>
              </a:buClr>
              <a:buFont typeface="Arial"/>
              <a:buChar char="•"/>
            </a:pPr>
            <a:r>
              <a:rPr sz="1450">
                <a:solidFill>
                  <a:srgbClr val="1F2328"/>
                </a:solidFill>
                <a:latin typeface="Calibri"/>
              </a:rPr>
              <a:t>Interpret three things together: which reports (and which pages inside them) are high-use, which are declining, and who the unique viewer population looks like versus the intended audience.</a:t>
            </a:r>
          </a:p>
          <a:p>
            <a:pPr>
              <a:lnSpc>
                <a:spcPct val="105000"/>
              </a:lnSpc>
              <a:spcAft>
                <a:spcPts val="1000"/>
              </a:spcAft>
              <a:buClr>
                <a:srgbClr val="1E2761"/>
              </a:buClr>
              <a:buFont typeface="Arial"/>
              <a:buChar char="•"/>
            </a:pPr>
            <a:r>
              <a:rPr sz="1450">
                <a:solidFill>
                  <a:srgbClr val="1F2328"/>
                </a:solidFill>
                <a:latin typeface="Calibri"/>
              </a:rPr>
              <a:t>If usage metrics aren't available, the blocker is tenant policy, license level, or workspace permissions — document which one, because Exercise 1 requires either the metrics or the documented blocker.</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Usage metrics are the cheapest, fastest signal for adoption — no external telemetry system needed, and every workspace has them.</a:t>
            </a:r>
          </a:p>
          <a:p>
            <a:pPr>
              <a:lnSpc>
                <a:spcPct val="105000"/>
              </a:lnSpc>
              <a:spcAft>
                <a:spcPts val="1000"/>
              </a:spcAft>
              <a:buClr>
                <a:srgbClr val="E8B44A"/>
              </a:buClr>
              <a:buFont typeface="Arial"/>
              <a:buChar char="•"/>
            </a:pPr>
            <a:r>
              <a:rPr sz="1450">
                <a:solidFill>
                  <a:srgbClr val="1F2328"/>
                </a:solidFill>
                <a:latin typeface="Calibri"/>
              </a:rPr>
              <a:t>High-use pages tell you where to invest in performance and UX; low-use pages tell you where to retire, redirect, or re-train users.</a:t>
            </a:r>
          </a:p>
          <a:p>
            <a:pPr>
              <a:lnSpc>
                <a:spcPct val="105000"/>
              </a:lnSpc>
              <a:spcAft>
                <a:spcPts val="1000"/>
              </a:spcAft>
              <a:buClr>
                <a:srgbClr val="E8B44A"/>
              </a:buClr>
              <a:buFont typeface="Arial"/>
              <a:buChar char="•"/>
            </a:pPr>
            <a:r>
              <a:rPr sz="1450">
                <a:solidFill>
                  <a:srgbClr val="1F2328"/>
                </a:solidFill>
                <a:latin typeface="Calibri"/>
              </a:rPr>
              <a:t>A gap between unique viewer count and intended audience size is the earliest sign a report isn't reaching the people it was built for — a governance signal, not just an analytics one.</a:t>
            </a:r>
          </a:p>
          <a:p>
            <a:pPr>
              <a:lnSpc>
                <a:spcPct val="105000"/>
              </a:lnSpc>
              <a:spcAft>
                <a:spcPts val="1000"/>
              </a:spcAft>
              <a:buClr>
                <a:srgbClr val="E8B44A"/>
              </a:buClr>
              <a:buFont typeface="Arial"/>
              <a:buChar char="•"/>
            </a:pPr>
            <a:r>
              <a:rPr sz="1450">
                <a:solidFill>
                  <a:srgbClr val="1F2328"/>
                </a:solidFill>
                <a:latin typeface="Calibri"/>
              </a:rPr>
              <a:t>This is Gov-ready and available in the classroom tenant, so Exercise 1 is a hands-on interpretation exercise, not just conceptual.</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1 has learners open usage metrics for a report or App, identify high-use and low-use pages, and document one concrete follow-up action.</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Refresh Monitoring</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Every semantic model's refresh history is one click away: workspace → semantic model → Settings or the refresh history icon.</a:t>
            </a:r>
          </a:p>
          <a:p>
            <a:pPr>
              <a:lnSpc>
                <a:spcPct val="105000"/>
              </a:lnSpc>
              <a:spcAft>
                <a:spcPts val="1000"/>
              </a:spcAft>
              <a:buClr>
                <a:srgbClr val="1E2761"/>
              </a:buClr>
              <a:buFont typeface="Arial"/>
              <a:buChar char="•"/>
            </a:pPr>
            <a:r>
              <a:rPr sz="1450">
                <a:solidFill>
                  <a:srgbClr val="1F2328"/>
                </a:solidFill>
                <a:latin typeface="Calibri"/>
              </a:rPr>
              <a:t>The refresh history log shows scheduled and on-demand runs with status, duration, start/end times, and — for failures — an expandable error detail per data source.</a:t>
            </a:r>
          </a:p>
          <a:p>
            <a:pPr>
              <a:lnSpc>
                <a:spcPct val="105000"/>
              </a:lnSpc>
              <a:spcAft>
                <a:spcPts val="1000"/>
              </a:spcAft>
              <a:buClr>
                <a:srgbClr val="1E2761"/>
              </a:buClr>
              <a:buFont typeface="Arial"/>
              <a:buChar char="•"/>
            </a:pPr>
            <a:r>
              <a:rPr sz="1450">
                <a:solidFill>
                  <a:srgbClr val="1F2328"/>
                </a:solidFill>
                <a:latin typeface="Calibri"/>
              </a:rPr>
              <a:t>Failure triage sequence: read the error text first, then check data source credentials on the semantic model settings page, then check gateway mapping if the source is on-premises or requires a private network path.</a:t>
            </a:r>
          </a:p>
          <a:p>
            <a:pPr>
              <a:lnSpc>
                <a:spcPct val="105000"/>
              </a:lnSpc>
              <a:spcAft>
                <a:spcPts val="1000"/>
              </a:spcAft>
              <a:buClr>
                <a:srgbClr val="1E2761"/>
              </a:buClr>
              <a:buFont typeface="Arial"/>
              <a:buChar char="•"/>
            </a:pPr>
            <a:r>
              <a:rPr sz="1450">
                <a:solidFill>
                  <a:srgbClr val="1F2328"/>
                </a:solidFill>
                <a:latin typeface="Calibri"/>
              </a:rPr>
              <a:t>Common failure patterns: expired credentials, gateway offline or version-mismatched, source system unavailable, source schema changed (renamed/removed column), and timeout on large queries.</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A stale semantic model silently produces wrong-looking numbers to every downstream report — the report still renders, it just reflects yesterday's data.</a:t>
            </a:r>
          </a:p>
          <a:p>
            <a:pPr>
              <a:lnSpc>
                <a:spcPct val="105000"/>
              </a:lnSpc>
              <a:spcAft>
                <a:spcPts val="1000"/>
              </a:spcAft>
              <a:buClr>
                <a:srgbClr val="E8B44A"/>
              </a:buClr>
              <a:buFont typeface="Arial"/>
              <a:buChar char="•"/>
            </a:pPr>
            <a:r>
              <a:rPr sz="1450">
                <a:solidFill>
                  <a:srgbClr val="1F2328"/>
                </a:solidFill>
                <a:latin typeface="Calibri"/>
              </a:rPr>
              <a:t>Structured refresh triage saves time: without it, teams jump straight to 'restart the gateway' every time, which fixes symptoms but hides real credential or schema drift issues.</a:t>
            </a:r>
          </a:p>
          <a:p>
            <a:pPr>
              <a:lnSpc>
                <a:spcPct val="105000"/>
              </a:lnSpc>
              <a:spcAft>
                <a:spcPts val="1000"/>
              </a:spcAft>
              <a:buClr>
                <a:srgbClr val="E8B44A"/>
              </a:buClr>
              <a:buFont typeface="Arial"/>
              <a:buChar char="•"/>
            </a:pPr>
            <a:r>
              <a:rPr sz="1450">
                <a:solidFill>
                  <a:srgbClr val="1F2328"/>
                </a:solidFill>
                <a:latin typeface="Calibri"/>
              </a:rPr>
              <a:t>Refresh history is Gov-ready and available for every semantic model, which is why Exercise 2 uses it as the primary troubleshooting artifact.</a:t>
            </a:r>
          </a:p>
          <a:p>
            <a:pPr>
              <a:lnSpc>
                <a:spcPct val="105000"/>
              </a:lnSpc>
              <a:spcAft>
                <a:spcPts val="1000"/>
              </a:spcAft>
              <a:buClr>
                <a:srgbClr val="E8B44A"/>
              </a:buClr>
              <a:buFont typeface="Arial"/>
              <a:buChar char="•"/>
            </a:pPr>
            <a:r>
              <a:rPr sz="1450">
                <a:solidFill>
                  <a:srgbClr val="1F2328"/>
                </a:solidFill>
                <a:latin typeface="Calibri"/>
              </a:rPr>
              <a:t>The refresh troubleshooting sequence students learn here becomes a section in the operations runbook from Exercise 5.</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2 has students walk the refresh history → error detail → credentials → gateway mapping sequence and document a likely cause and next action for a real (or simulated) failure.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04</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Tenant Settings That Affect Governance</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194560"/>
                <a:gridCol w="4754880"/>
                <a:gridCol w="3931920"/>
              </a:tblGrid>
              <a:tr h="666205">
                <a:tc>
                  <a:txBody>
                    <a:bodyPr/>
                    <a:lstStyle/>
                    <a:p>
                      <a:pPr algn="l"/>
                      <a:r>
                        <a:rPr b="1" sz="1250">
                          <a:solidFill>
                            <a:srgbClr val="FFFFFF"/>
                          </a:solidFill>
                          <a:latin typeface="Calibri"/>
                        </a:rPr>
                        <a:t>Setting area</a:t>
                      </a:r>
                    </a:p>
                  </a:txBody>
                  <a:tcPr>
                    <a:solidFill>
                      <a:srgbClr val="1E2761"/>
                    </a:solidFill>
                  </a:tcPr>
                </a:tc>
                <a:tc>
                  <a:txBody>
                    <a:bodyPr/>
                    <a:lstStyle/>
                    <a:p>
                      <a:pPr algn="l"/>
                      <a:r>
                        <a:rPr b="1" sz="1250">
                          <a:solidFill>
                            <a:srgbClr val="FFFFFF"/>
                          </a:solidFill>
                          <a:latin typeface="Calibri"/>
                        </a:rPr>
                        <a:t>What it controls</a:t>
                      </a:r>
                    </a:p>
                  </a:txBody>
                  <a:tcPr>
                    <a:solidFill>
                      <a:srgbClr val="1E2761"/>
                    </a:solidFill>
                  </a:tcPr>
                </a:tc>
                <a:tc>
                  <a:txBody>
                    <a:bodyPr/>
                    <a:lstStyle/>
                    <a:p>
                      <a:pPr algn="l"/>
                      <a:r>
                        <a:rPr b="1" sz="1250">
                          <a:solidFill>
                            <a:srgbClr val="FFFFFF"/>
                          </a:solidFill>
                          <a:latin typeface="Calibri"/>
                        </a:rPr>
                        <a:t>Governance decision</a:t>
                      </a:r>
                    </a:p>
                  </a:txBody>
                  <a:tcPr>
                    <a:solidFill>
                      <a:srgbClr val="1E2761"/>
                    </a:solidFill>
                  </a:tcPr>
                </a:tc>
              </a:tr>
              <a:tr h="666205">
                <a:tc>
                  <a:txBody>
                    <a:bodyPr/>
                    <a:lstStyle/>
                    <a:p>
                      <a:r>
                        <a:rPr sz="1150">
                          <a:solidFill>
                            <a:srgbClr val="1F2328"/>
                          </a:solidFill>
                          <a:latin typeface="Calibri"/>
                        </a:rPr>
                        <a:t>Sharing</a:t>
                      </a:r>
                    </a:p>
                  </a:txBody>
                  <a:tcPr>
                    <a:solidFill>
                      <a:srgbClr val="FFFFFF"/>
                    </a:solidFill>
                  </a:tcPr>
                </a:tc>
                <a:tc>
                  <a:txBody>
                    <a:bodyPr/>
                    <a:lstStyle/>
                    <a:p>
                      <a:r>
                        <a:rPr sz="1150">
                          <a:solidFill>
                            <a:srgbClr val="1F2328"/>
                          </a:solidFill>
                          <a:latin typeface="Calibri"/>
                        </a:rPr>
                        <a:t>Who can share reports and Apps externally, share links, and 'Allow guests to share.'</a:t>
                      </a:r>
                    </a:p>
                  </a:txBody>
                  <a:tcPr>
                    <a:solidFill>
                      <a:srgbClr val="FFFFFF"/>
                    </a:solidFill>
                  </a:tcPr>
                </a:tc>
                <a:tc>
                  <a:txBody>
                    <a:bodyPr/>
                    <a:lstStyle/>
                    <a:p>
                      <a:r>
                        <a:rPr sz="1150">
                          <a:solidFill>
                            <a:srgbClr val="1F2328"/>
                          </a:solidFill>
                          <a:latin typeface="Calibri"/>
                        </a:rPr>
                        <a:t>Restrict to specific security groups, not tenant-wide 'entire organization.'</a:t>
                      </a:r>
                    </a:p>
                  </a:txBody>
                  <a:tcPr>
                    <a:solidFill>
                      <a:srgbClr val="FFFFFF"/>
                    </a:solidFill>
                  </a:tcPr>
                </a:tc>
              </a:tr>
              <a:tr h="666205">
                <a:tc>
                  <a:txBody>
                    <a:bodyPr/>
                    <a:lstStyle/>
                    <a:p>
                      <a:r>
                        <a:rPr sz="1150">
                          <a:solidFill>
                            <a:srgbClr val="1F2328"/>
                          </a:solidFill>
                          <a:latin typeface="Calibri"/>
                        </a:rPr>
                        <a:t>Export &amp; download</a:t>
                      </a:r>
                    </a:p>
                  </a:txBody>
                  <a:tcPr>
                    <a:solidFill>
                      <a:srgbClr val="F6F8FC"/>
                    </a:solidFill>
                  </a:tcPr>
                </a:tc>
                <a:tc>
                  <a:txBody>
                    <a:bodyPr/>
                    <a:lstStyle/>
                    <a:p>
                      <a:r>
                        <a:rPr sz="1150">
                          <a:solidFill>
                            <a:srgbClr val="1F2328"/>
                          </a:solidFill>
                          <a:latin typeface="Calibri"/>
                        </a:rPr>
                        <a:t>Export to Excel, CSV, PowerPoint, PDF, and 'Analyze in Excel' from the Service.</a:t>
                      </a:r>
                    </a:p>
                  </a:txBody>
                  <a:tcPr>
                    <a:solidFill>
                      <a:srgbClr val="F6F8FC"/>
                    </a:solidFill>
                  </a:tcPr>
                </a:tc>
                <a:tc>
                  <a:txBody>
                    <a:bodyPr/>
                    <a:lstStyle/>
                    <a:p>
                      <a:r>
                        <a:rPr sz="1150">
                          <a:solidFill>
                            <a:srgbClr val="1F2328"/>
                          </a:solidFill>
                          <a:latin typeface="Calibri"/>
                        </a:rPr>
                        <a:t>Scope by group; align with sensitivity labels so labeled data can't be exported unlabeled.</a:t>
                      </a:r>
                    </a:p>
                  </a:txBody>
                  <a:tcPr>
                    <a:solidFill>
                      <a:srgbClr val="F6F8FC"/>
                    </a:solidFill>
                  </a:tcPr>
                </a:tc>
              </a:tr>
              <a:tr h="666205">
                <a:tc>
                  <a:txBody>
                    <a:bodyPr/>
                    <a:lstStyle/>
                    <a:p>
                      <a:r>
                        <a:rPr sz="1150">
                          <a:solidFill>
                            <a:srgbClr val="1F2328"/>
                          </a:solidFill>
                          <a:latin typeface="Calibri"/>
                        </a:rPr>
                        <a:t>Publish to web</a:t>
                      </a:r>
                    </a:p>
                  </a:txBody>
                  <a:tcPr>
                    <a:solidFill>
                      <a:srgbClr val="FFFFFF"/>
                    </a:solidFill>
                  </a:tcPr>
                </a:tc>
                <a:tc>
                  <a:txBody>
                    <a:bodyPr/>
                    <a:lstStyle/>
                    <a:p>
                      <a:r>
                        <a:rPr sz="1150">
                          <a:solidFill>
                            <a:srgbClr val="1F2328"/>
                          </a:solidFill>
                          <a:latin typeface="Calibri"/>
                        </a:rPr>
                        <a:t>Anonymous, publicly-accessible embed of a report — no auth, no audit.</a:t>
                      </a:r>
                    </a:p>
                  </a:txBody>
                  <a:tcPr>
                    <a:solidFill>
                      <a:srgbClr val="FFFFFF"/>
                    </a:solidFill>
                  </a:tcPr>
                </a:tc>
                <a:tc>
                  <a:txBody>
                    <a:bodyPr/>
                    <a:lstStyle/>
                    <a:p>
                      <a:r>
                        <a:rPr sz="1150">
                          <a:solidFill>
                            <a:srgbClr val="1F2328"/>
                          </a:solidFill>
                          <a:latin typeface="Calibri"/>
                        </a:rPr>
                        <a:t>Almost always disable or restrict to a single approved security group; audit existing embeds.</a:t>
                      </a:r>
                    </a:p>
                  </a:txBody>
                  <a:tcPr>
                    <a:solidFill>
                      <a:srgbClr val="FFFFFF"/>
                    </a:solidFill>
                  </a:tcPr>
                </a:tc>
              </a:tr>
              <a:tr h="666205">
                <a:tc>
                  <a:txBody>
                    <a:bodyPr/>
                    <a:lstStyle/>
                    <a:p>
                      <a:r>
                        <a:rPr sz="1150">
                          <a:solidFill>
                            <a:srgbClr val="1F2328"/>
                          </a:solidFill>
                          <a:latin typeface="Calibri"/>
                        </a:rPr>
                        <a:t>Certification &amp; endorsement</a:t>
                      </a:r>
                    </a:p>
                  </a:txBody>
                  <a:tcPr>
                    <a:solidFill>
                      <a:srgbClr val="F6F8FC"/>
                    </a:solidFill>
                  </a:tcPr>
                </a:tc>
                <a:tc>
                  <a:txBody>
                    <a:bodyPr/>
                    <a:lstStyle/>
                    <a:p>
                      <a:r>
                        <a:rPr sz="1150">
                          <a:solidFill>
                            <a:srgbClr val="1F2328"/>
                          </a:solidFill>
                          <a:latin typeface="Calibri"/>
                        </a:rPr>
                        <a:t>Who can mark content as Certified (top trust tier) or Promoted; who can request certification.</a:t>
                      </a:r>
                    </a:p>
                  </a:txBody>
                  <a:tcPr>
                    <a:solidFill>
                      <a:srgbClr val="F6F8FC"/>
                    </a:solidFill>
                  </a:tcPr>
                </a:tc>
                <a:tc>
                  <a:txBody>
                    <a:bodyPr/>
                    <a:lstStyle/>
                    <a:p>
                      <a:r>
                        <a:rPr sz="1150">
                          <a:solidFill>
                            <a:srgbClr val="1F2328"/>
                          </a:solidFill>
                          <a:latin typeface="Calibri"/>
                        </a:rPr>
                        <a:t>Certified is reserved for reviewed content only — define the review process before enabling.</a:t>
                      </a:r>
                    </a:p>
                  </a:txBody>
                  <a:tcPr>
                    <a:solidFill>
                      <a:srgbClr val="F6F8FC"/>
                    </a:solidFill>
                  </a:tcPr>
                </a:tc>
              </a:tr>
              <a:tr h="666205">
                <a:tc>
                  <a:txBody>
                    <a:bodyPr/>
                    <a:lstStyle/>
                    <a:p>
                      <a:r>
                        <a:rPr sz="1150">
                          <a:solidFill>
                            <a:srgbClr val="1F2328"/>
                          </a:solidFill>
                          <a:latin typeface="Calibri"/>
                        </a:rPr>
                        <a:t>Build permission</a:t>
                      </a:r>
                    </a:p>
                  </a:txBody>
                  <a:tcPr>
                    <a:solidFill>
                      <a:srgbClr val="FFFFFF"/>
                    </a:solidFill>
                  </a:tcPr>
                </a:tc>
                <a:tc>
                  <a:txBody>
                    <a:bodyPr/>
                    <a:lstStyle/>
                    <a:p>
                      <a:r>
                        <a:rPr sz="1150">
                          <a:solidFill>
                            <a:srgbClr val="1F2328"/>
                          </a:solidFill>
                          <a:latin typeface="Calibri"/>
                        </a:rPr>
                        <a:t>Whether users can build new reports on top of a shared semantic model.</a:t>
                      </a:r>
                    </a:p>
                  </a:txBody>
                  <a:tcPr>
                    <a:solidFill>
                      <a:srgbClr val="FFFFFF"/>
                    </a:solidFill>
                  </a:tcPr>
                </a:tc>
                <a:tc>
                  <a:txBody>
                    <a:bodyPr/>
                    <a:lstStyle/>
                    <a:p>
                      <a:r>
                        <a:rPr sz="1150">
                          <a:solidFill>
                            <a:srgbClr val="1F2328"/>
                          </a:solidFill>
                          <a:latin typeface="Calibri"/>
                        </a:rPr>
                        <a:t>Encourage build permission on certified models so authors reuse instead of rebuild.</a:t>
                      </a:r>
                    </a:p>
                  </a:txBody>
                  <a:tcPr>
                    <a:solidFill>
                      <a:srgbClr val="FFFFFF"/>
                    </a:solidFill>
                  </a:tcPr>
                </a:tc>
              </a:tr>
              <a:tr h="666210">
                <a:tc>
                  <a:txBody>
                    <a:bodyPr/>
                    <a:lstStyle/>
                    <a:p>
                      <a:r>
                        <a:rPr sz="1150">
                          <a:solidFill>
                            <a:srgbClr val="1F2328"/>
                          </a:solidFill>
                          <a:latin typeface="Calibri"/>
                        </a:rPr>
                        <a:t>External users (B2B)</a:t>
                      </a:r>
                    </a:p>
                  </a:txBody>
                  <a:tcPr>
                    <a:solidFill>
                      <a:srgbClr val="F6F8FC"/>
                    </a:solidFill>
                  </a:tcPr>
                </a:tc>
                <a:tc>
                  <a:txBody>
                    <a:bodyPr/>
                    <a:lstStyle/>
                    <a:p>
                      <a:r>
                        <a:rPr sz="1150">
                          <a:solidFill>
                            <a:srgbClr val="1F2328"/>
                          </a:solidFill>
                          <a:latin typeface="Calibri"/>
                        </a:rPr>
                        <a:t>Whether Azure AD guest users can access Power BI content and be invited to workspaces.</a:t>
                      </a:r>
                    </a:p>
                  </a:txBody>
                  <a:tcPr>
                    <a:solidFill>
                      <a:srgbClr val="F6F8FC"/>
                    </a:solidFill>
                  </a:tcPr>
                </a:tc>
                <a:tc>
                  <a:txBody>
                    <a:bodyPr/>
                    <a:lstStyle/>
                    <a:p>
                      <a:r>
                        <a:rPr sz="1150">
                          <a:solidFill>
                            <a:srgbClr val="1F2328"/>
                          </a:solidFill>
                          <a:latin typeface="Calibri"/>
                        </a:rPr>
                        <a:t>Coordinate with identity/security team; Gov tenants often disable or tightly scope.</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Tenant settings are edited by Power BI admins in the Admin portal (Settings → Admin portal → Tenant settings). Exercise 3 has students review each area and document the settings that require an explicit customer policy decision.</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05</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Gateway Monitoring</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The on-premises data gateway is the bridge between the Power BI Service and any source that isn't reachable from the cloud — SQL Servers, file shares, private APIs.</a:t>
            </a:r>
          </a:p>
          <a:p>
            <a:pPr>
              <a:lnSpc>
                <a:spcPct val="105000"/>
              </a:lnSpc>
              <a:spcAft>
                <a:spcPts val="1000"/>
              </a:spcAft>
              <a:buClr>
                <a:srgbClr val="1E2761"/>
              </a:buClr>
              <a:buFont typeface="Arial"/>
              <a:buChar char="•"/>
            </a:pPr>
            <a:r>
              <a:rPr sz="1450">
                <a:solidFill>
                  <a:srgbClr val="1F2328"/>
                </a:solidFill>
                <a:latin typeface="Calibri"/>
              </a:rPr>
              <a:t>Gateway clusters (a primary + one or more members) provide load distribution and high availability; monitor cluster status, each member's online state, and version.</a:t>
            </a:r>
          </a:p>
          <a:p>
            <a:pPr>
              <a:lnSpc>
                <a:spcPct val="105000"/>
              </a:lnSpc>
              <a:spcAft>
                <a:spcPts val="1000"/>
              </a:spcAft>
              <a:buClr>
                <a:srgbClr val="1E2761"/>
              </a:buClr>
              <a:buFont typeface="Arial"/>
              <a:buChar char="•"/>
            </a:pPr>
            <a:r>
              <a:rPr sz="1450">
                <a:solidFill>
                  <a:srgbClr val="1F2328"/>
                </a:solidFill>
                <a:latin typeface="Calibri"/>
              </a:rPr>
              <a:t>Data source mappings tie a semantic model's data source connection to a specific gateway cluster and stored credential set — mismatches here cause 'gateway not found' or credential errors at refresh time.</a:t>
            </a:r>
          </a:p>
          <a:p>
            <a:pPr>
              <a:lnSpc>
                <a:spcPct val="105000"/>
              </a:lnSpc>
              <a:spcAft>
                <a:spcPts val="1000"/>
              </a:spcAft>
              <a:buClr>
                <a:srgbClr val="1E2761"/>
              </a:buClr>
              <a:buFont typeface="Arial"/>
              <a:buChar char="•"/>
            </a:pPr>
            <a:r>
              <a:rPr sz="1450">
                <a:solidFill>
                  <a:srgbClr val="1F2328"/>
                </a:solidFill>
                <a:latin typeface="Calibri"/>
              </a:rPr>
              <a:t>Gateway versions are updated monthly; running an out-of-date version can break new connectors and is a common silent cause of intermittent refresh failures.</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Most refresh failures for on-premises sources are actually gateway-layer issues — offline members, expired credentials, or version mismatch — not source-system problems.</a:t>
            </a:r>
          </a:p>
          <a:p>
            <a:pPr>
              <a:lnSpc>
                <a:spcPct val="105000"/>
              </a:lnSpc>
              <a:spcAft>
                <a:spcPts val="1000"/>
              </a:spcAft>
              <a:buClr>
                <a:srgbClr val="E8B44A"/>
              </a:buClr>
              <a:buFont typeface="Arial"/>
              <a:buChar char="•"/>
            </a:pPr>
            <a:r>
              <a:rPr sz="1450">
                <a:solidFill>
                  <a:srgbClr val="1F2328"/>
                </a:solidFill>
                <a:latin typeface="Calibri"/>
              </a:rPr>
              <a:t>Documenting the gateway support owner and escalation path is a runbook essential: gateway machines are often owned by a different team than the Power BI content authors.</a:t>
            </a:r>
          </a:p>
          <a:p>
            <a:pPr>
              <a:lnSpc>
                <a:spcPct val="105000"/>
              </a:lnSpc>
              <a:spcAft>
                <a:spcPts val="1000"/>
              </a:spcAft>
              <a:buClr>
                <a:srgbClr val="E8B44A"/>
              </a:buClr>
              <a:buFont typeface="Arial"/>
              <a:buChar char="•"/>
            </a:pPr>
            <a:r>
              <a:rPr sz="1450">
                <a:solidFill>
                  <a:srgbClr val="1F2328"/>
                </a:solidFill>
                <a:latin typeface="Calibri"/>
              </a:rPr>
              <a:t>Gateway monitoring is Verify for Gov because gateway topology, network path, version support, and admin permissions all vary by tenant configuration.</a:t>
            </a:r>
          </a:p>
          <a:p>
            <a:pPr>
              <a:lnSpc>
                <a:spcPct val="105000"/>
              </a:lnSpc>
              <a:spcAft>
                <a:spcPts val="1000"/>
              </a:spcAft>
              <a:buClr>
                <a:srgbClr val="E8B44A"/>
              </a:buClr>
              <a:buFont typeface="Arial"/>
              <a:buChar char="•"/>
            </a:pPr>
            <a:r>
              <a:rPr sz="1450">
                <a:solidFill>
                  <a:srgbClr val="1F2328"/>
                </a:solidFill>
                <a:latin typeface="Calibri"/>
              </a:rPr>
              <a:t>The gateway is a shared platform component — a version upgrade or restart affects every semantic model mapped to it, so change control matters.</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4 (Verify for Gov) has students review gateway cluster status, data source mappings, credentials, and version — or, if unavailable, use the operations runbook template to document gateway requirements conceptually.</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06</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Activity Logs and Audit Logs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377440"/>
                <a:gridCol w="5029200"/>
                <a:gridCol w="3474720"/>
              </a:tblGrid>
              <a:tr h="666205">
                <a:tc>
                  <a:txBody>
                    <a:bodyPr/>
                    <a:lstStyle/>
                    <a:p>
                      <a:pPr algn="l"/>
                      <a:r>
                        <a:rPr b="1" sz="1250">
                          <a:solidFill>
                            <a:srgbClr val="FFFFFF"/>
                          </a:solidFill>
                          <a:latin typeface="Calibri"/>
                        </a:rPr>
                        <a:t>Event type</a:t>
                      </a:r>
                    </a:p>
                  </a:txBody>
                  <a:tcPr>
                    <a:solidFill>
                      <a:srgbClr val="1E2761"/>
                    </a:solidFill>
                  </a:tcPr>
                </a:tc>
                <a:tc>
                  <a:txBody>
                    <a:bodyPr/>
                    <a:lstStyle/>
                    <a:p>
                      <a:pPr algn="l"/>
                      <a:r>
                        <a:rPr b="1" sz="1250">
                          <a:solidFill>
                            <a:srgbClr val="FFFFFF"/>
                          </a:solidFill>
                          <a:latin typeface="Calibri"/>
                        </a:rPr>
                        <a:t>What it tells you</a:t>
                      </a:r>
                    </a:p>
                  </a:txBody>
                  <a:tcPr>
                    <a:solidFill>
                      <a:srgbClr val="1E2761"/>
                    </a:solidFill>
                  </a:tcPr>
                </a:tc>
                <a:tc>
                  <a:txBody>
                    <a:bodyPr/>
                    <a:lstStyle/>
                    <a:p>
                      <a:pPr algn="l"/>
                      <a:r>
                        <a:rPr b="1" sz="1250">
                          <a:solidFill>
                            <a:srgbClr val="FFFFFF"/>
                          </a:solidFill>
                          <a:latin typeface="Calibri"/>
                        </a:rPr>
                        <a:t>Where it's captured</a:t>
                      </a:r>
                    </a:p>
                  </a:txBody>
                  <a:tcPr>
                    <a:solidFill>
                      <a:srgbClr val="1E2761"/>
                    </a:solidFill>
                  </a:tcPr>
                </a:tc>
              </a:tr>
              <a:tr h="666205">
                <a:tc>
                  <a:txBody>
                    <a:bodyPr/>
                    <a:lstStyle/>
                    <a:p>
                      <a:r>
                        <a:rPr sz="1150">
                          <a:solidFill>
                            <a:srgbClr val="1F2328"/>
                          </a:solidFill>
                          <a:latin typeface="Calibri"/>
                        </a:rPr>
                        <a:t>ViewReport / ViewDashboard</a:t>
                      </a:r>
                    </a:p>
                  </a:txBody>
                  <a:tcPr>
                    <a:solidFill>
                      <a:srgbClr val="FFFFFF"/>
                    </a:solidFill>
                  </a:tcPr>
                </a:tc>
                <a:tc>
                  <a:txBody>
                    <a:bodyPr/>
                    <a:lstStyle/>
                    <a:p>
                      <a:r>
                        <a:rPr sz="1150">
                          <a:solidFill>
                            <a:srgbClr val="1F2328"/>
                          </a:solidFill>
                          <a:latin typeface="Calibri"/>
                        </a:rPr>
                        <a:t>Who opened which report, when, and from which App or workspace.</a:t>
                      </a:r>
                    </a:p>
                  </a:txBody>
                  <a:tcPr>
                    <a:solidFill>
                      <a:srgbClr val="FFFFFF"/>
                    </a:solidFill>
                  </a:tcPr>
                </a:tc>
                <a:tc>
                  <a:txBody>
                    <a:bodyPr/>
                    <a:lstStyle/>
                    <a:p>
                      <a:r>
                        <a:rPr sz="1150">
                          <a:solidFill>
                            <a:srgbClr val="1F2328"/>
                          </a:solidFill>
                          <a:latin typeface="Calibri"/>
                        </a:rPr>
                        <a:t>Power BI activity log; Unified audit log.</a:t>
                      </a:r>
                    </a:p>
                  </a:txBody>
                  <a:tcPr>
                    <a:solidFill>
                      <a:srgbClr val="FFFFFF"/>
                    </a:solidFill>
                  </a:tcPr>
                </a:tc>
              </a:tr>
              <a:tr h="666205">
                <a:tc>
                  <a:txBody>
                    <a:bodyPr/>
                    <a:lstStyle/>
                    <a:p>
                      <a:r>
                        <a:rPr sz="1150">
                          <a:solidFill>
                            <a:srgbClr val="1F2328"/>
                          </a:solidFill>
                          <a:latin typeface="Calibri"/>
                        </a:rPr>
                        <a:t>CreateApp / UpdateApp / DeleteApp</a:t>
                      </a:r>
                    </a:p>
                  </a:txBody>
                  <a:tcPr>
                    <a:solidFill>
                      <a:srgbClr val="F6F8FC"/>
                    </a:solidFill>
                  </a:tcPr>
                </a:tc>
                <a:tc>
                  <a:txBody>
                    <a:bodyPr/>
                    <a:lstStyle/>
                    <a:p>
                      <a:r>
                        <a:rPr sz="1150">
                          <a:solidFill>
                            <a:srgbClr val="1F2328"/>
                          </a:solidFill>
                          <a:latin typeface="Calibri"/>
                        </a:rPr>
                        <a:t>App lifecycle changes — including who published a new App version.</a:t>
                      </a:r>
                    </a:p>
                  </a:txBody>
                  <a:tcPr>
                    <a:solidFill>
                      <a:srgbClr val="F6F8FC"/>
                    </a:solidFill>
                  </a:tcPr>
                </a:tc>
                <a:tc>
                  <a:txBody>
                    <a:bodyPr/>
                    <a:lstStyle/>
                    <a:p>
                      <a:r>
                        <a:rPr sz="1150">
                          <a:solidFill>
                            <a:srgbClr val="1F2328"/>
                          </a:solidFill>
                          <a:latin typeface="Calibri"/>
                        </a:rPr>
                        <a:t>Power BI activity log.</a:t>
                      </a:r>
                    </a:p>
                  </a:txBody>
                  <a:tcPr>
                    <a:solidFill>
                      <a:srgbClr val="F6F8FC"/>
                    </a:solidFill>
                  </a:tcPr>
                </a:tc>
              </a:tr>
              <a:tr h="666205">
                <a:tc>
                  <a:txBody>
                    <a:bodyPr/>
                    <a:lstStyle/>
                    <a:p>
                      <a:r>
                        <a:rPr sz="1150">
                          <a:solidFill>
                            <a:srgbClr val="1F2328"/>
                          </a:solidFill>
                          <a:latin typeface="Calibri"/>
                        </a:rPr>
                        <a:t>ShareReport / AddWorkspaceUser</a:t>
                      </a:r>
                    </a:p>
                  </a:txBody>
                  <a:tcPr>
                    <a:solidFill>
                      <a:srgbClr val="FFFFFF"/>
                    </a:solidFill>
                  </a:tcPr>
                </a:tc>
                <a:tc>
                  <a:txBody>
                    <a:bodyPr/>
                    <a:lstStyle/>
                    <a:p>
                      <a:r>
                        <a:rPr sz="1150">
                          <a:solidFill>
                            <a:srgbClr val="1F2328"/>
                          </a:solidFill>
                          <a:latin typeface="Calibri"/>
                        </a:rPr>
                        <a:t>Who shared what with whom, and who was added to a workspace and at which role.</a:t>
                      </a:r>
                    </a:p>
                  </a:txBody>
                  <a:tcPr>
                    <a:solidFill>
                      <a:srgbClr val="FFFFFF"/>
                    </a:solidFill>
                  </a:tcPr>
                </a:tc>
                <a:tc>
                  <a:txBody>
                    <a:bodyPr/>
                    <a:lstStyle/>
                    <a:p>
                      <a:r>
                        <a:rPr sz="1150">
                          <a:solidFill>
                            <a:srgbClr val="1F2328"/>
                          </a:solidFill>
                          <a:latin typeface="Calibri"/>
                        </a:rPr>
                        <a:t>Power BI activity log — primary sharing evidence.</a:t>
                      </a:r>
                    </a:p>
                  </a:txBody>
                  <a:tcPr>
                    <a:solidFill>
                      <a:srgbClr val="FFFFFF"/>
                    </a:solidFill>
                  </a:tcPr>
                </a:tc>
              </a:tr>
              <a:tr h="666205">
                <a:tc>
                  <a:txBody>
                    <a:bodyPr/>
                    <a:lstStyle/>
                    <a:p>
                      <a:r>
                        <a:rPr sz="1150">
                          <a:solidFill>
                            <a:srgbClr val="1F2328"/>
                          </a:solidFill>
                          <a:latin typeface="Calibri"/>
                        </a:rPr>
                        <a:t>ExportReport / ExportTile</a:t>
                      </a:r>
                    </a:p>
                  </a:txBody>
                  <a:tcPr>
                    <a:solidFill>
                      <a:srgbClr val="F6F8FC"/>
                    </a:solidFill>
                  </a:tcPr>
                </a:tc>
                <a:tc>
                  <a:txBody>
                    <a:bodyPr/>
                    <a:lstStyle/>
                    <a:p>
                      <a:r>
                        <a:rPr sz="1150">
                          <a:solidFill>
                            <a:srgbClr val="1F2328"/>
                          </a:solidFill>
                          <a:latin typeface="Calibri"/>
                        </a:rPr>
                        <a:t>Any export to PDF, PPTX, CSV, XLSX — who exported which item and when.</a:t>
                      </a:r>
                    </a:p>
                  </a:txBody>
                  <a:tcPr>
                    <a:solidFill>
                      <a:srgbClr val="F6F8FC"/>
                    </a:solidFill>
                  </a:tcPr>
                </a:tc>
                <a:tc>
                  <a:txBody>
                    <a:bodyPr/>
                    <a:lstStyle/>
                    <a:p>
                      <a:r>
                        <a:rPr sz="1150">
                          <a:solidFill>
                            <a:srgbClr val="1F2328"/>
                          </a:solidFill>
                          <a:latin typeface="Calibri"/>
                        </a:rPr>
                        <a:t>Power BI activity log; correlates with DLP events.</a:t>
                      </a:r>
                    </a:p>
                  </a:txBody>
                  <a:tcPr>
                    <a:solidFill>
                      <a:srgbClr val="F6F8FC"/>
                    </a:solidFill>
                  </a:tcPr>
                </a:tc>
              </a:tr>
              <a:tr h="666205">
                <a:tc>
                  <a:txBody>
                    <a:bodyPr/>
                    <a:lstStyle/>
                    <a:p>
                      <a:r>
                        <a:rPr sz="1150">
                          <a:solidFill>
                            <a:srgbClr val="1F2328"/>
                          </a:solidFill>
                          <a:latin typeface="Calibri"/>
                        </a:rPr>
                        <a:t>UpdateTenantSetting</a:t>
                      </a:r>
                    </a:p>
                  </a:txBody>
                  <a:tcPr>
                    <a:solidFill>
                      <a:srgbClr val="FFFFFF"/>
                    </a:solidFill>
                  </a:tcPr>
                </a:tc>
                <a:tc>
                  <a:txBody>
                    <a:bodyPr/>
                    <a:lstStyle/>
                    <a:p>
                      <a:r>
                        <a:rPr sz="1150">
                          <a:solidFill>
                            <a:srgbClr val="1F2328"/>
                          </a:solidFill>
                          <a:latin typeface="Calibri"/>
                        </a:rPr>
                        <a:t>Any tenant admin toggling a tenant-level setting on or off.</a:t>
                      </a:r>
                    </a:p>
                  </a:txBody>
                  <a:tcPr>
                    <a:solidFill>
                      <a:srgbClr val="FFFFFF"/>
                    </a:solidFill>
                  </a:tcPr>
                </a:tc>
                <a:tc>
                  <a:txBody>
                    <a:bodyPr/>
                    <a:lstStyle/>
                    <a:p>
                      <a:r>
                        <a:rPr sz="1150">
                          <a:solidFill>
                            <a:srgbClr val="1F2328"/>
                          </a:solidFill>
                          <a:latin typeface="Calibri"/>
                        </a:rPr>
                        <a:t>Power BI activity log — governance change evidence.</a:t>
                      </a:r>
                    </a:p>
                  </a:txBody>
                  <a:tcPr>
                    <a:solidFill>
                      <a:srgbClr val="FFFFFF"/>
                    </a:solidFill>
                  </a:tcPr>
                </a:tc>
              </a:tr>
              <a:tr h="666210">
                <a:tc>
                  <a:txBody>
                    <a:bodyPr/>
                    <a:lstStyle/>
                    <a:p>
                      <a:r>
                        <a:rPr sz="1150">
                          <a:solidFill>
                            <a:srgbClr val="1F2328"/>
                          </a:solidFill>
                          <a:latin typeface="Calibri"/>
                        </a:rPr>
                        <a:t>SensitivityLabelApplied / Changed</a:t>
                      </a:r>
                    </a:p>
                  </a:txBody>
                  <a:tcPr>
                    <a:solidFill>
                      <a:srgbClr val="F6F8FC"/>
                    </a:solidFill>
                  </a:tcPr>
                </a:tc>
                <a:tc>
                  <a:txBody>
                    <a:bodyPr/>
                    <a:lstStyle/>
                    <a:p>
                      <a:r>
                        <a:rPr sz="1150">
                          <a:solidFill>
                            <a:srgbClr val="1F2328"/>
                          </a:solidFill>
                          <a:latin typeface="Calibri"/>
                        </a:rPr>
                        <a:t>Sensitivity label activity from Purview integration.</a:t>
                      </a:r>
                    </a:p>
                  </a:txBody>
                  <a:tcPr>
                    <a:solidFill>
                      <a:srgbClr val="F6F8FC"/>
                    </a:solidFill>
                  </a:tcPr>
                </a:tc>
                <a:tc>
                  <a:txBody>
                    <a:bodyPr/>
                    <a:lstStyle/>
                    <a:p>
                      <a:r>
                        <a:rPr sz="1150">
                          <a:solidFill>
                            <a:srgbClr val="1F2328"/>
                          </a:solidFill>
                          <a:latin typeface="Calibri"/>
                        </a:rPr>
                        <a:t>Purview audit log; correlates with Power BI activity log.</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Activity logs are queried by Power BI admins via the Power BI REST API (Get-PowerBIActivityEvent) or the Fabric admin monitoring workspace; audit logs via Microsoft Purview / M365 audit search. Both are Verify for Gov — confirm admin permission, audit configuration, and cloud availability first.</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07</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Admin Monitoring Workspace</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The Fabric/Power BI 'Admin monitoring' workspace is an auto-provisioned workspace containing prebuilt reports on tenant-wide activity, feature usage, and inventory.</a:t>
            </a:r>
          </a:p>
          <a:p>
            <a:pPr>
              <a:lnSpc>
                <a:spcPct val="105000"/>
              </a:lnSpc>
              <a:spcAft>
                <a:spcPts val="1000"/>
              </a:spcAft>
              <a:buClr>
                <a:srgbClr val="1E2761"/>
              </a:buClr>
              <a:buFont typeface="Arial"/>
              <a:buChar char="•"/>
            </a:pPr>
            <a:r>
              <a:rPr sz="1450">
                <a:solidFill>
                  <a:srgbClr val="1F2328"/>
                </a:solidFill>
                <a:latin typeface="Calibri"/>
              </a:rPr>
              <a:t>Included reports typically cover Feature Usage &amp; Adoption, Purview Hub, and Fabric Chargeback — exact contents evolve as Microsoft ships new admin surfaces.</a:t>
            </a:r>
          </a:p>
          <a:p>
            <a:pPr>
              <a:lnSpc>
                <a:spcPct val="105000"/>
              </a:lnSpc>
              <a:spcAft>
                <a:spcPts val="1000"/>
              </a:spcAft>
              <a:buClr>
                <a:srgbClr val="1E2761"/>
              </a:buClr>
              <a:buFont typeface="Arial"/>
              <a:buChar char="•"/>
            </a:pPr>
            <a:r>
              <a:rPr sz="1450">
                <a:solidFill>
                  <a:srgbClr val="1F2328"/>
                </a:solidFill>
                <a:latin typeface="Calibri"/>
              </a:rPr>
              <a:t>Accessed by users in the Fabric administrator or Power BI administrator role; it appears in the workspace list once the admin role is assigned and the feature is available in the target cloud.</a:t>
            </a:r>
          </a:p>
          <a:p>
            <a:pPr>
              <a:lnSpc>
                <a:spcPct val="105000"/>
              </a:lnSpc>
              <a:spcAft>
                <a:spcPts val="1000"/>
              </a:spcAft>
              <a:buClr>
                <a:srgbClr val="1E2761"/>
              </a:buClr>
              <a:buFont typeface="Arial"/>
              <a:buChar char="•"/>
            </a:pPr>
            <a:r>
              <a:rPr sz="1450">
                <a:solidFill>
                  <a:srgbClr val="1F2328"/>
                </a:solidFill>
                <a:latin typeface="Calibri"/>
              </a:rPr>
              <a:t>Availability varies by cloud (commercial vs. Gov vs. Gov-High) and tenant version — which is exactly why this topic is 'optional / Verify for Gov' for the lab.</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Pre-built admin reports eliminate the need to build every governance dashboard from scratch out of raw activity log data — they're the fastest path to tenant visibility.</a:t>
            </a:r>
          </a:p>
          <a:p>
            <a:pPr>
              <a:lnSpc>
                <a:spcPct val="105000"/>
              </a:lnSpc>
              <a:spcAft>
                <a:spcPts val="1000"/>
              </a:spcAft>
              <a:buClr>
                <a:srgbClr val="E8B44A"/>
              </a:buClr>
              <a:buFont typeface="Arial"/>
              <a:buChar char="•"/>
            </a:pPr>
            <a:r>
              <a:rPr sz="1450">
                <a:solidFill>
                  <a:srgbClr val="1F2328"/>
                </a:solidFill>
                <a:latin typeface="Calibri"/>
              </a:rPr>
              <a:t>Feature Usage &amp; Adoption gives per-workspace, per-user activity summaries admins can use to spot dormant workspaces, over-shared content, and unused capacity.</a:t>
            </a:r>
          </a:p>
          <a:p>
            <a:pPr>
              <a:lnSpc>
                <a:spcPct val="105000"/>
              </a:lnSpc>
              <a:spcAft>
                <a:spcPts val="1000"/>
              </a:spcAft>
              <a:buClr>
                <a:srgbClr val="E8B44A"/>
              </a:buClr>
              <a:buFont typeface="Arial"/>
              <a:buChar char="•"/>
            </a:pPr>
            <a:r>
              <a:rPr sz="1450">
                <a:solidFill>
                  <a:srgbClr val="1F2328"/>
                </a:solidFill>
                <a:latin typeface="Calibri"/>
              </a:rPr>
              <a:t>Purview Hub inside this workspace is the primary surface for sensitivity label and endorsement inventory across the tenant.</a:t>
            </a:r>
          </a:p>
          <a:p>
            <a:pPr>
              <a:lnSpc>
                <a:spcPct val="105000"/>
              </a:lnSpc>
              <a:spcAft>
                <a:spcPts val="1000"/>
              </a:spcAft>
              <a:buClr>
                <a:srgbClr val="E8B44A"/>
              </a:buClr>
              <a:buFont typeface="Arial"/>
              <a:buChar char="•"/>
            </a:pPr>
            <a:r>
              <a:rPr sz="1450">
                <a:solidFill>
                  <a:srgbClr val="1F2328"/>
                </a:solidFill>
                <a:latin typeface="Calibri"/>
              </a:rPr>
              <a:t>Understanding what the admin workspace *can* show — even when it isn't available here — lets students specify it as a requirement in the operations runbook.</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The optional 'Admin monitoring workspace' lab has students open the workspace if available, note its reports, and document one tenant-level adoption or governance follow-up — or document the availability blocker.</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08</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Capacity Metrics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The Microsoft Fabric Capacity Metrics app (installed by capacity admins from AppSource) reports CPU, memory, and throttling telemetry for Premium/Fabric capacities.</a:t>
            </a:r>
          </a:p>
          <a:p>
            <a:pPr>
              <a:lnSpc>
                <a:spcPct val="105000"/>
              </a:lnSpc>
              <a:spcAft>
                <a:spcPts val="1000"/>
              </a:spcAft>
              <a:buClr>
                <a:srgbClr val="1E2761"/>
              </a:buClr>
              <a:buFont typeface="Arial"/>
              <a:buChar char="•"/>
            </a:pPr>
            <a:r>
              <a:rPr sz="1450">
                <a:solidFill>
                  <a:srgbClr val="1F2328"/>
                </a:solidFill>
                <a:latin typeface="Calibri"/>
              </a:rPr>
              <a:t>CPU is measured in Capacity Units (CU) — track both interactive workload (report queries, dataflows) and background workload (scheduled refreshes, dataset reprocessing).</a:t>
            </a:r>
          </a:p>
          <a:p>
            <a:pPr>
              <a:lnSpc>
                <a:spcPct val="105000"/>
              </a:lnSpc>
              <a:spcAft>
                <a:spcPts val="1000"/>
              </a:spcAft>
              <a:buClr>
                <a:srgbClr val="1E2761"/>
              </a:buClr>
              <a:buFont typeface="Arial"/>
              <a:buChar char="•"/>
            </a:pPr>
            <a:r>
              <a:rPr sz="1450">
                <a:solidFill>
                  <a:srgbClr val="1F2328"/>
                </a:solidFill>
                <a:latin typeface="Calibri"/>
              </a:rPr>
              <a:t>Refresh impact: large scheduled refreshes are the most common cause of interactive slowdown — the app shows a stacked view of refresh CU vs. user query CU over the day.</a:t>
            </a:r>
          </a:p>
          <a:p>
            <a:pPr>
              <a:lnSpc>
                <a:spcPct val="105000"/>
              </a:lnSpc>
              <a:spcAft>
                <a:spcPts val="1000"/>
              </a:spcAft>
              <a:buClr>
                <a:srgbClr val="1E2761"/>
              </a:buClr>
              <a:buFont typeface="Arial"/>
              <a:buChar char="•"/>
            </a:pPr>
            <a:r>
              <a:rPr sz="1450">
                <a:solidFill>
                  <a:srgbClr val="1F2328"/>
                </a:solidFill>
                <a:latin typeface="Calibri"/>
              </a:rPr>
              <a:t>Throttling: sustained overload puts the capacity into interactive delay, then interactive rejection, then background rejection — each of which users experience differently and each requires a different remediation.</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Slow reports on a healthy report and model design are almost always a capacity issue, not a report design issue — without capacity metrics you'll spend hours 'optimizing' the wrong layer.</a:t>
            </a:r>
          </a:p>
          <a:p>
            <a:pPr>
              <a:lnSpc>
                <a:spcPct val="105000"/>
              </a:lnSpc>
              <a:spcAft>
                <a:spcPts val="1000"/>
              </a:spcAft>
              <a:buClr>
                <a:srgbClr val="E8B44A"/>
              </a:buClr>
              <a:buFont typeface="Arial"/>
              <a:buChar char="•"/>
            </a:pPr>
            <a:r>
              <a:rPr sz="1450">
                <a:solidFill>
                  <a:srgbClr val="1F2328"/>
                </a:solidFill>
                <a:latin typeface="Calibri"/>
              </a:rPr>
              <a:t>Understanding CU consumption per workspace and item is what enables cost allocation, capacity right-sizing, and refresh schedule staggering.</a:t>
            </a:r>
          </a:p>
          <a:p>
            <a:pPr>
              <a:lnSpc>
                <a:spcPct val="105000"/>
              </a:lnSpc>
              <a:spcAft>
                <a:spcPts val="1000"/>
              </a:spcAft>
              <a:buClr>
                <a:srgbClr val="E8B44A"/>
              </a:buClr>
              <a:buFont typeface="Arial"/>
              <a:buChar char="•"/>
            </a:pPr>
            <a:r>
              <a:rPr sz="1450">
                <a:solidFill>
                  <a:srgbClr val="1F2328"/>
                </a:solidFill>
                <a:latin typeface="Calibri"/>
              </a:rPr>
              <a:t>Throttling states are the earliest warning a capacity is under-provisioned — acting on them before rejections start is the difference between a proactive upgrade and an outage.</a:t>
            </a:r>
          </a:p>
          <a:p>
            <a:pPr>
              <a:lnSpc>
                <a:spcPct val="105000"/>
              </a:lnSpc>
              <a:spcAft>
                <a:spcPts val="1000"/>
              </a:spcAft>
              <a:buClr>
                <a:srgbClr val="E8B44A"/>
              </a:buClr>
              <a:buFont typeface="Arial"/>
              <a:buChar char="•"/>
            </a:pPr>
            <a:r>
              <a:rPr sz="1450">
                <a:solidFill>
                  <a:srgbClr val="1F2328"/>
                </a:solidFill>
                <a:latin typeface="Calibri"/>
              </a:rPr>
              <a:t>Capacity metrics are Verify for Gov — the app must be available in the target cloud, the user must have capacity admin, and the capacity must actually be Premium/Fabric (not shared).</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The optional 'Capacity metrics app' lab has students review CPU/memory, refresh workload, and throttling signals — or document capacity monitoring requirements in the runbook if the app isn't available.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09</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Purview and Data Loss Prevention (DLP)</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Microsoft Purview sensitivity labels (General, Confidential, Highly Confidential, etc.) can be applied to reports, semantic models, and Apps — and travel with exports to Excel, PowerPoint, and PDF.</a:t>
            </a:r>
          </a:p>
          <a:p>
            <a:pPr>
              <a:lnSpc>
                <a:spcPct val="105000"/>
              </a:lnSpc>
              <a:spcAft>
                <a:spcPts val="1000"/>
              </a:spcAft>
              <a:buClr>
                <a:srgbClr val="1E2761"/>
              </a:buClr>
              <a:buFont typeface="Arial"/>
              <a:buChar char="•"/>
            </a:pPr>
            <a:r>
              <a:rPr sz="1450">
                <a:solidFill>
                  <a:srgbClr val="1F2328"/>
                </a:solidFill>
                <a:latin typeface="Calibri"/>
              </a:rPr>
              <a:t>Labels are defined once in Purview and become available in Power BI once tenant settings for sensitivity labels are enabled; authors apply them from a report's Sensitivity dropdown in the Service.</a:t>
            </a:r>
          </a:p>
          <a:p>
            <a:pPr>
              <a:lnSpc>
                <a:spcPct val="105000"/>
              </a:lnSpc>
              <a:spcAft>
                <a:spcPts val="1000"/>
              </a:spcAft>
              <a:buClr>
                <a:srgbClr val="1E2761"/>
              </a:buClr>
              <a:buFont typeface="Arial"/>
              <a:buChar char="•"/>
            </a:pPr>
            <a:r>
              <a:rPr sz="1450">
                <a:solidFill>
                  <a:srgbClr val="1F2328"/>
                </a:solidFill>
                <a:latin typeface="Calibri"/>
              </a:rPr>
              <a:t>DLP policies for Power BI (defined in the Purview compliance portal) can detect labeled content and block or alert on risky sharing/export actions — for example, blocking export of Highly Confidential content to unmanaged devices.</a:t>
            </a:r>
          </a:p>
          <a:p>
            <a:pPr>
              <a:lnSpc>
                <a:spcPct val="105000"/>
              </a:lnSpc>
              <a:spcAft>
                <a:spcPts val="1000"/>
              </a:spcAft>
              <a:buClr>
                <a:srgbClr val="1E2761"/>
              </a:buClr>
              <a:buFont typeface="Arial"/>
              <a:buChar char="•"/>
            </a:pPr>
            <a:r>
              <a:rPr sz="1450">
                <a:solidFill>
                  <a:srgbClr val="1F2328"/>
                </a:solidFill>
                <a:latin typeface="Calibri"/>
              </a:rPr>
              <a:t>The Purview Hub inside the admin monitoring workspace gives a tenant-wide inventory of labeled and unlabeled content — the starting point for a compliance sweep.</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Sensitivity labels are the enforceable link between 'this is sensitive data' and 'here's what users can and can't do with it' — without them, classification is documentation-only.</a:t>
            </a:r>
          </a:p>
          <a:p>
            <a:pPr>
              <a:lnSpc>
                <a:spcPct val="105000"/>
              </a:lnSpc>
              <a:spcAft>
                <a:spcPts val="1000"/>
              </a:spcAft>
              <a:buClr>
                <a:srgbClr val="E8B44A"/>
              </a:buClr>
              <a:buFont typeface="Arial"/>
              <a:buChar char="•"/>
            </a:pPr>
            <a:r>
              <a:rPr sz="1450">
                <a:solidFill>
                  <a:srgbClr val="1F2328"/>
                </a:solidFill>
                <a:latin typeface="Calibri"/>
              </a:rPr>
              <a:t>Labels persist through export, which closes the biggest historical gap in Power BI governance: an unlabeled CSV export used to leave the tenant with no protection at all.</a:t>
            </a:r>
          </a:p>
          <a:p>
            <a:pPr>
              <a:lnSpc>
                <a:spcPct val="105000"/>
              </a:lnSpc>
              <a:spcAft>
                <a:spcPts val="1000"/>
              </a:spcAft>
              <a:buClr>
                <a:srgbClr val="E8B44A"/>
              </a:buClr>
              <a:buFont typeface="Arial"/>
              <a:buChar char="•"/>
            </a:pPr>
            <a:r>
              <a:rPr sz="1450">
                <a:solidFill>
                  <a:srgbClr val="1F2328"/>
                </a:solidFill>
                <a:latin typeface="Calibri"/>
              </a:rPr>
              <a:t>DLP catches the actions that policy alone can't prevent — a user attempting to share labeled content externally, or exporting from an unmanaged device — in real time.</a:t>
            </a:r>
          </a:p>
          <a:p>
            <a:pPr>
              <a:lnSpc>
                <a:spcPct val="105000"/>
              </a:lnSpc>
              <a:spcAft>
                <a:spcPts val="1000"/>
              </a:spcAft>
              <a:buClr>
                <a:srgbClr val="E8B44A"/>
              </a:buClr>
              <a:buFont typeface="Arial"/>
              <a:buChar char="•"/>
            </a:pPr>
            <a:r>
              <a:rPr sz="1450">
                <a:solidFill>
                  <a:srgbClr val="1F2328"/>
                </a:solidFill>
                <a:latin typeface="Calibri"/>
              </a:rPr>
              <a:t>All of this is Verify for Gov: it depends on the M365/Purview cloud availability, label configuration, licensing, and tenant settings being aligned.</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The optional 'Purview and DLP review' lab has students review label availability, DLP policy scope, and export behavior — or document compliance requirements for the runbook.</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10</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Adoption Tracking — From Telemetry to Action</a:t>
            </a:r>
          </a:p>
        </p:txBody>
      </p:sp>
      <p:sp>
        <p:nvSpPr>
          <p:cNvPr id="6" name="Rectangle 5"/>
          <p:cNvSpPr/>
          <p:nvPr/>
        </p:nvSpPr>
        <p:spPr>
          <a:xfrm>
            <a:off x="640080" y="1417320"/>
            <a:ext cx="329184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3291840" cy="457200"/>
          </a:xfrm>
          <a:prstGeom prst="rect">
            <a:avLst/>
          </a:prstGeom>
          <a:noFill/>
        </p:spPr>
        <p:txBody>
          <a:bodyPr wrap="square" anchor="ctr" lIns="0" rIns="0" tIns="0" bIns="0">
            <a:spAutoFit/>
          </a:bodyPr>
          <a:lstStyle/>
          <a:p>
            <a:pPr algn="ctr">
              <a:lnSpc>
                <a:spcPct val="100000"/>
              </a:lnSpc>
              <a:spcAft>
                <a:spcPts val="0"/>
              </a:spcAft>
            </a:pPr>
            <a:r>
              <a:rPr sz="1500" b="1" i="0">
                <a:solidFill>
                  <a:srgbClr val="141B45"/>
                </a:solidFill>
                <a:latin typeface="Calibri"/>
              </a:rPr>
              <a:t>Telemetry sources</a:t>
            </a:r>
          </a:p>
        </p:txBody>
      </p:sp>
      <p:sp>
        <p:nvSpPr>
          <p:cNvPr id="8" name="Rectangle 7"/>
          <p:cNvSpPr/>
          <p:nvPr/>
        </p:nvSpPr>
        <p:spPr>
          <a:xfrm>
            <a:off x="4617720" y="1417320"/>
            <a:ext cx="329184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417320"/>
            <a:ext cx="3291840" cy="45720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libri"/>
              </a:rPr>
              <a:t>Collection surfaces</a:t>
            </a:r>
          </a:p>
        </p:txBody>
      </p:sp>
      <p:sp>
        <p:nvSpPr>
          <p:cNvPr id="10" name="Rectangle 9"/>
          <p:cNvSpPr/>
          <p:nvPr/>
        </p:nvSpPr>
        <p:spPr>
          <a:xfrm>
            <a:off x="8595360" y="1417320"/>
            <a:ext cx="329184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417320"/>
            <a:ext cx="3291840" cy="457200"/>
          </a:xfrm>
          <a:prstGeom prst="rect">
            <a:avLst/>
          </a:prstGeom>
          <a:noFill/>
        </p:spPr>
        <p:txBody>
          <a:bodyPr wrap="square" anchor="ctr" lIns="0" rIns="0" tIns="0" bIns="0">
            <a:spAutoFit/>
          </a:bodyPr>
          <a:lstStyle/>
          <a:p>
            <a:pPr algn="ctr">
              <a:lnSpc>
                <a:spcPct val="100000"/>
              </a:lnSpc>
              <a:spcAft>
                <a:spcPts val="0"/>
              </a:spcAft>
            </a:pPr>
            <a:r>
              <a:rPr sz="1500" b="1" i="0">
                <a:solidFill>
                  <a:srgbClr val="141B45"/>
                </a:solidFill>
                <a:latin typeface="Calibri"/>
              </a:rPr>
              <a:t>Reporting &amp; action</a:t>
            </a:r>
          </a:p>
        </p:txBody>
      </p:sp>
      <p:sp>
        <p:nvSpPr>
          <p:cNvPr id="12" name="Rectangle 11"/>
          <p:cNvSpPr/>
          <p:nvPr/>
        </p:nvSpPr>
        <p:spPr>
          <a:xfrm>
            <a:off x="640080" y="2057400"/>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057400"/>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Report &amp; App views</a:t>
            </a:r>
          </a:p>
        </p:txBody>
      </p:sp>
      <p:sp>
        <p:nvSpPr>
          <p:cNvPr id="14" name="Rectangle 13"/>
          <p:cNvSpPr/>
          <p:nvPr/>
        </p:nvSpPr>
        <p:spPr>
          <a:xfrm>
            <a:off x="4617720" y="2057400"/>
            <a:ext cx="3291840" cy="621792"/>
          </a:xfrm>
          <a:prstGeom prst="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2057400"/>
            <a:ext cx="3017520" cy="621792"/>
          </a:xfrm>
          <a:prstGeom prst="rect">
            <a:avLst/>
          </a:prstGeom>
          <a:noFill/>
        </p:spPr>
        <p:txBody>
          <a:bodyPr wrap="square" anchor="ctr" lIns="0" rIns="0" tIns="0" bIns="0">
            <a:spAutoFit/>
          </a:bodyPr>
          <a:lstStyle/>
          <a:p>
            <a:pPr algn="l">
              <a:lnSpc>
                <a:spcPct val="100000"/>
              </a:lnSpc>
              <a:spcAft>
                <a:spcPts val="0"/>
              </a:spcAft>
            </a:pPr>
            <a:r>
              <a:rPr sz="1300" b="1" i="0">
                <a:solidFill>
                  <a:srgbClr val="1F2328"/>
                </a:solidFill>
                <a:latin typeface="Calibri"/>
              </a:rPr>
              <a:t>Usage metrics reports</a:t>
            </a:r>
          </a:p>
        </p:txBody>
      </p:sp>
      <p:sp>
        <p:nvSpPr>
          <p:cNvPr id="16" name="Rectangle 15"/>
          <p:cNvSpPr/>
          <p:nvPr/>
        </p:nvSpPr>
        <p:spPr>
          <a:xfrm>
            <a:off x="8595360" y="2057400"/>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2057400"/>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Adoption follow-up</a:t>
            </a:r>
          </a:p>
        </p:txBody>
      </p:sp>
      <p:cxnSp>
        <p:nvCxnSpPr>
          <p:cNvPr id="18" name="Connector 17"/>
          <p:cNvCxnSpPr/>
          <p:nvPr/>
        </p:nvCxnSpPr>
        <p:spPr>
          <a:xfrm>
            <a:off x="3931920" y="2368296"/>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09560" y="2368296"/>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40080" y="2807208"/>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807208"/>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Semantic model refreshes</a:t>
            </a:r>
          </a:p>
        </p:txBody>
      </p:sp>
      <p:sp>
        <p:nvSpPr>
          <p:cNvPr id="22" name="Rectangle 21"/>
          <p:cNvSpPr/>
          <p:nvPr/>
        </p:nvSpPr>
        <p:spPr>
          <a:xfrm>
            <a:off x="4617720" y="2807208"/>
            <a:ext cx="3291840" cy="621792"/>
          </a:xfrm>
          <a:prstGeom prst="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2807208"/>
            <a:ext cx="3017520" cy="621792"/>
          </a:xfrm>
          <a:prstGeom prst="rect">
            <a:avLst/>
          </a:prstGeom>
          <a:noFill/>
        </p:spPr>
        <p:txBody>
          <a:bodyPr wrap="square" anchor="ctr" lIns="0" rIns="0" tIns="0" bIns="0">
            <a:spAutoFit/>
          </a:bodyPr>
          <a:lstStyle/>
          <a:p>
            <a:pPr algn="l">
              <a:lnSpc>
                <a:spcPct val="100000"/>
              </a:lnSpc>
              <a:spcAft>
                <a:spcPts val="0"/>
              </a:spcAft>
            </a:pPr>
            <a:r>
              <a:rPr sz="1300" b="1" i="0">
                <a:solidFill>
                  <a:srgbClr val="1F2328"/>
                </a:solidFill>
                <a:latin typeface="Calibri"/>
              </a:rPr>
              <a:t>Refresh history</a:t>
            </a:r>
          </a:p>
        </p:txBody>
      </p:sp>
      <p:sp>
        <p:nvSpPr>
          <p:cNvPr id="24" name="Rectangle 23"/>
          <p:cNvSpPr/>
          <p:nvPr/>
        </p:nvSpPr>
        <p:spPr>
          <a:xfrm>
            <a:off x="8595360" y="2807208"/>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2520" y="2807208"/>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Refresh incident response</a:t>
            </a:r>
          </a:p>
        </p:txBody>
      </p:sp>
      <p:cxnSp>
        <p:nvCxnSpPr>
          <p:cNvPr id="26" name="Connector 25"/>
          <p:cNvCxnSpPr/>
          <p:nvPr/>
        </p:nvCxnSpPr>
        <p:spPr>
          <a:xfrm>
            <a:off x="3931920" y="3118104"/>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909560" y="3118104"/>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40080" y="3557016"/>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557016"/>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Gateway operations</a:t>
            </a:r>
          </a:p>
        </p:txBody>
      </p:sp>
      <p:sp>
        <p:nvSpPr>
          <p:cNvPr id="30" name="Rectangle 29"/>
          <p:cNvSpPr/>
          <p:nvPr/>
        </p:nvSpPr>
        <p:spPr>
          <a:xfrm>
            <a:off x="4617720" y="3557016"/>
            <a:ext cx="3291840" cy="621792"/>
          </a:xfrm>
          <a:prstGeom prst="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3557016"/>
            <a:ext cx="3017520" cy="621792"/>
          </a:xfrm>
          <a:prstGeom prst="rect">
            <a:avLst/>
          </a:prstGeom>
          <a:noFill/>
        </p:spPr>
        <p:txBody>
          <a:bodyPr wrap="square" anchor="ctr" lIns="0" rIns="0" tIns="0" bIns="0">
            <a:spAutoFit/>
          </a:bodyPr>
          <a:lstStyle/>
          <a:p>
            <a:pPr algn="l">
              <a:lnSpc>
                <a:spcPct val="100000"/>
              </a:lnSpc>
              <a:spcAft>
                <a:spcPts val="0"/>
              </a:spcAft>
            </a:pPr>
            <a:r>
              <a:rPr sz="1300" b="1" i="0">
                <a:solidFill>
                  <a:srgbClr val="1F2328"/>
                </a:solidFill>
                <a:latin typeface="Calibri"/>
              </a:rPr>
              <a:t>Activity log / audit log</a:t>
            </a:r>
          </a:p>
        </p:txBody>
      </p:sp>
      <p:sp>
        <p:nvSpPr>
          <p:cNvPr id="32" name="Rectangle 31"/>
          <p:cNvSpPr/>
          <p:nvPr/>
        </p:nvSpPr>
        <p:spPr>
          <a:xfrm>
            <a:off x="8595360" y="3557016"/>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32520" y="3557016"/>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Governance evidence</a:t>
            </a:r>
          </a:p>
        </p:txBody>
      </p:sp>
      <p:cxnSp>
        <p:nvCxnSpPr>
          <p:cNvPr id="34" name="Connector 33"/>
          <p:cNvCxnSpPr/>
          <p:nvPr/>
        </p:nvCxnSpPr>
        <p:spPr>
          <a:xfrm>
            <a:off x="3931920" y="3867912"/>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909560" y="3867912"/>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40080" y="4306824"/>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4306824"/>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Tenant admin actions</a:t>
            </a:r>
          </a:p>
        </p:txBody>
      </p:sp>
      <p:sp>
        <p:nvSpPr>
          <p:cNvPr id="38" name="Rectangle 37"/>
          <p:cNvSpPr/>
          <p:nvPr/>
        </p:nvSpPr>
        <p:spPr>
          <a:xfrm>
            <a:off x="4617720" y="4306824"/>
            <a:ext cx="3291840" cy="621792"/>
          </a:xfrm>
          <a:prstGeom prst="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0" y="4306824"/>
            <a:ext cx="3017520" cy="621792"/>
          </a:xfrm>
          <a:prstGeom prst="rect">
            <a:avLst/>
          </a:prstGeom>
          <a:noFill/>
        </p:spPr>
        <p:txBody>
          <a:bodyPr wrap="square" anchor="ctr" lIns="0" rIns="0" tIns="0" bIns="0">
            <a:spAutoFit/>
          </a:bodyPr>
          <a:lstStyle/>
          <a:p>
            <a:pPr algn="l">
              <a:lnSpc>
                <a:spcPct val="100000"/>
              </a:lnSpc>
              <a:spcAft>
                <a:spcPts val="0"/>
              </a:spcAft>
            </a:pPr>
            <a:r>
              <a:rPr sz="1300" b="1" i="0">
                <a:solidFill>
                  <a:srgbClr val="1F2328"/>
                </a:solidFill>
                <a:latin typeface="Calibri"/>
              </a:rPr>
              <a:t>Admin monitoring workspace</a:t>
            </a:r>
          </a:p>
        </p:txBody>
      </p:sp>
      <p:sp>
        <p:nvSpPr>
          <p:cNvPr id="40" name="Rectangle 39"/>
          <p:cNvSpPr/>
          <p:nvPr/>
        </p:nvSpPr>
        <p:spPr>
          <a:xfrm>
            <a:off x="8595360" y="4306824"/>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32520" y="4306824"/>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Tenant policy tuning</a:t>
            </a:r>
          </a:p>
        </p:txBody>
      </p:sp>
      <p:cxnSp>
        <p:nvCxnSpPr>
          <p:cNvPr id="42" name="Connector 41"/>
          <p:cNvCxnSpPr/>
          <p:nvPr/>
        </p:nvCxnSpPr>
        <p:spPr>
          <a:xfrm>
            <a:off x="3931920" y="4617720"/>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909560" y="4617720"/>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0080" y="5056632"/>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056632"/>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Sensitivity label events</a:t>
            </a:r>
          </a:p>
        </p:txBody>
      </p:sp>
      <p:sp>
        <p:nvSpPr>
          <p:cNvPr id="46" name="Rectangle 45"/>
          <p:cNvSpPr/>
          <p:nvPr/>
        </p:nvSpPr>
        <p:spPr>
          <a:xfrm>
            <a:off x="4617720" y="5056632"/>
            <a:ext cx="3291840" cy="621792"/>
          </a:xfrm>
          <a:prstGeom prst="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54880" y="5056632"/>
            <a:ext cx="3017520" cy="621792"/>
          </a:xfrm>
          <a:prstGeom prst="rect">
            <a:avLst/>
          </a:prstGeom>
          <a:noFill/>
        </p:spPr>
        <p:txBody>
          <a:bodyPr wrap="square" anchor="ctr" lIns="0" rIns="0" tIns="0" bIns="0">
            <a:spAutoFit/>
          </a:bodyPr>
          <a:lstStyle/>
          <a:p>
            <a:pPr algn="l">
              <a:lnSpc>
                <a:spcPct val="100000"/>
              </a:lnSpc>
              <a:spcAft>
                <a:spcPts val="0"/>
              </a:spcAft>
            </a:pPr>
            <a:r>
              <a:rPr sz="1300" b="1" i="0">
                <a:solidFill>
                  <a:srgbClr val="1F2328"/>
                </a:solidFill>
                <a:latin typeface="Calibri"/>
              </a:rPr>
              <a:t>Capacity metrics app</a:t>
            </a:r>
          </a:p>
        </p:txBody>
      </p:sp>
      <p:sp>
        <p:nvSpPr>
          <p:cNvPr id="48" name="Rectangle 47"/>
          <p:cNvSpPr/>
          <p:nvPr/>
        </p:nvSpPr>
        <p:spPr>
          <a:xfrm>
            <a:off x="8595360" y="5056632"/>
            <a:ext cx="3291840" cy="621792"/>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32520" y="5056632"/>
            <a:ext cx="3017520" cy="621792"/>
          </a:xfrm>
          <a:prstGeom prst="rect">
            <a:avLst/>
          </a:prstGeom>
          <a:noFill/>
        </p:spPr>
        <p:txBody>
          <a:bodyPr wrap="square" anchor="ctr" lIns="0" rIns="0" tIns="0" bIns="0">
            <a:spAutoFit/>
          </a:bodyPr>
          <a:lstStyle/>
          <a:p>
            <a:pPr algn="l">
              <a:lnSpc>
                <a:spcPct val="100000"/>
              </a:lnSpc>
              <a:spcAft>
                <a:spcPts val="0"/>
              </a:spcAft>
            </a:pPr>
            <a:r>
              <a:rPr sz="1300" b="0" i="0">
                <a:solidFill>
                  <a:srgbClr val="1F2328"/>
                </a:solidFill>
                <a:latin typeface="Calibri"/>
              </a:rPr>
              <a:t>Capacity &amp; DLP action</a:t>
            </a:r>
          </a:p>
        </p:txBody>
      </p:sp>
      <p:cxnSp>
        <p:nvCxnSpPr>
          <p:cNvPr id="50" name="Connector 49"/>
          <p:cNvCxnSpPr/>
          <p:nvPr/>
        </p:nvCxnSpPr>
        <p:spPr>
          <a:xfrm>
            <a:off x="3931920" y="5367528"/>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909560" y="5367528"/>
            <a:ext cx="685800" cy="0"/>
          </a:xfrm>
          <a:prstGeom prst="line">
            <a:avLst/>
          </a:prstGeom>
          <a:ln w="15875">
            <a:solidFill>
              <a:srgbClr val="4B5563"/>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Adoption tracking connects usage patterns to action. High usage → invest in training and support. Low or declining usage → enablement gap, discoverability gap, or retirement candidate. Each telemetry surface feeds a distinct governance outcome.</a:t>
            </a:r>
          </a:p>
        </p:txBody>
      </p:sp>
      <p:sp>
        <p:nvSpPr>
          <p:cNvPr id="53" name="TextBox 52"/>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Operations Model</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Every deployed workspace/App needs a named business owner AND a named technical owner — one for content decisions, one for platform issues.</a:t>
            </a:r>
          </a:p>
          <a:p>
            <a:pPr>
              <a:lnSpc>
                <a:spcPct val="105000"/>
              </a:lnSpc>
              <a:spcAft>
                <a:spcPts val="1000"/>
              </a:spcAft>
              <a:buClr>
                <a:srgbClr val="1E2761"/>
              </a:buClr>
              <a:buFont typeface="Arial"/>
              <a:buChar char="•"/>
            </a:pPr>
            <a:r>
              <a:rPr sz="1450">
                <a:solidFill>
                  <a:srgbClr val="1F2328"/>
                </a:solidFill>
                <a:latin typeface="Calibri"/>
              </a:rPr>
              <a:t>Support path: users know exactly where to report an issue (helpdesk ticket queue, Teams channel, email alias) and what SLA to expect.</a:t>
            </a:r>
          </a:p>
          <a:p>
            <a:pPr>
              <a:lnSpc>
                <a:spcPct val="105000"/>
              </a:lnSpc>
              <a:spcAft>
                <a:spcPts val="1000"/>
              </a:spcAft>
              <a:buClr>
                <a:srgbClr val="1E2761"/>
              </a:buClr>
              <a:buFont typeface="Arial"/>
              <a:buChar char="•"/>
            </a:pPr>
            <a:r>
              <a:rPr sz="1450">
                <a:solidFill>
                  <a:srgbClr val="1F2328"/>
                </a:solidFill>
                <a:latin typeface="Calibri"/>
              </a:rPr>
              <a:t>Incident handling: documented triage sequence for the three main incident types — refresh failure, capacity throttling, and sharing/DLP violation.</a:t>
            </a:r>
          </a:p>
          <a:p>
            <a:pPr>
              <a:lnSpc>
                <a:spcPct val="105000"/>
              </a:lnSpc>
              <a:spcAft>
                <a:spcPts val="1000"/>
              </a:spcAft>
              <a:buClr>
                <a:srgbClr val="1E2761"/>
              </a:buClr>
              <a:buFont typeface="Arial"/>
              <a:buChar char="•"/>
            </a:pPr>
            <a:r>
              <a:rPr sz="1450">
                <a:solidFill>
                  <a:srgbClr val="1F2328"/>
                </a:solidFill>
                <a:latin typeface="Calibri"/>
              </a:rPr>
              <a:t>Change control: report and semantic model changes go through deployment pipelines (Dev → Test → Prod), not direct edits to production workspaces.</a:t>
            </a:r>
          </a:p>
          <a:p>
            <a:pPr>
              <a:lnSpc>
                <a:spcPct val="105000"/>
              </a:lnSpc>
              <a:spcAft>
                <a:spcPts val="1000"/>
              </a:spcAft>
              <a:buClr>
                <a:srgbClr val="1E2761"/>
              </a:buClr>
              <a:buFont typeface="Arial"/>
              <a:buChar char="•"/>
            </a:pPr>
            <a:r>
              <a:rPr sz="1450">
                <a:solidFill>
                  <a:srgbClr val="1F2328"/>
                </a:solidFill>
                <a:latin typeface="Calibri"/>
              </a:rPr>
              <a:t>Review cadence: weekly refresh review, monthly usage review, quarterly tenant settings and access review, annual runbook refresh.</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Named owners eliminate the 'who owns this?' delay at the start of every incident — the single biggest cause of long time-to-restore.</a:t>
            </a:r>
          </a:p>
          <a:p>
            <a:pPr>
              <a:lnSpc>
                <a:spcPct val="105000"/>
              </a:lnSpc>
              <a:spcAft>
                <a:spcPts val="1000"/>
              </a:spcAft>
              <a:buClr>
                <a:srgbClr val="E8B44A"/>
              </a:buClr>
              <a:buFont typeface="Arial"/>
              <a:buChar char="•"/>
            </a:pPr>
            <a:r>
              <a:rPr sz="1450">
                <a:solidFill>
                  <a:srgbClr val="1F2328"/>
                </a:solidFill>
                <a:latin typeface="Calibri"/>
              </a:rPr>
              <a:t>A published support path routes issues away from the author's personal inbox and creates a ticket trail that feeds capacity and adoption planning.</a:t>
            </a:r>
          </a:p>
          <a:p>
            <a:pPr>
              <a:lnSpc>
                <a:spcPct val="105000"/>
              </a:lnSpc>
              <a:spcAft>
                <a:spcPts val="1000"/>
              </a:spcAft>
              <a:buClr>
                <a:srgbClr val="E8B44A"/>
              </a:buClr>
              <a:buFont typeface="Arial"/>
              <a:buChar char="•"/>
            </a:pPr>
            <a:r>
              <a:rPr sz="1450">
                <a:solidFill>
                  <a:srgbClr val="1F2328"/>
                </a:solidFill>
                <a:latin typeface="Calibri"/>
              </a:rPr>
              <a:t>A repeatable review cadence turns governance from an annual audit scramble into an always-current picture — the operations runbook is never stale.</a:t>
            </a:r>
          </a:p>
          <a:p>
            <a:pPr>
              <a:lnSpc>
                <a:spcPct val="105000"/>
              </a:lnSpc>
              <a:spcAft>
                <a:spcPts val="1000"/>
              </a:spcAft>
              <a:buClr>
                <a:srgbClr val="E8B44A"/>
              </a:buClr>
              <a:buFont typeface="Arial"/>
              <a:buChar char="•"/>
            </a:pPr>
            <a:r>
              <a:rPr sz="1450">
                <a:solidFill>
                  <a:srgbClr val="1F2328"/>
                </a:solidFill>
                <a:latin typeface="Calibri"/>
              </a:rPr>
              <a:t>Change control via deployment pipelines is the mechanism that lets you say 'yes, this report can be updated safely' instead of 'we can't touch it, it's critical.'</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5 has students assemble everything from Exercises 1-4 into an operations runbook covering owners, monitoring cadence, incident response, change control, and Azure Government validation notes.</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12 — WHAT YOU'LL BUILD</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Module Lab Walkthrough</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1: Usage metrics — open metrics for a report/App, interpret views and viewers, identify one follow-up action.</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2: Refresh troubleshooting — walk refresh history → error → credentials → gateway; document likely cause.</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3: Tenant setting review — sharing, export, publish-to-web, certification, external users — note policy decisions.</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4: Gateway monitoring (Verify for Gov) — cluster status, mappings, credentials, version, or documented alternate path.</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Optional labs: Activity logs, Admin monitoring workspace, Capacity metrics, Purview &amp; DLP — all Verify for Gov.</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5: Operations runbook — owners, data sources, access, monitoring cadence, incident response, Gov validation notes.</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Runbook template lives at modules/09-monitoring-governance/operations-runbook-template.md — use it as the scaffold.</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Deliverable: a completed draft runbook plus one adoption follow-up and one refresh triage note per learner.</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13 — WRAP-UP</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Knowledge Check &amp; Discussion</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Usage metrics reviewed for a report or App (or blocker documented).</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One adoption follow-up, training need, support signal, or retirement candidate identified.</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Refresh troubleshooting sequence — history, error, credentials, gateway — documented.</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Tenant sharing, export, publish-to-web, certification, and external-user settings reviewed.</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Gateway monitoring, activity logs, admin monitoring workspace, capacity metrics, and Purview/DLP each marked Verify for Gov with a documented plan.</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Operations runbook draft assembled — owners, monitoring cadence, incident paths, change control.</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Discussion: what does 'certified' mean in your organization — and what review process would you require before enabling it?</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Discussion: how would you prove, to an auditor, that a specific report has not been shared externally in the last 90 days?</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058400" cy="914400"/>
          </a:xfrm>
          <a:prstGeom prst="rect">
            <a:avLst/>
          </a:prstGeom>
          <a:noFill/>
        </p:spPr>
        <p:txBody>
          <a:bodyPr wrap="square" anchor="t" lIns="0" rIns="0" tIns="0" bIns="0">
            <a:spAutoFit/>
          </a:bodyPr>
          <a:lstStyle/>
          <a:p>
            <a:pPr algn="l">
              <a:lnSpc>
                <a:spcPct val="100000"/>
              </a:lnSpc>
              <a:spcAft>
                <a:spcPts val="0"/>
              </a:spcAft>
            </a:pPr>
            <a:r>
              <a:rPr sz="3600" b="1" i="0">
                <a:solidFill>
                  <a:srgbClr val="FFFFFF"/>
                </a:solidFill>
                <a:latin typeface="Cambria"/>
              </a:rPr>
              <a:t>Module 09 Complete</a:t>
            </a:r>
          </a:p>
        </p:txBody>
      </p:sp>
      <p:sp>
        <p:nvSpPr>
          <p:cNvPr id="4" name="TextBox 3"/>
          <p:cNvSpPr txBox="1"/>
          <p:nvPr/>
        </p:nvSpPr>
        <p:spPr>
          <a:xfrm>
            <a:off x="822960" y="3017520"/>
            <a:ext cx="10058400" cy="1280160"/>
          </a:xfrm>
          <a:prstGeom prst="rect">
            <a:avLst/>
          </a:prstGeom>
          <a:noFill/>
        </p:spPr>
        <p:txBody>
          <a:bodyPr wrap="square" anchor="t" lIns="0" rIns="0" tIns="0" bIns="0">
            <a:spAutoFit/>
          </a:bodyPr>
          <a:lstStyle/>
          <a:p>
            <a:pPr algn="l">
              <a:lnSpc>
                <a:spcPct val="115000"/>
              </a:lnSpc>
              <a:spcAft>
                <a:spcPts val="0"/>
              </a:spcAft>
            </a:pPr>
            <a:r>
              <a:rPr sz="1700" b="0" i="1">
                <a:solidFill>
                  <a:srgbClr val="CADCFC"/>
                </a:solidFill>
                <a:latin typeface="Calibri"/>
              </a:rPr>
              <a:t>Learners now have a working operations runbook and can interpret the full stack of Power BI monitoring signals — usage, refresh, activity, capacity, and compliance — for governed production support.</a:t>
            </a:r>
          </a:p>
        </p:txBody>
      </p:sp>
      <p:sp>
        <p:nvSpPr>
          <p:cNvPr id="5" name="Rectangle 4"/>
          <p:cNvSpPr/>
          <p:nvPr/>
        </p:nvSpPr>
        <p:spPr>
          <a:xfrm>
            <a:off x="822960" y="4023360"/>
            <a:ext cx="10332720" cy="1005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160520"/>
            <a:ext cx="9875520" cy="777240"/>
          </a:xfrm>
          <a:prstGeom prst="rect">
            <a:avLst/>
          </a:prstGeom>
          <a:noFill/>
        </p:spPr>
        <p:txBody>
          <a:bodyPr wrap="square" anchor="ctr" lIns="0" rIns="0" tIns="0" bIns="0">
            <a:spAutoFit/>
          </a:bodyPr>
          <a:lstStyle/>
          <a:p>
            <a:pPr algn="l">
              <a:lnSpc>
                <a:spcPct val="100000"/>
              </a:lnSpc>
              <a:spcAft>
                <a:spcPts val="0"/>
              </a:spcAft>
            </a:pPr>
            <a:r>
              <a:rPr sz="1600" b="1" i="0">
                <a:solidFill>
                  <a:srgbClr val="E8B44A"/>
                </a:solidFill>
                <a:latin typeface="Calibri"/>
              </a:rPr>
              <a:t>Up next: Module 10: Premium, Fabric, and Capacity-Aware Architecture — designing for scale on top of the monitoring and governance foundation you just built.</a:t>
            </a:r>
          </a:p>
        </p:txBody>
      </p:sp>
      <p:sp>
        <p:nvSpPr>
          <p:cNvPr id="7" name="TextBox 6"/>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CADCFC"/>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