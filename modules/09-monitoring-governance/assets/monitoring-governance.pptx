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talk track: Welcome students to this module and explain that the goal is not to memorize features. The goal is to understand when a pattern helps authors build more trustworthy, maintainable, user-friendly Power BI solutions.</a:t>
            </a:r>
          </a:p>
          <a:p>
            <a:r>
              <a:t>Module framing: Frame this module as operating content after publish: ownership, refresh, usage, settings, and support paths.</a:t>
            </a:r>
          </a:p>
          <a:p>
            <a:r>
              <a:t>Set expectations: presentation will introduce the theme, then the lab will let learners build or evaluate the pattern hands-on. Encourage questions about tradeoffs, not just button clicks.</a:t>
            </a:r>
          </a:p>
          <a:p>
            <a:r>
              <a:t>Further learning: Usage metrics: https://learn.microsoft.com/power-bi/collaborate-share/service-usage-metrics | Refresh troubleshooting: https://learn.microsoft.com/power-bi/connect-data/refresh-troubleshooting-refresh-scenarios | Admin monitoring: https://learn.microsoft.com/fabric/admin/monitoring-workspace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guidance: Emphasize sequence and dependency. Explain what students should already know from prior modules and what this module adds on top.</a:t>
            </a:r>
          </a:p>
          <a:p>
            <a:r>
              <a:t>Module framing: Frame this module as operating content after publish: ownership, refresh, usage, settings, and support paths.</a:t>
            </a:r>
          </a:p>
          <a:p>
            <a:r>
              <a:t>Transition: After this slide, move from the concept map into the specific pattern or lab activity.</a:t>
            </a:r>
          </a:p>
          <a:p>
            <a:r>
              <a:t>Further learning: Usage metrics: https://learn.microsoft.com/power-bi/collaborate-share/service-usage-metrics | Refresh troubleshooting: https://learn.microsoft.com/power-bi/connect-data/refresh-troubleshooting-refresh-scenarios | Admin monitoring: https://learn.microsoft.com/fabric/admin/monitoring-workspace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1. Why monitoring and governance matter.</a:t>
            </a:r>
          </a:p>
          <a:p>
            <a:r>
              <a:t>Talking points to expand: Talking points, learner value, and lab connection Talking points • Production support • Adoption • Risk controls Why it helps • Refresh reliability • Ownership Lab connection Coverage: Covered. Use the lab README to demonstrate or discuss this topic. Review terms: matter, ownership, production, reliability. 03</a:t>
            </a:r>
          </a:p>
          <a:p>
            <a:r>
              <a:t>Why it matters: Frame this module as operating content after publish: ownership, refresh, usage, settings, and support paths.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Usage metrics: https://learn.microsoft.com/power-bi/collaborate-share/service-usage-metrics | Refresh troubleshooting: https://learn.microsoft.com/power-bi/connect-data/refresh-troubleshooting-refresh-scenarios | Admin monitoring: https://learn.microsoft.com/fabric/admin/monitoring-workspace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2. Usage metrics.</a:t>
            </a:r>
          </a:p>
          <a:p>
            <a:r>
              <a:t>Talking points to expand: Talking points, learner value, and lab connection Talking points • Report views • Unique viewers • Trends Why it helps • App usage • Adoption interpretation Lab connection Coverage: Covered. Use the lab README to demonstrate or discuss this topic. Review terms: interpretation, trends. 04</a:t>
            </a:r>
          </a:p>
          <a:p>
            <a:r>
              <a:t>Why it matters: Frame this module as operating content after publish: ownership, refresh, usage, settings, and support paths.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Usage metrics: https://learn.microsoft.com/power-bi/collaborate-share/service-usage-metrics | Refresh troubleshooting: https://learn.microsoft.com/power-bi/connect-data/refresh-troubleshooting-refresh-scenarios | Admin monitoring: https://learn.microsoft.com/fabric/admin/monitoring-workspace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3. Refresh monitoring.</a:t>
            </a:r>
          </a:p>
          <a:p>
            <a:r>
              <a:t>Talking points to expand: Talking points, learner value, and lab connection Talking points • Refresh history • Failure details • Credentials Why it helps • Gateway mapping • Source system issues Lab connection Coverage: Covered. Use the lab README to demonstrate or discuss this topic. Review terms: system. 05</a:t>
            </a:r>
          </a:p>
          <a:p>
            <a:r>
              <a:t>Why it matters: Frame this module as operating content after publish: ownership, refresh, usage, settings, and support paths.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Usage metrics: https://learn.microsoft.com/power-bi/collaborate-share/service-usage-metrics | Refresh troubleshooting: https://learn.microsoft.com/power-bi/connect-data/refresh-troubleshooting-refresh-scenarios | Admin monitoring: https://learn.microsoft.com/fabric/admin/monitoring-workspace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4. Tenant settings.</a:t>
            </a:r>
          </a:p>
          <a:p>
            <a:r>
              <a:t>Talking points to expand: Talking points, learner value, and lab connection Talking points • Sharing • Export • Publish to web Why it helps • Certification • Build permission Lab connection Coverage: Covered. Use the lab README to demonstrate or discuss this topic. Review terms: build, users. 06</a:t>
            </a:r>
          </a:p>
          <a:p>
            <a:r>
              <a:t>Why it matters: Frame this module as operating content after publish: ownership, refresh, usage, settings, and support paths.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Usage metrics: https://learn.microsoft.com/power-bi/collaborate-share/service-usage-metrics | Refresh troubleshooting: https://learn.microsoft.com/power-bi/connect-data/refresh-troubleshooting-refresh-scenarios | Admin monitoring: https://learn.microsoft.com/fabric/admin/monitoring-workspace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5. Gateway monitoring.</a:t>
            </a:r>
          </a:p>
          <a:p>
            <a:r>
              <a:t>Talking points to expand: Talking points, learner value, and lab connection Talking points • Gateway clusters • Data source mappings • Credentials Why it helps • Versioning • Network dependencies Lab connection Coverage: Covered. Use the lab README to demonstrate or discuss this topic. Review terms: clusters, dependencies, versioning. 07</a:t>
            </a:r>
          </a:p>
          <a:p>
            <a:r>
              <a:t>Why it matters: Frame this module as operating content after publish: ownership, refresh, usage, settings, and support paths.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Usage metrics: https://learn.microsoft.com/power-bi/collaborate-share/service-usage-metrics | Refresh troubleshooting: https://learn.microsoft.com/power-bi/connect-data/refresh-troubleshooting-refresh-scenarios | Admin monitoring: https://learn.microsoft.com/fabric/admin/monitoring-workspace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6. Activity and audit logs.</a:t>
            </a:r>
          </a:p>
          <a:p>
            <a:r>
              <a:t>Talking points to expand: Talking points, learner value, and lab connection Talking points • What gets logged • Admin permissions • Audit configuration Why it helps • Investigation examples • Gov validation Lab connection Coverage: Covered. Use the lab README to demonstrate or discuss this topic. Review terms: examples, investigation, logged. 08</a:t>
            </a:r>
          </a:p>
          <a:p>
            <a:r>
              <a:t>Why it matters: Frame this module as operating content after publish: ownership, refresh, usage, settings, and support paths.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Usage metrics: https://learn.microsoft.com/power-bi/collaborate-share/service-usage-metrics | Refresh troubleshooting: https://learn.microsoft.com/power-bi/connect-data/refresh-troubleshooting-refresh-scenarios | Admin monitoring: https://learn.microsoft.com/fabric/admin/monitoring-workspace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7. Admin monitoring workspace.</a:t>
            </a:r>
          </a:p>
          <a:p>
            <a:r>
              <a:t>Talking points to expand: Talking points, learner value, and lab connection Talking points • Admin insights • Tenant visibility Why it helps • Availability considerations • Role requirements Lab connection Coverage: Covered. Use the lab README to demonstrate or discuss this topic. Review terms: considerations, insights, visibility. 09</a:t>
            </a:r>
          </a:p>
          <a:p>
            <a:r>
              <a:t>Why it matters: Frame this module as operating content after publish: ownership, refresh, usage, settings, and support paths.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Usage metrics: https://learn.microsoft.com/power-bi/collaborate-share/service-usage-metrics | Refresh troubleshooting: https://learn.microsoft.com/power-bi/connect-data/refresh-troubleshooting-refresh-scenarios | Admin monitoring: https://learn.microsoft.com/fabric/admin/monitoring-workspace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8. Capacity metrics.</a:t>
            </a:r>
          </a:p>
          <a:p>
            <a:r>
              <a:t>Talking points to expand: Talking points, learner value, and lab connection Talking points • CPU and memory indicators • Refresh impact • Interactive workload Why it helps • Throttling concepts • Gov validation Lab connection Coverage: Covered. Use the lab README to demonstrate or discuss this topic. Review terms: concepts, impact, interactive. 10</a:t>
            </a:r>
          </a:p>
          <a:p>
            <a:r>
              <a:t>Why it matters: Frame this module as operating content after publish: ownership, refresh, usage, settings, and support paths.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Usage metrics: https://learn.microsoft.com/power-bi/collaborate-share/service-usage-metrics | Refresh troubleshooting: https://learn.microsoft.com/power-bi/connect-data/refresh-troubleshooting-refresh-scenarios | Admin monitoring: https://learn.microsoft.com/fabric/admin/monitoring-workspace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9. Purview and DLP.</a:t>
            </a:r>
          </a:p>
          <a:p>
            <a:r>
              <a:t>Talking points to expand: Talking points, learner value, and lab connection Talking points • Sensitivity labels • Data loss prevention Why it helps • Export controls • Compliance workflow Lab connection Coverage: Covered. Use the lab README to demonstrate or discuss this topic. Review terms: prevention, workflow. 11</a:t>
            </a:r>
          </a:p>
          <a:p>
            <a:r>
              <a:t>Why it matters: Frame this module as operating content after publish: ownership, refresh, usage, settings, and support paths.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Usage metrics: https://learn.microsoft.com/power-bi/collaborate-share/service-usage-metrics | Refresh troubleshooting: https://learn.microsoft.com/power-bi/connect-data/refresh-troubleshooting-refresh-scenarios | Admin monitoring: https://learn.microsoft.com/fabric/admin/monitoring-workspace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10. Adoption tracking.</a:t>
            </a:r>
          </a:p>
          <a:p>
            <a:r>
              <a:t>Talking points to expand: Talking points, learner value, and lab connection Talking points • Usage patterns • Training needs Why it helps • Support signals • Retirement candidates Lab connection Coverage: Partial. Use the lab README to demonstrate or discuss this topic. Review terms: candidates, needs, patterns, retirement, tracking. 12</a:t>
            </a:r>
          </a:p>
          <a:p>
            <a:r>
              <a:t>Why it matters: Frame this module as operating content after publish: ownership, refresh, usage, settings, and support paths.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Usage metrics: https://learn.microsoft.com/power-bi/collaborate-share/service-usage-metrics | Refresh troubleshooting: https://learn.microsoft.com/power-bi/connect-data/refresh-troubleshooting-refresh-scenarios | Admin monitoring: https://learn.microsoft.com/fabric/admin/monitoring-workspace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11. Operations model.</a:t>
            </a:r>
          </a:p>
          <a:p>
            <a:r>
              <a:t>Talking points to expand: Talking points, learner value, and lab connection Talking points • Owners • Support path • Incident handling Why it helps • Change control • Review cadence Lab connection Coverage: Covered. Use the lab README to demonstrate or discuss this topic. Review terms: change, handling, owners. 13</a:t>
            </a:r>
          </a:p>
          <a:p>
            <a:r>
              <a:t>Why it matters: Frame this module as operating content after publish: ownership, refresh, usage, settings, and support paths.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Usage metrics: https://learn.microsoft.com/power-bi/collaborate-share/service-usage-metrics | Refresh troubleshooting: https://learn.microsoft.com/power-bi/connect-data/refresh-troubleshooting-refresh-scenarios | Admin monitoring: https://learn.microsoft.com/fabric/admin/monitoring-workspace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guidance: Treat this as a checkpoint. Ask learners to explain the pattern in their own words and identify where they would use it in a real report.</a:t>
            </a:r>
          </a:p>
          <a:p>
            <a:r>
              <a:t>Validation prompt: What would prove this worked? Look for a simple visual, expected filter behavior, or a documented before/after result.</a:t>
            </a:r>
          </a:p>
          <a:p>
            <a:r>
              <a:t>Further learning: Usage metrics: https://learn.microsoft.com/power-bi/collaborate-share/service-usage-metrics | Refresh troubleshooting: https://learn.microsoft.com/power-bi/connect-data/refresh-troubleshooting-refresh-scenarios | Admin monitoring: https://learn.microsoft.com/fabric/admin/monitoring-workspace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guidance: Use this slide as the handoff for self-study. Do not read every link aloud. Point out which source is most relevant to the lab just completed and which source helps learners go deeper after class.</a:t>
            </a:r>
          </a:p>
          <a:p>
            <a:r>
              <a:t>Suggested prompt: Ask learners to bookmark the source that best matches the skill they want to improve next.</a:t>
            </a:r>
          </a:p>
          <a:p>
            <a:r>
              <a:t>Further learning: Usage metrics: https://learn.microsoft.com/power-bi/collaborate-share/service-usage-metrics | Refresh troubleshooting: https://learn.microsoft.com/power-bi/connect-data/refresh-troubleshooting-refresh-scenarios | Admin monitoring: https://learn.microsoft.com/fabric/admin/monitoring-workspace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FFFFFF"/>
                </a:solidFill>
                <a:latin typeface="Aptos Display"/>
              </a:defRPr>
            </a:pPr>
            <a:r>
              <a:t>Monitoring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02C39A"/>
                </a:solidFill>
                <a:latin typeface="Aptos"/>
              </a:defRPr>
            </a:pPr>
            <a:r>
              <a:t>Power BI Advanced Factory teaching deck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91440" cy="12344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What students learn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Key concepts and talking points from the module outline.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1828800"/>
            <a:ext cx="91440" cy="123444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matters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How the topic helps authors and report consumers.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75320" y="1828800"/>
            <a:ext cx="91440" cy="123444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How labs connect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Where learners apply the theme hands-on.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Module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Use this to introduce the section before hands-on labs.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143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1. Why monitoring and governance matter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Production support; Adoption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143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2. Usage metrics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Report views; Unique viewers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2286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3. Refresh monitoring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Refresh history; Failure details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2286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4. Tenant settings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Sharing; Export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3429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5. Gateway monitoring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Gateway clusters; Data source mappings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429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6. Activity and audit logs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What gets logged; Admin permissions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4572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7. Admin monitoring workspace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Admin insights; Tenant visibility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4572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8. Capacity metrics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CPU and memory indicators; Refresh impact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1. Why monitoring and governance matter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Production support</a:t>
            </a:r>
            <a:br/>
            <a:r>
              <a:t>• Adoption</a:t>
            </a:r>
            <a:br/>
            <a:r>
              <a:t>• Risk controls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Refresh reliability</a:t>
            </a:r>
            <a:br/>
            <a:r>
              <a:t>• Ownership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matter, ownership, production, reliability.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2. Usage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Report views</a:t>
            </a:r>
            <a:br/>
            <a:r>
              <a:t>• Unique viewers</a:t>
            </a:r>
            <a:br/>
            <a:r>
              <a:t>• Trends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App usage</a:t>
            </a:r>
            <a:br/>
            <a:r>
              <a:t>• Adoption interpretation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interpretation, trends.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3. Refresh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Refresh history</a:t>
            </a:r>
            <a:br/>
            <a:r>
              <a:t>• Failure details</a:t>
            </a:r>
            <a:br/>
            <a:r>
              <a:t>• Credentials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Gateway mapping</a:t>
            </a:r>
            <a:br/>
            <a:r>
              <a:t>• Source system issues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system.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4. Tenant settings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Sharing</a:t>
            </a:r>
            <a:br/>
            <a:r>
              <a:t>• Export</a:t>
            </a:r>
            <a:br/>
            <a:r>
              <a:t>• Publish to web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Certification</a:t>
            </a:r>
            <a:br/>
            <a:r>
              <a:t>• Build permission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build, users.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5. Gateway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Gateway clusters</a:t>
            </a:r>
            <a:br/>
            <a:r>
              <a:t>• Data source mappings</a:t>
            </a:r>
            <a:br/>
            <a:r>
              <a:t>• Credentials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Versioning</a:t>
            </a:r>
            <a:br/>
            <a:r>
              <a:t>• Network dependencies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clusters, dependencies, versioning.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6. Activity and audit logs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What gets logged</a:t>
            </a:r>
            <a:br/>
            <a:r>
              <a:t>• Admin permissions</a:t>
            </a:r>
            <a:br/>
            <a:r>
              <a:t>• Audit configuration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Investigation examples</a:t>
            </a:r>
            <a:br/>
            <a:r>
              <a:t>• Gov validation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examples, investigation, logged.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7. Admin monitoring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Admin insights</a:t>
            </a:r>
            <a:br/>
            <a:r>
              <a:t>• Tenant visibility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Availability considerations</a:t>
            </a:r>
            <a:br/>
            <a:r>
              <a:t>• Role requirements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considerations, insights, visibility.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8. Capacity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CPU and memory indicators</a:t>
            </a:r>
            <a:br/>
            <a:r>
              <a:t>• Refresh impact</a:t>
            </a:r>
            <a:br/>
            <a:r>
              <a:t>• Interactive workload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Throttling concepts</a:t>
            </a:r>
            <a:br/>
            <a:r>
              <a:t>• Gov validation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concepts, impact, interactive.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9. Purview and DLP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Sensitivity labels</a:t>
            </a:r>
            <a:br/>
            <a:r>
              <a:t>• Data loss prevention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Export controls</a:t>
            </a:r>
            <a:br/>
            <a:r>
              <a:t>• Compliance workflow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prevention, workflow.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10. Adoption tracking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Usage patterns</a:t>
            </a:r>
            <a:br/>
            <a:r>
              <a:t>• Training needs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Support signals</a:t>
            </a:r>
            <a:br/>
            <a:r>
              <a:t>• Retirement candidates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Partial. Use the lab README to demonstrate or discuss this topic. Review terms: candidates, needs, patterns, retirement, tracking.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11. Operations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Owners</a:t>
            </a:r>
            <a:br/>
            <a:r>
              <a:t>• Support path</a:t>
            </a:r>
            <a:br/>
            <a:r>
              <a:t>• Incident handling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Change control</a:t>
            </a:r>
            <a:br/>
            <a:r>
              <a:t>• Review cadence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change, handling, owners.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12. Lab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Monitoring checklist</a:t>
            </a:r>
            <a:br/>
            <a:r>
              <a:t>• Runbook completion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Gov validation notes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completion.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Sources and further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Use these official Microsoft docs for deeper study.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43000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143000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52728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guidance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https://learn.microsoft.com/power-bi/guidance/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92807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892807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02536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Desktop docs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https://learn.microsoft.com/power-bi/fundamentals/desktop-getting-started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42615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642615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52344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Query M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https://learn.microsoft.com/powerquery-m/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392423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392423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502151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DAX reference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https://learn.microsoft.com/dax/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142231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142231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251959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Project files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https://learn.microsoft.com/power-bi/developer/projects/projects-overview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