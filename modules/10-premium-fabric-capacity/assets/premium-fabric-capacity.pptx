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7899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3000">
                <a:solidFill>
                  <a:srgbClr val="FFFFFF"/>
                </a:solidFill>
                <a:latin typeface="Aptos Display"/>
              </a:defRPr>
            </a:pPr>
            <a:r>
              <a:t>Premium Fabric Capacity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914400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02C39A"/>
                </a:solidFill>
                <a:latin typeface="Aptos"/>
              </a:defRPr>
            </a:pPr>
            <a:r>
              <a:t>Power BI Advanced Factory teaching deck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828800"/>
            <a:ext cx="3200400" cy="123444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1828800"/>
            <a:ext cx="91440" cy="1234440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938528"/>
            <a:ext cx="2880360" cy="106984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What students learn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Key concepts and talking points from the module outline.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80560" y="1828800"/>
            <a:ext cx="3200400" cy="123444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480560" y="1828800"/>
            <a:ext cx="91440" cy="1234440"/>
          </a:xfrm>
          <a:prstGeom prst="rect">
            <a:avLst/>
          </a:prstGeom>
          <a:solidFill>
            <a:srgbClr val="F9B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63440" y="1938528"/>
            <a:ext cx="2880360" cy="106984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Why it matters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How the topic helps authors and report consumers.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75320" y="1828800"/>
            <a:ext cx="3200400" cy="123444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275320" y="1828800"/>
            <a:ext cx="91440" cy="123444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458200" y="1938528"/>
            <a:ext cx="2880360" cy="106984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How labs connect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Where learners apply the theme hands-on.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7899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3000">
                <a:solidFill>
                  <a:srgbClr val="1E2761"/>
                </a:solidFill>
                <a:latin typeface="Aptos Display"/>
              </a:defRPr>
            </a:pPr>
            <a:r>
              <a:t>Module 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914400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5C5C5C"/>
                </a:solidFill>
                <a:latin typeface="Aptos"/>
              </a:defRPr>
            </a:pPr>
            <a:r>
              <a:t>Use this to introduce the section before hands-on labs.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94360" y="1143000"/>
            <a:ext cx="5074920" cy="82296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94360" y="1143000"/>
            <a:ext cx="91440" cy="82296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252728"/>
            <a:ext cx="4754880" cy="65836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1. Capacity-aware architecture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User scale; Data size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1143000"/>
            <a:ext cx="5074920" cy="82296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172200" y="1143000"/>
            <a:ext cx="91440" cy="822960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55080" y="1252728"/>
            <a:ext cx="4754880" cy="65836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2. Licensing and capacity options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Power BI Pro; Premium Per User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94360" y="2286000"/>
            <a:ext cx="5074920" cy="82296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94360" y="2286000"/>
            <a:ext cx="91440" cy="82296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2395728"/>
            <a:ext cx="4754880" cy="65836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3. Large semantic models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Model size; Memory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72200" y="2286000"/>
            <a:ext cx="5074920" cy="82296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72200" y="2286000"/>
            <a:ext cx="91440" cy="822960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55080" y="2395728"/>
            <a:ext cx="4754880" cy="65836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4. XMLA endpoint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Read/write workflows; External tools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94360" y="3429000"/>
            <a:ext cx="5074920" cy="82296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94360" y="3429000"/>
            <a:ext cx="91440" cy="82296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3538728"/>
            <a:ext cx="4754880" cy="65836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5. Paginated reports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Pixel-perfect reporting; Operational reports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3429000"/>
            <a:ext cx="5074920" cy="82296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172200" y="3429000"/>
            <a:ext cx="91440" cy="822960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55080" y="3538728"/>
            <a:ext cx="4754880" cy="65836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6. Fabric capacity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Capacity units; Workloads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94360" y="4572000"/>
            <a:ext cx="5074920" cy="82296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94360" y="4572000"/>
            <a:ext cx="91440" cy="82296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77240" y="4681728"/>
            <a:ext cx="4754880" cy="65836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7. Direct Lake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Import vs. DirectQuery vs. Direct Lake; Data freshness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172200" y="4572000"/>
            <a:ext cx="5074920" cy="82296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172200" y="4572000"/>
            <a:ext cx="91440" cy="822960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55080" y="4681728"/>
            <a:ext cx="4754880" cy="65836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8. OneLake, Lakehouse, and Warehouse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OneLake concept; Lakehouse pattern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789920" y="6492240"/>
            <a:ext cx="9144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5C5C5C"/>
                </a:solidFill>
              </a:defRPr>
            </a:pPr>
            <a: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7899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3000">
                <a:solidFill>
                  <a:srgbClr val="1E2761"/>
                </a:solidFill>
                <a:latin typeface="Aptos Display"/>
              </a:defRPr>
            </a:pPr>
            <a:r>
              <a:t>1. Capacity-aware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914400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5C5C5C"/>
                </a:solidFill>
                <a:latin typeface="Aptos"/>
              </a:defRPr>
            </a:pPr>
            <a:r>
              <a:t>Talking points, learner value, and lab connection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234440"/>
            <a:ext cx="530352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234440"/>
            <a:ext cx="91440" cy="182880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59" y="1344168"/>
            <a:ext cx="4983480" cy="166420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Talking points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• User scale</a:t>
            </a:r>
            <a:br/>
            <a:r>
              <a:t>• Data size</a:t>
            </a:r>
            <a:br/>
            <a:r>
              <a:t>• Refresh needs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63640" y="1234440"/>
            <a:ext cx="530352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263640" y="1234440"/>
            <a:ext cx="91440" cy="1828800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46520" y="1344168"/>
            <a:ext cx="4983480" cy="166420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Why it helps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• Query performance</a:t>
            </a:r>
            <a:br/>
            <a:r>
              <a:t>• Governance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4160520"/>
            <a:ext cx="10424160" cy="86868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22960" y="4160520"/>
            <a:ext cx="91440" cy="868680"/>
          </a:xfrm>
          <a:prstGeom prst="rect">
            <a:avLst/>
          </a:prstGeom>
          <a:solidFill>
            <a:srgbClr val="F9B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4270248"/>
            <a:ext cx="10104120" cy="70408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Lab connection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Coverage: Covered. Use the lab README to demonstrate or discuss this topic. Review terms: performance.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9920" y="6492240"/>
            <a:ext cx="9144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5C5C5C"/>
                </a:solidFill>
              </a:defRPr>
            </a:pPr>
            <a: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7899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3000">
                <a:solidFill>
                  <a:srgbClr val="1E2761"/>
                </a:solidFill>
                <a:latin typeface="Aptos Display"/>
              </a:defRPr>
            </a:pPr>
            <a:r>
              <a:t>2. Licensing and capacity options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914400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5C5C5C"/>
                </a:solidFill>
                <a:latin typeface="Aptos"/>
              </a:defRPr>
            </a:pPr>
            <a:r>
              <a:t>Talking points, learner value, and lab connection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234440"/>
            <a:ext cx="530352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234440"/>
            <a:ext cx="91440" cy="182880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59" y="1344168"/>
            <a:ext cx="4983480" cy="166420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Talking points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• Power BI Pro</a:t>
            </a:r>
            <a:br/>
            <a:r>
              <a:t>• Premium Per User</a:t>
            </a:r>
            <a:br/>
            <a:r>
              <a:t>• Premium capacity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63640" y="1234440"/>
            <a:ext cx="530352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263640" y="1234440"/>
            <a:ext cx="91440" cy="1828800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46520" y="1344168"/>
            <a:ext cx="4983480" cy="166420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Why it helps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• Fabric capacity</a:t>
            </a:r>
            <a:br/>
            <a:r>
              <a:t>• Workspace assignment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4160520"/>
            <a:ext cx="10424160" cy="86868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22960" y="4160520"/>
            <a:ext cx="91440" cy="868680"/>
          </a:xfrm>
          <a:prstGeom prst="rect">
            <a:avLst/>
          </a:prstGeom>
          <a:solidFill>
            <a:srgbClr val="F9B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4270248"/>
            <a:ext cx="10104120" cy="70408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Lab connection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Coverage: Covered. Use the lab README to demonstrate or discuss this topic. Review terms: assignment.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9920" y="6492240"/>
            <a:ext cx="9144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5C5C5C"/>
                </a:solidFill>
              </a:defRPr>
            </a:pPr>
            <a: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7899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3000">
                <a:solidFill>
                  <a:srgbClr val="1E2761"/>
                </a:solidFill>
                <a:latin typeface="Aptos Display"/>
              </a:defRPr>
            </a:pPr>
            <a:r>
              <a:t>3. Large semantic models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914400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5C5C5C"/>
                </a:solidFill>
                <a:latin typeface="Aptos"/>
              </a:defRPr>
            </a:pPr>
            <a:r>
              <a:t>Talking points, learner value, and lab connection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234440"/>
            <a:ext cx="530352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234440"/>
            <a:ext cx="91440" cy="182880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59" y="1344168"/>
            <a:ext cx="4983480" cy="166420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Talking points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• Model size</a:t>
            </a:r>
            <a:br/>
            <a:r>
              <a:t>• Memory</a:t>
            </a:r>
            <a:br/>
            <a:r>
              <a:t>• Refresh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63640" y="1234440"/>
            <a:ext cx="530352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263640" y="1234440"/>
            <a:ext cx="91440" cy="1828800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46520" y="1344168"/>
            <a:ext cx="4983480" cy="166420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Why it helps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• Storage format</a:t>
            </a:r>
            <a:br/>
            <a:r>
              <a:t>• Capacity dependency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4160520"/>
            <a:ext cx="10424160" cy="86868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22960" y="4160520"/>
            <a:ext cx="91440" cy="868680"/>
          </a:xfrm>
          <a:prstGeom prst="rect">
            <a:avLst/>
          </a:prstGeom>
          <a:solidFill>
            <a:srgbClr val="F9B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4270248"/>
            <a:ext cx="10104120" cy="70408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Lab connection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Coverage: Covered. Use the lab README to demonstrate or discuss this topic. Review terms: dependency, format, storage.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9920" y="6492240"/>
            <a:ext cx="9144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5C5C5C"/>
                </a:solidFill>
              </a:defRPr>
            </a:pPr>
            <a: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7899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3000">
                <a:solidFill>
                  <a:srgbClr val="1E2761"/>
                </a:solidFill>
                <a:latin typeface="Aptos Display"/>
              </a:defRPr>
            </a:pPr>
            <a:r>
              <a:t>4. XMLA endpoint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914400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5C5C5C"/>
                </a:solidFill>
                <a:latin typeface="Aptos"/>
              </a:defRPr>
            </a:pPr>
            <a:r>
              <a:t>Talking points, learner value, and lab connection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234440"/>
            <a:ext cx="530352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234440"/>
            <a:ext cx="91440" cy="182880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59" y="1344168"/>
            <a:ext cx="4983480" cy="166420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Talking points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• Read/write workflows</a:t>
            </a:r>
            <a:br/>
            <a:r>
              <a:t>• External tools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63640" y="1234440"/>
            <a:ext cx="530352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263640" y="1234440"/>
            <a:ext cx="91440" cy="1828800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46520" y="1344168"/>
            <a:ext cx="4983480" cy="166420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Why it helps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• ALM patterns</a:t>
            </a:r>
            <a:br/>
            <a:r>
              <a:t>• Security and admin settings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4160520"/>
            <a:ext cx="10424160" cy="86868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22960" y="4160520"/>
            <a:ext cx="91440" cy="868680"/>
          </a:xfrm>
          <a:prstGeom prst="rect">
            <a:avLst/>
          </a:prstGeom>
          <a:solidFill>
            <a:srgbClr val="F9B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4270248"/>
            <a:ext cx="10104120" cy="70408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Lab connection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Coverage: Covered. Use the lab README to demonstrate or discuss this topic. Review terms: external, patterns, tools, workflows.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9920" y="6492240"/>
            <a:ext cx="9144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5C5C5C"/>
                </a:solidFill>
              </a:defRPr>
            </a:pPr>
            <a: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7899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3000">
                <a:solidFill>
                  <a:srgbClr val="1E2761"/>
                </a:solidFill>
                <a:latin typeface="Aptos Display"/>
              </a:defRPr>
            </a:pPr>
            <a:r>
              <a:t>5. Paginated reports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914400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5C5C5C"/>
                </a:solidFill>
                <a:latin typeface="Aptos"/>
              </a:defRPr>
            </a:pPr>
            <a:r>
              <a:t>Talking points, learner value, and lab connection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234440"/>
            <a:ext cx="530352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234440"/>
            <a:ext cx="91440" cy="182880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59" y="1344168"/>
            <a:ext cx="4983480" cy="166420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Talking points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• Pixel-perfect reporting</a:t>
            </a:r>
            <a:br/>
            <a:r>
              <a:t>• Operational reports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63640" y="1234440"/>
            <a:ext cx="530352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263640" y="1234440"/>
            <a:ext cx="91440" cy="1828800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46520" y="1344168"/>
            <a:ext cx="4983480" cy="166420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Why it helps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• Export scenarios</a:t>
            </a:r>
            <a:br/>
            <a:r>
              <a:t>• Report Builder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4160520"/>
            <a:ext cx="10424160" cy="86868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22960" y="4160520"/>
            <a:ext cx="91440" cy="868680"/>
          </a:xfrm>
          <a:prstGeom prst="rect">
            <a:avLst/>
          </a:prstGeom>
          <a:solidFill>
            <a:srgbClr val="F9B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4270248"/>
            <a:ext cx="10104120" cy="70408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Lab connection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Coverage: Covered. Use the lab README to demonstrate or discuss this topic. Review terms: perfect, pixel, reporting.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9920" y="6492240"/>
            <a:ext cx="9144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5C5C5C"/>
                </a:solidFill>
              </a:defRPr>
            </a:pPr>
            <a: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7899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3000">
                <a:solidFill>
                  <a:srgbClr val="1E2761"/>
                </a:solidFill>
                <a:latin typeface="Aptos Display"/>
              </a:defRPr>
            </a:pPr>
            <a:r>
              <a:t>6. Fabric capacity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914400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5C5C5C"/>
                </a:solidFill>
                <a:latin typeface="Aptos"/>
              </a:defRPr>
            </a:pPr>
            <a:r>
              <a:t>Talking points, learner value, and lab connection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234440"/>
            <a:ext cx="530352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234440"/>
            <a:ext cx="91440" cy="182880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59" y="1344168"/>
            <a:ext cx="4983480" cy="166420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Talking points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• Capacity units</a:t>
            </a:r>
            <a:br/>
            <a:r>
              <a:t>• Workloads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63640" y="1234440"/>
            <a:ext cx="530352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263640" y="1234440"/>
            <a:ext cx="91440" cy="1828800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46520" y="1344168"/>
            <a:ext cx="4983480" cy="166420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Why it helps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• Workspace experience</a:t>
            </a:r>
            <a:br/>
            <a:r>
              <a:t>• Gov validation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4160520"/>
            <a:ext cx="10424160" cy="86868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22960" y="4160520"/>
            <a:ext cx="91440" cy="868680"/>
          </a:xfrm>
          <a:prstGeom prst="rect">
            <a:avLst/>
          </a:prstGeom>
          <a:solidFill>
            <a:srgbClr val="F9B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4270248"/>
            <a:ext cx="10104120" cy="70408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Lab connection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Coverage: Covered. Use the lab README to demonstrate or discuss this topic. Review terms: experience, units, workloads.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9920" y="6492240"/>
            <a:ext cx="9144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5C5C5C"/>
                </a:solidFill>
              </a:defRPr>
            </a:pPr>
            <a: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7899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3000">
                <a:solidFill>
                  <a:srgbClr val="1E2761"/>
                </a:solidFill>
                <a:latin typeface="Aptos Display"/>
              </a:defRPr>
            </a:pPr>
            <a:r>
              <a:t>7. Direct Lake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914400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5C5C5C"/>
                </a:solidFill>
                <a:latin typeface="Aptos"/>
              </a:defRPr>
            </a:pPr>
            <a:r>
              <a:t>Talking points, learner value, and lab connection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234440"/>
            <a:ext cx="530352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234440"/>
            <a:ext cx="91440" cy="182880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59" y="1344168"/>
            <a:ext cx="4983480" cy="166420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Talking points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• Import vs. DirectQuery vs. Direct Lake</a:t>
            </a:r>
            <a:br/>
            <a:r>
              <a:t>• Data freshness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63640" y="1234440"/>
            <a:ext cx="530352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263640" y="1234440"/>
            <a:ext cx="91440" cy="1828800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46520" y="1344168"/>
            <a:ext cx="4983480" cy="166420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Why it helps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• Modeling considerations</a:t>
            </a:r>
            <a:br/>
            <a:r>
              <a:t>• Fallback options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4160520"/>
            <a:ext cx="10424160" cy="86868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22960" y="4160520"/>
            <a:ext cx="91440" cy="868680"/>
          </a:xfrm>
          <a:prstGeom prst="rect">
            <a:avLst/>
          </a:prstGeom>
          <a:solidFill>
            <a:srgbClr val="F9B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4270248"/>
            <a:ext cx="10104120" cy="70408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Lab connection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Coverage: Covered. Use the lab README to demonstrate or discuss this topic. Review terms: freshness, modeling.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9920" y="6492240"/>
            <a:ext cx="9144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5C5C5C"/>
                </a:solidFill>
              </a:defRPr>
            </a:pPr>
            <a: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7899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3000">
                <a:solidFill>
                  <a:srgbClr val="1E2761"/>
                </a:solidFill>
                <a:latin typeface="Aptos Display"/>
              </a:defRPr>
            </a:pPr>
            <a:r>
              <a:t>8. OneLake, Lakehouse, and Warehouse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914400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5C5C5C"/>
                </a:solidFill>
                <a:latin typeface="Aptos"/>
              </a:defRPr>
            </a:pPr>
            <a:r>
              <a:t>Talking points, learner value, and lab connection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234440"/>
            <a:ext cx="530352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234440"/>
            <a:ext cx="91440" cy="182880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59" y="1344168"/>
            <a:ext cx="4983480" cy="166420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Talking points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• OneLake concept</a:t>
            </a:r>
            <a:br/>
            <a:r>
              <a:t>• Lakehouse pattern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63640" y="1234440"/>
            <a:ext cx="530352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263640" y="1234440"/>
            <a:ext cx="91440" cy="1828800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46520" y="1344168"/>
            <a:ext cx="4983480" cy="166420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Why it helps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• Warehouse pattern</a:t>
            </a:r>
            <a:br/>
            <a:r>
              <a:t>• Power BI integration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4160520"/>
            <a:ext cx="10424160" cy="86868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22960" y="4160520"/>
            <a:ext cx="91440" cy="868680"/>
          </a:xfrm>
          <a:prstGeom prst="rect">
            <a:avLst/>
          </a:prstGeom>
          <a:solidFill>
            <a:srgbClr val="F9B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4270248"/>
            <a:ext cx="10104120" cy="70408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Lab connection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Coverage: Covered. Use the lab README to demonstrate or discuss this topic. Review terms: pattern.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9920" y="6492240"/>
            <a:ext cx="9144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5C5C5C"/>
                </a:solidFill>
              </a:defRPr>
            </a:pPr>
            <a: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7899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3000">
                <a:solidFill>
                  <a:srgbClr val="1E2761"/>
                </a:solidFill>
                <a:latin typeface="Aptos Display"/>
              </a:defRPr>
            </a:pPr>
            <a:r>
              <a:t>9. Semantic Link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914400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5C5C5C"/>
                </a:solidFill>
                <a:latin typeface="Aptos"/>
              </a:defRPr>
            </a:pPr>
            <a:r>
              <a:t>Talking points, learner value, and lab connection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234440"/>
            <a:ext cx="530352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234440"/>
            <a:ext cx="91440" cy="182880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59" y="1344168"/>
            <a:ext cx="4983480" cy="166420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Talking points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• Notebook integration</a:t>
            </a:r>
            <a:br/>
            <a:r>
              <a:t>• Semantic model access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63640" y="1234440"/>
            <a:ext cx="530352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263640" y="1234440"/>
            <a:ext cx="91440" cy="1828800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46520" y="1344168"/>
            <a:ext cx="4983480" cy="166420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Why it helps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• Data science workflows</a:t>
            </a:r>
            <a:br/>
            <a:r>
              <a:t>• Availability caveats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4160520"/>
            <a:ext cx="10424160" cy="86868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22960" y="4160520"/>
            <a:ext cx="91440" cy="868680"/>
          </a:xfrm>
          <a:prstGeom prst="rect">
            <a:avLst/>
          </a:prstGeom>
          <a:solidFill>
            <a:srgbClr val="F9B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4270248"/>
            <a:ext cx="10104120" cy="70408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Lab connection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Coverage: Covered. Use the lab README to demonstrate or discuss this topic. Review terms: science, workflows.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9920" y="6492240"/>
            <a:ext cx="9144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5C5C5C"/>
                </a:solidFill>
              </a:defRPr>
            </a:pPr>
            <a: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7899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3000">
                <a:solidFill>
                  <a:srgbClr val="1E2761"/>
                </a:solidFill>
                <a:latin typeface="Aptos Display"/>
              </a:defRPr>
            </a:pPr>
            <a:r>
              <a:t>10. Capacity metrics and throttling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914400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5C5C5C"/>
                </a:solidFill>
                <a:latin typeface="Aptos"/>
              </a:defRPr>
            </a:pPr>
            <a:r>
              <a:t>Talking points, learner value, and lab connection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234440"/>
            <a:ext cx="530352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234440"/>
            <a:ext cx="91440" cy="182880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59" y="1344168"/>
            <a:ext cx="4983480" cy="166420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Talking points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• Interactive workload</a:t>
            </a:r>
            <a:br/>
            <a:r>
              <a:t>• Background workload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63640" y="1234440"/>
            <a:ext cx="530352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263640" y="1234440"/>
            <a:ext cx="91440" cy="1828800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46520" y="1344168"/>
            <a:ext cx="4983480" cy="166420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Why it helps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• Refresh pressure</a:t>
            </a:r>
            <a:br/>
            <a:r>
              <a:t>• Throttling signals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4160520"/>
            <a:ext cx="10424160" cy="86868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22960" y="4160520"/>
            <a:ext cx="91440" cy="868680"/>
          </a:xfrm>
          <a:prstGeom prst="rect">
            <a:avLst/>
          </a:prstGeom>
          <a:solidFill>
            <a:srgbClr val="F9B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4270248"/>
            <a:ext cx="10104120" cy="70408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Lab connection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Coverage: Covered. Use the lab README to demonstrate or discuss this topic. Review terms: signals.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9920" y="6492240"/>
            <a:ext cx="9144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5C5C5C"/>
                </a:solidFill>
              </a:defRPr>
            </a:pPr>
            <a: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7899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3000">
                <a:solidFill>
                  <a:srgbClr val="1E2761"/>
                </a:solidFill>
                <a:latin typeface="Aptos Display"/>
              </a:defRPr>
            </a:pPr>
            <a:r>
              <a:t>11. Azure Government considerations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914400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5C5C5C"/>
                </a:solidFill>
                <a:latin typeface="Aptos"/>
              </a:defRPr>
            </a:pPr>
            <a:r>
              <a:t>Talking points, learner value, and lab connection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234440"/>
            <a:ext cx="530352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234440"/>
            <a:ext cx="91440" cy="182880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59" y="1344168"/>
            <a:ext cx="4983480" cy="166420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Talking points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• Validate cloud parity</a:t>
            </a:r>
            <a:br/>
            <a:r>
              <a:t>• Validate licensing and capacity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63640" y="1234440"/>
            <a:ext cx="530352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263640" y="1234440"/>
            <a:ext cx="91440" cy="1828800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46520" y="1344168"/>
            <a:ext cx="4983480" cy="166420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Why it helps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• Validate tenant settings</a:t>
            </a:r>
            <a:br/>
            <a:r>
              <a:t>• Provide Gov-safe fallback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4160520"/>
            <a:ext cx="10424160" cy="86868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22960" y="4160520"/>
            <a:ext cx="91440" cy="868680"/>
          </a:xfrm>
          <a:prstGeom prst="rect">
            <a:avLst/>
          </a:prstGeom>
          <a:solidFill>
            <a:srgbClr val="F9B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4270248"/>
            <a:ext cx="10104120" cy="70408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Lab connection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Coverage: Covered. Use the lab README to demonstrate or discuss this topic. Review terms: parity.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9920" y="6492240"/>
            <a:ext cx="9144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5C5C5C"/>
                </a:solidFill>
              </a:defRPr>
            </a:pPr>
            <a: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7899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3000">
                <a:solidFill>
                  <a:srgbClr val="1E2761"/>
                </a:solidFill>
                <a:latin typeface="Aptos Display"/>
              </a:defRPr>
            </a:pPr>
            <a:r>
              <a:t>12. Architecture decision review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914400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5C5C5C"/>
                </a:solidFill>
                <a:latin typeface="Aptos"/>
              </a:defRPr>
            </a:pPr>
            <a:r>
              <a:t>Talking points, learner value, and lab connection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234440"/>
            <a:ext cx="530352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234440"/>
            <a:ext cx="91440" cy="182880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59" y="1344168"/>
            <a:ext cx="4983480" cy="166420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Talking points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• Requirements</a:t>
            </a:r>
            <a:br/>
            <a:r>
              <a:t>• Options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63640" y="1234440"/>
            <a:ext cx="530352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263640" y="1234440"/>
            <a:ext cx="91440" cy="1828800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46520" y="1344168"/>
            <a:ext cx="4983480" cy="166420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Why it helps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• Risks</a:t>
            </a:r>
            <a:br/>
            <a:r>
              <a:t>• Validation plan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4160520"/>
            <a:ext cx="10424160" cy="86868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22960" y="4160520"/>
            <a:ext cx="91440" cy="868680"/>
          </a:xfrm>
          <a:prstGeom prst="rect">
            <a:avLst/>
          </a:prstGeom>
          <a:solidFill>
            <a:srgbClr val="F9B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4270248"/>
            <a:ext cx="10104120" cy="70408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Lab connection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Coverage: Covered. Use the lab README to demonstrate or discuss this topic. Review terms: decision, risks.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9920" y="6492240"/>
            <a:ext cx="9144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5C5C5C"/>
                </a:solidFill>
              </a:defRPr>
            </a:pPr>
            <a: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7899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3000">
                <a:solidFill>
                  <a:srgbClr val="1E2761"/>
                </a:solidFill>
                <a:latin typeface="Aptos Display"/>
              </a:defRPr>
            </a:pPr>
            <a:r>
              <a:t>Sources and further learning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914400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5C5C5C"/>
                </a:solidFill>
                <a:latin typeface="Aptos"/>
              </a:defRPr>
            </a:pPr>
            <a:r>
              <a:t>Use these official Microsoft docs for deeper study.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143000"/>
            <a:ext cx="10698480" cy="59436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1143000"/>
            <a:ext cx="91440" cy="59436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252728"/>
            <a:ext cx="10378440" cy="42976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Power BI guidance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https://learn.microsoft.com/power-bi/guidance/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892807"/>
            <a:ext cx="10698480" cy="59436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31520" y="1892807"/>
            <a:ext cx="91440" cy="59436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002536"/>
            <a:ext cx="10378440" cy="42976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Power BI Desktop docs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https://learn.microsoft.com/power-bi/fundamentals/desktop-getting-started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2642615"/>
            <a:ext cx="10698480" cy="59436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31520" y="2642615"/>
            <a:ext cx="91440" cy="59436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2752344"/>
            <a:ext cx="10378440" cy="42976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Power Query M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https://learn.microsoft.com/powerquery-m/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3392423"/>
            <a:ext cx="10698480" cy="59436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31520" y="3392423"/>
            <a:ext cx="91440" cy="59436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3502151"/>
            <a:ext cx="10378440" cy="42976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DAX reference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https://learn.microsoft.com/dax/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" y="4142231"/>
            <a:ext cx="10698480" cy="59436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31520" y="4142231"/>
            <a:ext cx="91440" cy="59436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4400" y="4251959"/>
            <a:ext cx="10378440" cy="42976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Power BI Project files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https://learn.microsoft.com/power-bi/developer/projects/projects-overview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789920" y="6492240"/>
            <a:ext cx="9144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5C5C5C"/>
                </a:solidFill>
              </a:defRPr>
            </a:pPr>
            <a:r>
              <a:t>15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