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10. Frame this as the 'architecture money module' — every decision here shows up on the bill and in the tenant's capability matrix. Pro vs PPU vs Premium capacity vs Fabric capacity is not just licensing trivia; it gates which features are even available in the workspaces they will build in later modules.</a:t>
            </a:r>
          </a:p>
          <a:p>
            <a:r>
              <a:t>Set expectations about hands-on work: most of this module is conceptual and diagram-driven because Fabric capacity, Direct Lake, OneLake, Lakehouse/Warehouse, Semantic Link, and autoscale are all 'Commercial-focused / Verify for Gov'. That is a real classroom constraint, not a hedge — don't demo features the tenant may not have.</a:t>
            </a:r>
          </a:p>
          <a:p>
            <a:r>
              <a:t>Preview the lab: five short exercises — licensing/capacity comparison, XMLA endpoint (where available), paginated reports (where available), large semantic model settings (where available), and capacity metrics/throttling concepts — each with an alternate conceptual path so the class stays synchronized.</a:t>
            </a:r>
          </a:p>
          <a:p>
            <a:r>
              <a:t>Land the throughline that will repeat all module: 'What is the Gov-safe fallback?' For every Premium/Fabric feature we discuss, we will name the fallback so learners can still deliver value in an Azure Government or restricted-tenant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fourteen items quickly. Topics 1-2 frame requirements and license options; 3-5 cover Premium-era features (large models, XMLA, paginated); 6-9 cover the Fabric-era features (capacity, Direct Lake, OneLake, Semantic Link).</a:t>
            </a:r>
          </a:p>
          <a:p>
            <a:r>
              <a:t>Topic 10 (capacity metrics and throttling) is the operational reality check — it's where they'll learn what 'the capacity is slow' actually means in CU terms.</a:t>
            </a:r>
          </a:p>
          <a:p>
            <a:r>
              <a:t>Topics 11-12 pull it all together for Azure Government: how to validate, and how to run an architecture decision review with explicit fallbacks. Then lab walkthrough and knowledge check.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pushing back on a common instinct: 'we need Premium' is not a design conclusion, it's a shortcut. Force the discussion back to the six axes: user scale, data size, refresh needs, query performance, governance, cloud availability. Every one of those is something you can quantify.</a:t>
            </a:r>
          </a:p>
          <a:p>
            <a:r>
              <a:t>Give a concrete example: a workload with 200 viewers, a 400 MB model, twice-daily refresh, and no XMLA/paginated requirement is a Pro workload — buying Premium capacity for it would waste money and add operational overhead they don't need.</a:t>
            </a:r>
          </a:p>
          <a:p>
            <a:r>
              <a:t>Now flip it: 5,000 viewers, a 6 GB model, hourly refresh, XMLA read/write for CI/CD, and free viewer sharing across the company. That's clearly Premium or Fabric F64+. The six axes make the recommendation almost mechanical.</a:t>
            </a:r>
          </a:p>
          <a:p>
            <a:r>
              <a:t>Close by tying to Gov: any 'Commercial-focused / Verify for Gov' feature (Fabric capacity, Direct Lake, OneLake, Semantic Link, autoscale) needs a documented fallback before the design goes into review. That's exactly what Exercise 1 in the lab has students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in one pass, then go back and drill in on the two rows that trip up most classes: PPU and the difference between P and F SKUs.</a:t>
            </a:r>
          </a:p>
          <a:p>
            <a:r>
              <a:t>PPU is often misunderstood as 'Premium for small orgs'. It isn't. It unlocks Premium features at per-user pricing, but every viewer must also hold a PPU license — so it does not solve 'share with the whole company for free', which is the reason most orgs move to P or F64+.</a:t>
            </a:r>
          </a:p>
          <a:p>
            <a:r>
              <a:t>For F vs P: they overlap on Premium features, but only F unlocks the Fabric-era data engineering surface (OneLake, Lakehouse, Direct Lake, notebooks, Semantic Link). If the customer wants those, Fabric is the answer — assuming it is available in their cloud.</a:t>
            </a:r>
          </a:p>
          <a:p>
            <a:r>
              <a:t>Close on the Gov column: only Pro is unambiguously available everywhere. Everything else is 'Verify for Gov' or 'Commercial-focused'. This is why every capacity decision in a Gov engagement has to be paired with a validation step and a fallback.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topic to the concrete symptom: 'my model won't refresh even though it's only 15 GB and my capacity says 25 GB'. That is almost always a memory-during-refresh problem, not a storage-size problem.</a:t>
            </a:r>
          </a:p>
          <a:p>
            <a:r>
              <a:t>Walk through the enablement gates in order: capacity type (Premium/PPU/F), tenant admin toggle for 'Large semantic model storage format', then the per-workspace storage-format switch. All three must be on. Missing any one is the top classroom gotcha.</a:t>
            </a:r>
          </a:p>
          <a:p>
            <a:r>
              <a:t>Give the 2× rule of thumb: peak refresh RAM is roughly twice the compressed model size, because the refresh needs to load the existing model AND materialize the new one before swapping. Sizing to file size alone gets you paged out.</a:t>
            </a:r>
          </a:p>
          <a:p>
            <a:r>
              <a:t>Close with the Gov note: large semantic models are 'Verify for Gov'. In a Government tenant, confirm the tenant setting is enabled and the target capacity supports it before promising a large-model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audience: XMLA is 'enterprise BI ops' — the people building CI/CD pipelines, managing 50+ measure models, running scripted deployments. It is not a feature every author uses; it's a feature every enterprise-scale author eventually depends on.</a:t>
            </a:r>
          </a:p>
          <a:p>
            <a:r>
              <a:t>Walk the tool list: Tabular Editor is the most common (bulk measure editing, calculation groups, BPA). DAX Studio for performance traces. SSMS for scripted deployment. ALM Toolkit for diffing schema between environments. Each one is unlocked by XMLA r/w on the target capacity.</a:t>
            </a:r>
          </a:p>
          <a:p>
            <a:r>
              <a:t>Give the ALM angle explicitly: enterprise teams keep TMDL or BIM definitions in Git, and CI/CD pipelines push those definitions through XMLA to Dev / Test / Prod workspaces. This is what makes 'infrastructure as code' possible for semantic models.</a:t>
            </a:r>
          </a:p>
          <a:p>
            <a:r>
              <a:t>Close with the validation checklist: capacity type, workspace settings, admin toggle for XMLA endpoint = read/write, tenant settings for external tools, and — in Gov — confirmation that the endpoint is exposed in that sovereign cloud. All 'Verify for Gov'.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by drawing the distinction crisply: interactive reports are optimized for exploration on a screen; paginated reports are optimized for a fixed layout that lands on paper (or a PDF that acts like paper). Different job, different tool.</a:t>
            </a:r>
          </a:p>
          <a:p>
            <a:r>
              <a:t>Give the canonical examples: a monthly invoice run, a compliance filing that must match a regulator's template, a 20-page customer statement with dynamic headers and page X of Y. Interactive Power BI cannot produce those cleanly — paginated can.</a:t>
            </a:r>
          </a:p>
          <a:p>
            <a:r>
              <a:t>Mention the authoring reality: Power BI Report Builder is a separate free download, and the authoring experience feels like SSRS from a decade ago. That is by design — the engine is battle-tested; the UX just isn't modernized. Set expectations with students so they aren't surprised.</a:t>
            </a:r>
          </a:p>
          <a:p>
            <a:r>
              <a:t>Close on the Gov note: paginated is 'Verify for Gov'. Validate licensing (P/EM/F SKU or PPU, not Pro), workspace support, and cloud availability before promising it. If unavailable, the fallback is typically an SSRS-on-VM or an interactive-report 'export to PDF' path with a strong 'this is not pixel-perfect' caveat.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Fabric as 'one meter, many workloads' — that is the biggest mental shift from Premium. In Premium, Power BI had its own capacity. In Fabric, Power BI is one workload among many, all drawing from the same CU pool.</a:t>
            </a:r>
          </a:p>
          <a:p>
            <a:r>
              <a:t>Explain F64 specifically: it's the magic number where viewer sharing goes free for Power BI. Below F64, viewers still need Pro licenses. Above F64, sharing works like it did on P1+. This is often the actual driver of SKU selection.</a:t>
            </a:r>
          </a:p>
          <a:p>
            <a:r>
              <a:t>Warn about the cross-workload interaction: because CU is a single pool, a Spark job that misbehaves can throttle Power BI reports on the same capacity. Give the classroom takeaway: isolate production Power BI on its own F capacity when the workload mix is unpredictable.</a:t>
            </a:r>
          </a:p>
          <a:p>
            <a:r>
              <a:t>Close with the Gov reality: Fabric parity in Government clouds is a moving target, and 'available' isn't the same as 'all workloads available'. Validate each Fabric workload the design depends on before committing.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Direct Lake as 'the third storage mode' and put it side-by-side with Import and DirectQuery. Import = load into memory, requires refresh. DirectQuery = translate every visual to SQL, no refresh but slow. Direct Lake = read columnar Parquet from OneLake on demand, no refresh AND fast.</a:t>
            </a:r>
          </a:p>
          <a:p>
            <a:r>
              <a:t>Explain the 'fallback to DirectQuery' behavior: Direct Lake will silently fall back for queries it can't handle (unsupported functions, memory pressure). Students need to know this exists so they can diagnose 'why is one visual suddenly slow' — it may be falling back.</a:t>
            </a:r>
          </a:p>
          <a:p>
            <a:r>
              <a:t>Cover the modeling delta clearly: no calculated columns, no calculated tables. Those must move into the Lakehouse or Warehouse upstream. This is actually aligned with enterprise best practice — transformation belongs in the data platform, not the semantic model — but it's a change for Import-model authors.</a:t>
            </a:r>
          </a:p>
          <a:p>
            <a:r>
              <a:t>Close on the Gov note: Direct Lake is 'Commercial-focused / Verify for Gov'. In a Gov engagement, assume it's unavailable and use the fallback — Import from a Warehouse with a scheduled refresh — unless the tenant has confirmed Direct Lake support.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conversation on OneLake first — it is the substrate. Every Lakehouse, every Warehouse, every KQL database, every dataflow output lands in OneLake as Delta/Parquet. That's why 'one copy of data' is the Fabric pitch.</a:t>
            </a:r>
          </a:p>
          <a:p>
            <a:r>
              <a:t>Distinguish Lakehouse vs Warehouse explicitly: Lakehouse is Spark-first, files + tables, schema-on-read friendly. Warehouse is T-SQL-first, tables only, full DDL/DML including writes. Same underlying OneLake storage, different serving engines and different authoring audiences.</a:t>
            </a:r>
          </a:p>
          <a:p>
            <a:r>
              <a:t>Introduce shortcuts as the 'no-copy federation' story — you can shortcut into ADLS Gen2, S3, or GCS, and it looks like a local Fabric table to every workload. This is often the fastest path to Fabric adoption for orgs with existing lakes.</a:t>
            </a:r>
          </a:p>
          <a:p>
            <a:r>
              <a:t>Close on Gov: everything on this slide is 'Commercial-focused / Verify for Gov'. The fallback architecture in a Gov tenant is typically ADLS Gen2 + Azure Synapse or Azure SQL, with Import-mode semantic models on top — slower to iterate but widely available.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Semantic Link as the 'data science bridge' — for years, data scientists rebuilt Power BI measures in pandas because they couldn't reach the model. Semantic Link makes that unnecessary: the notebook calls the certified measure directly.</a:t>
            </a:r>
          </a:p>
          <a:p>
            <a:r>
              <a:t>Give a concrete example: a data scientist building a forecasting model wants 'net sales excluding returns' from the certified corporate semantic model. Previously they'd reimplement the DAX in Python and risk drift. With Semantic Link, they call fabric.evaluate_measure('Net Sales ex Returns'). Same number as the report.</a:t>
            </a:r>
          </a:p>
          <a:p>
            <a:r>
              <a:t>Mention the data-quality helpers briefly: SemPy can flag missing relationships, ambiguous cross-filters, and unused columns. That is a governance win — model authors get feedback from the notebook side of the house.</a:t>
            </a:r>
          </a:p>
          <a:p>
            <a:r>
              <a:t>Close on availability: Fabric-only, Commercial-focused. In a Gov engagement, the fallback is documented DAX queries executed through the XMLA endpoint, or exports from DAX Studio, into the notebook environment. Not as elegant, but achieves the same governance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Microsoft Fabric Capacity Metrics App — the canonical tool for seeing what's actually consuming CU on a capacity. Every learner responsible for a Premium or Fabric capacity should install it on day one.</a:t>
            </a:r>
          </a:p>
          <a:p>
            <a:r>
              <a:t>Walk the states left-to-right on the diagram. Healthy is steady-state. Overage is normal short bursts — the smoothing window absorbs them against the future budget. Interactive delay is the first warning sign users can feel: reports render ≈20 seconds slower.</a:t>
            </a:r>
          </a:p>
          <a:p>
            <a:r>
              <a:t>Escalate to interactive rejection and background rejection. The key point: interactive workloads are throttled BEFORE background jobs, so users see slowness before scheduled refreshes start failing. If refreshes are also failing, the capacity has been over-budget for hours, not minutes.</a:t>
            </a:r>
          </a:p>
          <a:p>
            <a:r>
              <a:t>Give the operational playbook: identify the top-consuming artifact (usually a semantic model with expensive DAX or a runaway Spark job), fix the artifact OR scale up the capacity OR add autoscale (P SKUs) OR isolate the offender to its own capacity. All 'Verify for Gov' because the metrics app itself may not be available in every sovereign cloud.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discipline: 'Verify for Gov' is not a phrase we say to hedge — it is a real validation step with four specific gates. Cloud parity, license/SKU availability, tenant settings, capacity/workspace settings. Miss any one, and the design fails at deployment time.</a:t>
            </a:r>
          </a:p>
          <a:p>
            <a:r>
              <a:t>Contrast the two categories: 'Commercial-focused / Verify for Gov' items are the Fabric-era ones — assume unavailable until proven otherwise. 'Verify for Gov' items are the Premium-era ones — usually available, but confirm.</a:t>
            </a:r>
          </a:p>
          <a:p>
            <a:r>
              <a:t>Push the fallback discipline: for every recommendation on the primary path, the write-up must include a Gov-safe fallback. That's usually Pro/PPU + Import from Azure SQL/Synapse/ADLS Gen2. Pixel-perfect requirements fall back to paginated on PPU or an SSRS-on-VM path.</a:t>
            </a:r>
          </a:p>
          <a:p>
            <a:r>
              <a:t>Close with the meta-point: this discipline applies far beyond Gov. Regulated commercial customers, sovereign clouds outside the US, and customers with strict tenant policies all benefit from the same 'validate + fallback' pattern.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closing framework: every architecture decision in this space ultimately assigns a workspace to a license mode. The mode gates every downstream feature, so the decision is worth reviewing formally.</a:t>
            </a:r>
          </a:p>
          <a:p>
            <a:r>
              <a:t>Walk left to right. The workspace is the unit of assignment — it holds all the artifacts (semantic models, reports, dataflows, Lakehouses if Fabric). The admin sets ONE license mode per workspace, and that choice determines which features light up.</a:t>
            </a:r>
          </a:p>
          <a:p>
            <a:r>
              <a:t>Now walk the four target modes. Pro is the safe default but caps at 1 GB models and 8 refreshes. PPU adds Premium features at per-user pricing. Premium capacity (P/EM) adds free-viewer sharing and reserved compute. Fabric (F) adds the data-engineering surface and unlocks free viewer sharing at F64+.</a:t>
            </a:r>
          </a:p>
          <a:p>
            <a:r>
              <a:t>Close by turning it into a review checklist: requirements captured against the six axes, options evaluated against features + limits + Gov status, risks named (feature unavailability, capacity throttling, cost overrun), and a validation plan documented. That is the deliverable of Exercise 1, and it's the pattern learners should apply to every real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lecture to hands-on. Emphasize that this lab is unusual in the workshop: most exercises have an alternate conceptual path because the features under discussion depend on licensing and tenant settings the classroom may not have.</a:t>
            </a:r>
          </a:p>
          <a:p>
            <a:r>
              <a:t>Walk the exercises in order. Exercise 1 is the anchor — every student can do it because it's paper design. Exercises 2-5 branch: hands-on if the tenant supports the feature, conceptual write-up if not.</a:t>
            </a:r>
          </a:p>
          <a:p>
            <a:r>
              <a:t>For the optional commercial exercises (Direct Lake, OneLake/Lakehouse/Warehouse, Semantic Link), tell students up front whether the classroom Fabric tenant supports them, so they know which path to follow before they start.</a:t>
            </a:r>
          </a:p>
          <a:p>
            <a:r>
              <a:t>The deliverable is the same regardless of path: a documented recommendation with option, requirements, risks, validation steps, and Gov-safe fallback. That's the artifact they can reuse on real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working checklist, not a quiz. Walk each item and ask a student to describe how their own scenario answers it. If they can't, the corresponding topic wasn't landed — revisit it before moving on.</a:t>
            </a:r>
          </a:p>
          <a:p>
            <a:r>
              <a:t>Push the discussion question at the bottom: for a real customer, which of today's features would you treat as hard requirements (design fails without them), and which would you always ship with a fallback? The answers differ by industry and by cloud.</a:t>
            </a:r>
          </a:p>
          <a:p>
            <a:r>
              <a:t>Tie the checklist back to the module's validation checklist verbatim — this is the same list they'll fill out for the lab deliverable, so time spent here is time saved in the lab.</a:t>
            </a:r>
          </a:p>
          <a:p>
            <a:r>
              <a:t>Close by connecting forward to Module 11: automation and DevOps assumes the capacity/licensing decisions from today are settled, because CI/CD pipelines target specific workspaces on specific capacities. Everything they decide today shapes what Module 11 automates.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Congratulate the class on completing what is arguably the densest architectural module in the workshop. The volume of licensing, capacity, and Fabric surface area is real — no one memorizes it all in one sitting, and they aren't expected to.</a:t>
            </a:r>
          </a:p>
          <a:p>
            <a:r>
              <a:t>Reinforce the two takeaways: the six-axis requirements framework, and the four-gate Gov validation with named fallbacks. Those two habits carry across every architecture conversation, even as the specific SKUs and features evolve.</a:t>
            </a:r>
          </a:p>
          <a:p>
            <a:r>
              <a:t>Preview Module 11: Automation and DevOps builds directly on today's decisions — CI/CD pipelines target specific workspaces on specific capacities, and XMLA read/write is the enabler for the semantic-model-as-code pattern they'll practice next.</a:t>
            </a:r>
          </a:p>
          <a:p>
            <a:r>
              <a:t>Take final questions, especially on the Commercial-focused / Verify for Gov items — those are the most likely source of lingering confusion, and getting them right up front pays off through the rest of the workshop.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10</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Premium, Fabric, and Capacity-Aware Architecture</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Choosing between Pro, PPU, Premium capacity, and Fabric capacity — and designing Gov-safe fallbacks for XMLA, paginated reports, Direct Lake, OneLake, and capacity metrics.</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10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Capacity-aware architecture</a:t>
            </a:r>
          </a:p>
        </p:txBody>
      </p:sp>
      <p:sp>
        <p:nvSpPr>
          <p:cNvPr id="9" name="Rectangle 8"/>
          <p:cNvSpPr/>
          <p:nvPr/>
        </p:nvSpPr>
        <p:spPr>
          <a:xfrm>
            <a:off x="64008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Licensing and capacity options</a:t>
            </a:r>
          </a:p>
        </p:txBody>
      </p:sp>
      <p:sp>
        <p:nvSpPr>
          <p:cNvPr id="12" name="Rectangle 11"/>
          <p:cNvSpPr/>
          <p:nvPr/>
        </p:nvSpPr>
        <p:spPr>
          <a:xfrm>
            <a:off x="64008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Large semantic models</a:t>
            </a:r>
          </a:p>
        </p:txBody>
      </p:sp>
      <p:sp>
        <p:nvSpPr>
          <p:cNvPr id="15" name="Rectangle 14"/>
          <p:cNvSpPr/>
          <p:nvPr/>
        </p:nvSpPr>
        <p:spPr>
          <a:xfrm>
            <a:off x="64008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XMLA endpoint</a:t>
            </a:r>
          </a:p>
        </p:txBody>
      </p:sp>
      <p:sp>
        <p:nvSpPr>
          <p:cNvPr id="18" name="Rectangle 17"/>
          <p:cNvSpPr/>
          <p:nvPr/>
        </p:nvSpPr>
        <p:spPr>
          <a:xfrm>
            <a:off x="64008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Paginated reports</a:t>
            </a:r>
          </a:p>
        </p:txBody>
      </p:sp>
      <p:sp>
        <p:nvSpPr>
          <p:cNvPr id="21" name="Rectangle 20"/>
          <p:cNvSpPr/>
          <p:nvPr/>
        </p:nvSpPr>
        <p:spPr>
          <a:xfrm>
            <a:off x="64008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117043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Fabric capacity</a:t>
            </a:r>
          </a:p>
        </p:txBody>
      </p:sp>
      <p:sp>
        <p:nvSpPr>
          <p:cNvPr id="24" name="Rectangle 23"/>
          <p:cNvSpPr/>
          <p:nvPr/>
        </p:nvSpPr>
        <p:spPr>
          <a:xfrm>
            <a:off x="64008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117043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Direct Lake</a:t>
            </a:r>
          </a:p>
        </p:txBody>
      </p:sp>
      <p:sp>
        <p:nvSpPr>
          <p:cNvPr id="27" name="Rectangle 26"/>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OneLake, Lakehouse, and Warehouse</a:t>
            </a:r>
          </a:p>
        </p:txBody>
      </p:sp>
      <p:sp>
        <p:nvSpPr>
          <p:cNvPr id="30" name="Rectangle 29"/>
          <p:cNvSpPr/>
          <p:nvPr/>
        </p:nvSpPr>
        <p:spPr>
          <a:xfrm>
            <a:off x="630936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Semantic Link</a:t>
            </a:r>
          </a:p>
        </p:txBody>
      </p:sp>
      <p:sp>
        <p:nvSpPr>
          <p:cNvPr id="33" name="Rectangle 32"/>
          <p:cNvSpPr/>
          <p:nvPr/>
        </p:nvSpPr>
        <p:spPr>
          <a:xfrm>
            <a:off x="630936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Capacity metrics and throttling</a:t>
            </a:r>
          </a:p>
        </p:txBody>
      </p:sp>
      <p:sp>
        <p:nvSpPr>
          <p:cNvPr id="36" name="Rectangle 35"/>
          <p:cNvSpPr/>
          <p:nvPr/>
        </p:nvSpPr>
        <p:spPr>
          <a:xfrm>
            <a:off x="630936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11</a:t>
            </a:r>
          </a:p>
        </p:txBody>
      </p:sp>
      <p:sp>
        <p:nvSpPr>
          <p:cNvPr id="38" name="TextBox 37"/>
          <p:cNvSpPr txBox="1"/>
          <p:nvPr/>
        </p:nvSpPr>
        <p:spPr>
          <a:xfrm>
            <a:off x="683971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Azure Government considerations</a:t>
            </a:r>
          </a:p>
        </p:txBody>
      </p:sp>
      <p:sp>
        <p:nvSpPr>
          <p:cNvPr id="39" name="Rectangle 38"/>
          <p:cNvSpPr/>
          <p:nvPr/>
        </p:nvSpPr>
        <p:spPr>
          <a:xfrm>
            <a:off x="630936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12</a:t>
            </a:r>
          </a:p>
        </p:txBody>
      </p:sp>
      <p:sp>
        <p:nvSpPr>
          <p:cNvPr id="41" name="TextBox 40"/>
          <p:cNvSpPr txBox="1"/>
          <p:nvPr/>
        </p:nvSpPr>
        <p:spPr>
          <a:xfrm>
            <a:off x="683971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Architecture decision review</a:t>
            </a:r>
          </a:p>
        </p:txBody>
      </p:sp>
      <p:sp>
        <p:nvSpPr>
          <p:cNvPr id="42" name="Rectangle 41"/>
          <p:cNvSpPr/>
          <p:nvPr/>
        </p:nvSpPr>
        <p:spPr>
          <a:xfrm>
            <a:off x="630936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13</a:t>
            </a:r>
          </a:p>
        </p:txBody>
      </p:sp>
      <p:sp>
        <p:nvSpPr>
          <p:cNvPr id="44" name="TextBox 43"/>
          <p:cNvSpPr txBox="1"/>
          <p:nvPr/>
        </p:nvSpPr>
        <p:spPr>
          <a:xfrm>
            <a:off x="683971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Module lab walkthrough</a:t>
            </a:r>
          </a:p>
        </p:txBody>
      </p:sp>
      <p:sp>
        <p:nvSpPr>
          <p:cNvPr id="45" name="Rectangle 44"/>
          <p:cNvSpPr/>
          <p:nvPr/>
        </p:nvSpPr>
        <p:spPr>
          <a:xfrm>
            <a:off x="630936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14</a:t>
            </a:r>
          </a:p>
        </p:txBody>
      </p:sp>
      <p:sp>
        <p:nvSpPr>
          <p:cNvPr id="47" name="TextBox 46"/>
          <p:cNvSpPr txBox="1"/>
          <p:nvPr/>
        </p:nvSpPr>
        <p:spPr>
          <a:xfrm>
            <a:off x="683971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Knowledge check and discussion</a:t>
            </a:r>
          </a:p>
        </p:txBody>
      </p:sp>
      <p:sp>
        <p:nvSpPr>
          <p:cNvPr id="48" name="TextBox 4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Capacity-Aware Architecture</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Start every architecture conversation from six requirement axes: user scale (viewers + authors), data size (per model, per workspace), refresh needs (frequency + duration), query performance (latency SLOs), governance (certification, sharing, sovereignty), and cloud availability (Commercial vs. Government).</a:t>
            </a:r>
          </a:p>
          <a:p>
            <a:pPr>
              <a:lnSpc>
                <a:spcPct val="105000"/>
              </a:lnSpc>
              <a:spcAft>
                <a:spcPts val="1000"/>
              </a:spcAft>
              <a:buClr>
                <a:srgbClr val="1E2761"/>
              </a:buClr>
              <a:buFont typeface="Arial"/>
              <a:buChar char="•"/>
            </a:pPr>
            <a:r>
              <a:rPr sz="1450">
                <a:solidFill>
                  <a:srgbClr val="1F2328"/>
                </a:solidFill>
                <a:latin typeface="Calibri"/>
              </a:rPr>
              <a:t>Only after those are captured do you map to a license/capacity SKU — Pro, PPU, Premium capacity (P/EM), or Fabric capacity (F).</a:t>
            </a:r>
          </a:p>
          <a:p>
            <a:pPr>
              <a:lnSpc>
                <a:spcPct val="105000"/>
              </a:lnSpc>
              <a:spcAft>
                <a:spcPts val="1000"/>
              </a:spcAft>
              <a:buClr>
                <a:srgbClr val="1E2761"/>
              </a:buClr>
              <a:buFont typeface="Arial"/>
              <a:buChar char="•"/>
            </a:pPr>
            <a:r>
              <a:rPr sz="1450">
                <a:solidFill>
                  <a:srgbClr val="1F2328"/>
                </a:solidFill>
                <a:latin typeface="Calibri"/>
              </a:rPr>
              <a:t>Every 'nice-to-have' Premium/Fabric feature (XMLA, paginated, Direct Lake, OneLake) has a matching Gov-safe fallback that must be identified before the design is signed off.</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Skipping requirements leads to buying capacity for the wrong bottleneck — e.g. paying for an F64 when the real problem was a slow refresh that would have been solved by incremental refresh on a Pro workspace.</a:t>
            </a:r>
          </a:p>
          <a:p>
            <a:pPr>
              <a:lnSpc>
                <a:spcPct val="105000"/>
              </a:lnSpc>
              <a:spcAft>
                <a:spcPts val="1000"/>
              </a:spcAft>
              <a:buClr>
                <a:srgbClr val="E8B44A"/>
              </a:buClr>
              <a:buFont typeface="Arial"/>
              <a:buChar char="•"/>
            </a:pPr>
            <a:r>
              <a:rPr sz="1450">
                <a:solidFill>
                  <a:srgbClr val="1F2328"/>
                </a:solidFill>
                <a:latin typeface="Calibri"/>
              </a:rPr>
              <a:t>Cloud availability is not a footnote in Gov engagements; it can eliminate Fabric-only options entirely, which changes the entire recommendation.</a:t>
            </a:r>
          </a:p>
          <a:p>
            <a:pPr>
              <a:lnSpc>
                <a:spcPct val="105000"/>
              </a:lnSpc>
              <a:spcAft>
                <a:spcPts val="1000"/>
              </a:spcAft>
              <a:buClr>
                <a:srgbClr val="E8B44A"/>
              </a:buClr>
              <a:buFont typeface="Arial"/>
              <a:buChar char="•"/>
            </a:pPr>
            <a:r>
              <a:rPr sz="1450">
                <a:solidFill>
                  <a:srgbClr val="1F2328"/>
                </a:solidFill>
                <a:latin typeface="Calibri"/>
              </a:rPr>
              <a:t>Naming the fallback up front avoids painful redesigns when a feature turns out not to be available in the target tenant.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walks students through exactly these six requirement axes for a defined workload scenario.</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Licensing and Capacity Options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011680"/>
                <a:gridCol w="2377440"/>
                <a:gridCol w="4937760"/>
                <a:gridCol w="1554480"/>
              </a:tblGrid>
              <a:tr h="777240">
                <a:tc>
                  <a:txBody>
                    <a:bodyPr/>
                    <a:lstStyle/>
                    <a:p>
                      <a:pPr algn="l"/>
                      <a:r>
                        <a:rPr b="1" sz="1250">
                          <a:solidFill>
                            <a:srgbClr val="FFFFFF"/>
                          </a:solidFill>
                          <a:latin typeface="Calibri"/>
                        </a:rPr>
                        <a:t>Option</a:t>
                      </a:r>
                    </a:p>
                  </a:txBody>
                  <a:tcPr>
                    <a:solidFill>
                      <a:srgbClr val="1E2761"/>
                    </a:solidFill>
                  </a:tcPr>
                </a:tc>
                <a:tc>
                  <a:txBody>
                    <a:bodyPr/>
                    <a:lstStyle/>
                    <a:p>
                      <a:pPr algn="l"/>
                      <a:r>
                        <a:rPr b="1" sz="1250">
                          <a:solidFill>
                            <a:srgbClr val="FFFFFF"/>
                          </a:solidFill>
                          <a:latin typeface="Calibri"/>
                        </a:rPr>
                        <a:t>Sharing model</a:t>
                      </a:r>
                    </a:p>
                  </a:txBody>
                  <a:tcPr>
                    <a:solidFill>
                      <a:srgbClr val="1E2761"/>
                    </a:solidFill>
                  </a:tcPr>
                </a:tc>
                <a:tc>
                  <a:txBody>
                    <a:bodyPr/>
                    <a:lstStyle/>
                    <a:p>
                      <a:pPr algn="l"/>
                      <a:r>
                        <a:rPr b="1" sz="1250">
                          <a:solidFill>
                            <a:srgbClr val="FFFFFF"/>
                          </a:solidFill>
                          <a:latin typeface="Calibri"/>
                        </a:rPr>
                        <a:t>Key features &amp; limits</a:t>
                      </a:r>
                    </a:p>
                  </a:txBody>
                  <a:tcPr>
                    <a:solidFill>
                      <a:srgbClr val="1E2761"/>
                    </a:solidFill>
                  </a:tcPr>
                </a:tc>
                <a:tc>
                  <a:txBody>
                    <a:bodyPr/>
                    <a:lstStyle/>
                    <a:p>
                      <a:pPr algn="l"/>
                      <a:r>
                        <a:rPr b="1" sz="1250">
                          <a:solidFill>
                            <a:srgbClr val="FFFFFF"/>
                          </a:solidFill>
                          <a:latin typeface="Calibri"/>
                        </a:rPr>
                        <a:t>Gov status</a:t>
                      </a:r>
                    </a:p>
                  </a:txBody>
                  <a:tcPr>
                    <a:solidFill>
                      <a:srgbClr val="1E2761"/>
                    </a:solidFill>
                  </a:tcPr>
                </a:tc>
              </a:tr>
              <a:tr h="777240">
                <a:tc>
                  <a:txBody>
                    <a:bodyPr/>
                    <a:lstStyle/>
                    <a:p>
                      <a:r>
                        <a:rPr sz="1150">
                          <a:solidFill>
                            <a:srgbClr val="1F2328"/>
                          </a:solidFill>
                          <a:latin typeface="Calibri"/>
                        </a:rPr>
                        <a:t>Power BI Pro</a:t>
                      </a:r>
                    </a:p>
                  </a:txBody>
                  <a:tcPr>
                    <a:solidFill>
                      <a:srgbClr val="FFFFFF"/>
                    </a:solidFill>
                  </a:tcPr>
                </a:tc>
                <a:tc>
                  <a:txBody>
                    <a:bodyPr/>
                    <a:lstStyle/>
                    <a:p>
                      <a:r>
                        <a:rPr sz="1150">
                          <a:solidFill>
                            <a:srgbClr val="1F2328"/>
                          </a:solidFill>
                          <a:latin typeface="Calibri"/>
                        </a:rPr>
                        <a:t>Every viewer needs a Pro license</a:t>
                      </a:r>
                    </a:p>
                  </a:txBody>
                  <a:tcPr>
                    <a:solidFill>
                      <a:srgbClr val="FFFFFF"/>
                    </a:solidFill>
                  </a:tcPr>
                </a:tc>
                <a:tc>
                  <a:txBody>
                    <a:bodyPr/>
                    <a:lstStyle/>
                    <a:p>
                      <a:r>
                        <a:rPr sz="1150">
                          <a:solidFill>
                            <a:srgbClr val="1F2328"/>
                          </a:solidFill>
                          <a:latin typeface="Calibri"/>
                        </a:rPr>
                        <a:t>Shared capacity. Semantic model ≤ 1 GB, 8 scheduled refreshes/day. No XMLA write, no paginated, no large models.</a:t>
                      </a:r>
                    </a:p>
                  </a:txBody>
                  <a:tcPr>
                    <a:solidFill>
                      <a:srgbClr val="FFFFFF"/>
                    </a:solidFill>
                  </a:tcPr>
                </a:tc>
                <a:tc>
                  <a:txBody>
                    <a:bodyPr/>
                    <a:lstStyle/>
                    <a:p>
                      <a:r>
                        <a:rPr sz="1150">
                          <a:solidFill>
                            <a:srgbClr val="1F2328"/>
                          </a:solidFill>
                          <a:latin typeface="Calibri"/>
                        </a:rPr>
                        <a:t>Available</a:t>
                      </a:r>
                    </a:p>
                  </a:txBody>
                  <a:tcPr>
                    <a:solidFill>
                      <a:srgbClr val="FFFFFF"/>
                    </a:solidFill>
                  </a:tcPr>
                </a:tc>
              </a:tr>
              <a:tr h="777240">
                <a:tc>
                  <a:txBody>
                    <a:bodyPr/>
                    <a:lstStyle/>
                    <a:p>
                      <a:r>
                        <a:rPr sz="1150">
                          <a:solidFill>
                            <a:srgbClr val="1F2328"/>
                          </a:solidFill>
                          <a:latin typeface="Calibri"/>
                        </a:rPr>
                        <a:t>Premium Per User (PPU)</a:t>
                      </a:r>
                    </a:p>
                  </a:txBody>
                  <a:tcPr>
                    <a:solidFill>
                      <a:srgbClr val="F6F8FC"/>
                    </a:solidFill>
                  </a:tcPr>
                </a:tc>
                <a:tc>
                  <a:txBody>
                    <a:bodyPr/>
                    <a:lstStyle/>
                    <a:p>
                      <a:r>
                        <a:rPr sz="1150">
                          <a:solidFill>
                            <a:srgbClr val="1F2328"/>
                          </a:solidFill>
                          <a:latin typeface="Calibri"/>
                        </a:rPr>
                        <a:t>Every viewer needs a PPU license</a:t>
                      </a:r>
                    </a:p>
                  </a:txBody>
                  <a:tcPr>
                    <a:solidFill>
                      <a:srgbClr val="F6F8FC"/>
                    </a:solidFill>
                  </a:tcPr>
                </a:tc>
                <a:tc>
                  <a:txBody>
                    <a:bodyPr/>
                    <a:lstStyle/>
                    <a:p>
                      <a:r>
                        <a:rPr sz="1150">
                          <a:solidFill>
                            <a:srgbClr val="1F2328"/>
                          </a:solidFill>
                          <a:latin typeface="Calibri"/>
                        </a:rPr>
                        <a:t>Premium features (XMLA r/w, paginated, deployment pipelines, large models with tenant setting) at per-user scale.</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r>
              <a:tr h="777240">
                <a:tc>
                  <a:txBody>
                    <a:bodyPr/>
                    <a:lstStyle/>
                    <a:p>
                      <a:r>
                        <a:rPr sz="1150">
                          <a:solidFill>
                            <a:srgbClr val="1F2328"/>
                          </a:solidFill>
                          <a:latin typeface="Calibri"/>
                        </a:rPr>
                        <a:t>Premium capacity (P / EM SKUs)</a:t>
                      </a:r>
                    </a:p>
                  </a:txBody>
                  <a:tcPr>
                    <a:solidFill>
                      <a:srgbClr val="FFFFFF"/>
                    </a:solidFill>
                  </a:tcPr>
                </a:tc>
                <a:tc>
                  <a:txBody>
                    <a:bodyPr/>
                    <a:lstStyle/>
                    <a:p>
                      <a:r>
                        <a:rPr sz="1150">
                          <a:solidFill>
                            <a:srgbClr val="1F2328"/>
                          </a:solidFill>
                          <a:latin typeface="Calibri"/>
                        </a:rPr>
                        <a:t>Free viewers with Pro authors (P SKUs)</a:t>
                      </a:r>
                    </a:p>
                  </a:txBody>
                  <a:tcPr>
                    <a:solidFill>
                      <a:srgbClr val="FFFFFF"/>
                    </a:solidFill>
                  </a:tcPr>
                </a:tc>
                <a:tc>
                  <a:txBody>
                    <a:bodyPr/>
                    <a:lstStyle/>
                    <a:p>
                      <a:r>
                        <a:rPr sz="1150">
                          <a:solidFill>
                            <a:srgbClr val="1F2328"/>
                          </a:solidFill>
                          <a:latin typeface="Calibri"/>
                        </a:rPr>
                        <a:t>Reserved v-cores. P1=25 GB model, P5=400 GB. Adds XMLA r/w, paginated, large models, deployment pipelines, autoscale add-on.</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r>
              <a:tr h="777240">
                <a:tc>
                  <a:txBody>
                    <a:bodyPr/>
                    <a:lstStyle/>
                    <a:p>
                      <a:r>
                        <a:rPr sz="1150">
                          <a:solidFill>
                            <a:srgbClr val="1F2328"/>
                          </a:solidFill>
                          <a:latin typeface="Calibri"/>
                        </a:rPr>
                        <a:t>Fabric capacity (F SKUs)</a:t>
                      </a:r>
                    </a:p>
                  </a:txBody>
                  <a:tcPr>
                    <a:solidFill>
                      <a:srgbClr val="F6F8FC"/>
                    </a:solidFill>
                  </a:tcPr>
                </a:tc>
                <a:tc>
                  <a:txBody>
                    <a:bodyPr/>
                    <a:lstStyle/>
                    <a:p>
                      <a:r>
                        <a:rPr sz="1150">
                          <a:solidFill>
                            <a:srgbClr val="1F2328"/>
                          </a:solidFill>
                          <a:latin typeface="Calibri"/>
                        </a:rPr>
                        <a:t>F64+ gives free Power BI viewer sharing</a:t>
                      </a:r>
                    </a:p>
                  </a:txBody>
                  <a:tcPr>
                    <a:solidFill>
                      <a:srgbClr val="F6F8FC"/>
                    </a:solidFill>
                  </a:tcPr>
                </a:tc>
                <a:tc>
                  <a:txBody>
                    <a:bodyPr/>
                    <a:lstStyle/>
                    <a:p>
                      <a:r>
                        <a:rPr sz="1150">
                          <a:solidFill>
                            <a:srgbClr val="1F2328"/>
                          </a:solidFill>
                          <a:latin typeface="Calibri"/>
                        </a:rPr>
                        <a:t>Pay-as-you-go or reserved CUs. F2-F2048. Unlocks OneLake, Lakehouse/Warehouse, Direct Lake, notebooks, Semantic Link, and all Premium features.</a:t>
                      </a:r>
                    </a:p>
                  </a:txBody>
                  <a:tcPr>
                    <a:solidFill>
                      <a:srgbClr val="F6F8FC"/>
                    </a:solidFill>
                  </a:tcPr>
                </a:tc>
                <a:tc>
                  <a:txBody>
                    <a:bodyPr/>
                    <a:lstStyle/>
                    <a:p>
                      <a:r>
                        <a:rPr sz="1150">
                          <a:solidFill>
                            <a:srgbClr val="1F2328"/>
                          </a:solidFill>
                          <a:latin typeface="Calibri"/>
                        </a:rPr>
                        <a:t>Commercial-focused</a:t>
                      </a:r>
                    </a:p>
                  </a:txBody>
                  <a:tcPr>
                    <a:solidFill>
                      <a:srgbClr val="F6F8FC"/>
                    </a:solidFill>
                  </a:tcPr>
                </a:tc>
              </a:tr>
              <a:tr h="777240">
                <a:tc>
                  <a:txBody>
                    <a:bodyPr/>
                    <a:lstStyle/>
                    <a:p>
                      <a:r>
                        <a:rPr sz="1150">
                          <a:solidFill>
                            <a:srgbClr val="1F2328"/>
                          </a:solidFill>
                          <a:latin typeface="Calibri"/>
                        </a:rPr>
                        <a:t>Embedded (A SKUs)</a:t>
                      </a:r>
                    </a:p>
                  </a:txBody>
                  <a:tcPr>
                    <a:solidFill>
                      <a:srgbClr val="FFFFFF"/>
                    </a:solidFill>
                  </a:tcPr>
                </a:tc>
                <a:tc>
                  <a:txBody>
                    <a:bodyPr/>
                    <a:lstStyle/>
                    <a:p>
                      <a:r>
                        <a:rPr sz="1150">
                          <a:solidFill>
                            <a:srgbClr val="1F2328"/>
                          </a:solidFill>
                          <a:latin typeface="Calibri"/>
                        </a:rPr>
                        <a:t>For ISV / embedded scenarios</a:t>
                      </a:r>
                    </a:p>
                  </a:txBody>
                  <a:tcPr>
                    <a:solidFill>
                      <a:srgbClr val="FFFFFF"/>
                    </a:solidFill>
                  </a:tcPr>
                </a:tc>
                <a:tc>
                  <a:txBody>
                    <a:bodyPr/>
                    <a:lstStyle/>
                    <a:p>
                      <a:r>
                        <a:rPr sz="1150">
                          <a:solidFill>
                            <a:srgbClr val="1F2328"/>
                          </a:solidFill>
                          <a:latin typeface="Calibri"/>
                        </a:rPr>
                        <a:t>Pay-as-you-go equivalent to P SKUs. Consumed by app users, not signed-in Power BI users.</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asks learners to pick an option per scenario and record required Gov validations.</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Large Semantic Models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'Large semantic model storage format' is a workspace + model toggle that lifts the 1 GB / 10 GB model-size cap for a Premium or PPU-backed workspace, subject to the SKU's memory limit (P1 = 25 GB, P3 = 100 GB, P5 = 400 GB; F SKUs scale similarly).</a:t>
            </a:r>
          </a:p>
          <a:p>
            <a:pPr>
              <a:lnSpc>
                <a:spcPct val="105000"/>
              </a:lnSpc>
              <a:spcAft>
                <a:spcPts val="1000"/>
              </a:spcAft>
              <a:buClr>
                <a:srgbClr val="1E2761"/>
              </a:buClr>
              <a:buFont typeface="Arial"/>
              <a:buChar char="•"/>
            </a:pPr>
            <a:r>
              <a:rPr sz="1450">
                <a:solidFill>
                  <a:srgbClr val="1F2328"/>
                </a:solidFill>
                <a:latin typeface="Calibri"/>
              </a:rPr>
              <a:t>It requires: (1) Premium capacity or PPU, (2) tenant setting 'Large semantic model storage format' enabled, and (3) the workspace storage format switched from small to large.</a:t>
            </a:r>
          </a:p>
          <a:p>
            <a:pPr>
              <a:lnSpc>
                <a:spcPct val="105000"/>
              </a:lnSpc>
              <a:spcAft>
                <a:spcPts val="1000"/>
              </a:spcAft>
              <a:buClr>
                <a:srgbClr val="1E2761"/>
              </a:buClr>
              <a:buFont typeface="Arial"/>
              <a:buChar char="•"/>
            </a:pPr>
            <a:r>
              <a:rPr sz="1450">
                <a:solidFill>
                  <a:srgbClr val="1F2328"/>
                </a:solidFill>
                <a:latin typeface="Calibri"/>
              </a:rPr>
              <a:t>Memory pressure matters more than raw file size: refresh needs ≈ 2× model size in RAM, so a 30 GB model on P1 (25 GB) will fail to refresh even though the file 'fits'.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Without this setting, models silently cap at 1 GB — authors notice only when refresh starts failing with an 'exceeds the available memory' error.</a:t>
            </a:r>
          </a:p>
          <a:p>
            <a:pPr>
              <a:lnSpc>
                <a:spcPct val="105000"/>
              </a:lnSpc>
              <a:spcAft>
                <a:spcPts val="1000"/>
              </a:spcAft>
              <a:buClr>
                <a:srgbClr val="E8B44A"/>
              </a:buClr>
              <a:buFont typeface="Arial"/>
              <a:buChar char="•"/>
            </a:pPr>
            <a:r>
              <a:rPr sz="1450">
                <a:solidFill>
                  <a:srgbClr val="1F2328"/>
                </a:solidFill>
                <a:latin typeface="Calibri"/>
              </a:rPr>
              <a:t>The setting is the prerequisite for enterprise semantic models (hundreds of GB, hundreds of measures) that many reports share.</a:t>
            </a:r>
          </a:p>
          <a:p>
            <a:pPr>
              <a:lnSpc>
                <a:spcPct val="105000"/>
              </a:lnSpc>
              <a:spcAft>
                <a:spcPts val="1000"/>
              </a:spcAft>
              <a:buClr>
                <a:srgbClr val="E8B44A"/>
              </a:buClr>
              <a:buFont typeface="Arial"/>
              <a:buChar char="•"/>
            </a:pPr>
            <a:r>
              <a:rPr sz="1450">
                <a:solidFill>
                  <a:srgbClr val="1F2328"/>
                </a:solidFill>
                <a:latin typeface="Calibri"/>
              </a:rPr>
              <a:t>Sizing capacity by model size alone is a common mistake; the instructor should always frame it as 'peak refresh memory', not 'file size'.</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4 (where available) has learners inspect the workspace + semantic model settings and document model-size and refresh-memory constraints.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XMLA Endpoint</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The XMLA endpoint exposes the workspace's semantic models over the Analysis Services protocol. Read-only is on by default for Premium/PPU/F; read/write is admin-toggled per capacity.</a:t>
            </a:r>
          </a:p>
          <a:p>
            <a:pPr>
              <a:lnSpc>
                <a:spcPct val="105000"/>
              </a:lnSpc>
              <a:spcAft>
                <a:spcPts val="1000"/>
              </a:spcAft>
              <a:buClr>
                <a:srgbClr val="1E2761"/>
              </a:buClr>
              <a:buFont typeface="Arial"/>
              <a:buChar char="•"/>
            </a:pPr>
            <a:r>
              <a:rPr sz="1450">
                <a:solidFill>
                  <a:srgbClr val="1F2328"/>
                </a:solidFill>
                <a:latin typeface="Calibri"/>
              </a:rPr>
              <a:t>Read/write unlocks external-tool workflows: Tabular Editor (bulk measure edits, calculation groups, best-practice analyzer), DAX Studio (server-side query traces), SSMS (scripted deployment), and ALM Toolkit (schema diffs).</a:t>
            </a:r>
          </a:p>
          <a:p>
            <a:pPr>
              <a:lnSpc>
                <a:spcPct val="105000"/>
              </a:lnSpc>
              <a:spcAft>
                <a:spcPts val="1000"/>
              </a:spcAft>
              <a:buClr>
                <a:srgbClr val="1E2761"/>
              </a:buClr>
              <a:buFont typeface="Arial"/>
              <a:buChar char="•"/>
            </a:pPr>
            <a:r>
              <a:rPr sz="1450">
                <a:solidFill>
                  <a:srgbClr val="1F2328"/>
                </a:solidFill>
                <a:latin typeface="Calibri"/>
              </a:rPr>
              <a:t>ALM patterns become possible: deploy semantic model changes from source control via TMDL/BIM scripts, run partitioned refreshes, and script role membership — all without opening Desktop.</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It's the bridge between 'Power BI as an app' and 'Power BI as an enterprise BI platform under source control'.</a:t>
            </a:r>
          </a:p>
          <a:p>
            <a:pPr>
              <a:lnSpc>
                <a:spcPct val="105000"/>
              </a:lnSpc>
              <a:spcAft>
                <a:spcPts val="1000"/>
              </a:spcAft>
              <a:buClr>
                <a:srgbClr val="E8B44A"/>
              </a:buClr>
              <a:buFont typeface="Arial"/>
              <a:buChar char="•"/>
            </a:pPr>
            <a:r>
              <a:rPr sz="1450">
                <a:solidFill>
                  <a:srgbClr val="1F2328"/>
                </a:solidFill>
                <a:latin typeface="Calibri"/>
              </a:rPr>
              <a:t>Without XMLA, changes are gated by opening the PBIX in Desktop — which does not scale for enterprise models with dozens of authors or CI/CD pipelines.</a:t>
            </a:r>
          </a:p>
          <a:p>
            <a:pPr>
              <a:lnSpc>
                <a:spcPct val="105000"/>
              </a:lnSpc>
              <a:spcAft>
                <a:spcPts val="1000"/>
              </a:spcAft>
              <a:buClr>
                <a:srgbClr val="E8B44A"/>
              </a:buClr>
              <a:buFont typeface="Arial"/>
              <a:buChar char="•"/>
            </a:pPr>
            <a:r>
              <a:rPr sz="1450">
                <a:solidFill>
                  <a:srgbClr val="1F2328"/>
                </a:solidFill>
                <a:latin typeface="Calibri"/>
              </a:rPr>
              <a:t>It is also the enabler for partitioned refresh strategies that aren't expressible in the Desktop UI, e.g. refreshing a single year-partition of a 10-year fact table.</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2 (where available) has learners confirm the endpoint, connect with an approved tool, and document allowed read/write operations — or take the conceptual alternate path.</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Paginated Reports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Paginated reports are the pixel-perfect, print-oriented reporting surface built on the SSRS/RDL engine — authored in Power BI Report Builder (a separate free tool), not in Desktop.</a:t>
            </a:r>
          </a:p>
          <a:p>
            <a:pPr>
              <a:lnSpc>
                <a:spcPct val="105000"/>
              </a:lnSpc>
              <a:spcAft>
                <a:spcPts val="1000"/>
              </a:spcAft>
              <a:buClr>
                <a:srgbClr val="1E2761"/>
              </a:buClr>
              <a:buFont typeface="Arial"/>
              <a:buChar char="•"/>
            </a:pPr>
            <a:r>
              <a:rPr sz="1450">
                <a:solidFill>
                  <a:srgbClr val="1F2328"/>
                </a:solidFill>
                <a:latin typeface="Calibri"/>
              </a:rPr>
              <a:t>They shine for operational scenarios: invoices, purchase orders, regulatory filings, statement runs — anything that must land on an exact page with headers, footers, page numbers, and precise column alignment.</a:t>
            </a:r>
          </a:p>
          <a:p>
            <a:pPr>
              <a:lnSpc>
                <a:spcPct val="105000"/>
              </a:lnSpc>
              <a:spcAft>
                <a:spcPts val="1000"/>
              </a:spcAft>
              <a:buClr>
                <a:srgbClr val="1E2761"/>
              </a:buClr>
              <a:buFont typeface="Arial"/>
              <a:buChar char="•"/>
            </a:pPr>
            <a:r>
              <a:rPr sz="1450">
                <a:solidFill>
                  <a:srgbClr val="1F2328"/>
                </a:solidFill>
                <a:latin typeface="Calibri"/>
              </a:rPr>
              <a:t>They support parameterization, subscriptions, and export to PDF, Excel (native cell alignment), Word, CSV, and image formats — with much larger data volumes than interactive reports.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Interactive Power BI reports are terrible at print and at 1,000-row exports. Paginated is the right tool for both.</a:t>
            </a:r>
          </a:p>
          <a:p>
            <a:pPr>
              <a:lnSpc>
                <a:spcPct val="105000"/>
              </a:lnSpc>
              <a:spcAft>
                <a:spcPts val="1000"/>
              </a:spcAft>
              <a:buClr>
                <a:srgbClr val="E8B44A"/>
              </a:buClr>
              <a:buFont typeface="Arial"/>
              <a:buChar char="•"/>
            </a:pPr>
            <a:r>
              <a:rPr sz="1450">
                <a:solidFill>
                  <a:srgbClr val="1F2328"/>
                </a:solidFill>
                <a:latin typeface="Calibri"/>
              </a:rPr>
              <a:t>Regulated industries frequently have 'must produce this exact PDF layout' requirements that only paginated can meet.</a:t>
            </a:r>
          </a:p>
          <a:p>
            <a:pPr>
              <a:lnSpc>
                <a:spcPct val="105000"/>
              </a:lnSpc>
              <a:spcAft>
                <a:spcPts val="1000"/>
              </a:spcAft>
              <a:buClr>
                <a:srgbClr val="E8B44A"/>
              </a:buClr>
              <a:buFont typeface="Arial"/>
              <a:buChar char="•"/>
            </a:pPr>
            <a:r>
              <a:rPr sz="1450">
                <a:solidFill>
                  <a:srgbClr val="1F2328"/>
                </a:solidFill>
                <a:latin typeface="Calibri"/>
              </a:rPr>
              <a:t>They can be surfaced side-by-side with interactive reports in the same workspace, so users don't need a separate portal.</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3 (where available) walks through opening/creating a simple paginated report with a table and a parameter, or the conceptual alternate: when paginated beats interactive.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Fabric Capacity</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377440"/>
                <a:gridCol w="4937760"/>
                <a:gridCol w="3566160"/>
              </a:tblGrid>
              <a:tr h="666205">
                <a:tc>
                  <a:txBody>
                    <a:bodyPr/>
                    <a:lstStyle/>
                    <a:p>
                      <a:pPr algn="l"/>
                      <a:r>
                        <a:rPr b="1" sz="1250">
                          <a:solidFill>
                            <a:srgbClr val="FFFFFF"/>
                          </a:solidFill>
                          <a:latin typeface="Calibri"/>
                        </a:rPr>
                        <a:t>Concept</a:t>
                      </a:r>
                    </a:p>
                  </a:txBody>
                  <a:tcPr>
                    <a:solidFill>
                      <a:srgbClr val="1E2761"/>
                    </a:solidFill>
                  </a:tcPr>
                </a:tc>
                <a:tc>
                  <a:txBody>
                    <a:bodyPr/>
                    <a:lstStyle/>
                    <a:p>
                      <a:pPr algn="l"/>
                      <a:r>
                        <a:rPr b="1" sz="1250">
                          <a:solidFill>
                            <a:srgbClr val="FFFFFF"/>
                          </a:solidFill>
                          <a:latin typeface="Calibri"/>
                        </a:rPr>
                        <a:t>What it is</a:t>
                      </a:r>
                    </a:p>
                  </a:txBody>
                  <a:tcPr>
                    <a:solidFill>
                      <a:srgbClr val="1E2761"/>
                    </a:solidFill>
                  </a:tcPr>
                </a:tc>
                <a:tc>
                  <a:txBody>
                    <a:bodyPr/>
                    <a:lstStyle/>
                    <a:p>
                      <a:pPr algn="l"/>
                      <a:r>
                        <a:rPr b="1" sz="1250">
                          <a:solidFill>
                            <a:srgbClr val="FFFFFF"/>
                          </a:solidFill>
                          <a:latin typeface="Calibri"/>
                        </a:rPr>
                        <a:t>Instructor talking point</a:t>
                      </a:r>
                    </a:p>
                  </a:txBody>
                  <a:tcPr>
                    <a:solidFill>
                      <a:srgbClr val="1E2761"/>
                    </a:solidFill>
                  </a:tcPr>
                </a:tc>
              </a:tr>
              <a:tr h="666205">
                <a:tc>
                  <a:txBody>
                    <a:bodyPr/>
                    <a:lstStyle/>
                    <a:p>
                      <a:r>
                        <a:rPr sz="1150">
                          <a:solidFill>
                            <a:srgbClr val="1F2328"/>
                          </a:solidFill>
                          <a:latin typeface="Calibri"/>
                        </a:rPr>
                        <a:t>Capacity Unit (CU)</a:t>
                      </a:r>
                    </a:p>
                  </a:txBody>
                  <a:tcPr>
                    <a:solidFill>
                      <a:srgbClr val="FFFFFF"/>
                    </a:solidFill>
                  </a:tcPr>
                </a:tc>
                <a:tc>
                  <a:txBody>
                    <a:bodyPr/>
                    <a:lstStyle/>
                    <a:p>
                      <a:r>
                        <a:rPr sz="1150">
                          <a:solidFill>
                            <a:srgbClr val="1F2328"/>
                          </a:solidFill>
                          <a:latin typeface="Calibri"/>
                        </a:rPr>
                        <a:t>The single meter across every Fabric workload — Power BI queries/refreshes, Spark notebooks, Warehouse queries, Data Factory pipelines, Real-Time Analytics. Smoothed over 24 h.</a:t>
                      </a:r>
                    </a:p>
                  </a:txBody>
                  <a:tcPr>
                    <a:solidFill>
                      <a:srgbClr val="FFFFFF"/>
                    </a:solidFill>
                  </a:tcPr>
                </a:tc>
                <a:tc>
                  <a:txBody>
                    <a:bodyPr/>
                    <a:lstStyle/>
                    <a:p>
                      <a:r>
                        <a:rPr sz="1150">
                          <a:solidFill>
                            <a:srgbClr val="1F2328"/>
                          </a:solidFill>
                          <a:latin typeface="Calibri"/>
                        </a:rPr>
                        <a:t>Everything on Fabric consumes CU; sizing means summing all workloads, not just Power BI.</a:t>
                      </a:r>
                    </a:p>
                  </a:txBody>
                  <a:tcPr>
                    <a:solidFill>
                      <a:srgbClr val="FFFFFF"/>
                    </a:solidFill>
                  </a:tcPr>
                </a:tc>
              </a:tr>
              <a:tr h="666205">
                <a:tc>
                  <a:txBody>
                    <a:bodyPr/>
                    <a:lstStyle/>
                    <a:p>
                      <a:r>
                        <a:rPr sz="1150">
                          <a:solidFill>
                            <a:srgbClr val="1F2328"/>
                          </a:solidFill>
                          <a:latin typeface="Calibri"/>
                        </a:rPr>
                        <a:t>F SKUs</a:t>
                      </a:r>
                    </a:p>
                  </a:txBody>
                  <a:tcPr>
                    <a:solidFill>
                      <a:srgbClr val="F6F8FC"/>
                    </a:solidFill>
                  </a:tcPr>
                </a:tc>
                <a:tc>
                  <a:txBody>
                    <a:bodyPr/>
                    <a:lstStyle/>
                    <a:p>
                      <a:r>
                        <a:rPr sz="1150">
                          <a:solidFill>
                            <a:srgbClr val="1F2328"/>
                          </a:solidFill>
                          <a:latin typeface="Calibri"/>
                        </a:rPr>
                        <a:t>F2, F4, F8, F16, F32, F64, F128, F256, F512, F1024, F2048. F64 unlocks free Power BI viewer sharing (Pro-license equivalent for viewers).</a:t>
                      </a:r>
                    </a:p>
                  </a:txBody>
                  <a:tcPr>
                    <a:solidFill>
                      <a:srgbClr val="F6F8FC"/>
                    </a:solidFill>
                  </a:tcPr>
                </a:tc>
                <a:tc>
                  <a:txBody>
                    <a:bodyPr/>
                    <a:lstStyle/>
                    <a:p>
                      <a:r>
                        <a:rPr sz="1150">
                          <a:solidFill>
                            <a:srgbClr val="1F2328"/>
                          </a:solidFill>
                          <a:latin typeface="Calibri"/>
                        </a:rPr>
                        <a:t>F64 is the practical minimum for enterprise Power BI on Fabric; below that, viewers still need Pro.</a:t>
                      </a:r>
                    </a:p>
                  </a:txBody>
                  <a:tcPr>
                    <a:solidFill>
                      <a:srgbClr val="F6F8FC"/>
                    </a:solidFill>
                  </a:tcPr>
                </a:tc>
              </a:tr>
              <a:tr h="666205">
                <a:tc>
                  <a:txBody>
                    <a:bodyPr/>
                    <a:lstStyle/>
                    <a:p>
                      <a:r>
                        <a:rPr sz="1150">
                          <a:solidFill>
                            <a:srgbClr val="1F2328"/>
                          </a:solidFill>
                          <a:latin typeface="Calibri"/>
                        </a:rPr>
                        <a:t>Workloads</a:t>
                      </a:r>
                    </a:p>
                  </a:txBody>
                  <a:tcPr>
                    <a:solidFill>
                      <a:srgbClr val="FFFFFF"/>
                    </a:solidFill>
                  </a:tcPr>
                </a:tc>
                <a:tc>
                  <a:txBody>
                    <a:bodyPr/>
                    <a:lstStyle/>
                    <a:p>
                      <a:r>
                        <a:rPr sz="1150">
                          <a:solidFill>
                            <a:srgbClr val="1F2328"/>
                          </a:solidFill>
                          <a:latin typeface="Calibri"/>
                        </a:rPr>
                        <a:t>Power BI, Data Engineering (Spark/Lakehouse), Data Warehouse, Data Factory, Real-Time Intelligence, Data Science, Databases.</a:t>
                      </a:r>
                    </a:p>
                  </a:txBody>
                  <a:tcPr>
                    <a:solidFill>
                      <a:srgbClr val="FFFFFF"/>
                    </a:solidFill>
                  </a:tcPr>
                </a:tc>
                <a:tc>
                  <a:txBody>
                    <a:bodyPr/>
                    <a:lstStyle/>
                    <a:p>
                      <a:r>
                        <a:rPr sz="1150">
                          <a:solidFill>
                            <a:srgbClr val="1F2328"/>
                          </a:solidFill>
                          <a:latin typeface="Calibri"/>
                        </a:rPr>
                        <a:t>All workloads share the same CU pool — a runaway Spark job can throttle Power BI reports on the same capacity.</a:t>
                      </a:r>
                    </a:p>
                  </a:txBody>
                  <a:tcPr>
                    <a:solidFill>
                      <a:srgbClr val="FFFFFF"/>
                    </a:solidFill>
                  </a:tcPr>
                </a:tc>
              </a:tr>
              <a:tr h="666205">
                <a:tc>
                  <a:txBody>
                    <a:bodyPr/>
                    <a:lstStyle/>
                    <a:p>
                      <a:r>
                        <a:rPr sz="1150">
                          <a:solidFill>
                            <a:srgbClr val="1F2328"/>
                          </a:solidFill>
                          <a:latin typeface="Calibri"/>
                        </a:rPr>
                        <a:t>Workspace experience</a:t>
                      </a:r>
                    </a:p>
                  </a:txBody>
                  <a:tcPr>
                    <a:solidFill>
                      <a:srgbClr val="F6F8FC"/>
                    </a:solidFill>
                  </a:tcPr>
                </a:tc>
                <a:tc>
                  <a:txBody>
                    <a:bodyPr/>
                    <a:lstStyle/>
                    <a:p>
                      <a:r>
                        <a:rPr sz="1150">
                          <a:solidFill>
                            <a:srgbClr val="1F2328"/>
                          </a:solidFill>
                          <a:latin typeface="Calibri"/>
                        </a:rPr>
                        <a:t>One workspace can hold Power BI items and Fabric items (Lakehouse, Warehouse, notebooks, pipelines) side by side, all backed by the same F capacity.</a:t>
                      </a:r>
                    </a:p>
                  </a:txBody>
                  <a:tcPr>
                    <a:solidFill>
                      <a:srgbClr val="F6F8FC"/>
                    </a:solidFill>
                  </a:tcPr>
                </a:tc>
                <a:tc>
                  <a:txBody>
                    <a:bodyPr/>
                    <a:lstStyle/>
                    <a:p>
                      <a:r>
                        <a:rPr sz="1150">
                          <a:solidFill>
                            <a:srgbClr val="1F2328"/>
                          </a:solidFill>
                          <a:latin typeface="Calibri"/>
                        </a:rPr>
                        <a:t>This is why 'Fabric-enabled workspace' isn't a separate thing — it's an assignment to an F capacity.</a:t>
                      </a:r>
                    </a:p>
                  </a:txBody>
                  <a:tcPr>
                    <a:solidFill>
                      <a:srgbClr val="F6F8FC"/>
                    </a:solidFill>
                  </a:tcPr>
                </a:tc>
              </a:tr>
              <a:tr h="666205">
                <a:tc>
                  <a:txBody>
                    <a:bodyPr/>
                    <a:lstStyle/>
                    <a:p>
                      <a:r>
                        <a:rPr sz="1150">
                          <a:solidFill>
                            <a:srgbClr val="1F2328"/>
                          </a:solidFill>
                          <a:latin typeface="Calibri"/>
                        </a:rPr>
                        <a:t>Pause / resume</a:t>
                      </a:r>
                    </a:p>
                  </a:txBody>
                  <a:tcPr>
                    <a:solidFill>
                      <a:srgbClr val="FFFFFF"/>
                    </a:solidFill>
                  </a:tcPr>
                </a:tc>
                <a:tc>
                  <a:txBody>
                    <a:bodyPr/>
                    <a:lstStyle/>
                    <a:p>
                      <a:r>
                        <a:rPr sz="1150">
                          <a:solidFill>
                            <a:srgbClr val="1F2328"/>
                          </a:solidFill>
                          <a:latin typeface="Calibri"/>
                        </a:rPr>
                        <a:t>F SKUs can be paused (billing stops) and resumed on demand — unlike reserved P SKUs, which are always-on.</a:t>
                      </a:r>
                    </a:p>
                  </a:txBody>
                  <a:tcPr>
                    <a:solidFill>
                      <a:srgbClr val="FFFFFF"/>
                    </a:solidFill>
                  </a:tcPr>
                </a:tc>
                <a:tc>
                  <a:txBody>
                    <a:bodyPr/>
                    <a:lstStyle/>
                    <a:p>
                      <a:r>
                        <a:rPr sz="1150">
                          <a:solidFill>
                            <a:srgbClr val="1F2328"/>
                          </a:solidFill>
                          <a:latin typeface="Calibri"/>
                        </a:rPr>
                        <a:t>Enables dev/test cost control; production capacities typically stay on 24×7.</a:t>
                      </a:r>
                    </a:p>
                  </a:txBody>
                  <a:tcPr>
                    <a:solidFill>
                      <a:srgbClr val="FFFFFF"/>
                    </a:solidFill>
                  </a:tcPr>
                </a:tc>
              </a:tr>
              <a:tr h="666210">
                <a:tc>
                  <a:txBody>
                    <a:bodyPr/>
                    <a:lstStyle/>
                    <a:p>
                      <a:r>
                        <a:rPr sz="1150">
                          <a:solidFill>
                            <a:srgbClr val="1F2328"/>
                          </a:solidFill>
                          <a:latin typeface="Calibri"/>
                        </a:rPr>
                        <a:t>Gov validation</a:t>
                      </a:r>
                    </a:p>
                  </a:txBody>
                  <a:tcPr>
                    <a:solidFill>
                      <a:srgbClr val="F6F8FC"/>
                    </a:solidFill>
                  </a:tcPr>
                </a:tc>
                <a:tc>
                  <a:txBody>
                    <a:bodyPr/>
                    <a:lstStyle/>
                    <a:p>
                      <a:r>
                        <a:rPr sz="1150">
                          <a:solidFill>
                            <a:srgbClr val="1F2328"/>
                          </a:solidFill>
                          <a:latin typeface="Calibri"/>
                        </a:rPr>
                        <a:t>Fabric is 'Commercial-focused / Verify for Gov' — not all workloads have Government parity yet.</a:t>
                      </a:r>
                    </a:p>
                  </a:txBody>
                  <a:tcPr>
                    <a:solidFill>
                      <a:srgbClr val="F6F8FC"/>
                    </a:solidFill>
                  </a:tcPr>
                </a:tc>
                <a:tc>
                  <a:txBody>
                    <a:bodyPr/>
                    <a:lstStyle/>
                    <a:p>
                      <a:r>
                        <a:rPr sz="1150">
                          <a:solidFill>
                            <a:srgbClr val="1F2328"/>
                          </a:solidFill>
                          <a:latin typeface="Calibri"/>
                        </a:rPr>
                        <a:t>In a Gov engagement, confirm each Fabric workload individually before committing to it in the architecture.</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1's licensing/capacity comparison includes Fabric F SKUs as one of the options to evaluate.</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Direct Lake</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Direct Lake is a Fabric-only semantic model storage mode that reads Delta/Parquet files directly from OneLake — no import, no scheduled refresh, no DirectQuery round-trip to a SQL engine.</a:t>
            </a:r>
          </a:p>
          <a:p>
            <a:pPr>
              <a:lnSpc>
                <a:spcPct val="105000"/>
              </a:lnSpc>
              <a:spcAft>
                <a:spcPts val="1000"/>
              </a:spcAft>
              <a:buClr>
                <a:srgbClr val="1E2761"/>
              </a:buClr>
              <a:buFont typeface="Arial"/>
              <a:buChar char="•"/>
            </a:pPr>
            <a:r>
              <a:rPr sz="1450">
                <a:solidFill>
                  <a:srgbClr val="1F2328"/>
                </a:solidFill>
                <a:latin typeface="Calibri"/>
              </a:rPr>
              <a:t>Compared to Import: no refresh step, always current with the Lakehouse. Compared to DirectQuery: no SQL translation, near-Import query speed. Fallback to DirectQuery kicks in when a query hits an unsupported feature or memory limit.</a:t>
            </a:r>
          </a:p>
          <a:p>
            <a:pPr>
              <a:lnSpc>
                <a:spcPct val="105000"/>
              </a:lnSpc>
              <a:spcAft>
                <a:spcPts val="1000"/>
              </a:spcAft>
              <a:buClr>
                <a:srgbClr val="1E2761"/>
              </a:buClr>
              <a:buFont typeface="Arial"/>
              <a:buChar char="•"/>
            </a:pPr>
            <a:r>
              <a:rPr sz="1450">
                <a:solidFill>
                  <a:srgbClr val="1F2328"/>
                </a:solidFill>
                <a:latin typeface="Calibri"/>
              </a:rPr>
              <a:t>Modeling considerations: relationships, measures, and calculation groups work as usual, but calculated columns and calculated tables are not supported — that logic must move upstream into the Lakehouse/Warehouse.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Removes the 'model refresh window' problem entirely for very large datasets — the Lakehouse update IS the refresh.</a:t>
            </a:r>
          </a:p>
          <a:p>
            <a:pPr>
              <a:lnSpc>
                <a:spcPct val="105000"/>
              </a:lnSpc>
              <a:spcAft>
                <a:spcPts val="1000"/>
              </a:spcAft>
              <a:buClr>
                <a:srgbClr val="E8B44A"/>
              </a:buClr>
              <a:buFont typeface="Arial"/>
              <a:buChar char="•"/>
            </a:pPr>
            <a:r>
              <a:rPr sz="1450">
                <a:solidFill>
                  <a:srgbClr val="1F2328"/>
                </a:solidFill>
                <a:latin typeface="Calibri"/>
              </a:rPr>
              <a:t>Removes the DirectQuery latency problem for large fact tables — queries run against columnar Parquet at Import-like speed.</a:t>
            </a:r>
          </a:p>
          <a:p>
            <a:pPr>
              <a:lnSpc>
                <a:spcPct val="105000"/>
              </a:lnSpc>
              <a:spcAft>
                <a:spcPts val="1000"/>
              </a:spcAft>
              <a:buClr>
                <a:srgbClr val="E8B44A"/>
              </a:buClr>
              <a:buFont typeface="Arial"/>
              <a:buChar char="•"/>
            </a:pPr>
            <a:r>
              <a:rPr sz="1450">
                <a:solidFill>
                  <a:srgbClr val="1F2328"/>
                </a:solidFill>
                <a:latin typeface="Calibri"/>
              </a:rPr>
              <a:t>Requires a shift in where transformations live: calculated columns move upstream, which is actually good hygiene for enterprise models but a change for existing Power BI authors.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Optional commercial lab compares Import, DirectQuery, and Direct Lake; the alternate path is a concept/comparison discussion.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OneLake, Lakehouse, and Warehouse</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1828800"/>
                <a:gridCol w="3657600"/>
                <a:gridCol w="3291840"/>
                <a:gridCol w="2103120"/>
              </a:tblGrid>
              <a:tr h="777240">
                <a:tc>
                  <a:txBody>
                    <a:bodyPr/>
                    <a:lstStyle/>
                    <a:p>
                      <a:pPr algn="l"/>
                      <a:r>
                        <a:rPr b="1" sz="1250">
                          <a:solidFill>
                            <a:srgbClr val="FFFFFF"/>
                          </a:solidFill>
                          <a:latin typeface="Calibri"/>
                        </a:rPr>
                        <a:t>Item</a:t>
                      </a:r>
                    </a:p>
                  </a:txBody>
                  <a:tcPr>
                    <a:solidFill>
                      <a:srgbClr val="1E2761"/>
                    </a:solidFill>
                  </a:tcPr>
                </a:tc>
                <a:tc>
                  <a:txBody>
                    <a:bodyPr/>
                    <a:lstStyle/>
                    <a:p>
                      <a:pPr algn="l"/>
                      <a:r>
                        <a:rPr b="1" sz="1250">
                          <a:solidFill>
                            <a:srgbClr val="FFFFFF"/>
                          </a:solidFill>
                          <a:latin typeface="Calibri"/>
                        </a:rPr>
                        <a:t>What it is</a:t>
                      </a:r>
                    </a:p>
                  </a:txBody>
                  <a:tcPr>
                    <a:solidFill>
                      <a:srgbClr val="1E2761"/>
                    </a:solidFill>
                  </a:tcPr>
                </a:tc>
                <a:tc>
                  <a:txBody>
                    <a:bodyPr/>
                    <a:lstStyle/>
                    <a:p>
                      <a:pPr algn="l"/>
                      <a:r>
                        <a:rPr b="1" sz="1250">
                          <a:solidFill>
                            <a:srgbClr val="FFFFFF"/>
                          </a:solidFill>
                          <a:latin typeface="Calibri"/>
                        </a:rPr>
                        <a:t>When to use it</a:t>
                      </a:r>
                    </a:p>
                  </a:txBody>
                  <a:tcPr>
                    <a:solidFill>
                      <a:srgbClr val="1E2761"/>
                    </a:solidFill>
                  </a:tcPr>
                </a:tc>
                <a:tc>
                  <a:txBody>
                    <a:bodyPr/>
                    <a:lstStyle/>
                    <a:p>
                      <a:pPr algn="l"/>
                      <a:r>
                        <a:rPr b="1" sz="1250">
                          <a:solidFill>
                            <a:srgbClr val="FFFFFF"/>
                          </a:solidFill>
                          <a:latin typeface="Calibri"/>
                        </a:rPr>
                        <a:t>Power BI integration</a:t>
                      </a:r>
                    </a:p>
                  </a:txBody>
                  <a:tcPr>
                    <a:solidFill>
                      <a:srgbClr val="1E2761"/>
                    </a:solidFill>
                  </a:tcPr>
                </a:tc>
              </a:tr>
              <a:tr h="777240">
                <a:tc>
                  <a:txBody>
                    <a:bodyPr/>
                    <a:lstStyle/>
                    <a:p>
                      <a:r>
                        <a:rPr sz="1150">
                          <a:solidFill>
                            <a:srgbClr val="1F2328"/>
                          </a:solidFill>
                          <a:latin typeface="Calibri"/>
                        </a:rPr>
                        <a:t>OneLake</a:t>
                      </a:r>
                    </a:p>
                  </a:txBody>
                  <a:tcPr>
                    <a:solidFill>
                      <a:srgbClr val="FFFFFF"/>
                    </a:solidFill>
                  </a:tcPr>
                </a:tc>
                <a:tc>
                  <a:txBody>
                    <a:bodyPr/>
                    <a:lstStyle/>
                    <a:p>
                      <a:r>
                        <a:rPr sz="1150">
                          <a:solidFill>
                            <a:srgbClr val="1F2328"/>
                          </a:solidFill>
                          <a:latin typeface="Calibri"/>
                        </a:rPr>
                        <a:t>The tenant-wide Delta/Parquet data lake underneath every Fabric workspace — 'OneDrive for data'. One copy, many workloads.</a:t>
                      </a:r>
                    </a:p>
                  </a:txBody>
                  <a:tcPr>
                    <a:solidFill>
                      <a:srgbClr val="FFFFFF"/>
                    </a:solidFill>
                  </a:tcPr>
                </a:tc>
                <a:tc>
                  <a:txBody>
                    <a:bodyPr/>
                    <a:lstStyle/>
                    <a:p>
                      <a:r>
                        <a:rPr sz="1150">
                          <a:solidFill>
                            <a:srgbClr val="1F2328"/>
                          </a:solidFill>
                          <a:latin typeface="Calibri"/>
                        </a:rPr>
                        <a:t>Always — it's the storage substrate; you don't choose it, you use it.</a:t>
                      </a:r>
                    </a:p>
                  </a:txBody>
                  <a:tcPr>
                    <a:solidFill>
                      <a:srgbClr val="FFFFFF"/>
                    </a:solidFill>
                  </a:tcPr>
                </a:tc>
                <a:tc>
                  <a:txBody>
                    <a:bodyPr/>
                    <a:lstStyle/>
                    <a:p>
                      <a:r>
                        <a:rPr sz="1150">
                          <a:solidFill>
                            <a:srgbClr val="1F2328"/>
                          </a:solidFill>
                          <a:latin typeface="Calibri"/>
                        </a:rPr>
                        <a:t>Source for Direct Lake and Import.</a:t>
                      </a:r>
                    </a:p>
                  </a:txBody>
                  <a:tcPr>
                    <a:solidFill>
                      <a:srgbClr val="FFFFFF"/>
                    </a:solidFill>
                  </a:tcPr>
                </a:tc>
              </a:tr>
              <a:tr h="777240">
                <a:tc>
                  <a:txBody>
                    <a:bodyPr/>
                    <a:lstStyle/>
                    <a:p>
                      <a:r>
                        <a:rPr sz="1150">
                          <a:solidFill>
                            <a:srgbClr val="1F2328"/>
                          </a:solidFill>
                          <a:latin typeface="Calibri"/>
                        </a:rPr>
                        <a:t>Lakehouse</a:t>
                      </a:r>
                    </a:p>
                  </a:txBody>
                  <a:tcPr>
                    <a:solidFill>
                      <a:srgbClr val="F6F8FC"/>
                    </a:solidFill>
                  </a:tcPr>
                </a:tc>
                <a:tc>
                  <a:txBody>
                    <a:bodyPr/>
                    <a:lstStyle/>
                    <a:p>
                      <a:r>
                        <a:rPr sz="1150">
                          <a:solidFill>
                            <a:srgbClr val="1F2328"/>
                          </a:solidFill>
                          <a:latin typeface="Calibri"/>
                        </a:rPr>
                        <a:t>OneLake area with Delta tables + Files, exposed via a Spark SQL endpoint and an auto-generated SQL analytics endpoint.</a:t>
                      </a:r>
                    </a:p>
                  </a:txBody>
                  <a:tcPr>
                    <a:solidFill>
                      <a:srgbClr val="F6F8FC"/>
                    </a:solidFill>
                  </a:tcPr>
                </a:tc>
                <a:tc>
                  <a:txBody>
                    <a:bodyPr/>
                    <a:lstStyle/>
                    <a:p>
                      <a:r>
                        <a:rPr sz="1150">
                          <a:solidFill>
                            <a:srgbClr val="1F2328"/>
                          </a:solidFill>
                          <a:latin typeface="Calibri"/>
                        </a:rPr>
                        <a:t>Big-data / data-engineering workloads; Spark notebooks; schema-on-read files.</a:t>
                      </a:r>
                    </a:p>
                  </a:txBody>
                  <a:tcPr>
                    <a:solidFill>
                      <a:srgbClr val="F6F8FC"/>
                    </a:solidFill>
                  </a:tcPr>
                </a:tc>
                <a:tc>
                  <a:txBody>
                    <a:bodyPr/>
                    <a:lstStyle/>
                    <a:p>
                      <a:r>
                        <a:rPr sz="1150">
                          <a:solidFill>
                            <a:srgbClr val="1F2328"/>
                          </a:solidFill>
                          <a:latin typeface="Calibri"/>
                        </a:rPr>
                        <a:t>Direct Lake semantic model auto-created; also SQL endpoint.</a:t>
                      </a:r>
                    </a:p>
                  </a:txBody>
                  <a:tcPr>
                    <a:solidFill>
                      <a:srgbClr val="F6F8FC"/>
                    </a:solidFill>
                  </a:tcPr>
                </a:tc>
              </a:tr>
              <a:tr h="777240">
                <a:tc>
                  <a:txBody>
                    <a:bodyPr/>
                    <a:lstStyle/>
                    <a:p>
                      <a:r>
                        <a:rPr sz="1150">
                          <a:solidFill>
                            <a:srgbClr val="1F2328"/>
                          </a:solidFill>
                          <a:latin typeface="Calibri"/>
                        </a:rPr>
                        <a:t>Warehouse</a:t>
                      </a:r>
                    </a:p>
                  </a:txBody>
                  <a:tcPr>
                    <a:solidFill>
                      <a:srgbClr val="FFFFFF"/>
                    </a:solidFill>
                  </a:tcPr>
                </a:tc>
                <a:tc>
                  <a:txBody>
                    <a:bodyPr/>
                    <a:lstStyle/>
                    <a:p>
                      <a:r>
                        <a:rPr sz="1150">
                          <a:solidFill>
                            <a:srgbClr val="1F2328"/>
                          </a:solidFill>
                          <a:latin typeface="Calibri"/>
                        </a:rPr>
                        <a:t>T-SQL data warehouse on OneLake, with full DDL/DML and cross-database queries. Writes go through T-SQL.</a:t>
                      </a:r>
                    </a:p>
                  </a:txBody>
                  <a:tcPr>
                    <a:solidFill>
                      <a:srgbClr val="FFFFFF"/>
                    </a:solidFill>
                  </a:tcPr>
                </a:tc>
                <a:tc>
                  <a:txBody>
                    <a:bodyPr/>
                    <a:lstStyle/>
                    <a:p>
                      <a:r>
                        <a:rPr sz="1150">
                          <a:solidFill>
                            <a:srgbClr val="1F2328"/>
                          </a:solidFill>
                          <a:latin typeface="Calibri"/>
                        </a:rPr>
                        <a:t>Classic BI ELT / T-SQL workloads; teams that want stored procs and full write support.</a:t>
                      </a:r>
                    </a:p>
                  </a:txBody>
                  <a:tcPr>
                    <a:solidFill>
                      <a:srgbClr val="FFFFFF"/>
                    </a:solidFill>
                  </a:tcPr>
                </a:tc>
                <a:tc>
                  <a:txBody>
                    <a:bodyPr/>
                    <a:lstStyle/>
                    <a:p>
                      <a:r>
                        <a:rPr sz="1150">
                          <a:solidFill>
                            <a:srgbClr val="1F2328"/>
                          </a:solidFill>
                          <a:latin typeface="Calibri"/>
                        </a:rPr>
                        <a:t>Direct Lake or Import via SQL endpoint.</a:t>
                      </a:r>
                    </a:p>
                  </a:txBody>
                  <a:tcPr>
                    <a:solidFill>
                      <a:srgbClr val="FFFFFF"/>
                    </a:solidFill>
                  </a:tcPr>
                </a:tc>
              </a:tr>
              <a:tr h="777240">
                <a:tc>
                  <a:txBody>
                    <a:bodyPr/>
                    <a:lstStyle/>
                    <a:p>
                      <a:r>
                        <a:rPr sz="1150">
                          <a:solidFill>
                            <a:srgbClr val="1F2328"/>
                          </a:solidFill>
                          <a:latin typeface="Calibri"/>
                        </a:rPr>
                        <a:t>SQL analytics endpoint</a:t>
                      </a:r>
                    </a:p>
                  </a:txBody>
                  <a:tcPr>
                    <a:solidFill>
                      <a:srgbClr val="F6F8FC"/>
                    </a:solidFill>
                  </a:tcPr>
                </a:tc>
                <a:tc>
                  <a:txBody>
                    <a:bodyPr/>
                    <a:lstStyle/>
                    <a:p>
                      <a:r>
                        <a:rPr sz="1150">
                          <a:solidFill>
                            <a:srgbClr val="1F2328"/>
                          </a:solidFill>
                          <a:latin typeface="Calibri"/>
                        </a:rPr>
                        <a:t>Read-only T-SQL endpoint auto-provisioned on top of a Lakehouse.</a:t>
                      </a:r>
                    </a:p>
                  </a:txBody>
                  <a:tcPr>
                    <a:solidFill>
                      <a:srgbClr val="F6F8FC"/>
                    </a:solidFill>
                  </a:tcPr>
                </a:tc>
                <a:tc>
                  <a:txBody>
                    <a:bodyPr/>
                    <a:lstStyle/>
                    <a:p>
                      <a:r>
                        <a:rPr sz="1150">
                          <a:solidFill>
                            <a:srgbClr val="1F2328"/>
                          </a:solidFill>
                          <a:latin typeface="Calibri"/>
                        </a:rPr>
                        <a:t>Serving Lakehouse data to T-SQL tools without moving it.</a:t>
                      </a:r>
                    </a:p>
                  </a:txBody>
                  <a:tcPr>
                    <a:solidFill>
                      <a:srgbClr val="F6F8FC"/>
                    </a:solidFill>
                  </a:tcPr>
                </a:tc>
                <a:tc>
                  <a:txBody>
                    <a:bodyPr/>
                    <a:lstStyle/>
                    <a:p>
                      <a:r>
                        <a:rPr sz="1150">
                          <a:solidFill>
                            <a:srgbClr val="1F2328"/>
                          </a:solidFill>
                          <a:latin typeface="Calibri"/>
                        </a:rPr>
                        <a:t>Standard SQL connection from Desktop / paginated.</a:t>
                      </a:r>
                    </a:p>
                  </a:txBody>
                  <a:tcPr>
                    <a:solidFill>
                      <a:srgbClr val="F6F8FC"/>
                    </a:solidFill>
                  </a:tcPr>
                </a:tc>
              </a:tr>
              <a:tr h="777240">
                <a:tc>
                  <a:txBody>
                    <a:bodyPr/>
                    <a:lstStyle/>
                    <a:p>
                      <a:r>
                        <a:rPr sz="1150">
                          <a:solidFill>
                            <a:srgbClr val="1F2328"/>
                          </a:solidFill>
                          <a:latin typeface="Calibri"/>
                        </a:rPr>
                        <a:t>Shortcut</a:t>
                      </a:r>
                    </a:p>
                  </a:txBody>
                  <a:tcPr>
                    <a:solidFill>
                      <a:srgbClr val="FFFFFF"/>
                    </a:solidFill>
                  </a:tcPr>
                </a:tc>
                <a:tc>
                  <a:txBody>
                    <a:bodyPr/>
                    <a:lstStyle/>
                    <a:p>
                      <a:r>
                        <a:rPr sz="1150">
                          <a:solidFill>
                            <a:srgbClr val="1F2328"/>
                          </a:solidFill>
                          <a:latin typeface="Calibri"/>
                        </a:rPr>
                        <a:t>OneLake pointer to data in another workspace, ADLS Gen2, S3, or GCS — read without copying.</a:t>
                      </a:r>
                    </a:p>
                  </a:txBody>
                  <a:tcPr>
                    <a:solidFill>
                      <a:srgbClr val="FFFFFF"/>
                    </a:solidFill>
                  </a:tcPr>
                </a:tc>
                <a:tc>
                  <a:txBody>
                    <a:bodyPr/>
                    <a:lstStyle/>
                    <a:p>
                      <a:r>
                        <a:rPr sz="1150">
                          <a:solidFill>
                            <a:srgbClr val="1F2328"/>
                          </a:solidFill>
                          <a:latin typeface="Calibri"/>
                        </a:rPr>
                        <a:t>Federating data across domains without duplication.</a:t>
                      </a:r>
                    </a:p>
                  </a:txBody>
                  <a:tcPr>
                    <a:solidFill>
                      <a:srgbClr val="FFFFFF"/>
                    </a:solidFill>
                  </a:tcPr>
                </a:tc>
                <a:tc>
                  <a:txBody>
                    <a:bodyPr/>
                    <a:lstStyle/>
                    <a:p>
                      <a:r>
                        <a:rPr sz="1150">
                          <a:solidFill>
                            <a:srgbClr val="1F2328"/>
                          </a:solidFill>
                          <a:latin typeface="Calibri"/>
                        </a:rPr>
                        <a:t>Consumable by any Fabric workload, including Power BI.</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Optional commercial lab has learners identify how data is stored and exposed; alternate path documents architecture and governance considerations.</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09</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Semantic Link</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Semantic Link is the Fabric notebook library (SemPy) that lets Python code read Power BI semantic model metadata, evaluate DAX/measures, and pull data as pandas DataFrames — without leaving the notebook.</a:t>
            </a:r>
          </a:p>
          <a:p>
            <a:pPr>
              <a:lnSpc>
                <a:spcPct val="105000"/>
              </a:lnSpc>
              <a:spcAft>
                <a:spcPts val="1000"/>
              </a:spcAft>
              <a:buClr>
                <a:srgbClr val="1E2761"/>
              </a:buClr>
              <a:buFont typeface="Arial"/>
              <a:buChar char="•"/>
            </a:pPr>
            <a:r>
              <a:rPr sz="1450">
                <a:solidFill>
                  <a:srgbClr val="1F2328"/>
                </a:solidFill>
                <a:latin typeface="Calibri"/>
              </a:rPr>
              <a:t>Primary API surface: fabric.list_datasets(), fabric.read_table(), fabric.evaluate_measure(), fabric.evaluate_dax() — plus data-quality helpers for relationships and measure dependencies.</a:t>
            </a:r>
          </a:p>
          <a:p>
            <a:pPr>
              <a:lnSpc>
                <a:spcPct val="105000"/>
              </a:lnSpc>
              <a:spcAft>
                <a:spcPts val="1000"/>
              </a:spcAft>
              <a:buClr>
                <a:srgbClr val="1E2761"/>
              </a:buClr>
              <a:buFont typeface="Arial"/>
              <a:buChar char="•"/>
            </a:pPr>
            <a:r>
              <a:rPr sz="1450">
                <a:solidFill>
                  <a:srgbClr val="1F2328"/>
                </a:solidFill>
                <a:latin typeface="Calibri"/>
              </a:rPr>
              <a:t>Enables data-science and MLOps workflows that treat the semantic model as a governed source of truth, not just a reporting artifact.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Closes the loop between BI (semantic model) and data science (notebooks) using the SAME certified measures — no reimplementation in Python.</a:t>
            </a:r>
          </a:p>
          <a:p>
            <a:pPr>
              <a:lnSpc>
                <a:spcPct val="105000"/>
              </a:lnSpc>
              <a:spcAft>
                <a:spcPts val="1000"/>
              </a:spcAft>
              <a:buClr>
                <a:srgbClr val="E8B44A"/>
              </a:buClr>
              <a:buFont typeface="Arial"/>
              <a:buChar char="•"/>
            </a:pPr>
            <a:r>
              <a:rPr sz="1450">
                <a:solidFill>
                  <a:srgbClr val="1F2328"/>
                </a:solidFill>
                <a:latin typeface="Calibri"/>
              </a:rPr>
              <a:t>Makes semantic-model quality visible to data scientists: missing relationships, ambiguous joins, and slow measures surface in the notebook they use daily.</a:t>
            </a:r>
          </a:p>
          <a:p>
            <a:pPr>
              <a:lnSpc>
                <a:spcPct val="105000"/>
              </a:lnSpc>
              <a:spcAft>
                <a:spcPts val="1000"/>
              </a:spcAft>
              <a:buClr>
                <a:srgbClr val="E8B44A"/>
              </a:buClr>
              <a:buFont typeface="Arial"/>
              <a:buChar char="•"/>
            </a:pPr>
            <a:r>
              <a:rPr sz="1450">
                <a:solidFill>
                  <a:srgbClr val="1F2328"/>
                </a:solidFill>
                <a:latin typeface="Calibri"/>
              </a:rPr>
              <a:t>Availability caveat: Semantic Link is 'Commercial-focused / Verify for Gov' — in Gov tenants, the fallback is exporting measure results via XMLA/DAX Studio into the notebook environment.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Optional commercial lab reviews Semantic Link use cases and connects to semantic model metadata where supported; otherwise conceptual only.</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10</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Capacity Metrics and Throttling</a:t>
            </a:r>
          </a:p>
        </p:txBody>
      </p:sp>
      <p:sp>
        <p:nvSpPr>
          <p:cNvPr id="6" name="TextBox 5"/>
          <p:cNvSpPr txBox="1"/>
          <p:nvPr/>
        </p:nvSpPr>
        <p:spPr>
          <a:xfrm>
            <a:off x="640080" y="1280160"/>
            <a:ext cx="10881360" cy="457200"/>
          </a:xfrm>
          <a:prstGeom prst="rect">
            <a:avLst/>
          </a:prstGeom>
          <a:noFill/>
        </p:spPr>
        <p:txBody>
          <a:bodyPr wrap="square" anchor="t" lIns="0" rIns="0" tIns="0" bIns="0">
            <a:spAutoFit/>
          </a:bodyPr>
          <a:lstStyle/>
          <a:p>
            <a:pPr algn="l">
              <a:lnSpc>
                <a:spcPct val="100000"/>
              </a:lnSpc>
              <a:spcAft>
                <a:spcPts val="0"/>
              </a:spcAft>
            </a:pPr>
            <a:r>
              <a:rPr sz="1600" b="1" i="0">
                <a:solidFill>
                  <a:srgbClr val="141B45"/>
                </a:solidFill>
                <a:latin typeface="Cambria"/>
              </a:rPr>
              <a:t>How a Fabric/Premium capacity moves through CU-consumption states</a:t>
            </a:r>
          </a:p>
        </p:txBody>
      </p:sp>
      <p:sp>
        <p:nvSpPr>
          <p:cNvPr id="7" name="TextBox 6"/>
          <p:cNvSpPr txBox="1"/>
          <p:nvPr/>
        </p:nvSpPr>
        <p:spPr>
          <a:xfrm>
            <a:off x="640080" y="1737360"/>
            <a:ext cx="10881360" cy="502920"/>
          </a:xfrm>
          <a:prstGeom prst="rect">
            <a:avLst/>
          </a:prstGeom>
          <a:noFill/>
        </p:spPr>
        <p:txBody>
          <a:bodyPr wrap="square" anchor="t" lIns="0" rIns="0" tIns="0" bIns="0">
            <a:spAutoFit/>
          </a:bodyPr>
          <a:lstStyle/>
          <a:p>
            <a:pPr algn="l">
              <a:lnSpc>
                <a:spcPct val="120000"/>
              </a:lnSpc>
              <a:spcAft>
                <a:spcPts val="0"/>
              </a:spcAft>
            </a:pPr>
            <a:r>
              <a:rPr sz="1250" b="0" i="1">
                <a:solidFill>
                  <a:srgbClr val="4B5563"/>
                </a:solidFill>
                <a:latin typeface="Calibri"/>
              </a:rPr>
              <a:t>Capacity Units (CU) are smoothed over a 24-hour window. Sustained overage escalates from delay to rejection — interactive workloads are throttled before background jobs are.</a:t>
            </a:r>
          </a:p>
        </p:txBody>
      </p:sp>
      <p:sp>
        <p:nvSpPr>
          <p:cNvPr id="8" name="Rectangle 7"/>
          <p:cNvSpPr/>
          <p:nvPr/>
        </p:nvSpPr>
        <p:spPr>
          <a:xfrm>
            <a:off x="502920" y="2788920"/>
            <a:ext cx="2148840" cy="1874519"/>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898648"/>
            <a:ext cx="2002536" cy="640080"/>
          </a:xfrm>
          <a:prstGeom prst="rect">
            <a:avLst/>
          </a:prstGeom>
          <a:noFill/>
        </p:spPr>
        <p:txBody>
          <a:bodyPr wrap="square" anchor="ctr" lIns="0" rIns="0" tIns="0" bIns="0">
            <a:spAutoFit/>
          </a:bodyPr>
          <a:lstStyle/>
          <a:p>
            <a:pPr algn="ctr">
              <a:lnSpc>
                <a:spcPct val="105000"/>
              </a:lnSpc>
              <a:spcAft>
                <a:spcPts val="0"/>
              </a:spcAft>
            </a:pPr>
            <a:r>
              <a:rPr sz="1400" b="1" i="0">
                <a:solidFill>
                  <a:srgbClr val="141B45"/>
                </a:solidFill>
                <a:latin typeface="Calibri"/>
              </a:rPr>
              <a:t>Healthy</a:t>
            </a:r>
          </a:p>
        </p:txBody>
      </p:sp>
      <p:sp>
        <p:nvSpPr>
          <p:cNvPr id="10" name="TextBox 9"/>
          <p:cNvSpPr txBox="1"/>
          <p:nvPr/>
        </p:nvSpPr>
        <p:spPr>
          <a:xfrm>
            <a:off x="576072" y="3538728"/>
            <a:ext cx="2002536" cy="384048"/>
          </a:xfrm>
          <a:prstGeom prst="rect">
            <a:avLst/>
          </a:prstGeom>
          <a:noFill/>
        </p:spPr>
        <p:txBody>
          <a:bodyPr wrap="square" anchor="ctr" lIns="0" rIns="0" tIns="0" bIns="0">
            <a:spAutoFit/>
          </a:bodyPr>
          <a:lstStyle/>
          <a:p>
            <a:pPr algn="ctr">
              <a:lnSpc>
                <a:spcPct val="100000"/>
              </a:lnSpc>
              <a:spcAft>
                <a:spcPts val="0"/>
              </a:spcAft>
            </a:pPr>
            <a:r>
              <a:rPr sz="1100" b="0" i="1">
                <a:solidFill>
                  <a:srgbClr val="141B45"/>
                </a:solidFill>
                <a:latin typeface="Consolas"/>
              </a:rPr>
              <a:t>CU usage ≤ 100%</a:t>
            </a:r>
          </a:p>
        </p:txBody>
      </p:sp>
      <p:sp>
        <p:nvSpPr>
          <p:cNvPr id="11" name="TextBox 10"/>
          <p:cNvSpPr txBox="1"/>
          <p:nvPr/>
        </p:nvSpPr>
        <p:spPr>
          <a:xfrm>
            <a:off x="594360" y="3959352"/>
            <a:ext cx="1965960" cy="658368"/>
          </a:xfrm>
          <a:prstGeom prst="rect">
            <a:avLst/>
          </a:prstGeom>
          <a:noFill/>
        </p:spPr>
        <p:txBody>
          <a:bodyPr wrap="square" anchor="ctr" lIns="0" rIns="0" tIns="0" bIns="0">
            <a:spAutoFit/>
          </a:bodyPr>
          <a:lstStyle/>
          <a:p>
            <a:pPr algn="ctr">
              <a:lnSpc>
                <a:spcPct val="115000"/>
              </a:lnSpc>
              <a:spcAft>
                <a:spcPts val="0"/>
              </a:spcAft>
            </a:pPr>
            <a:r>
              <a:rPr sz="1050" b="0" i="0">
                <a:solidFill>
                  <a:srgbClr val="141B45"/>
                </a:solidFill>
                <a:latin typeface="Calibri"/>
              </a:rPr>
              <a:t>All interactive &amp; background jobs run normally.</a:t>
            </a:r>
          </a:p>
        </p:txBody>
      </p:sp>
      <p:sp>
        <p:nvSpPr>
          <p:cNvPr id="12" name="Rectangle 11"/>
          <p:cNvSpPr/>
          <p:nvPr/>
        </p:nvSpPr>
        <p:spPr>
          <a:xfrm>
            <a:off x="2798064" y="2788920"/>
            <a:ext cx="2148840" cy="1874519"/>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71216" y="2898648"/>
            <a:ext cx="2002536" cy="640080"/>
          </a:xfrm>
          <a:prstGeom prst="rect">
            <a:avLst/>
          </a:prstGeom>
          <a:noFill/>
        </p:spPr>
        <p:txBody>
          <a:bodyPr wrap="square" anchor="ctr" lIns="0" rIns="0" tIns="0" bIns="0">
            <a:spAutoFit/>
          </a:bodyPr>
          <a:lstStyle/>
          <a:p>
            <a:pPr algn="ctr">
              <a:lnSpc>
                <a:spcPct val="105000"/>
              </a:lnSpc>
              <a:spcAft>
                <a:spcPts val="0"/>
              </a:spcAft>
            </a:pPr>
            <a:r>
              <a:rPr sz="1400" b="1" i="0">
                <a:solidFill>
                  <a:srgbClr val="141B45"/>
                </a:solidFill>
                <a:latin typeface="Calibri"/>
              </a:rPr>
              <a:t>Overage</a:t>
            </a:r>
            <a:br/>
            <a:r>
              <a:rPr sz="1400" b="1" i="0">
                <a:solidFill>
                  <a:srgbClr val="141B45"/>
                </a:solidFill>
                <a:latin typeface="Calibri"/>
              </a:rPr>
              <a:t>(smoothed)</a:t>
            </a:r>
          </a:p>
        </p:txBody>
      </p:sp>
      <p:sp>
        <p:nvSpPr>
          <p:cNvPr id="14" name="TextBox 13"/>
          <p:cNvSpPr txBox="1"/>
          <p:nvPr/>
        </p:nvSpPr>
        <p:spPr>
          <a:xfrm>
            <a:off x="2871216" y="3538728"/>
            <a:ext cx="2002536" cy="384048"/>
          </a:xfrm>
          <a:prstGeom prst="rect">
            <a:avLst/>
          </a:prstGeom>
          <a:noFill/>
        </p:spPr>
        <p:txBody>
          <a:bodyPr wrap="square" anchor="ctr" lIns="0" rIns="0" tIns="0" bIns="0">
            <a:spAutoFit/>
          </a:bodyPr>
          <a:lstStyle/>
          <a:p>
            <a:pPr algn="ctr">
              <a:lnSpc>
                <a:spcPct val="100000"/>
              </a:lnSpc>
              <a:spcAft>
                <a:spcPts val="0"/>
              </a:spcAft>
            </a:pPr>
            <a:r>
              <a:rPr sz="1100" b="0" i="1">
                <a:solidFill>
                  <a:srgbClr val="141B45"/>
                </a:solidFill>
                <a:latin typeface="Consolas"/>
              </a:rPr>
              <a:t>Short bursts &gt;100%</a:t>
            </a:r>
          </a:p>
        </p:txBody>
      </p:sp>
      <p:sp>
        <p:nvSpPr>
          <p:cNvPr id="15" name="TextBox 14"/>
          <p:cNvSpPr txBox="1"/>
          <p:nvPr/>
        </p:nvSpPr>
        <p:spPr>
          <a:xfrm>
            <a:off x="2889504" y="3959352"/>
            <a:ext cx="1965960" cy="658368"/>
          </a:xfrm>
          <a:prstGeom prst="rect">
            <a:avLst/>
          </a:prstGeom>
          <a:noFill/>
        </p:spPr>
        <p:txBody>
          <a:bodyPr wrap="square" anchor="ctr" lIns="0" rIns="0" tIns="0" bIns="0">
            <a:spAutoFit/>
          </a:bodyPr>
          <a:lstStyle/>
          <a:p>
            <a:pPr algn="ctr">
              <a:lnSpc>
                <a:spcPct val="115000"/>
              </a:lnSpc>
              <a:spcAft>
                <a:spcPts val="0"/>
              </a:spcAft>
            </a:pPr>
            <a:r>
              <a:rPr sz="1050" b="0" i="0">
                <a:solidFill>
                  <a:srgbClr val="141B45"/>
                </a:solidFill>
                <a:latin typeface="Calibri"/>
              </a:rPr>
              <a:t>Excess CU carried forward against the 24-h future budget.</a:t>
            </a:r>
          </a:p>
        </p:txBody>
      </p:sp>
      <p:sp>
        <p:nvSpPr>
          <p:cNvPr id="16" name="Rectangle 15"/>
          <p:cNvSpPr/>
          <p:nvPr/>
        </p:nvSpPr>
        <p:spPr>
          <a:xfrm>
            <a:off x="5093208" y="2788920"/>
            <a:ext cx="2148840" cy="1874519"/>
          </a:xfrm>
          <a:prstGeom prst="rect">
            <a:avLst/>
          </a:prstGeom>
          <a:solidFill>
            <a:srgbClr val="E8B44A"/>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66360" y="2898648"/>
            <a:ext cx="2002536" cy="640080"/>
          </a:xfrm>
          <a:prstGeom prst="rect">
            <a:avLst/>
          </a:prstGeom>
          <a:noFill/>
        </p:spPr>
        <p:txBody>
          <a:bodyPr wrap="square" anchor="ctr" lIns="0" rIns="0" tIns="0" bIns="0">
            <a:spAutoFit/>
          </a:bodyPr>
          <a:lstStyle/>
          <a:p>
            <a:pPr algn="ctr">
              <a:lnSpc>
                <a:spcPct val="105000"/>
              </a:lnSpc>
              <a:spcAft>
                <a:spcPts val="0"/>
              </a:spcAft>
            </a:pPr>
            <a:r>
              <a:rPr sz="1400" b="1" i="0">
                <a:solidFill>
                  <a:srgbClr val="141B45"/>
                </a:solidFill>
                <a:latin typeface="Calibri"/>
              </a:rPr>
              <a:t>Interactive</a:t>
            </a:r>
            <a:br/>
            <a:r>
              <a:rPr sz="1400" b="1" i="0">
                <a:solidFill>
                  <a:srgbClr val="141B45"/>
                </a:solidFill>
                <a:latin typeface="Calibri"/>
              </a:rPr>
              <a:t>Delay</a:t>
            </a:r>
          </a:p>
        </p:txBody>
      </p:sp>
      <p:sp>
        <p:nvSpPr>
          <p:cNvPr id="18" name="TextBox 17"/>
          <p:cNvSpPr txBox="1"/>
          <p:nvPr/>
        </p:nvSpPr>
        <p:spPr>
          <a:xfrm>
            <a:off x="5166360" y="3538728"/>
            <a:ext cx="2002536" cy="384048"/>
          </a:xfrm>
          <a:prstGeom prst="rect">
            <a:avLst/>
          </a:prstGeom>
          <a:noFill/>
        </p:spPr>
        <p:txBody>
          <a:bodyPr wrap="square" anchor="ctr" lIns="0" rIns="0" tIns="0" bIns="0">
            <a:spAutoFit/>
          </a:bodyPr>
          <a:lstStyle/>
          <a:p>
            <a:pPr algn="ctr">
              <a:lnSpc>
                <a:spcPct val="100000"/>
              </a:lnSpc>
              <a:spcAft>
                <a:spcPts val="0"/>
              </a:spcAft>
            </a:pPr>
            <a:r>
              <a:rPr sz="1100" b="0" i="1">
                <a:solidFill>
                  <a:srgbClr val="141B45"/>
                </a:solidFill>
                <a:latin typeface="Consolas"/>
              </a:rPr>
              <a:t>10-min avg &gt; 100%</a:t>
            </a:r>
          </a:p>
        </p:txBody>
      </p:sp>
      <p:sp>
        <p:nvSpPr>
          <p:cNvPr id="19" name="TextBox 18"/>
          <p:cNvSpPr txBox="1"/>
          <p:nvPr/>
        </p:nvSpPr>
        <p:spPr>
          <a:xfrm>
            <a:off x="5184648" y="3959352"/>
            <a:ext cx="1965960" cy="658368"/>
          </a:xfrm>
          <a:prstGeom prst="rect">
            <a:avLst/>
          </a:prstGeom>
          <a:noFill/>
        </p:spPr>
        <p:txBody>
          <a:bodyPr wrap="square" anchor="ctr" lIns="0" rIns="0" tIns="0" bIns="0">
            <a:spAutoFit/>
          </a:bodyPr>
          <a:lstStyle/>
          <a:p>
            <a:pPr algn="ctr">
              <a:lnSpc>
                <a:spcPct val="115000"/>
              </a:lnSpc>
              <a:spcAft>
                <a:spcPts val="0"/>
              </a:spcAft>
            </a:pPr>
            <a:r>
              <a:rPr sz="1050" b="0" i="0">
                <a:solidFill>
                  <a:srgbClr val="141B45"/>
                </a:solidFill>
                <a:latin typeface="Calibri"/>
              </a:rPr>
              <a:t>Queries/report renders delayed ~20s before running.</a:t>
            </a:r>
          </a:p>
        </p:txBody>
      </p:sp>
      <p:sp>
        <p:nvSpPr>
          <p:cNvPr id="20" name="Rectangle 19"/>
          <p:cNvSpPr/>
          <p:nvPr/>
        </p:nvSpPr>
        <p:spPr>
          <a:xfrm>
            <a:off x="7388352" y="2788920"/>
            <a:ext cx="2148840" cy="1874519"/>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898648"/>
            <a:ext cx="2002536" cy="640080"/>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Calibri"/>
              </a:rPr>
              <a:t>Interactive</a:t>
            </a:r>
            <a:br/>
            <a:r>
              <a:rPr sz="1400" b="1" i="0">
                <a:solidFill>
                  <a:srgbClr val="FFFFFF"/>
                </a:solidFill>
                <a:latin typeface="Calibri"/>
              </a:rPr>
              <a:t>Rejection</a:t>
            </a:r>
          </a:p>
        </p:txBody>
      </p:sp>
      <p:sp>
        <p:nvSpPr>
          <p:cNvPr id="22" name="TextBox 21"/>
          <p:cNvSpPr txBox="1"/>
          <p:nvPr/>
        </p:nvSpPr>
        <p:spPr>
          <a:xfrm>
            <a:off x="7461504" y="3538728"/>
            <a:ext cx="2002536" cy="384048"/>
          </a:xfrm>
          <a:prstGeom prst="rect">
            <a:avLst/>
          </a:prstGeom>
          <a:noFill/>
        </p:spPr>
        <p:txBody>
          <a:bodyPr wrap="square" anchor="ctr" lIns="0" rIns="0" tIns="0" bIns="0">
            <a:spAutoFit/>
          </a:bodyPr>
          <a:lstStyle/>
          <a:p>
            <a:pPr algn="ctr">
              <a:lnSpc>
                <a:spcPct val="100000"/>
              </a:lnSpc>
              <a:spcAft>
                <a:spcPts val="0"/>
              </a:spcAft>
            </a:pPr>
            <a:r>
              <a:rPr sz="1100" b="0" i="1">
                <a:solidFill>
                  <a:srgbClr val="FFFFFF"/>
                </a:solidFill>
                <a:latin typeface="Consolas"/>
              </a:rPr>
              <a:t>60-min avg &gt; 100%</a:t>
            </a:r>
          </a:p>
        </p:txBody>
      </p:sp>
      <p:sp>
        <p:nvSpPr>
          <p:cNvPr id="23" name="TextBox 22"/>
          <p:cNvSpPr txBox="1"/>
          <p:nvPr/>
        </p:nvSpPr>
        <p:spPr>
          <a:xfrm>
            <a:off x="7479792" y="3959352"/>
            <a:ext cx="1965960" cy="658368"/>
          </a:xfrm>
          <a:prstGeom prst="rect">
            <a:avLst/>
          </a:prstGeom>
          <a:noFill/>
        </p:spPr>
        <p:txBody>
          <a:bodyPr wrap="square" anchor="ctr" lIns="0" rIns="0" tIns="0" bIns="0">
            <a:spAutoFit/>
          </a:bodyPr>
          <a:lstStyle/>
          <a:p>
            <a:pPr algn="ctr">
              <a:lnSpc>
                <a:spcPct val="115000"/>
              </a:lnSpc>
              <a:spcAft>
                <a:spcPts val="0"/>
              </a:spcAft>
            </a:pPr>
            <a:r>
              <a:rPr sz="1050" b="0" i="0">
                <a:solidFill>
                  <a:srgbClr val="FFFFFF"/>
                </a:solidFill>
                <a:latin typeface="Calibri"/>
              </a:rPr>
              <a:t>New interactive requests refused; reports fail to render.</a:t>
            </a:r>
          </a:p>
        </p:txBody>
      </p:sp>
      <p:sp>
        <p:nvSpPr>
          <p:cNvPr id="24" name="Rectangle 23"/>
          <p:cNvSpPr/>
          <p:nvPr/>
        </p:nvSpPr>
        <p:spPr>
          <a:xfrm>
            <a:off x="9683496" y="2788920"/>
            <a:ext cx="2148840" cy="1874519"/>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56648" y="2898648"/>
            <a:ext cx="2002536" cy="640080"/>
          </a:xfrm>
          <a:prstGeom prst="rect">
            <a:avLst/>
          </a:prstGeom>
          <a:noFill/>
        </p:spPr>
        <p:txBody>
          <a:bodyPr wrap="square" anchor="ctr" lIns="0" rIns="0" tIns="0" bIns="0">
            <a:spAutoFit/>
          </a:bodyPr>
          <a:lstStyle/>
          <a:p>
            <a:pPr algn="ctr">
              <a:lnSpc>
                <a:spcPct val="105000"/>
              </a:lnSpc>
              <a:spcAft>
                <a:spcPts val="0"/>
              </a:spcAft>
            </a:pPr>
            <a:r>
              <a:rPr sz="1400" b="1" i="0">
                <a:solidFill>
                  <a:srgbClr val="FFFFFF"/>
                </a:solidFill>
                <a:latin typeface="Calibri"/>
              </a:rPr>
              <a:t>Background</a:t>
            </a:r>
            <a:br/>
            <a:r>
              <a:rPr sz="1400" b="1" i="0">
                <a:solidFill>
                  <a:srgbClr val="FFFFFF"/>
                </a:solidFill>
                <a:latin typeface="Calibri"/>
              </a:rPr>
              <a:t>Rejection</a:t>
            </a:r>
          </a:p>
        </p:txBody>
      </p:sp>
      <p:sp>
        <p:nvSpPr>
          <p:cNvPr id="26" name="TextBox 25"/>
          <p:cNvSpPr txBox="1"/>
          <p:nvPr/>
        </p:nvSpPr>
        <p:spPr>
          <a:xfrm>
            <a:off x="9756648" y="3538728"/>
            <a:ext cx="2002536" cy="384048"/>
          </a:xfrm>
          <a:prstGeom prst="rect">
            <a:avLst/>
          </a:prstGeom>
          <a:noFill/>
        </p:spPr>
        <p:txBody>
          <a:bodyPr wrap="square" anchor="ctr" lIns="0" rIns="0" tIns="0" bIns="0">
            <a:spAutoFit/>
          </a:bodyPr>
          <a:lstStyle/>
          <a:p>
            <a:pPr algn="ctr">
              <a:lnSpc>
                <a:spcPct val="100000"/>
              </a:lnSpc>
              <a:spcAft>
                <a:spcPts val="0"/>
              </a:spcAft>
            </a:pPr>
            <a:r>
              <a:rPr sz="1100" b="0" i="1">
                <a:solidFill>
                  <a:srgbClr val="FFFFFF"/>
                </a:solidFill>
                <a:latin typeface="Consolas"/>
              </a:rPr>
              <a:t>24-h avg &gt; 100%</a:t>
            </a:r>
          </a:p>
        </p:txBody>
      </p:sp>
      <p:sp>
        <p:nvSpPr>
          <p:cNvPr id="27" name="TextBox 26"/>
          <p:cNvSpPr txBox="1"/>
          <p:nvPr/>
        </p:nvSpPr>
        <p:spPr>
          <a:xfrm>
            <a:off x="9774936" y="3959352"/>
            <a:ext cx="1965960" cy="658368"/>
          </a:xfrm>
          <a:prstGeom prst="rect">
            <a:avLst/>
          </a:prstGeom>
          <a:noFill/>
        </p:spPr>
        <p:txBody>
          <a:bodyPr wrap="square" anchor="ctr" lIns="0" rIns="0" tIns="0" bIns="0">
            <a:spAutoFit/>
          </a:bodyPr>
          <a:lstStyle/>
          <a:p>
            <a:pPr algn="ctr">
              <a:lnSpc>
                <a:spcPct val="115000"/>
              </a:lnSpc>
              <a:spcAft>
                <a:spcPts val="0"/>
              </a:spcAft>
            </a:pPr>
            <a:r>
              <a:rPr sz="1050" b="0" i="0">
                <a:solidFill>
                  <a:srgbClr val="FFFFFF"/>
                </a:solidFill>
                <a:latin typeface="Calibri"/>
              </a:rPr>
              <a:t>Scheduled refreshes and Dataflows refused until debt clears.</a:t>
            </a:r>
          </a:p>
        </p:txBody>
      </p:sp>
      <p:sp>
        <p:nvSpPr>
          <p:cNvPr id="28" name="Right Arrow 27"/>
          <p:cNvSpPr/>
          <p:nvPr/>
        </p:nvSpPr>
        <p:spPr>
          <a:xfrm>
            <a:off x="2606040" y="4800599"/>
            <a:ext cx="237744" cy="256032"/>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901184" y="4800599"/>
            <a:ext cx="237744" cy="256032"/>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196328" y="4800599"/>
            <a:ext cx="237744" cy="256032"/>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9491472" y="4800599"/>
            <a:ext cx="237744" cy="256032"/>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166359"/>
            <a:ext cx="10881360" cy="411480"/>
          </a:xfrm>
          <a:prstGeom prst="rect">
            <a:avLst/>
          </a:prstGeom>
          <a:noFill/>
        </p:spPr>
        <p:txBody>
          <a:bodyPr wrap="square" anchor="t" lIns="0" rIns="0" tIns="0" bIns="0">
            <a:spAutoFit/>
          </a:bodyPr>
          <a:lstStyle/>
          <a:p>
            <a:pPr algn="ctr">
              <a:lnSpc>
                <a:spcPct val="100000"/>
              </a:lnSpc>
              <a:spcAft>
                <a:spcPts val="0"/>
              </a:spcAft>
            </a:pPr>
            <a:r>
              <a:rPr sz="1150" b="0" i="1">
                <a:solidFill>
                  <a:srgbClr val="4B5563"/>
                </a:solidFill>
                <a:latin typeface="Calibri"/>
              </a:rPr>
              <a:t>Escalation as sustained CU overage grows  →  recovery flows right-to-left as usage drops back under budget.</a:t>
            </a:r>
          </a:p>
        </p:txBody>
      </p:sp>
      <p:sp>
        <p:nvSpPr>
          <p:cNvPr id="33" name="TextBox 32"/>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5 opens the capacity metrics app (where available) to identify interactive vs. background pressure and throttling signals; alternate path maps symptoms to operational actions.</a:t>
            </a:r>
          </a:p>
        </p:txBody>
      </p:sp>
      <p:sp>
        <p:nvSpPr>
          <p:cNvPr id="34" name="TextBox 3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Azure Government Considerations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Validate the four gates for every Premium/Fabric feature: (1) cloud parity, (2) licensing/SKU availability, (3) tenant admin settings, (4) capacity/workspace configuration.</a:t>
            </a:r>
          </a:p>
          <a:p>
            <a:pPr>
              <a:lnSpc>
                <a:spcPct val="105000"/>
              </a:lnSpc>
              <a:spcAft>
                <a:spcPts val="1000"/>
              </a:spcAft>
              <a:buClr>
                <a:srgbClr val="1E2761"/>
              </a:buClr>
              <a:buFont typeface="Arial"/>
              <a:buChar char="•"/>
            </a:pPr>
            <a:r>
              <a:rPr sz="1450">
                <a:solidFill>
                  <a:srgbClr val="1F2328"/>
                </a:solidFill>
                <a:latin typeface="Calibri"/>
              </a:rPr>
              <a:t>'Commercial-focused / Verify for Gov' items in this module: Fabric capacity, Direct Lake, OneLake/Lakehouse/Warehouse, Semantic Link, autoscale. Assume unavailable until confirmed.</a:t>
            </a:r>
          </a:p>
          <a:p>
            <a:pPr>
              <a:lnSpc>
                <a:spcPct val="105000"/>
              </a:lnSpc>
              <a:spcAft>
                <a:spcPts val="1000"/>
              </a:spcAft>
              <a:buClr>
                <a:srgbClr val="1E2761"/>
              </a:buClr>
              <a:buFont typeface="Arial"/>
              <a:buChar char="•"/>
            </a:pPr>
            <a:r>
              <a:rPr sz="1450">
                <a:solidFill>
                  <a:srgbClr val="1F2328"/>
                </a:solidFill>
                <a:latin typeface="Calibri"/>
              </a:rPr>
              <a:t>'Verify for Gov' items: XMLA endpoint, paginated reports, large semantic models, capacity metrics app. Typically available but must be confirmed in the target tenant.</a:t>
            </a:r>
          </a:p>
          <a:p>
            <a:pPr>
              <a:lnSpc>
                <a:spcPct val="105000"/>
              </a:lnSpc>
              <a:spcAft>
                <a:spcPts val="1000"/>
              </a:spcAft>
              <a:buClr>
                <a:srgbClr val="1E2761"/>
              </a:buClr>
              <a:buFont typeface="Arial"/>
              <a:buChar char="•"/>
            </a:pPr>
            <a:r>
              <a:rPr sz="1450">
                <a:solidFill>
                  <a:srgbClr val="1F2328"/>
                </a:solidFill>
                <a:latin typeface="Calibri"/>
              </a:rPr>
              <a:t>Every architecture recommendation must ship with a Gov-safe fallback — usually Pro or PPU + Import from Azure SQL/Synapse/ADLS Gen2, with scheduled refresh and paginated SSRS if pixel-perfect output is required.</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Gov customers can't consume 'coming soon' — the design must work with the features available today in their cloud.</a:t>
            </a:r>
          </a:p>
          <a:p>
            <a:pPr>
              <a:lnSpc>
                <a:spcPct val="105000"/>
              </a:lnSpc>
              <a:spcAft>
                <a:spcPts val="1000"/>
              </a:spcAft>
              <a:buClr>
                <a:srgbClr val="E8B44A"/>
              </a:buClr>
              <a:buFont typeface="Arial"/>
              <a:buChar char="•"/>
            </a:pPr>
            <a:r>
              <a:rPr sz="1450">
                <a:solidFill>
                  <a:srgbClr val="1F2328"/>
                </a:solidFill>
                <a:latin typeface="Calibri"/>
              </a:rPr>
              <a:t>Named fallbacks avoid awkward mid-engagement redesigns when a feature turns out not to be available.</a:t>
            </a:r>
          </a:p>
          <a:p>
            <a:pPr>
              <a:lnSpc>
                <a:spcPct val="105000"/>
              </a:lnSpc>
              <a:spcAft>
                <a:spcPts val="1000"/>
              </a:spcAft>
              <a:buClr>
                <a:srgbClr val="E8B44A"/>
              </a:buClr>
              <a:buFont typeface="Arial"/>
              <a:buChar char="•"/>
            </a:pPr>
            <a:r>
              <a:rPr sz="1450">
                <a:solidFill>
                  <a:srgbClr val="1F2328"/>
                </a:solidFill>
                <a:latin typeface="Calibri"/>
              </a:rPr>
              <a:t>The four-gate validation is repeatable across engagements and documents the risk explicitly, which is what compliance reviewers expect to see.</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explicitly asks learners to document required Gov validations for the chosen option.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12</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Architecture Decision Review</a:t>
            </a:r>
          </a:p>
        </p:txBody>
      </p:sp>
      <p:sp>
        <p:nvSpPr>
          <p:cNvPr id="6" name="TextBox 5"/>
          <p:cNvSpPr txBox="1"/>
          <p:nvPr/>
        </p:nvSpPr>
        <p:spPr>
          <a:xfrm>
            <a:off x="640080" y="1234440"/>
            <a:ext cx="10881360" cy="457200"/>
          </a:xfrm>
          <a:prstGeom prst="rect">
            <a:avLst/>
          </a:prstGeom>
          <a:noFill/>
        </p:spPr>
        <p:txBody>
          <a:bodyPr wrap="square" anchor="t" lIns="0" rIns="0" tIns="0" bIns="0">
            <a:spAutoFit/>
          </a:bodyPr>
          <a:lstStyle/>
          <a:p>
            <a:pPr algn="l">
              <a:lnSpc>
                <a:spcPct val="100000"/>
              </a:lnSpc>
              <a:spcAft>
                <a:spcPts val="0"/>
              </a:spcAft>
            </a:pPr>
            <a:r>
              <a:rPr sz="1500" b="1" i="0">
                <a:solidFill>
                  <a:srgbClr val="141B45"/>
                </a:solidFill>
                <a:latin typeface="Cambria"/>
              </a:rPr>
              <a:t>Workspaces are assigned to a license mode; the mode gates which features light up.</a:t>
            </a:r>
          </a:p>
        </p:txBody>
      </p:sp>
      <p:sp>
        <p:nvSpPr>
          <p:cNvPr id="7" name="Rectangle 6"/>
          <p:cNvSpPr/>
          <p:nvPr/>
        </p:nvSpPr>
        <p:spPr>
          <a:xfrm>
            <a:off x="640080" y="2194560"/>
            <a:ext cx="2926080" cy="310896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77440"/>
            <a:ext cx="2926080" cy="411480"/>
          </a:xfrm>
          <a:prstGeom prst="rect">
            <a:avLst/>
          </a:prstGeom>
          <a:noFill/>
        </p:spPr>
        <p:txBody>
          <a:bodyPr wrap="square" anchor="t" lIns="0" rIns="0" tIns="0" bIns="0">
            <a:spAutoFit/>
          </a:bodyPr>
          <a:lstStyle/>
          <a:p>
            <a:pPr algn="ctr">
              <a:lnSpc>
                <a:spcPct val="100000"/>
              </a:lnSpc>
              <a:spcAft>
                <a:spcPts val="0"/>
              </a:spcAft>
            </a:pPr>
            <a:r>
              <a:rPr sz="1500" b="1" i="0">
                <a:solidFill>
                  <a:srgbClr val="141B45"/>
                </a:solidFill>
                <a:latin typeface="Calibri"/>
              </a:rPr>
              <a:t>Power BI workspace</a:t>
            </a:r>
          </a:p>
        </p:txBody>
      </p:sp>
      <p:sp>
        <p:nvSpPr>
          <p:cNvPr id="9" name="TextBox 8"/>
          <p:cNvSpPr txBox="1"/>
          <p:nvPr/>
        </p:nvSpPr>
        <p:spPr>
          <a:xfrm>
            <a:off x="822960" y="2971800"/>
            <a:ext cx="2560320" cy="2194560"/>
          </a:xfrm>
          <a:prstGeom prst="rect">
            <a:avLst/>
          </a:prstGeom>
          <a:noFill/>
        </p:spPr>
        <p:txBody>
          <a:bodyPr wrap="square" anchor="t" lIns="0" rIns="0" tIns="0" bIns="0">
            <a:spAutoFit/>
          </a:bodyPr>
          <a:lstStyle/>
          <a:p>
            <a:pPr algn="l">
              <a:lnSpc>
                <a:spcPct val="130000"/>
              </a:lnSpc>
              <a:spcAft>
                <a:spcPts val="0"/>
              </a:spcAft>
            </a:pPr>
            <a:r>
              <a:rPr sz="1200" b="0" i="0">
                <a:solidFill>
                  <a:srgbClr val="1F2328"/>
                </a:solidFill>
                <a:latin typeface="Calibri"/>
              </a:rPr>
              <a:t>Contains:</a:t>
            </a:r>
            <a:br/>
            <a:r>
              <a:rPr sz="1200" b="0" i="0">
                <a:solidFill>
                  <a:srgbClr val="1F2328"/>
                </a:solidFill>
                <a:latin typeface="Calibri"/>
              </a:rPr>
              <a:t>  • Semantic models</a:t>
            </a:r>
            <a:br/>
            <a:r>
              <a:rPr sz="1200" b="0" i="0">
                <a:solidFill>
                  <a:srgbClr val="1F2328"/>
                </a:solidFill>
                <a:latin typeface="Calibri"/>
              </a:rPr>
              <a:t>  • Reports &amp; dashboards</a:t>
            </a:r>
            <a:br/>
            <a:r>
              <a:rPr sz="1200" b="0" i="0">
                <a:solidFill>
                  <a:srgbClr val="1F2328"/>
                </a:solidFill>
                <a:latin typeface="Calibri"/>
              </a:rPr>
              <a:t>  • Dataflows / Datamarts</a:t>
            </a:r>
            <a:br/>
            <a:r>
              <a:rPr sz="1200" b="0" i="0">
                <a:solidFill>
                  <a:srgbClr val="1F2328"/>
                </a:solidFill>
                <a:latin typeface="Calibri"/>
              </a:rPr>
              <a:t>  • Paginated reports</a:t>
            </a:r>
            <a:br/>
            <a:r>
              <a:rPr sz="1200" b="0" i="0">
                <a:solidFill>
                  <a:srgbClr val="1F2328"/>
                </a:solidFill>
                <a:latin typeface="Calibri"/>
              </a:rPr>
              <a:t>  • Notebooks / Lakehouses (Fabric)</a:t>
            </a:r>
            <a:br/>
            <a:br/>
            <a:r>
              <a:rPr sz="1200" b="0" i="0">
                <a:solidFill>
                  <a:srgbClr val="1F2328"/>
                </a:solidFill>
                <a:latin typeface="Calibri"/>
              </a:rPr>
              <a:t>Admin sets one license mode per workspace.</a:t>
            </a:r>
          </a:p>
        </p:txBody>
      </p:sp>
      <p:sp>
        <p:nvSpPr>
          <p:cNvPr id="10" name="Rectangle 9"/>
          <p:cNvSpPr/>
          <p:nvPr/>
        </p:nvSpPr>
        <p:spPr>
          <a:xfrm>
            <a:off x="4892040" y="2011680"/>
            <a:ext cx="6903720" cy="868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92040" y="2011680"/>
            <a:ext cx="128016" cy="868680"/>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8072" y="2084832"/>
            <a:ext cx="65379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41B45"/>
                </a:solidFill>
                <a:latin typeface="Calibri"/>
              </a:rPr>
              <a:t>Pro (shared capacity)</a:t>
            </a:r>
          </a:p>
        </p:txBody>
      </p:sp>
      <p:sp>
        <p:nvSpPr>
          <p:cNvPr id="13" name="TextBox 12"/>
          <p:cNvSpPr txBox="1"/>
          <p:nvPr/>
        </p:nvSpPr>
        <p:spPr>
          <a:xfrm>
            <a:off x="5148072" y="2395728"/>
            <a:ext cx="6537960" cy="457200"/>
          </a:xfrm>
          <a:prstGeom prst="rect">
            <a:avLst/>
          </a:prstGeom>
          <a:noFill/>
        </p:spPr>
        <p:txBody>
          <a:bodyPr wrap="square" anchor="t" lIns="0" rIns="0" tIns="0" bIns="0">
            <a:spAutoFit/>
          </a:bodyPr>
          <a:lstStyle/>
          <a:p>
            <a:pPr algn="l">
              <a:lnSpc>
                <a:spcPct val="120000"/>
              </a:lnSpc>
              <a:spcAft>
                <a:spcPts val="0"/>
              </a:spcAft>
            </a:pPr>
            <a:r>
              <a:rPr sz="1100" b="0" i="0">
                <a:solidFill>
                  <a:srgbClr val="1F2328"/>
                </a:solidFill>
                <a:latin typeface="Calibri"/>
              </a:rPr>
              <a:t>Per-user Pro license. Model ≤ 1 GB, 8 refreshes/day. No XMLA write, no paginated, no large model.</a:t>
            </a:r>
          </a:p>
        </p:txBody>
      </p:sp>
      <p:sp>
        <p:nvSpPr>
          <p:cNvPr id="14" name="Right Arrow 13"/>
          <p:cNvSpPr/>
          <p:nvPr/>
        </p:nvSpPr>
        <p:spPr>
          <a:xfrm>
            <a:off x="3611880" y="2345436"/>
            <a:ext cx="1234440" cy="201168"/>
          </a:xfrm>
          <a:prstGeom prst="rightArrow">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892040" y="2990088"/>
            <a:ext cx="6903720" cy="868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92040" y="2990088"/>
            <a:ext cx="128016"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3063240"/>
            <a:ext cx="65379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41B45"/>
                </a:solidFill>
                <a:latin typeface="Calibri"/>
              </a:rPr>
              <a:t>Premium Per User (PPU)</a:t>
            </a:r>
          </a:p>
        </p:txBody>
      </p:sp>
      <p:sp>
        <p:nvSpPr>
          <p:cNvPr id="18" name="TextBox 17"/>
          <p:cNvSpPr txBox="1"/>
          <p:nvPr/>
        </p:nvSpPr>
        <p:spPr>
          <a:xfrm>
            <a:off x="5148072" y="3374136"/>
            <a:ext cx="6537960" cy="457200"/>
          </a:xfrm>
          <a:prstGeom prst="rect">
            <a:avLst/>
          </a:prstGeom>
          <a:noFill/>
        </p:spPr>
        <p:txBody>
          <a:bodyPr wrap="square" anchor="t" lIns="0" rIns="0" tIns="0" bIns="0">
            <a:spAutoFit/>
          </a:bodyPr>
          <a:lstStyle/>
          <a:p>
            <a:pPr algn="l">
              <a:lnSpc>
                <a:spcPct val="120000"/>
              </a:lnSpc>
              <a:spcAft>
                <a:spcPts val="0"/>
              </a:spcAft>
            </a:pPr>
            <a:r>
              <a:rPr sz="1100" b="0" i="0">
                <a:solidFill>
                  <a:srgbClr val="1F2328"/>
                </a:solidFill>
                <a:latin typeface="Calibri"/>
              </a:rPr>
              <a:t>Per-user PPU license. Premium features (XMLA, paginated, large models with tenant setting) but audience must also hold PPU.</a:t>
            </a:r>
          </a:p>
        </p:txBody>
      </p:sp>
      <p:sp>
        <p:nvSpPr>
          <p:cNvPr id="19" name="Right Arrow 18"/>
          <p:cNvSpPr/>
          <p:nvPr/>
        </p:nvSpPr>
        <p:spPr>
          <a:xfrm>
            <a:off x="3611880" y="3323844"/>
            <a:ext cx="1234440" cy="201168"/>
          </a:xfrm>
          <a:prstGeom prst="right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3968496"/>
            <a:ext cx="6903720" cy="868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3968496"/>
            <a:ext cx="128016" cy="86868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48072" y="4041648"/>
            <a:ext cx="65379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41B45"/>
                </a:solidFill>
                <a:latin typeface="Calibri"/>
              </a:rPr>
              <a:t>Premium capacity (P/EM SKU)</a:t>
            </a:r>
          </a:p>
        </p:txBody>
      </p:sp>
      <p:sp>
        <p:nvSpPr>
          <p:cNvPr id="23" name="TextBox 22"/>
          <p:cNvSpPr txBox="1"/>
          <p:nvPr/>
        </p:nvSpPr>
        <p:spPr>
          <a:xfrm>
            <a:off x="5148072" y="4352544"/>
            <a:ext cx="6537960" cy="457200"/>
          </a:xfrm>
          <a:prstGeom prst="rect">
            <a:avLst/>
          </a:prstGeom>
          <a:noFill/>
        </p:spPr>
        <p:txBody>
          <a:bodyPr wrap="square" anchor="t" lIns="0" rIns="0" tIns="0" bIns="0">
            <a:spAutoFit/>
          </a:bodyPr>
          <a:lstStyle/>
          <a:p>
            <a:pPr algn="l">
              <a:lnSpc>
                <a:spcPct val="120000"/>
              </a:lnSpc>
              <a:spcAft>
                <a:spcPts val="0"/>
              </a:spcAft>
            </a:pPr>
            <a:r>
              <a:rPr sz="1100" b="0" i="0">
                <a:solidFill>
                  <a:srgbClr val="1F2328"/>
                </a:solidFill>
                <a:latin typeface="Calibri"/>
              </a:rPr>
              <a:t>Reserved capacity (P1-P5, EM1-EM3). Free-viewer sharing, XMLA r/w, paginated, large models, autoscale add-on.</a:t>
            </a:r>
          </a:p>
        </p:txBody>
      </p:sp>
      <p:sp>
        <p:nvSpPr>
          <p:cNvPr id="24" name="Right Arrow 23"/>
          <p:cNvSpPr/>
          <p:nvPr/>
        </p:nvSpPr>
        <p:spPr>
          <a:xfrm>
            <a:off x="3611880" y="4302252"/>
            <a:ext cx="1234440" cy="201168"/>
          </a:xfrm>
          <a:prstGeom prst="rightArrow">
            <a:avLst/>
          </a:prstGeom>
          <a:solidFill>
            <a:srgbClr val="141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892040" y="4946904"/>
            <a:ext cx="6903720" cy="868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892040" y="4946904"/>
            <a:ext cx="128016" cy="86868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48072" y="5020056"/>
            <a:ext cx="65379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41B45"/>
                </a:solidFill>
                <a:latin typeface="Calibri"/>
              </a:rPr>
              <a:t>Fabric capacity (F SKU)</a:t>
            </a:r>
          </a:p>
        </p:txBody>
      </p:sp>
      <p:sp>
        <p:nvSpPr>
          <p:cNvPr id="28" name="TextBox 27"/>
          <p:cNvSpPr txBox="1"/>
          <p:nvPr/>
        </p:nvSpPr>
        <p:spPr>
          <a:xfrm>
            <a:off x="5148072" y="5330952"/>
            <a:ext cx="6537960" cy="457200"/>
          </a:xfrm>
          <a:prstGeom prst="rect">
            <a:avLst/>
          </a:prstGeom>
          <a:noFill/>
        </p:spPr>
        <p:txBody>
          <a:bodyPr wrap="square" anchor="t" lIns="0" rIns="0" tIns="0" bIns="0">
            <a:spAutoFit/>
          </a:bodyPr>
          <a:lstStyle/>
          <a:p>
            <a:pPr algn="l">
              <a:lnSpc>
                <a:spcPct val="120000"/>
              </a:lnSpc>
              <a:spcAft>
                <a:spcPts val="0"/>
              </a:spcAft>
            </a:pPr>
            <a:r>
              <a:rPr sz="1100" b="0" i="0">
                <a:solidFill>
                  <a:srgbClr val="1F2328"/>
                </a:solidFill>
                <a:latin typeface="Calibri"/>
              </a:rPr>
              <a:t>F2-F2048. Fabric CU meter, OneLake, Lakehouse/Warehouse, Direct Lake, Semantic Link. F64+ unlocks free Power BI viewer sharing.</a:t>
            </a:r>
          </a:p>
        </p:txBody>
      </p:sp>
      <p:sp>
        <p:nvSpPr>
          <p:cNvPr id="29" name="Right Arrow 28"/>
          <p:cNvSpPr/>
          <p:nvPr/>
        </p:nvSpPr>
        <p:spPr>
          <a:xfrm>
            <a:off x="3611880" y="5280660"/>
            <a:ext cx="1234440" cy="201168"/>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72200"/>
            <a:ext cx="10881360" cy="54864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1's deliverable is exactly this — a recorded recommendation with option, requirements met, risks, and Gov validation plan.</a:t>
            </a:r>
          </a:p>
        </p:txBody>
      </p:sp>
      <p:sp>
        <p:nvSpPr>
          <p:cNvPr id="31" name="TextBox 30"/>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13 — WHAT YOU'LL BUILD</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Licensing and capacity comparison — map workload requirements to Pro/PPU/Premium/Fabric options.</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XMLA endpoint (where available) — confirm setting, connect with an approved tool, inspect metadata.</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Paginated report (where available) — build a simple report with a table and parameter in Report Builder.</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Large semantic model settings (where available) — review workspace + model settings and document constraints.</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commercial: Direct Lake, OneLake/Lakehouse/Warehouse, Semantic Link — inspect items where the tenant supports them.</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5: Capacity metrics and throttling concepts — identify interactive vs. background pressure, symptoms, and operational follow-up.</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Alternate path for every exercise: conceptual walk-through + written Gov-safe fallback for classes on restricted tenants.</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Deliverable: a documented recommendation per scenario, including required Azure Government validations.</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14 — WRAP-UP</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&amp; Discussion</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Capacity comparison completed with a defensible recommendation.</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XMLA endpoint marked Verify for Gov with a documented fallback.</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Paginated reports marked Verify for Gov with a documented fallback.</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Large semantic models marked Verify for Gov with capacity + tenant validation steps.</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Direct Lake, OneLake/Lakehouse/Warehouse, Semantic Link, and autoscale marked Commercial-focused / Verify for Gov.</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Capacity metrics marked Verify for Gov with a symptom → action mapping.</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Gov-safe alternate architecture documented end-to-end.</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which of today's features would you accept as hard requirements, and which would you always ship with a fallback?</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10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can now compare Pro, PPU, Premium, and Fabric capacity options, interpret capacity metrics and throttling, and design Gov-safe architectures with explicit fallbacks for every Verify-for-Gov feature.</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11: Automation and DevOps — building CI/CD pipelines that target the workspaces and capacities you just designed.</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