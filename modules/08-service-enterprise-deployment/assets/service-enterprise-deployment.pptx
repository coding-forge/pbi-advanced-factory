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8. Frame this module as the moment where the artifacts they built in Modules 1 through 7 — the semantic model, the DAX measures, the report pages, the security roles — stop living on a laptop and start living in the Power BI Service, where real users consume them.</a:t>
            </a:r>
          </a:p>
          <a:p>
            <a:r>
              <a:t>Set expectations: this is not primarily a Desktop authoring module. Most of what we cover here happens in the browser at app.powerbi.com — workspaces, roles, semantic model settings, gateway configuration, Apps, deployment pipelines, and endorsement. The lab is deliberately tenant-shaped: students publish PBIP content, review refresh and gateway settings, package an App, and walk through the endorsement checklist.</a:t>
            </a:r>
          </a:p>
          <a:p>
            <a:r>
              <a:t>Preview the lab: students take the PBIP report and model from earlier modules, publish them to a training workspace, review scheduled refresh and credentials, discuss gateway architecture, build a thin report against the shared semantic model, distribute the content as a Power BI App, and complete the endorsement governance checklist.</a:t>
            </a:r>
          </a:p>
          <a:p>
            <a:r>
              <a:t>Call out the Azure Government angle up front. Core deployment — workspaces, roles, publishing, Apps, endorsement — is Gov-ready. Gateways, cloud connections, App audiences, and deployment pipelines are Verify for Gov: we teach them, but students may not be able to run them hands-on depending on tenant policy and licensing.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thirteen agenda items at a brisk pace. Group them mentally: topics 1-3 are the deployment target — workspaces, roles, ownership. Topics 4-6 are the operational plumbing — publishing, refresh, gateways. Topics 7-10 are the distribution and governance layer — shared models, Apps, pipelines, endorsement.</a:t>
            </a:r>
          </a:p>
          <a:p>
            <a:r>
              <a:t>Flag that topics 6, 8-audience, 9, and 11 (gateways, App audiences, deployment pipelines, Azure Government) contain material that is Verify-for-Gov — we will teach the pattern and architecture even where the classroom tenant cannot support a live demo.</a:t>
            </a:r>
          </a:p>
          <a:p>
            <a:r>
              <a:t>Tell students that topic 12 is where all of this becomes real — they publish actual PBIP-authored content, wire up refresh, build a thin report on a shared model, and distribute an App. Topic 13 is the knowledge check and open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drawing the boundary line for the module: everything to the left of publish is authoring — Desktop, PBIP, source control. Everything to the right is deployment — the Service, workspaces, refresh, Apps, endorsement. Module 8 is the right-hand side.</a:t>
            </a:r>
          </a:p>
          <a:p>
            <a:r>
              <a:t>Emphasize the PBIP shift. In the old world .pbix was the deliverable; in the current world PBIP is the source of record and .pbix is a generated artifact. That matters because Git-based review, code-review-style approval, and reproducible builds are only possible against PBIP. If your team is still emailing .pbix files around, deployment governance is impossible.</a:t>
            </a:r>
          </a:p>
          <a:p>
            <a:r>
              <a:t>Give the concrete owner example: a report author moves teams and the semantic model credential expires six months later. Without a named support owner, the refresh failure email goes to a dead mailbox and consumers see stale data for a week before anyone notices. This is why we insist on two names, not one.</a:t>
            </a:r>
          </a:p>
          <a:p>
            <a:r>
              <a:t>Transition: the next several topics unpack each piece of that supportability contract — starting with the container everything lives in, the workspace.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acknowledging that workspaces are unglamorous — they look like folders — but they are the fundamental security and lifecycle boundary in the Service. Every role assignment, every App, every deployment pipeline stage attaches to a workspace.</a:t>
            </a:r>
          </a:p>
          <a:p>
            <a:r>
              <a:t>Explain the three-stage pattern concretely. DEV is where the author publishes freely and breaks things. TEST is where a business SME validates the numbers against a known source of truth. PROD is where the App audience lives and where change is controlled. Give the analogy: if you would not run SQL updates directly against a production database, you should not republish reports directly to a production workspace.</a:t>
            </a:r>
          </a:p>
          <a:p>
            <a:r>
              <a:t>Walk through the naming convention with an example: 'Finance — Revenue Reporting — PROD'. Contrast with the anti-pattern of 'John's Workspace' or 'New Workspace (2)'. In a tenant with 500 workspaces, naming is not aesthetic — it is search.</a:t>
            </a:r>
          </a:p>
          <a:p>
            <a:r>
              <a:t>Transition: once you have workspaces, the next question is who can do what inside them, which is roles — the next topic.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down the table left to right. Emphasize that these four roles are the entire security surface of a workspace — there are no custom roles, no fine-grained per-report permissions inside a workspace. If you need more granularity than this, you use a shared semantic model with Build permission, or App audiences, or RLS.</a:t>
            </a:r>
          </a:p>
          <a:p>
            <a:r>
              <a:t>Stress the Admin/Member distinction: it is easy to over-grant Admin because 'they need to publish' — but Member can publish too. Reserve Admin for the one or two people who own the workspace lifecycle. In a Certified content workspace, having six Admins is a governance red flag.</a:t>
            </a:r>
          </a:p>
          <a:p>
            <a:r>
              <a:t>Explain the Viewer anti-pattern in the footer: adding fifty Viewers directly to a PROD workspace works, but it means the audience list is now tangled up with the workspace membership list, and you cannot revoke consumer access without touching the workspace itself. Apps decouple these two concerns.</a:t>
            </a:r>
          </a:p>
          <a:p>
            <a:r>
              <a:t>Transition: now that we know who can act inside a workspace, let's actually publish something into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mechanics quickly and then focus on the two things students always get wrong. First: publish creates two artifacts, not one — the report file and the semantic model. They appear as separate rows in the workspace, they can be managed independently, and the report row is really just a pointer to the model plus a page layout definition.</a:t>
            </a:r>
          </a:p>
          <a:p>
            <a:r>
              <a:t>Second: whoever hits Publish becomes the semantic model owner by default. That is fine for DEV. In PROD it is a time bomb — an individual account is a single point of failure. Show the 'Take over' button in the semantic model Settings page and explain that Certified content typically has its ownership taken over by a service principal or a shared team account.</a:t>
            </a:r>
          </a:p>
          <a:p>
            <a:r>
              <a:t>Give the overwrite-vs-delete example: a subscriber has a weekly email subscription to the report. If you delete the report and republish, their subscription is silently gone. If you overwrite (publish with the same name), the subscription survives. 'Publish' is an upsert, not an insert.</a:t>
            </a:r>
          </a:p>
          <a:p>
            <a:r>
              <a:t>Transition: once content is in the Service, the interesting question is how it stays current — which is refresh.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mental model split: a semantic model has data, a report does not. Therefore refresh belongs to the model. This is one of those things that is obvious once you know it and confusing until then — students will look for the refresh button on the report and not find it.</a:t>
            </a:r>
          </a:p>
          <a:p>
            <a:r>
              <a:t>Walk through the credential story slowly. When you develop in Desktop, credentials are cached on your machine — refresh 'just works'. When you publish, none of that travels with the model. The Service pops up asking for credentials again, and if you skip that dialog, scheduled refresh will fail with 'credentials not configured'. Make this the first thing students check in Exercise 2.</a:t>
            </a:r>
          </a:p>
          <a:p>
            <a:r>
              <a:t>Explain privacy levels with a concrete example: a query that joins a public CSV to an internal SQL Server will refuse to fold if their privacy levels are incompatible, and Power BI shows a 'Formula.Firewall' error. The fix is to declare both sources' privacy levels consistently in the data source settings. Students who see this error in the wild almost always assume it is a code bug — it isn't.</a:t>
            </a:r>
          </a:p>
          <a:p>
            <a:r>
              <a:t>Close with refresh history: this is the operational dashboard for the model. When a consumer says 'the data looks wrong', the first check is not the DAX — it is when the model last refreshed successfully.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gateway as a translator that lives behind the corporate firewall. The Power BI Service cannot reach an internal SQL Server directly — the network doesn't allow it. So a small Windows service runs on-prem, holds an outbound connection to the Service, and forwards refresh queries into the internal source. That's it. It's not magic and it's not a virtual machine — it's a Windows service on a domain-joined box.</a:t>
            </a:r>
          </a:p>
          <a:p>
            <a:r>
              <a:t>Explain clustering with the operational example: a single-node gateway means every Patch Tuesday reboot silently breaks refresh for hours. Two nodes registered as a cluster give you high availability and load balancing at no extra license cost — just a second VM. Any real production deployment uses at least two.</a:t>
            </a:r>
          </a:p>
          <a:p>
            <a:r>
              <a:t>Cover data source mappings and cloud connections at a lighter touch: the important conceptual point is that the semantic model does not store credentials to the source directly — it references a named gateway data source or cloud connection, and the credentials live there. This is what lets a Power BI admin rotate a credential once and affect every model that uses it.</a:t>
            </a:r>
          </a:p>
          <a:p>
            <a:r>
              <a:t>Close with the Gov-verification note. In Azure Government the gateway installer is different, the connector matrix is smaller, and some cloud connections may not be generally available yet. This is why Exercise 3 has an explicit 'alternate path' — we teach the architecture even where we cannot demo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shift in mental model: for years, every .pbix was a self-contained unit — model plus report bundled together. Shared semantic models break that: the model is a first-class Service artifact that other reports connect to, the way many applications connect to one database.</a:t>
            </a:r>
          </a:p>
          <a:p>
            <a:r>
              <a:t>Explain Build permission concretely. Read permission means 'you can open reports built on this model'. Build permission means 'you can create new reports that connect to this model'. The distinction matters because most consumers should have Read only — we do not want ten thousand shadow reports proliferating. Build is granted deliberately, usually to a small group of trained authors.</a:t>
            </a:r>
          </a:p>
          <a:p>
            <a:r>
              <a:t>Certification is the discoverability half of the story. When a report author picks 'Connect to Power BI semantic model' in Desktop, Certified models are surfaced first with a visible badge. That is how you steer authors toward the sanctioned model instead of the seventeen unofficial copies that inevitably appear.</a:t>
            </a:r>
          </a:p>
          <a:p>
            <a:r>
              <a:t>Emphasize impact analysis: before you rename [Revenue] to [Net Revenue] on the shared model, you click Impact Analysis and see 'this affects 14 reports across 3 workspaces'. That's the difference between a controlled change and a Monday-morning outage. Have students run impact analysis in the lab even if they don't ship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App as the consumer-facing product. The workspace is the workshop where authors build; the App is the shop window where consumers browse. Consumers do not want to see all fourteen work-in-progress reports — they want a curated set with clear navigation, published deliberately.</a:t>
            </a:r>
          </a:p>
          <a:p>
            <a:r>
              <a:t>Walk through the update model, because this is where teams get confused. When an author republishes a report to the workspace, App consumers do NOT see that change immediately. The workspace and the App are decoupled by design — the author must click 'Update app' to push the workspace state to consumers. This is a feature: it means work-in-progress does not leak to consumers.</a:t>
            </a:r>
          </a:p>
          <a:p>
            <a:r>
              <a:t>Give the audience example concretely. Suppose Finance publishes one App with three audiences — 'Executives' see the summary page, 'Regional Managers' see the summary plus regional detail, and 'Analysts' see everything including the reconciliation tabs. Each audience is defined once, and the App renders the appropriate pages per user. Historically you would have shipped three separate Apps; audiences collapse that into one.</a:t>
            </a:r>
          </a:p>
          <a:p>
            <a:r>
              <a:t>Close with the Gov note on audiences. Audiences are Verify for Gov — confirm availability before promising them to a Gov customer. If unavailable, fall back to the older pattern of a single audience per App and rely on RLS for row-level differentiation.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connecting this back to Topic 2. We designed three workspaces — DEV, TEST, PROD — for a reason. Deployment pipelines are the Service feature that automates the promotion of content between them. Without a pipeline you can still promote manually by republishing to each workspace; with a pipeline you promote with a single click and get a comparison view of what changed.</a:t>
            </a:r>
          </a:p>
          <a:p>
            <a:r>
              <a:t>Walk the diagram left to right. DEV is where the author publishes freely — the model points at a dev database. TEST is where a business SME validates — the pipeline's 'deployment rule' automatically swaps the connection string to the test database when content is promoted. PROD is where the App audience lives — the deployment rule swaps to the prod database and access is tightly controlled.</a:t>
            </a:r>
          </a:p>
          <a:p>
            <a:r>
              <a:t>Explain deployment rules as the key mechanism. Without them, promoting DEV to PROD would carry the dev database connection string into PROD — which is wrong and sometimes dangerous. Rules let you say 'when this dataset lands in PROD, replace server=dev-sql with server=prod-sql'. Same for parameter values, credentials, and so on.</a:t>
            </a:r>
          </a:p>
          <a:p>
            <a:r>
              <a:t>Close with the requirements strip. Pipelines need Premium or Fabric capacity (or PPU) on each stage — this is the licensing constraint that most often blocks classroom hands-on. And they are Verify for Gov: confirm capacity availability and Service parity in Azure Government before promising a pipeline demo to a Gov customer. That is why the deployment pipelines lab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endorsement is a governance process, not just a visual badge. The badge is the last five percent — the ninety-five percent is the review that earned it. Consumers see the badge; authors and reviewers experience the process.</a:t>
            </a:r>
          </a:p>
          <a:p>
            <a:r>
              <a:t>Walk the two columns side by side. Promoted is lightweight: the content author asserts 'this is ready to share'. It's a good discoverability signal for team-scale content and requires no tenant approval. Anyone with edit rights can promote their own work.</a:t>
            </a:r>
          </a:p>
          <a:p>
            <a:r>
              <a:t>Certified is heavyweight and deliberately so. Only a small set of tenant-designated reviewers can grant it. Before they grant it, they check the boxes on the endorsement checklist — documented ownership, reliable refresh history, security review, defined support model. These are the same items on the Certified section of the lab's endorsement checklist.</a:t>
            </a:r>
          </a:p>
          <a:p>
            <a:r>
              <a:t>Give the discoverability point at the end: Certified content is not just badged, it is prioritized in the shared model picker in Desktop. That is how the tenant steers the next report author toward the sanctioned semantic model instead of them forking yet another copy. Endorsement is how governance scales.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Azure Government is not 'Power BI minus features' — it is Power BI with a delivery lag and a different validation matrix. Core features (workspaces, roles, publishing, refresh, Apps, endorsement) are Gov-ready. Advanced integration features (gateways, cloud connections, App audiences, deployment pipelines) are Verify for Gov — they may work, but confirm before you promise.</a:t>
            </a:r>
          </a:p>
          <a:p>
            <a:r>
              <a:t>Walk down the table. Point out that 'Verify for Gov' does not mean 'unavailable' — it means 'do not assume commercial-cloud parity, check the current state'. Feature GA dates shift; a feature that was Verify last quarter may be Gov-ready this quarter.</a:t>
            </a:r>
          </a:p>
          <a:p>
            <a:r>
              <a:t>Give the operational implication: when a customer asks 'can we do deployment pipelines in Gov?', the correct answer is not yes or no — it is 'let me confirm the current status in your specific tenant with your current licensing'. That is what Verify for Gov means in practice.</a:t>
            </a:r>
          </a:p>
          <a:p>
            <a:r>
              <a:t>Transition: this table is the reference students should keep after the course. When they are planning a Gov deployment, this is the first-pass triage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lab as the tenant-side counterpart to everything students have built in Modules 1-7. The PBIP report and semantic model they authored now become published Service artifacts with refresh schedules, credentials, gateways, Apps, and endorsement.</a:t>
            </a:r>
          </a:p>
          <a:p>
            <a:r>
              <a:t>Walk each exercise briefly: publish (Ex 1) proves the deployment path works; refresh (Ex 2) proves the model can stay current; gateway (Ex 3) covers the on-prem case even when we can only document it; thin report (Ex 4) proves the shared-model reuse pattern; App (Ex 5) proves consumer distribution; endorsement (Ex 6) proves the governance layer.</a:t>
            </a:r>
          </a:p>
          <a:p>
            <a:r>
              <a:t>Call out the two optional labs explicitly — App audiences and deployment pipelines. Both are Verify for Gov. If the classroom tenant supports them, do them hands-on. If not, walk the architecture and have students document what setup would be required in their target tenant.</a:t>
            </a:r>
          </a:p>
          <a:p>
            <a:r>
              <a:t>Finish with a time hint: this lab tends to run long because the Service UI is slower than Desktop and refresh operations have wait time. Encourage students to move on to the next exercise while a refresh is running rather than staring at the progress bar.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both a knowledge check and a discussion opener. Walk the checklist items in order — for each one ask a student to answer with the specifics from their lab attempt, not a generic definition.</a:t>
            </a:r>
          </a:p>
          <a:p>
            <a:r>
              <a:t>Look for these red-flag answers: 'I don't remember who the owner was', 'I skipped the credential dialog', 'I added all consumers as workspace Viewers'. Each of these is a real production anti-pattern the module was designed to prevent. Use the answer as a teaching moment, not a gotcha.</a:t>
            </a:r>
          </a:p>
          <a:p>
            <a:r>
              <a:t>For the two Verify-for-Gov items, don't ask 'did it work' — ask 'what would you need to confirm before recommending this to a Gov customer'. The correct answer mentions licensing/capacity, Service availability, and tenant policy — the same three questions we've been repeating all module.</a:t>
            </a:r>
          </a:p>
          <a:p>
            <a:r>
              <a:t>Close with the final discussion prompt about the single biggest deployment risk in the student's environment. This surfaces the real-world constraints they carry back to work — shadow reports, unowned models, expired credentials, ungoverned gateways — and often becomes the most valuable part of the whole module for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naming what students can now do: publish PBIP content into a governed workspace, configure and troubleshoot refresh, distribute an App to consumers, and walk a piece of content through the endorsement process. That is the operational half of the workshop — the authoring half is now paired with the deployment half.</a:t>
            </a:r>
          </a:p>
          <a:p>
            <a:r>
              <a:t>Reinforce the governance thread that ran through the whole module: owner, support owner, workspace role, refresh cadence, data source, gateway, App audience, endorsement. Every one of those is a documentation artifact, and together they are what turns a report into a supportable enterprise asset.</a:t>
            </a:r>
          </a:p>
          <a:p>
            <a:r>
              <a:t>Preview Module 9 — Monitoring, Administration, and Governance. Where Module 8 asked 'how do we deploy this?', Module 9 asks 'how do we run this at tenant scale?': usage metrics, activity logs, admin monitoring, capacity metrics, Purview, DLP, and the support operating model. It is the natural continuation for platform owners and support teams.</a:t>
            </a:r>
          </a:p>
          <a:p>
            <a:r>
              <a:t>End with a practical prompt: encourage students to pick one workspace they own back at work and, before Module 9, spend fifteen minutes documenting its owner, support owner, refresh history, and endorsement status. That small act closes the loop between the classroom and their real environment.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08</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Power BI Service Enterprise Deployment</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Publishing, governing, refreshing, and distributing PBIP-authored content in the Power BI Service</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08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From authoring to enterprise deployment</a:t>
            </a:r>
          </a:p>
        </p:txBody>
      </p:sp>
      <p:sp>
        <p:nvSpPr>
          <p:cNvPr id="9" name="Rectangle 8"/>
          <p:cNvSpPr/>
          <p:nvPr/>
        </p:nvSpPr>
        <p:spPr>
          <a:xfrm>
            <a:off x="64008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Workspace design (dev / test / prod)</a:t>
            </a:r>
          </a:p>
        </p:txBody>
      </p:sp>
      <p:sp>
        <p:nvSpPr>
          <p:cNvPr id="12" name="Rectangle 11"/>
          <p:cNvSpPr/>
          <p:nvPr/>
        </p:nvSpPr>
        <p:spPr>
          <a:xfrm>
            <a:off x="64008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Workspace roles and security</a:t>
            </a:r>
          </a:p>
        </p:txBody>
      </p:sp>
      <p:sp>
        <p:nvSpPr>
          <p:cNvPr id="15" name="Rectangle 14"/>
          <p:cNvSpPr/>
          <p:nvPr/>
        </p:nvSpPr>
        <p:spPr>
          <a:xfrm>
            <a:off x="64008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Publishing reports and semantic models</a:t>
            </a:r>
          </a:p>
        </p:txBody>
      </p:sp>
      <p:sp>
        <p:nvSpPr>
          <p:cNvPr id="18" name="Rectangle 17"/>
          <p:cNvSpPr/>
          <p:nvPr/>
        </p:nvSpPr>
        <p:spPr>
          <a:xfrm>
            <a:off x="64008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Refresh configuration and credentials</a:t>
            </a:r>
          </a:p>
        </p:txBody>
      </p:sp>
      <p:sp>
        <p:nvSpPr>
          <p:cNvPr id="21" name="Rectangle 20"/>
          <p:cNvSpPr/>
          <p:nvPr/>
        </p:nvSpPr>
        <p:spPr>
          <a:xfrm>
            <a:off x="64008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117043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Gateways and cloud connections</a:t>
            </a:r>
          </a:p>
        </p:txBody>
      </p:sp>
      <p:sp>
        <p:nvSpPr>
          <p:cNvPr id="24" name="Rectangle 23"/>
          <p:cNvSpPr/>
          <p:nvPr/>
        </p:nvSpPr>
        <p:spPr>
          <a:xfrm>
            <a:off x="64008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117043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Shared semantic models and thin reports</a:t>
            </a:r>
          </a:p>
        </p:txBody>
      </p:sp>
      <p:sp>
        <p:nvSpPr>
          <p:cNvPr id="27" name="Rectangle 26"/>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Power BI Apps</a:t>
            </a:r>
          </a:p>
        </p:txBody>
      </p:sp>
      <p:sp>
        <p:nvSpPr>
          <p:cNvPr id="30" name="Rectangle 29"/>
          <p:cNvSpPr/>
          <p:nvPr/>
        </p:nvSpPr>
        <p:spPr>
          <a:xfrm>
            <a:off x="630936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Deployment pipelines</a:t>
            </a:r>
          </a:p>
        </p:txBody>
      </p:sp>
      <p:sp>
        <p:nvSpPr>
          <p:cNvPr id="33" name="Rectangle 32"/>
          <p:cNvSpPr/>
          <p:nvPr/>
        </p:nvSpPr>
        <p:spPr>
          <a:xfrm>
            <a:off x="630936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Endorsement: Promoted and Certified</a:t>
            </a:r>
          </a:p>
        </p:txBody>
      </p:sp>
      <p:sp>
        <p:nvSpPr>
          <p:cNvPr id="36" name="Rectangle 35"/>
          <p:cNvSpPr/>
          <p:nvPr/>
        </p:nvSpPr>
        <p:spPr>
          <a:xfrm>
            <a:off x="630936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11</a:t>
            </a:r>
          </a:p>
        </p:txBody>
      </p:sp>
      <p:sp>
        <p:nvSpPr>
          <p:cNvPr id="38" name="TextBox 37"/>
          <p:cNvSpPr txBox="1"/>
          <p:nvPr/>
        </p:nvSpPr>
        <p:spPr>
          <a:xfrm>
            <a:off x="683971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Azure Government considerations</a:t>
            </a:r>
          </a:p>
        </p:txBody>
      </p:sp>
      <p:sp>
        <p:nvSpPr>
          <p:cNvPr id="39" name="Rectangle 38"/>
          <p:cNvSpPr/>
          <p:nvPr/>
        </p:nvSpPr>
        <p:spPr>
          <a:xfrm>
            <a:off x="630936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12</a:t>
            </a:r>
          </a:p>
        </p:txBody>
      </p:sp>
      <p:sp>
        <p:nvSpPr>
          <p:cNvPr id="41" name="TextBox 40"/>
          <p:cNvSpPr txBox="1"/>
          <p:nvPr/>
        </p:nvSpPr>
        <p:spPr>
          <a:xfrm>
            <a:off x="683971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Module lab walkthrough</a:t>
            </a:r>
          </a:p>
        </p:txBody>
      </p:sp>
      <p:sp>
        <p:nvSpPr>
          <p:cNvPr id="42" name="Rectangle 41"/>
          <p:cNvSpPr/>
          <p:nvPr/>
        </p:nvSpPr>
        <p:spPr>
          <a:xfrm>
            <a:off x="630936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13</a:t>
            </a:r>
          </a:p>
        </p:txBody>
      </p:sp>
      <p:sp>
        <p:nvSpPr>
          <p:cNvPr id="44" name="TextBox 43"/>
          <p:cNvSpPr txBox="1"/>
          <p:nvPr/>
        </p:nvSpPr>
        <p:spPr>
          <a:xfrm>
            <a:off x="683971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Knowledge check and discussion</a:t>
            </a:r>
          </a:p>
        </p:txBody>
      </p:sp>
      <p:sp>
        <p:nvSpPr>
          <p:cNvPr id="45" name="TextBox 44"/>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From Authoring to Enterprise Deployment</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PBIP is the source of record: report.json, model definitions, and TMDL under source control — not the .pbix binary.</a:t>
            </a:r>
          </a:p>
          <a:p>
            <a:pPr>
              <a:lnSpc>
                <a:spcPct val="105000"/>
              </a:lnSpc>
              <a:spcAft>
                <a:spcPts val="1000"/>
              </a:spcAft>
              <a:buClr>
                <a:srgbClr val="1E2761"/>
              </a:buClr>
              <a:buFont typeface="Arial"/>
              <a:buChar char="•"/>
            </a:pPr>
            <a:r>
              <a:rPr sz="1450">
                <a:solidFill>
                  <a:srgbClr val="1F2328"/>
                </a:solidFill>
                <a:latin typeface="Calibri"/>
              </a:rPr>
              <a:t>Publishing targets in the Service are workspaces; consumers get content through Apps, shared semantic models, or direct workspace access.</a:t>
            </a:r>
          </a:p>
          <a:p>
            <a:pPr>
              <a:lnSpc>
                <a:spcPct val="105000"/>
              </a:lnSpc>
              <a:spcAft>
                <a:spcPts val="1000"/>
              </a:spcAft>
              <a:buClr>
                <a:srgbClr val="1E2761"/>
              </a:buClr>
              <a:buFont typeface="Arial"/>
              <a:buChar char="•"/>
            </a:pPr>
            <a:r>
              <a:rPr sz="1450">
                <a:solidFill>
                  <a:srgbClr val="1F2328"/>
                </a:solidFill>
                <a:latin typeface="Calibri"/>
              </a:rPr>
              <a:t>Ownership splits into two roles: content owner (author of the report/model) and support owner (who fields the ticket when refresh fails at 2 a.m.).</a:t>
            </a:r>
          </a:p>
          <a:p>
            <a:pPr>
              <a:lnSpc>
                <a:spcPct val="105000"/>
              </a:lnSpc>
              <a:spcAft>
                <a:spcPts val="1000"/>
              </a:spcAft>
              <a:buClr>
                <a:srgbClr val="1E2761"/>
              </a:buClr>
              <a:buFont typeface="Arial"/>
              <a:buChar char="•"/>
            </a:pPr>
            <a:r>
              <a:rPr sz="1450">
                <a:solidFill>
                  <a:srgbClr val="1F2328"/>
                </a:solidFill>
                <a:latin typeface="Calibri"/>
              </a:rPr>
              <a:t>Supportability means every deployed artifact has a documented refresh cadence, data source list, gateway or cloud connection, and known consumer audience.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Without a source-of-record convention, teams end up with three different .pbix files all named 'Sales_Final_v2' and no way to answer 'what actually shipped'.</a:t>
            </a:r>
          </a:p>
          <a:p>
            <a:pPr>
              <a:lnSpc>
                <a:spcPct val="105000"/>
              </a:lnSpc>
              <a:spcAft>
                <a:spcPts val="1000"/>
              </a:spcAft>
              <a:buClr>
                <a:srgbClr val="E8B44A"/>
              </a:buClr>
              <a:buFont typeface="Arial"/>
              <a:buChar char="•"/>
            </a:pPr>
            <a:r>
              <a:rPr sz="1450">
                <a:solidFill>
                  <a:srgbClr val="1F2328"/>
                </a:solidFill>
                <a:latin typeface="Calibri"/>
              </a:rPr>
              <a:t>Naming the two ownership roles explicitly prevents the classic failure where the author leaves the company and refresh silently breaks for months.</a:t>
            </a:r>
          </a:p>
          <a:p>
            <a:pPr>
              <a:lnSpc>
                <a:spcPct val="105000"/>
              </a:lnSpc>
              <a:spcAft>
                <a:spcPts val="1000"/>
              </a:spcAft>
              <a:buClr>
                <a:srgbClr val="E8B44A"/>
              </a:buClr>
              <a:buFont typeface="Arial"/>
              <a:buChar char="•"/>
            </a:pPr>
            <a:r>
              <a:rPr sz="1450">
                <a:solidFill>
                  <a:srgbClr val="1F2328"/>
                </a:solidFill>
                <a:latin typeface="Calibri"/>
              </a:rPr>
              <a:t>Supportability is what turns a report into a product: the difference between 'nice dashboard' and 'certified enterprise asset' is almost entirely documentation and process, not visual polish.</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asks students to record content owner, support owner, and workspace name — that documentation is the deployment artifact.</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Workspace Design: Dev, Test, Prod, and Subject Areas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Separate workspaces for Development, Test, and Production — not folders, not tabs, actual distinct workspaces with distinct role assignments.</a:t>
            </a:r>
          </a:p>
          <a:p>
            <a:pPr>
              <a:lnSpc>
                <a:spcPct val="105000"/>
              </a:lnSpc>
              <a:spcAft>
                <a:spcPts val="1000"/>
              </a:spcAft>
              <a:buClr>
                <a:srgbClr val="1E2761"/>
              </a:buClr>
              <a:buFont typeface="Arial"/>
              <a:buChar char="•"/>
            </a:pPr>
            <a:r>
              <a:rPr sz="1450">
                <a:solidFill>
                  <a:srgbClr val="1F2328"/>
                </a:solidFill>
                <a:latin typeface="Calibri"/>
              </a:rPr>
              <a:t>Organize by domain or subject area for large tenants: 'Finance — Revenue — PROD' is clearer than 'BI Team Workspace 4'.</a:t>
            </a:r>
          </a:p>
          <a:p>
            <a:pPr>
              <a:lnSpc>
                <a:spcPct val="105000"/>
              </a:lnSpc>
              <a:spcAft>
                <a:spcPts val="1000"/>
              </a:spcAft>
              <a:buClr>
                <a:srgbClr val="1E2761"/>
              </a:buClr>
              <a:buFont typeface="Arial"/>
              <a:buChar char="•"/>
            </a:pPr>
            <a:r>
              <a:rPr sz="1450">
                <a:solidFill>
                  <a:srgbClr val="1F2328"/>
                </a:solidFill>
                <a:latin typeface="Calibri"/>
              </a:rPr>
              <a:t>Naming convention should encode {Domain} — {Subject} — {Stage} so a workspace picker at 200 items is still navigable.</a:t>
            </a:r>
          </a:p>
          <a:p>
            <a:pPr>
              <a:lnSpc>
                <a:spcPct val="105000"/>
              </a:lnSpc>
              <a:spcAft>
                <a:spcPts val="1000"/>
              </a:spcAft>
              <a:buClr>
                <a:srgbClr val="1E2761"/>
              </a:buClr>
              <a:buFont typeface="Arial"/>
              <a:buChar char="•"/>
            </a:pPr>
            <a:r>
              <a:rPr sz="1450">
                <a:solidFill>
                  <a:srgbClr val="1F2328"/>
                </a:solidFill>
                <a:latin typeface="Calibri"/>
              </a:rPr>
              <a:t>Record content owner, support owner, and business sponsor on every workspace — in the description field at minimum.</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Dev/Test/Prod separation is what lets you change a measure or a data source without breaking the report that the CFO opens every Monday morning.</a:t>
            </a:r>
          </a:p>
          <a:p>
            <a:pPr>
              <a:lnSpc>
                <a:spcPct val="105000"/>
              </a:lnSpc>
              <a:spcAft>
                <a:spcPts val="1000"/>
              </a:spcAft>
              <a:buClr>
                <a:srgbClr val="E8B44A"/>
              </a:buClr>
              <a:buFont typeface="Arial"/>
              <a:buChar char="•"/>
            </a:pPr>
            <a:r>
              <a:rPr sz="1450">
                <a:solidFill>
                  <a:srgbClr val="1F2328"/>
                </a:solidFill>
                <a:latin typeface="Calibri"/>
              </a:rPr>
              <a:t>Domain naming lets tenant admins see the tenant as a business map, not an alphabet soup — and lets adoption metrics roll up meaningfully.</a:t>
            </a:r>
          </a:p>
          <a:p>
            <a:pPr>
              <a:lnSpc>
                <a:spcPct val="105000"/>
              </a:lnSpc>
              <a:spcAft>
                <a:spcPts val="1000"/>
              </a:spcAft>
              <a:buClr>
                <a:srgbClr val="E8B44A"/>
              </a:buClr>
              <a:buFont typeface="Arial"/>
              <a:buChar char="•"/>
            </a:pPr>
            <a:r>
              <a:rPr sz="1450">
                <a:solidFill>
                  <a:srgbClr val="1F2328"/>
                </a:solidFill>
                <a:latin typeface="Calibri"/>
              </a:rPr>
              <a:t>Explicit ownership is a Certified-endorsement prerequisite — you cannot certify content whose owner is 'the team that used to own this'.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documents the intended DEV/TEST/PROD pattern even when the classroom tenant provides a single workshop workspace.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Workspace Roles — What Each One Can Do</a:t>
            </a:r>
          </a:p>
        </p:txBody>
      </p:sp>
      <p:graphicFrame>
        <p:nvGraphicFramePr>
          <p:cNvPr id="6" name="Table 5"/>
          <p:cNvGraphicFramePr>
            <a:graphicFrameLocks noGrp="1"/>
          </p:cNvGraphicFramePr>
          <p:nvPr/>
        </p:nvGraphicFramePr>
        <p:xfrm>
          <a:off x="640080" y="1325880"/>
          <a:ext cx="10881358" cy="4663440"/>
        </p:xfrm>
        <a:graphic>
          <a:graphicData uri="http://schemas.openxmlformats.org/drawingml/2006/table">
            <a:tbl>
              <a:tblPr firstRow="1" bandRow="1">
                <a:tableStyleId>{5C22544A-7EE6-4342-B048-85BDC9FD1C3A}</a:tableStyleId>
              </a:tblPr>
              <a:tblGrid>
                <a:gridCol w="1221377"/>
                <a:gridCol w="3886199"/>
                <a:gridCol w="2886891"/>
                <a:gridCol w="2886891"/>
              </a:tblGrid>
              <a:tr h="932688">
                <a:tc>
                  <a:txBody>
                    <a:bodyPr/>
                    <a:lstStyle/>
                    <a:p>
                      <a:pPr algn="l"/>
                      <a:r>
                        <a:rPr b="1" sz="1250">
                          <a:solidFill>
                            <a:srgbClr val="FFFFFF"/>
                          </a:solidFill>
                          <a:latin typeface="Calibri"/>
                        </a:rPr>
                        <a:t>Role</a:t>
                      </a:r>
                    </a:p>
                  </a:txBody>
                  <a:tcPr>
                    <a:solidFill>
                      <a:srgbClr val="1E2761"/>
                    </a:solidFill>
                  </a:tcPr>
                </a:tc>
                <a:tc>
                  <a:txBody>
                    <a:bodyPr/>
                    <a:lstStyle/>
                    <a:p>
                      <a:pPr algn="l"/>
                      <a:r>
                        <a:rPr b="1" sz="1250">
                          <a:solidFill>
                            <a:srgbClr val="FFFFFF"/>
                          </a:solidFill>
                          <a:latin typeface="Calibri"/>
                        </a:rPr>
                        <a:t>Can do</a:t>
                      </a:r>
                    </a:p>
                  </a:txBody>
                  <a:tcPr>
                    <a:solidFill>
                      <a:srgbClr val="1E2761"/>
                    </a:solidFill>
                  </a:tcPr>
                </a:tc>
                <a:tc>
                  <a:txBody>
                    <a:bodyPr/>
                    <a:lstStyle/>
                    <a:p>
                      <a:pPr algn="l"/>
                      <a:r>
                        <a:rPr b="1" sz="1250">
                          <a:solidFill>
                            <a:srgbClr val="FFFFFF"/>
                          </a:solidFill>
                          <a:latin typeface="Calibri"/>
                        </a:rPr>
                        <a:t>Cannot do</a:t>
                      </a:r>
                    </a:p>
                  </a:txBody>
                  <a:tcPr>
                    <a:solidFill>
                      <a:srgbClr val="1E2761"/>
                    </a:solidFill>
                  </a:tcPr>
                </a:tc>
                <a:tc>
                  <a:txBody>
                    <a:bodyPr/>
                    <a:lstStyle/>
                    <a:p>
                      <a:pPr algn="l"/>
                      <a:r>
                        <a:rPr b="1" sz="1250">
                          <a:solidFill>
                            <a:srgbClr val="FFFFFF"/>
                          </a:solidFill>
                          <a:latin typeface="Calibri"/>
                        </a:rPr>
                        <a:t>Typical assignment</a:t>
                      </a:r>
                    </a:p>
                  </a:txBody>
                  <a:tcPr>
                    <a:solidFill>
                      <a:srgbClr val="1E2761"/>
                    </a:solidFill>
                  </a:tcPr>
                </a:tc>
              </a:tr>
              <a:tr h="932688">
                <a:tc>
                  <a:txBody>
                    <a:bodyPr/>
                    <a:lstStyle/>
                    <a:p>
                      <a:r>
                        <a:rPr sz="1150">
                          <a:solidFill>
                            <a:srgbClr val="1F2328"/>
                          </a:solidFill>
                          <a:latin typeface="Calibri"/>
                        </a:rPr>
                        <a:t>Admin</a:t>
                      </a:r>
                    </a:p>
                  </a:txBody>
                  <a:tcPr>
                    <a:solidFill>
                      <a:srgbClr val="FFFFFF"/>
                    </a:solidFill>
                  </a:tcPr>
                </a:tc>
                <a:tc>
                  <a:txBody>
                    <a:bodyPr/>
                    <a:lstStyle/>
                    <a:p>
                      <a:r>
                        <a:rPr sz="1150">
                          <a:solidFill>
                            <a:srgbClr val="1F2328"/>
                          </a:solidFill>
                          <a:latin typeface="Calibri"/>
                        </a:rPr>
                        <a:t>Everything: add/remove users, delete workspace, change all settings, publish App.</a:t>
                      </a:r>
                    </a:p>
                  </a:txBody>
                  <a:tcPr>
                    <a:solidFill>
                      <a:srgbClr val="FFFFFF"/>
                    </a:solidFill>
                  </a:tcPr>
                </a:tc>
                <a:tc>
                  <a:txBody>
                    <a:bodyPr/>
                    <a:lstStyle/>
                    <a:p>
                      <a:r>
                        <a:rPr sz="1150">
                          <a:solidFill>
                            <a:srgbClr val="1F2328"/>
                          </a:solidFill>
                          <a:latin typeface="Calibri"/>
                        </a:rPr>
                        <a:t>— (no restrictions inside the workspace)</a:t>
                      </a:r>
                    </a:p>
                  </a:txBody>
                  <a:tcPr>
                    <a:solidFill>
                      <a:srgbClr val="FFFFFF"/>
                    </a:solidFill>
                  </a:tcPr>
                </a:tc>
                <a:tc>
                  <a:txBody>
                    <a:bodyPr/>
                    <a:lstStyle/>
                    <a:p>
                      <a:r>
                        <a:rPr sz="1150">
                          <a:solidFill>
                            <a:srgbClr val="1F2328"/>
                          </a:solidFill>
                          <a:latin typeface="Calibri"/>
                        </a:rPr>
                        <a:t>1–2 named platform owners per workspace.</a:t>
                      </a:r>
                    </a:p>
                  </a:txBody>
                  <a:tcPr>
                    <a:solidFill>
                      <a:srgbClr val="FFFFFF"/>
                    </a:solidFill>
                  </a:tcPr>
                </a:tc>
              </a:tr>
              <a:tr h="932688">
                <a:tc>
                  <a:txBody>
                    <a:bodyPr/>
                    <a:lstStyle/>
                    <a:p>
                      <a:r>
                        <a:rPr sz="1150">
                          <a:solidFill>
                            <a:srgbClr val="1F2328"/>
                          </a:solidFill>
                          <a:latin typeface="Calibri"/>
                        </a:rPr>
                        <a:t>Member</a:t>
                      </a:r>
                    </a:p>
                  </a:txBody>
                  <a:tcPr>
                    <a:solidFill>
                      <a:srgbClr val="F6F8FC"/>
                    </a:solidFill>
                  </a:tcPr>
                </a:tc>
                <a:tc>
                  <a:txBody>
                    <a:bodyPr/>
                    <a:lstStyle/>
                    <a:p>
                      <a:r>
                        <a:rPr sz="1150">
                          <a:solidFill>
                            <a:srgbClr val="1F2328"/>
                          </a:solidFill>
                          <a:latin typeface="Calibri"/>
                        </a:rPr>
                        <a:t>Publish/edit content, share reports, publish and update the App, add Contributors/Viewers.</a:t>
                      </a:r>
                    </a:p>
                  </a:txBody>
                  <a:tcPr>
                    <a:solidFill>
                      <a:srgbClr val="F6F8FC"/>
                    </a:solidFill>
                  </a:tcPr>
                </a:tc>
                <a:tc>
                  <a:txBody>
                    <a:bodyPr/>
                    <a:lstStyle/>
                    <a:p>
                      <a:r>
                        <a:rPr sz="1150">
                          <a:solidFill>
                            <a:srgbClr val="1F2328"/>
                          </a:solidFill>
                          <a:latin typeface="Calibri"/>
                        </a:rPr>
                        <a:t>Cannot add other Members/Admins or delete the workspace.</a:t>
                      </a:r>
                    </a:p>
                  </a:txBody>
                  <a:tcPr>
                    <a:solidFill>
                      <a:srgbClr val="F6F8FC"/>
                    </a:solidFill>
                  </a:tcPr>
                </a:tc>
                <a:tc>
                  <a:txBody>
                    <a:bodyPr/>
                    <a:lstStyle/>
                    <a:p>
                      <a:r>
                        <a:rPr sz="1150">
                          <a:solidFill>
                            <a:srgbClr val="1F2328"/>
                          </a:solidFill>
                          <a:latin typeface="Calibri"/>
                        </a:rPr>
                        <a:t>Senior content authors and BI leads.</a:t>
                      </a:r>
                    </a:p>
                  </a:txBody>
                  <a:tcPr>
                    <a:solidFill>
                      <a:srgbClr val="F6F8FC"/>
                    </a:solidFill>
                  </a:tcPr>
                </a:tc>
              </a:tr>
              <a:tr h="932688">
                <a:tc>
                  <a:txBody>
                    <a:bodyPr/>
                    <a:lstStyle/>
                    <a:p>
                      <a:r>
                        <a:rPr sz="1150">
                          <a:solidFill>
                            <a:srgbClr val="1F2328"/>
                          </a:solidFill>
                          <a:latin typeface="Calibri"/>
                        </a:rPr>
                        <a:t>Contributor</a:t>
                      </a:r>
                    </a:p>
                  </a:txBody>
                  <a:tcPr>
                    <a:solidFill>
                      <a:srgbClr val="FFFFFF"/>
                    </a:solidFill>
                  </a:tcPr>
                </a:tc>
                <a:tc>
                  <a:txBody>
                    <a:bodyPr/>
                    <a:lstStyle/>
                    <a:p>
                      <a:r>
                        <a:rPr sz="1150">
                          <a:solidFill>
                            <a:srgbClr val="1F2328"/>
                          </a:solidFill>
                          <a:latin typeface="Calibri"/>
                        </a:rPr>
                        <a:t>Create, edit, and publish reports &amp; semantic models; schedule refresh.</a:t>
                      </a:r>
                    </a:p>
                  </a:txBody>
                  <a:tcPr>
                    <a:solidFill>
                      <a:srgbClr val="FFFFFF"/>
                    </a:solidFill>
                  </a:tcPr>
                </a:tc>
                <a:tc>
                  <a:txBody>
                    <a:bodyPr/>
                    <a:lstStyle/>
                    <a:p>
                      <a:r>
                        <a:rPr sz="1150">
                          <a:solidFill>
                            <a:srgbClr val="1F2328"/>
                          </a:solidFill>
                          <a:latin typeface="Calibri"/>
                        </a:rPr>
                        <a:t>Cannot manage users, share reports externally, or publish the App.</a:t>
                      </a:r>
                    </a:p>
                  </a:txBody>
                  <a:tcPr>
                    <a:solidFill>
                      <a:srgbClr val="FFFFFF"/>
                    </a:solidFill>
                  </a:tcPr>
                </a:tc>
                <a:tc>
                  <a:txBody>
                    <a:bodyPr/>
                    <a:lstStyle/>
                    <a:p>
                      <a:r>
                        <a:rPr sz="1150">
                          <a:solidFill>
                            <a:srgbClr val="1F2328"/>
                          </a:solidFill>
                          <a:latin typeface="Calibri"/>
                        </a:rPr>
                        <a:t>Day-to-day report authors.</a:t>
                      </a:r>
                    </a:p>
                  </a:txBody>
                  <a:tcPr>
                    <a:solidFill>
                      <a:srgbClr val="FFFFFF"/>
                    </a:solidFill>
                  </a:tcPr>
                </a:tc>
              </a:tr>
              <a:tr h="932688">
                <a:tc>
                  <a:txBody>
                    <a:bodyPr/>
                    <a:lstStyle/>
                    <a:p>
                      <a:r>
                        <a:rPr sz="1150">
                          <a:solidFill>
                            <a:srgbClr val="1F2328"/>
                          </a:solidFill>
                          <a:latin typeface="Calibri"/>
                        </a:rPr>
                        <a:t>Viewer</a:t>
                      </a:r>
                    </a:p>
                  </a:txBody>
                  <a:tcPr>
                    <a:solidFill>
                      <a:srgbClr val="F6F8FC"/>
                    </a:solidFill>
                  </a:tcPr>
                </a:tc>
                <a:tc>
                  <a:txBody>
                    <a:bodyPr/>
                    <a:lstStyle/>
                    <a:p>
                      <a:r>
                        <a:rPr sz="1150">
                          <a:solidFill>
                            <a:srgbClr val="1F2328"/>
                          </a:solidFill>
                          <a:latin typeface="Calibri"/>
                        </a:rPr>
                        <a:t>View reports, interact with visuals, export data if allowed.</a:t>
                      </a:r>
                    </a:p>
                  </a:txBody>
                  <a:tcPr>
                    <a:solidFill>
                      <a:srgbClr val="F6F8FC"/>
                    </a:solidFill>
                  </a:tcPr>
                </a:tc>
                <a:tc>
                  <a:txBody>
                    <a:bodyPr/>
                    <a:lstStyle/>
                    <a:p>
                      <a:r>
                        <a:rPr sz="1150">
                          <a:solidFill>
                            <a:srgbClr val="1F2328"/>
                          </a:solidFill>
                          <a:latin typeface="Calibri"/>
                        </a:rPr>
                        <a:t>Cannot edit, publish, or see the workspace list of items.</a:t>
                      </a:r>
                    </a:p>
                  </a:txBody>
                  <a:tcPr>
                    <a:solidFill>
                      <a:srgbClr val="F6F8FC"/>
                    </a:solidFill>
                  </a:tcPr>
                </a:tc>
                <a:tc>
                  <a:txBody>
                    <a:bodyPr/>
                    <a:lstStyle/>
                    <a:p>
                      <a:r>
                        <a:rPr sz="1150">
                          <a:solidFill>
                            <a:srgbClr val="1F2328"/>
                          </a:solidFill>
                          <a:latin typeface="Calibri"/>
                        </a:rPr>
                        <a:t>Rarely used in PROD — consumers get the App instead.</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Security implication: viewers should almost never be added directly to a production workspace — distribute through an App so audience membership is manageable separately from workspace membership.</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Publishing Reports and Semantic Models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From Power BI Desktop, Home → Publish → choose target workspace. Publishing pushes the report AND its semantic model as two separate Service artifacts.</a:t>
            </a:r>
          </a:p>
          <a:p>
            <a:pPr>
              <a:lnSpc>
                <a:spcPct val="105000"/>
              </a:lnSpc>
              <a:spcAft>
                <a:spcPts val="1000"/>
              </a:spcAft>
              <a:buClr>
                <a:srgbClr val="1E2761"/>
              </a:buClr>
              <a:buFont typeface="Arial"/>
              <a:buChar char="•"/>
            </a:pPr>
            <a:r>
              <a:rPr sz="1450">
                <a:solidFill>
                  <a:srgbClr val="1F2328"/>
                </a:solidFill>
                <a:latin typeface="Calibri"/>
              </a:rPr>
              <a:t>PBIP-originated content publishes the same way — open the .pbip in Desktop, then publish; the .pbix is generated in-flight and not the source of record.</a:t>
            </a:r>
          </a:p>
          <a:p>
            <a:pPr>
              <a:lnSpc>
                <a:spcPct val="105000"/>
              </a:lnSpc>
              <a:spcAft>
                <a:spcPts val="1000"/>
              </a:spcAft>
              <a:buClr>
                <a:srgbClr val="1E2761"/>
              </a:buClr>
              <a:buFont typeface="Arial"/>
              <a:buChar char="•"/>
            </a:pPr>
            <a:r>
              <a:rPr sz="1450">
                <a:solidFill>
                  <a:srgbClr val="1F2328"/>
                </a:solidFill>
                <a:latin typeface="Calibri"/>
              </a:rPr>
              <a:t>Semantic model ownership defaults to the publishing user's identity — use 'Take over' in dataset settings to transfer to a service account for stable refresh.</a:t>
            </a:r>
          </a:p>
          <a:p>
            <a:pPr>
              <a:lnSpc>
                <a:spcPct val="105000"/>
              </a:lnSpc>
              <a:spcAft>
                <a:spcPts val="1000"/>
              </a:spcAft>
              <a:buClr>
                <a:srgbClr val="1E2761"/>
              </a:buClr>
              <a:buFont typeface="Arial"/>
              <a:buChar char="•"/>
            </a:pPr>
            <a:r>
              <a:rPr sz="1450">
                <a:solidFill>
                  <a:srgbClr val="1F2328"/>
                </a:solidFill>
                <a:latin typeface="Calibri"/>
              </a:rPr>
              <a:t>Overwriting an existing report keeps its Service ID (bookmarks, comments, subscriptions survive); deleting and republishing loses them.</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Understanding that publish creates two artifacts — report AND model — is critical for the next topic: shared semantic models let many reports point at one model.</a:t>
            </a:r>
          </a:p>
          <a:p>
            <a:pPr>
              <a:lnSpc>
                <a:spcPct val="105000"/>
              </a:lnSpc>
              <a:spcAft>
                <a:spcPts val="1000"/>
              </a:spcAft>
              <a:buClr>
                <a:srgbClr val="E8B44A"/>
              </a:buClr>
              <a:buFont typeface="Arial"/>
              <a:buChar char="•"/>
            </a:pPr>
            <a:r>
              <a:rPr sz="1450">
                <a:solidFill>
                  <a:srgbClr val="1F2328"/>
                </a:solidFill>
                <a:latin typeface="Calibri"/>
              </a:rPr>
              <a:t>Ownership tied to a user account is the single most common cause of silent refresh failure — when that user's password rotates or account is disabled, refresh dies.</a:t>
            </a:r>
          </a:p>
          <a:p>
            <a:pPr>
              <a:lnSpc>
                <a:spcPct val="105000"/>
              </a:lnSpc>
              <a:spcAft>
                <a:spcPts val="1000"/>
              </a:spcAft>
              <a:buClr>
                <a:srgbClr val="E8B44A"/>
              </a:buClr>
              <a:buFont typeface="Arial"/>
              <a:buChar char="•"/>
            </a:pPr>
            <a:r>
              <a:rPr sz="1450">
                <a:solidFill>
                  <a:srgbClr val="1F2328"/>
                </a:solidFill>
                <a:latin typeface="Calibri"/>
              </a:rPr>
              <a:t>Preserving Service IDs on overwrite is why we publish updates rather than delete-and-republish — subscribers don't get orphaned.</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publishes the PBIP report to the training workspace and verifies both the report and semantic model appear in the workspace list.</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Refresh Configuration and Credentials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Scheduled refresh lives on the semantic model, not the report. Configure it in the model's Settings page: up to 8 refreshes/day on Pro, 48/day on Premium/Fabric.</a:t>
            </a:r>
          </a:p>
          <a:p>
            <a:pPr>
              <a:lnSpc>
                <a:spcPct val="105000"/>
              </a:lnSpc>
              <a:spcAft>
                <a:spcPts val="1000"/>
              </a:spcAft>
              <a:buClr>
                <a:srgbClr val="1E2761"/>
              </a:buClr>
              <a:buFont typeface="Arial"/>
              <a:buChar char="•"/>
            </a:pPr>
            <a:r>
              <a:rPr sz="1450">
                <a:solidFill>
                  <a:srgbClr val="1F2328"/>
                </a:solidFill>
                <a:latin typeface="Calibri"/>
              </a:rPr>
              <a:t>Every data source in the model needs credentials configured in the Service — the Desktop credentials do not travel with publish.</a:t>
            </a:r>
          </a:p>
          <a:p>
            <a:pPr>
              <a:lnSpc>
                <a:spcPct val="105000"/>
              </a:lnSpc>
              <a:spcAft>
                <a:spcPts val="1000"/>
              </a:spcAft>
              <a:buClr>
                <a:srgbClr val="1E2761"/>
              </a:buClr>
              <a:buFont typeface="Arial"/>
              <a:buChar char="•"/>
            </a:pPr>
            <a:r>
              <a:rPr sz="1450">
                <a:solidFill>
                  <a:srgbClr val="1F2328"/>
                </a:solidFill>
                <a:latin typeface="Calibri"/>
              </a:rPr>
              <a:t>Privacy levels (Public, Organizational, Private) prevent Power Query from folding queries across sources with different trust levels — misconfiguration causes 'formula.firewall' errors on refresh.</a:t>
            </a:r>
          </a:p>
          <a:p>
            <a:pPr>
              <a:lnSpc>
                <a:spcPct val="105000"/>
              </a:lnSpc>
              <a:spcAft>
                <a:spcPts val="1000"/>
              </a:spcAft>
              <a:buClr>
                <a:srgbClr val="1E2761"/>
              </a:buClr>
              <a:buFont typeface="Arial"/>
              <a:buChar char="•"/>
            </a:pPr>
            <a:r>
              <a:rPr sz="1450">
                <a:solidFill>
                  <a:srgbClr val="1F2328"/>
                </a:solidFill>
                <a:latin typeface="Calibri"/>
              </a:rPr>
              <a:t>Refresh history shows the last ~60 runs with duration, status, and error — first stop when a user says 'the numbers are stale'.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Refresh on the semantic model, not the report, is what enables one model to feed many reports — you don't want to refresh the same data ten times because ten reports use it.</a:t>
            </a:r>
          </a:p>
          <a:p>
            <a:pPr>
              <a:lnSpc>
                <a:spcPct val="105000"/>
              </a:lnSpc>
              <a:spcAft>
                <a:spcPts val="1000"/>
              </a:spcAft>
              <a:buClr>
                <a:srgbClr val="E8B44A"/>
              </a:buClr>
              <a:buFont typeface="Arial"/>
              <a:buChar char="•"/>
            </a:pPr>
            <a:r>
              <a:rPr sz="1450">
                <a:solidFill>
                  <a:srgbClr val="1F2328"/>
                </a:solidFill>
                <a:latin typeface="Calibri"/>
              </a:rPr>
              <a:t>The credential handoff at publish time is the #1 support ticket in early deployments — users don't realize Desktop credentials are local-only.</a:t>
            </a:r>
          </a:p>
          <a:p>
            <a:pPr>
              <a:lnSpc>
                <a:spcPct val="105000"/>
              </a:lnSpc>
              <a:spcAft>
                <a:spcPts val="1000"/>
              </a:spcAft>
              <a:buClr>
                <a:srgbClr val="E8B44A"/>
              </a:buClr>
              <a:buFont typeface="Arial"/>
              <a:buChar char="•"/>
            </a:pPr>
            <a:r>
              <a:rPr sz="1450">
                <a:solidFill>
                  <a:srgbClr val="1F2328"/>
                </a:solidFill>
                <a:latin typeface="Calibri"/>
              </a:rPr>
              <a:t>Refresh history is your audit log: a Certified model must be able to answer 'when did this last refresh successfully and how long did it take?' at any moment.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2 opens the semantic model settings, reviews credentials, sets a schedule, runs refresh, and captures refresh history.</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Gateways and Cloud Connections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On-premises data gateway is a Windows service installed inside the corporate network; it bridges Service refresh requests to on-prem sources (SQL Server, file shares, SAP).</a:t>
            </a:r>
          </a:p>
          <a:p>
            <a:pPr>
              <a:lnSpc>
                <a:spcPct val="105000"/>
              </a:lnSpc>
              <a:spcAft>
                <a:spcPts val="1000"/>
              </a:spcAft>
              <a:buClr>
                <a:srgbClr val="1E2761"/>
              </a:buClr>
              <a:buFont typeface="Arial"/>
              <a:buChar char="•"/>
            </a:pPr>
            <a:r>
              <a:rPr sz="1450">
                <a:solidFill>
                  <a:srgbClr val="1F2328"/>
                </a:solidFill>
                <a:latin typeface="Calibri"/>
              </a:rPr>
              <a:t>Gateway clusters (2+ gateway nodes with the same registration) provide high availability and load balancing — a single-node gateway is a single point of failure.</a:t>
            </a:r>
          </a:p>
          <a:p>
            <a:pPr>
              <a:lnSpc>
                <a:spcPct val="105000"/>
              </a:lnSpc>
              <a:spcAft>
                <a:spcPts val="1000"/>
              </a:spcAft>
              <a:buClr>
                <a:srgbClr val="1E2761"/>
              </a:buClr>
              <a:buFont typeface="Arial"/>
              <a:buChar char="•"/>
            </a:pPr>
            <a:r>
              <a:rPr sz="1450">
                <a:solidFill>
                  <a:srgbClr val="1F2328"/>
                </a:solidFill>
                <a:latin typeface="Calibri"/>
              </a:rPr>
              <a:t>Data source mappings link the semantic model's source (server + database) to a specific gateway data source with stored credentials — no mapping, no refresh.</a:t>
            </a:r>
          </a:p>
          <a:p>
            <a:pPr>
              <a:lnSpc>
                <a:spcPct val="105000"/>
              </a:lnSpc>
              <a:spcAft>
                <a:spcPts val="1000"/>
              </a:spcAft>
              <a:buClr>
                <a:srgbClr val="1E2761"/>
              </a:buClr>
              <a:buFont typeface="Arial"/>
              <a:buChar char="•"/>
            </a:pPr>
            <a:r>
              <a:rPr sz="1450">
                <a:solidFill>
                  <a:srgbClr val="1F2328"/>
                </a:solidFill>
                <a:latin typeface="Calibri"/>
              </a:rPr>
              <a:t>Cloud connections replace legacy 'Manage connections' for cloud sources and are the modern surface for OAuth-based data sources.</a:t>
            </a:r>
          </a:p>
          <a:p>
            <a:pPr>
              <a:lnSpc>
                <a:spcPct val="105000"/>
              </a:lnSpc>
              <a:spcAft>
                <a:spcPts val="1000"/>
              </a:spcAft>
              <a:buClr>
                <a:srgbClr val="1E2761"/>
              </a:buClr>
              <a:buFont typeface="Arial"/>
              <a:buChar char="•"/>
            </a:pPr>
            <a:r>
              <a:rPr sz="1450">
                <a:solidFill>
                  <a:srgbClr val="1F2328"/>
                </a:solidFill>
                <a:latin typeface="Calibri"/>
              </a:rPr>
              <a:t>⚠  Verify for Gov: gateway version, network path, connector support, and tenant policy all need explicit validation in Azure Government.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The gateway is where on-prem meets cloud. Every 'refresh works in Desktop but fails in Service' ticket for an on-prem source ends up here.</a:t>
            </a:r>
          </a:p>
          <a:p>
            <a:pPr>
              <a:lnSpc>
                <a:spcPct val="105000"/>
              </a:lnSpc>
              <a:spcAft>
                <a:spcPts val="1000"/>
              </a:spcAft>
              <a:buClr>
                <a:srgbClr val="E8B44A"/>
              </a:buClr>
              <a:buFont typeface="Arial"/>
              <a:buChar char="•"/>
            </a:pPr>
            <a:r>
              <a:rPr sz="1450">
                <a:solidFill>
                  <a:srgbClr val="1F2328"/>
                </a:solidFill>
                <a:latin typeface="Calibri"/>
              </a:rPr>
              <a:t>Clustering is not optional in real production — the gateway host rebooting for Windows Update should not take down refresh for the whole tenant.</a:t>
            </a:r>
          </a:p>
          <a:p>
            <a:pPr>
              <a:lnSpc>
                <a:spcPct val="105000"/>
              </a:lnSpc>
              <a:spcAft>
                <a:spcPts val="1000"/>
              </a:spcAft>
              <a:buClr>
                <a:srgbClr val="E8B44A"/>
              </a:buClr>
              <a:buFont typeface="Arial"/>
              <a:buChar char="•"/>
            </a:pPr>
            <a:r>
              <a:rPr sz="1450">
                <a:solidFill>
                  <a:srgbClr val="1F2328"/>
                </a:solidFill>
                <a:latin typeface="Calibri"/>
              </a:rPr>
              <a:t>Cloud connections centralize connection strings and credentials so that ten semantic models pointing at the same Snowflake instance don't each store their own copy.</a:t>
            </a:r>
          </a:p>
          <a:p>
            <a:pPr>
              <a:lnSpc>
                <a:spcPct val="105000"/>
              </a:lnSpc>
              <a:spcAft>
                <a:spcPts val="1000"/>
              </a:spcAft>
              <a:buClr>
                <a:srgbClr val="E8B44A"/>
              </a:buClr>
              <a:buFont typeface="Arial"/>
              <a:buChar char="•"/>
            </a:pPr>
            <a:r>
              <a:rPr sz="1450">
                <a:solidFill>
                  <a:srgbClr val="1F2328"/>
                </a:solidFill>
                <a:latin typeface="Calibri"/>
              </a:rPr>
              <a:t>The Gov note matters because gateway installers and connector matrices differ between commercial and government clouds — don't assume parity.</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3 (gateway-backed refresh) is hands-on when a gateway is available, otherwise students document the required setup as an alternate path.</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Shared Semantic Models and Thin Reports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One published semantic model can feed many 'thin' reports — reports that contain only visuals and page layout, no data or model definition.</a:t>
            </a:r>
          </a:p>
          <a:p>
            <a:pPr>
              <a:lnSpc>
                <a:spcPct val="105000"/>
              </a:lnSpc>
              <a:spcAft>
                <a:spcPts val="1000"/>
              </a:spcAft>
              <a:buClr>
                <a:srgbClr val="1E2761"/>
              </a:buClr>
              <a:buFont typeface="Arial"/>
              <a:buChar char="•"/>
            </a:pPr>
            <a:r>
              <a:rPr sz="1450">
                <a:solidFill>
                  <a:srgbClr val="1F2328"/>
                </a:solidFill>
                <a:latin typeface="Calibri"/>
              </a:rPr>
              <a:t>A thin report author needs Build permission on the shared semantic model (granted from the model's Manage permissions page) — workspace membership alone is not enough.</a:t>
            </a:r>
          </a:p>
          <a:p>
            <a:pPr>
              <a:lnSpc>
                <a:spcPct val="105000"/>
              </a:lnSpc>
              <a:spcAft>
                <a:spcPts val="1000"/>
              </a:spcAft>
              <a:buClr>
                <a:srgbClr val="1E2761"/>
              </a:buClr>
              <a:buFont typeface="Arial"/>
              <a:buChar char="•"/>
            </a:pPr>
            <a:r>
              <a:rPr sz="1450">
                <a:solidFill>
                  <a:srgbClr val="1F2328"/>
                </a:solidFill>
                <a:latin typeface="Calibri"/>
              </a:rPr>
              <a:t>Certified semantic models are the strongest signal a tenant offers that a model is the authoritative source — use them as the target for thin reports.</a:t>
            </a:r>
          </a:p>
          <a:p>
            <a:pPr>
              <a:lnSpc>
                <a:spcPct val="105000"/>
              </a:lnSpc>
              <a:spcAft>
                <a:spcPts val="1000"/>
              </a:spcAft>
              <a:buClr>
                <a:srgbClr val="1E2761"/>
              </a:buClr>
              <a:buFont typeface="Arial"/>
              <a:buChar char="•"/>
            </a:pPr>
            <a:r>
              <a:rPr sz="1450">
                <a:solidFill>
                  <a:srgbClr val="1F2328"/>
                </a:solidFill>
                <a:latin typeface="Calibri"/>
              </a:rPr>
              <a:t>Impact analysis (from the semantic model page) shows every dependent report and app before you make a breaking change — always run it before renaming a column.</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This is the reuse pattern that makes governance economical: one governed model, ten teams building their own reports off it, one refresh cycle, one set of measures.</a:t>
            </a:r>
          </a:p>
          <a:p>
            <a:pPr>
              <a:lnSpc>
                <a:spcPct val="105000"/>
              </a:lnSpc>
              <a:spcAft>
                <a:spcPts val="1000"/>
              </a:spcAft>
              <a:buClr>
                <a:srgbClr val="E8B44A"/>
              </a:buClr>
              <a:buFont typeface="Arial"/>
              <a:buChar char="•"/>
            </a:pPr>
            <a:r>
              <a:rPr sz="1450">
                <a:solidFill>
                  <a:srgbClr val="1F2328"/>
                </a:solidFill>
                <a:latin typeface="Calibri"/>
              </a:rPr>
              <a:t>Build permission decouples 'who can consume the model' (Read) from 'who can build new reports on it' (Build) — exactly the split enterprises need.</a:t>
            </a:r>
          </a:p>
          <a:p>
            <a:pPr>
              <a:lnSpc>
                <a:spcPct val="105000"/>
              </a:lnSpc>
              <a:spcAft>
                <a:spcPts val="1000"/>
              </a:spcAft>
              <a:buClr>
                <a:srgbClr val="E8B44A"/>
              </a:buClr>
              <a:buFont typeface="Arial"/>
              <a:buChar char="•"/>
            </a:pPr>
            <a:r>
              <a:rPr sz="1450">
                <a:solidFill>
                  <a:srgbClr val="1F2328"/>
                </a:solidFill>
                <a:latin typeface="Calibri"/>
              </a:rPr>
              <a:t>Certification directs report authors to the right model instead of everyone forking their own copy — it is discoverability, not just a badge.</a:t>
            </a:r>
          </a:p>
          <a:p>
            <a:pPr>
              <a:lnSpc>
                <a:spcPct val="105000"/>
              </a:lnSpc>
              <a:spcAft>
                <a:spcPts val="1000"/>
              </a:spcAft>
              <a:buClr>
                <a:srgbClr val="E8B44A"/>
              </a:buClr>
              <a:buFont typeface="Arial"/>
              <a:buChar char="•"/>
            </a:pPr>
            <a:r>
              <a:rPr sz="1450">
                <a:solidFill>
                  <a:srgbClr val="1F2328"/>
                </a:solidFill>
                <a:latin typeface="Calibri"/>
              </a:rPr>
              <a:t>Impact analysis is what turns a scary rename into a routine change — you know exactly which reports need to be retested.</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4 grants Build permission and creates a thin report against the shared semantic model published in Exercise 1.</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Power BI Apps — Packaging Content for Consumers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An App is a curated, versioned publication of selected workspace content: reports, dashboards, and a defined navigation, distributed to a consumer audience.</a:t>
            </a:r>
          </a:p>
          <a:p>
            <a:pPr>
              <a:lnSpc>
                <a:spcPct val="105000"/>
              </a:lnSpc>
              <a:spcAft>
                <a:spcPts val="1000"/>
              </a:spcAft>
              <a:buClr>
                <a:srgbClr val="1E2761"/>
              </a:buClr>
              <a:buFont typeface="Arial"/>
              <a:buChar char="•"/>
            </a:pPr>
            <a:r>
              <a:rPr sz="1450">
                <a:solidFill>
                  <a:srgbClr val="1F2328"/>
                </a:solidFill>
                <a:latin typeface="Calibri"/>
              </a:rPr>
              <a:t>App consumers are assigned separately from workspace membership — users, security groups, or Microsoft 365 groups. Consumers do not see the workspace itself.</a:t>
            </a:r>
          </a:p>
          <a:p>
            <a:pPr>
              <a:lnSpc>
                <a:spcPct val="105000"/>
              </a:lnSpc>
              <a:spcAft>
                <a:spcPts val="1000"/>
              </a:spcAft>
              <a:buClr>
                <a:srgbClr val="1E2761"/>
              </a:buClr>
              <a:buFont typeface="Arial"/>
              <a:buChar char="•"/>
            </a:pPr>
            <a:r>
              <a:rPr sz="1450">
                <a:solidFill>
                  <a:srgbClr val="1F2328"/>
                </a:solidFill>
                <a:latin typeface="Calibri"/>
              </a:rPr>
              <a:t>The App has a staged update model: changes in the workspace are not visible to consumers until an author clicks 'Update app'. This is the release valve.</a:t>
            </a:r>
          </a:p>
          <a:p>
            <a:pPr>
              <a:lnSpc>
                <a:spcPct val="105000"/>
              </a:lnSpc>
              <a:spcAft>
                <a:spcPts val="1000"/>
              </a:spcAft>
              <a:buClr>
                <a:srgbClr val="1E2761"/>
              </a:buClr>
              <a:buFont typeface="Arial"/>
              <a:buChar char="•"/>
            </a:pPr>
            <a:r>
              <a:rPr sz="1450">
                <a:solidFill>
                  <a:srgbClr val="1F2328"/>
                </a:solidFill>
                <a:latin typeface="Calibri"/>
              </a:rPr>
              <a:t>Audience targeting (optional) shows different pages/reports to different audience groups within one App — e.g. Regional Managers see two extra pages the wider audience does not. ⚠  Verify for Gov.</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Apps are the answer to 'how do 500 consumers get the report without being added to the workspace one by one'. They are the enterprise distribution channel.</a:t>
            </a:r>
          </a:p>
          <a:p>
            <a:pPr>
              <a:lnSpc>
                <a:spcPct val="105000"/>
              </a:lnSpc>
              <a:spcAft>
                <a:spcPts val="1000"/>
              </a:spcAft>
              <a:buClr>
                <a:srgbClr val="E8B44A"/>
              </a:buClr>
              <a:buFont typeface="Arial"/>
              <a:buChar char="•"/>
            </a:pPr>
            <a:r>
              <a:rPr sz="1450">
                <a:solidFill>
                  <a:srgbClr val="1F2328"/>
                </a:solidFill>
                <a:latin typeface="Calibri"/>
              </a:rPr>
              <a:t>The consumer/workspace decoupling means you can change workspace membership (add a new author, remove a departed one) without affecting who sees the App.</a:t>
            </a:r>
          </a:p>
          <a:p>
            <a:pPr>
              <a:lnSpc>
                <a:spcPct val="105000"/>
              </a:lnSpc>
              <a:spcAft>
                <a:spcPts val="1000"/>
              </a:spcAft>
              <a:buClr>
                <a:srgbClr val="E8B44A"/>
              </a:buClr>
              <a:buFont typeface="Arial"/>
              <a:buChar char="•"/>
            </a:pPr>
            <a:r>
              <a:rPr sz="1450">
                <a:solidFill>
                  <a:srgbClr val="1F2328"/>
                </a:solidFill>
                <a:latin typeface="Calibri"/>
              </a:rPr>
              <a:t>The staged update is what lets you fix a report in DEV, promote through TEST, land it in PROD, and still choose when consumers see the change — no surprise updates.</a:t>
            </a:r>
          </a:p>
          <a:p>
            <a:pPr>
              <a:lnSpc>
                <a:spcPct val="105000"/>
              </a:lnSpc>
              <a:spcAft>
                <a:spcPts val="1000"/>
              </a:spcAft>
              <a:buClr>
                <a:srgbClr val="E8B44A"/>
              </a:buClr>
              <a:buFont typeface="Arial"/>
              <a:buChar char="•"/>
            </a:pPr>
            <a:r>
              <a:rPr sz="1450">
                <a:solidFill>
                  <a:srgbClr val="1F2328"/>
                </a:solidFill>
                <a:latin typeface="Calibri"/>
              </a:rPr>
              <a:t>Audiences replace the old pattern of publishing three near-duplicate Apps for three audience segments — one App, three views.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5 packages workspace content into an App, configures name and navigation, assigns consumers, and publishes.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09</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Deployment Pipelines — Dev / Test / Prod Promotion</a:t>
            </a:r>
          </a:p>
        </p:txBody>
      </p:sp>
      <p:sp>
        <p:nvSpPr>
          <p:cNvPr id="6" name="TextBox 5"/>
          <p:cNvSpPr txBox="1"/>
          <p:nvPr/>
        </p:nvSpPr>
        <p:spPr>
          <a:xfrm>
            <a:off x="640080" y="1280160"/>
            <a:ext cx="10881360" cy="457200"/>
          </a:xfrm>
          <a:prstGeom prst="rect">
            <a:avLst/>
          </a:prstGeom>
          <a:noFill/>
        </p:spPr>
        <p:txBody>
          <a:bodyPr wrap="square" anchor="t" lIns="0" rIns="0" tIns="0" bIns="0">
            <a:spAutoFit/>
          </a:bodyPr>
          <a:lstStyle/>
          <a:p>
            <a:pPr algn="l">
              <a:lnSpc>
                <a:spcPct val="100000"/>
              </a:lnSpc>
              <a:spcAft>
                <a:spcPts val="0"/>
              </a:spcAft>
            </a:pPr>
            <a:r>
              <a:rPr sz="1600" b="1" i="0">
                <a:solidFill>
                  <a:srgbClr val="141B45"/>
                </a:solidFill>
                <a:latin typeface="Cambria"/>
              </a:rPr>
              <a:t>Promote the same PBIP-originated content across three capacity-backed workspaces</a:t>
            </a:r>
          </a:p>
        </p:txBody>
      </p:sp>
      <p:sp>
        <p:nvSpPr>
          <p:cNvPr id="7" name="Rectangle 6"/>
          <p:cNvSpPr/>
          <p:nvPr/>
        </p:nvSpPr>
        <p:spPr>
          <a:xfrm>
            <a:off x="502920" y="2011680"/>
            <a:ext cx="3246120" cy="201168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148840"/>
            <a:ext cx="2971800" cy="502920"/>
          </a:xfrm>
          <a:prstGeom prst="rect">
            <a:avLst/>
          </a:prstGeom>
          <a:noFill/>
        </p:spPr>
        <p:txBody>
          <a:bodyPr wrap="square" anchor="t" lIns="0" rIns="0" tIns="0" bIns="0">
            <a:spAutoFit/>
          </a:bodyPr>
          <a:lstStyle/>
          <a:p>
            <a:pPr algn="ctr">
              <a:lnSpc>
                <a:spcPct val="100000"/>
              </a:lnSpc>
              <a:spcAft>
                <a:spcPts val="0"/>
              </a:spcAft>
            </a:pPr>
            <a:r>
              <a:rPr sz="2200" b="1" i="0">
                <a:solidFill>
                  <a:srgbClr val="141B45"/>
                </a:solidFill>
                <a:latin typeface="Cambria"/>
              </a:rPr>
              <a:t>DEV</a:t>
            </a:r>
          </a:p>
        </p:txBody>
      </p:sp>
      <p:sp>
        <p:nvSpPr>
          <p:cNvPr id="9" name="TextBox 8"/>
          <p:cNvSpPr txBox="1"/>
          <p:nvPr/>
        </p:nvSpPr>
        <p:spPr>
          <a:xfrm>
            <a:off x="640080" y="2697480"/>
            <a:ext cx="2971800" cy="411480"/>
          </a:xfrm>
          <a:prstGeom prst="rect">
            <a:avLst/>
          </a:prstGeom>
          <a:noFill/>
        </p:spPr>
        <p:txBody>
          <a:bodyPr wrap="square" anchor="t" lIns="0" rIns="0" tIns="0" bIns="0">
            <a:spAutoFit/>
          </a:bodyPr>
          <a:lstStyle/>
          <a:p>
            <a:pPr algn="ctr">
              <a:lnSpc>
                <a:spcPct val="100000"/>
              </a:lnSpc>
              <a:spcAft>
                <a:spcPts val="0"/>
              </a:spcAft>
            </a:pPr>
            <a:r>
              <a:rPr sz="1400" b="1" i="0">
                <a:solidFill>
                  <a:srgbClr val="141B45"/>
                </a:solidFill>
                <a:latin typeface="Calibri"/>
              </a:rPr>
              <a:t>Development workspace</a:t>
            </a:r>
          </a:p>
        </p:txBody>
      </p:sp>
      <p:sp>
        <p:nvSpPr>
          <p:cNvPr id="10" name="TextBox 9"/>
          <p:cNvSpPr txBox="1"/>
          <p:nvPr/>
        </p:nvSpPr>
        <p:spPr>
          <a:xfrm>
            <a:off x="667512" y="3154680"/>
            <a:ext cx="2916936" cy="365760"/>
          </a:xfrm>
          <a:prstGeom prst="rect">
            <a:avLst/>
          </a:prstGeom>
          <a:noFill/>
        </p:spPr>
        <p:txBody>
          <a:bodyPr wrap="square" anchor="t" lIns="0" rIns="0" tIns="0" bIns="0">
            <a:spAutoFit/>
          </a:bodyPr>
          <a:lstStyle/>
          <a:p>
            <a:pPr algn="ctr">
              <a:lnSpc>
                <a:spcPct val="115000"/>
              </a:lnSpc>
              <a:spcAft>
                <a:spcPts val="0"/>
              </a:spcAft>
            </a:pPr>
            <a:r>
              <a:rPr sz="1150" b="0" i="1">
                <a:solidFill>
                  <a:srgbClr val="4B5563"/>
                </a:solidFill>
                <a:latin typeface="Calibri"/>
              </a:rPr>
              <a:t>PBIP author publishes here first</a:t>
            </a:r>
          </a:p>
        </p:txBody>
      </p:sp>
      <p:sp>
        <p:nvSpPr>
          <p:cNvPr id="11" name="TextBox 10"/>
          <p:cNvSpPr txBox="1"/>
          <p:nvPr/>
        </p:nvSpPr>
        <p:spPr>
          <a:xfrm>
            <a:off x="667512" y="3520440"/>
            <a:ext cx="2916936" cy="411480"/>
          </a:xfrm>
          <a:prstGeom prst="rect">
            <a:avLst/>
          </a:prstGeom>
          <a:noFill/>
        </p:spPr>
        <p:txBody>
          <a:bodyPr wrap="square" anchor="t" lIns="0" rIns="0" tIns="0" bIns="0">
            <a:spAutoFit/>
          </a:bodyPr>
          <a:lstStyle/>
          <a:p>
            <a:pPr algn="ctr">
              <a:lnSpc>
                <a:spcPct val="115000"/>
              </a:lnSpc>
              <a:spcAft>
                <a:spcPts val="0"/>
              </a:spcAft>
            </a:pPr>
            <a:r>
              <a:rPr sz="1150" b="0" i="1">
                <a:solidFill>
                  <a:srgbClr val="4B5563"/>
                </a:solidFill>
                <a:latin typeface="Calibri"/>
              </a:rPr>
              <a:t>Owner: report/model author</a:t>
            </a:r>
          </a:p>
        </p:txBody>
      </p:sp>
      <p:sp>
        <p:nvSpPr>
          <p:cNvPr id="12" name="Rectangle 11"/>
          <p:cNvSpPr/>
          <p:nvPr/>
        </p:nvSpPr>
        <p:spPr>
          <a:xfrm>
            <a:off x="4251960" y="2011680"/>
            <a:ext cx="3246120" cy="2011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148840"/>
            <a:ext cx="2971800" cy="502920"/>
          </a:xfrm>
          <a:prstGeom prst="rect">
            <a:avLst/>
          </a:prstGeom>
          <a:noFill/>
        </p:spPr>
        <p:txBody>
          <a:bodyPr wrap="square" anchor="t" lIns="0" rIns="0" tIns="0" bIns="0">
            <a:spAutoFit/>
          </a:bodyPr>
          <a:lstStyle/>
          <a:p>
            <a:pPr algn="ctr">
              <a:lnSpc>
                <a:spcPct val="100000"/>
              </a:lnSpc>
              <a:spcAft>
                <a:spcPts val="0"/>
              </a:spcAft>
            </a:pPr>
            <a:r>
              <a:rPr sz="2200" b="1" i="0">
                <a:solidFill>
                  <a:srgbClr val="FFFFFF"/>
                </a:solidFill>
                <a:latin typeface="Cambria"/>
              </a:rPr>
              <a:t>TEST</a:t>
            </a:r>
          </a:p>
        </p:txBody>
      </p:sp>
      <p:sp>
        <p:nvSpPr>
          <p:cNvPr id="14" name="TextBox 13"/>
          <p:cNvSpPr txBox="1"/>
          <p:nvPr/>
        </p:nvSpPr>
        <p:spPr>
          <a:xfrm>
            <a:off x="4389120" y="2697480"/>
            <a:ext cx="2971800" cy="411480"/>
          </a:xfrm>
          <a:prstGeom prst="rect">
            <a:avLst/>
          </a:prstGeom>
          <a:noFill/>
        </p:spPr>
        <p:txBody>
          <a:bodyPr wrap="square" anchor="t" lIns="0" rIns="0" tIns="0" bIns="0">
            <a:spAutoFit/>
          </a:bodyPr>
          <a:lstStyle/>
          <a:p>
            <a:pPr algn="ctr">
              <a:lnSpc>
                <a:spcPct val="100000"/>
              </a:lnSpc>
              <a:spcAft>
                <a:spcPts val="0"/>
              </a:spcAft>
            </a:pPr>
            <a:r>
              <a:rPr sz="1400" b="1" i="0">
                <a:solidFill>
                  <a:srgbClr val="FFFFFF"/>
                </a:solidFill>
                <a:latin typeface="Calibri"/>
              </a:rPr>
              <a:t>Test / UAT workspace</a:t>
            </a:r>
          </a:p>
        </p:txBody>
      </p:sp>
      <p:sp>
        <p:nvSpPr>
          <p:cNvPr id="15" name="TextBox 14"/>
          <p:cNvSpPr txBox="1"/>
          <p:nvPr/>
        </p:nvSpPr>
        <p:spPr>
          <a:xfrm>
            <a:off x="4416552" y="3154680"/>
            <a:ext cx="2916936" cy="365760"/>
          </a:xfrm>
          <a:prstGeom prst="rect">
            <a:avLst/>
          </a:prstGeom>
          <a:noFill/>
        </p:spPr>
        <p:txBody>
          <a:bodyPr wrap="square" anchor="t" lIns="0" rIns="0" tIns="0" bIns="0">
            <a:spAutoFit/>
          </a:bodyPr>
          <a:lstStyle/>
          <a:p>
            <a:pPr algn="ctr">
              <a:lnSpc>
                <a:spcPct val="115000"/>
              </a:lnSpc>
              <a:spcAft>
                <a:spcPts val="0"/>
              </a:spcAft>
            </a:pPr>
            <a:r>
              <a:rPr sz="1150" b="0" i="1">
                <a:solidFill>
                  <a:srgbClr val="CADCFC"/>
                </a:solidFill>
                <a:latin typeface="Calibri"/>
              </a:rPr>
              <a:t>Business reviewers validate data &amp; UX</a:t>
            </a:r>
          </a:p>
        </p:txBody>
      </p:sp>
      <p:sp>
        <p:nvSpPr>
          <p:cNvPr id="16" name="TextBox 15"/>
          <p:cNvSpPr txBox="1"/>
          <p:nvPr/>
        </p:nvSpPr>
        <p:spPr>
          <a:xfrm>
            <a:off x="4416552" y="3520440"/>
            <a:ext cx="2916936" cy="411480"/>
          </a:xfrm>
          <a:prstGeom prst="rect">
            <a:avLst/>
          </a:prstGeom>
          <a:noFill/>
        </p:spPr>
        <p:txBody>
          <a:bodyPr wrap="square" anchor="t" lIns="0" rIns="0" tIns="0" bIns="0">
            <a:spAutoFit/>
          </a:bodyPr>
          <a:lstStyle/>
          <a:p>
            <a:pPr algn="ctr">
              <a:lnSpc>
                <a:spcPct val="115000"/>
              </a:lnSpc>
              <a:spcAft>
                <a:spcPts val="0"/>
              </a:spcAft>
            </a:pPr>
            <a:r>
              <a:rPr sz="1150" b="0" i="1">
                <a:solidFill>
                  <a:srgbClr val="CADCFC"/>
                </a:solidFill>
                <a:latin typeface="Calibri"/>
              </a:rPr>
              <a:t>Deployment rules swap data source</a:t>
            </a:r>
          </a:p>
        </p:txBody>
      </p:sp>
      <p:sp>
        <p:nvSpPr>
          <p:cNvPr id="17" name="Rectangle 16"/>
          <p:cNvSpPr/>
          <p:nvPr/>
        </p:nvSpPr>
        <p:spPr>
          <a:xfrm>
            <a:off x="8001000" y="2011680"/>
            <a:ext cx="3246120" cy="2011680"/>
          </a:xfrm>
          <a:prstGeom prst="rect">
            <a:avLst/>
          </a:prstGeom>
          <a:solidFill>
            <a:srgbClr val="E8B44A"/>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2148840"/>
            <a:ext cx="2971800" cy="502920"/>
          </a:xfrm>
          <a:prstGeom prst="rect">
            <a:avLst/>
          </a:prstGeom>
          <a:noFill/>
        </p:spPr>
        <p:txBody>
          <a:bodyPr wrap="square" anchor="t" lIns="0" rIns="0" tIns="0" bIns="0">
            <a:spAutoFit/>
          </a:bodyPr>
          <a:lstStyle/>
          <a:p>
            <a:pPr algn="ctr">
              <a:lnSpc>
                <a:spcPct val="100000"/>
              </a:lnSpc>
              <a:spcAft>
                <a:spcPts val="0"/>
              </a:spcAft>
            </a:pPr>
            <a:r>
              <a:rPr sz="2200" b="1" i="0">
                <a:solidFill>
                  <a:srgbClr val="141B45"/>
                </a:solidFill>
                <a:latin typeface="Cambria"/>
              </a:rPr>
              <a:t>PROD</a:t>
            </a:r>
          </a:p>
        </p:txBody>
      </p:sp>
      <p:sp>
        <p:nvSpPr>
          <p:cNvPr id="19" name="TextBox 18"/>
          <p:cNvSpPr txBox="1"/>
          <p:nvPr/>
        </p:nvSpPr>
        <p:spPr>
          <a:xfrm>
            <a:off x="8138160" y="2697480"/>
            <a:ext cx="2971800" cy="411480"/>
          </a:xfrm>
          <a:prstGeom prst="rect">
            <a:avLst/>
          </a:prstGeom>
          <a:noFill/>
        </p:spPr>
        <p:txBody>
          <a:bodyPr wrap="square" anchor="t" lIns="0" rIns="0" tIns="0" bIns="0">
            <a:spAutoFit/>
          </a:bodyPr>
          <a:lstStyle/>
          <a:p>
            <a:pPr algn="ctr">
              <a:lnSpc>
                <a:spcPct val="100000"/>
              </a:lnSpc>
              <a:spcAft>
                <a:spcPts val="0"/>
              </a:spcAft>
            </a:pPr>
            <a:r>
              <a:rPr sz="1400" b="1" i="0">
                <a:solidFill>
                  <a:srgbClr val="141B45"/>
                </a:solidFill>
                <a:latin typeface="Calibri"/>
              </a:rPr>
              <a:t>Production workspace</a:t>
            </a:r>
          </a:p>
        </p:txBody>
      </p:sp>
      <p:sp>
        <p:nvSpPr>
          <p:cNvPr id="20" name="TextBox 19"/>
          <p:cNvSpPr txBox="1"/>
          <p:nvPr/>
        </p:nvSpPr>
        <p:spPr>
          <a:xfrm>
            <a:off x="8165592" y="3154680"/>
            <a:ext cx="2916936" cy="365760"/>
          </a:xfrm>
          <a:prstGeom prst="rect">
            <a:avLst/>
          </a:prstGeom>
          <a:noFill/>
        </p:spPr>
        <p:txBody>
          <a:bodyPr wrap="square" anchor="t" lIns="0" rIns="0" tIns="0" bIns="0">
            <a:spAutoFit/>
          </a:bodyPr>
          <a:lstStyle/>
          <a:p>
            <a:pPr algn="ctr">
              <a:lnSpc>
                <a:spcPct val="115000"/>
              </a:lnSpc>
              <a:spcAft>
                <a:spcPts val="0"/>
              </a:spcAft>
            </a:pPr>
            <a:r>
              <a:rPr sz="1150" b="0" i="1">
                <a:solidFill>
                  <a:srgbClr val="4B5563"/>
                </a:solidFill>
                <a:latin typeface="Calibri"/>
              </a:rPr>
              <a:t>App is published from this workspace</a:t>
            </a:r>
          </a:p>
        </p:txBody>
      </p:sp>
      <p:sp>
        <p:nvSpPr>
          <p:cNvPr id="21" name="TextBox 20"/>
          <p:cNvSpPr txBox="1"/>
          <p:nvPr/>
        </p:nvSpPr>
        <p:spPr>
          <a:xfrm>
            <a:off x="8165592" y="3520440"/>
            <a:ext cx="2916936" cy="411480"/>
          </a:xfrm>
          <a:prstGeom prst="rect">
            <a:avLst/>
          </a:prstGeom>
          <a:noFill/>
        </p:spPr>
        <p:txBody>
          <a:bodyPr wrap="square" anchor="t" lIns="0" rIns="0" tIns="0" bIns="0">
            <a:spAutoFit/>
          </a:bodyPr>
          <a:lstStyle/>
          <a:p>
            <a:pPr algn="ctr">
              <a:lnSpc>
                <a:spcPct val="115000"/>
              </a:lnSpc>
              <a:spcAft>
                <a:spcPts val="0"/>
              </a:spcAft>
            </a:pPr>
            <a:r>
              <a:rPr sz="1150" b="0" i="1">
                <a:solidFill>
                  <a:srgbClr val="4B5563"/>
                </a:solidFill>
                <a:latin typeface="Calibri"/>
              </a:rPr>
              <a:t>Change-controlled, restricted access</a:t>
            </a:r>
          </a:p>
        </p:txBody>
      </p:sp>
      <p:sp>
        <p:nvSpPr>
          <p:cNvPr id="22" name="Right Arrow 21"/>
          <p:cNvSpPr/>
          <p:nvPr/>
        </p:nvSpPr>
        <p:spPr>
          <a:xfrm>
            <a:off x="3776472" y="2825496"/>
            <a:ext cx="448056" cy="384048"/>
          </a:xfrm>
          <a:prstGeom prst="right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40" y="2505456"/>
            <a:ext cx="502920" cy="274320"/>
          </a:xfrm>
          <a:prstGeom prst="rect">
            <a:avLst/>
          </a:prstGeom>
          <a:noFill/>
        </p:spPr>
        <p:txBody>
          <a:bodyPr wrap="square" anchor="t" lIns="0" rIns="0" tIns="0" bIns="0">
            <a:spAutoFit/>
          </a:bodyPr>
          <a:lstStyle/>
          <a:p>
            <a:pPr algn="ctr">
              <a:lnSpc>
                <a:spcPct val="100000"/>
              </a:lnSpc>
              <a:spcAft>
                <a:spcPts val="0"/>
              </a:spcAft>
            </a:pPr>
            <a:r>
              <a:rPr sz="1100" b="1" i="0">
                <a:solidFill>
                  <a:srgbClr val="141B45"/>
                </a:solidFill>
                <a:latin typeface="Calibri"/>
              </a:rPr>
              <a:t>Deploy</a:t>
            </a:r>
          </a:p>
        </p:txBody>
      </p:sp>
      <p:sp>
        <p:nvSpPr>
          <p:cNvPr id="24" name="Right Arrow 23"/>
          <p:cNvSpPr/>
          <p:nvPr/>
        </p:nvSpPr>
        <p:spPr>
          <a:xfrm>
            <a:off x="7525512" y="2825496"/>
            <a:ext cx="448056" cy="384048"/>
          </a:xfrm>
          <a:prstGeom prst="right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0" y="2505456"/>
            <a:ext cx="502920" cy="274320"/>
          </a:xfrm>
          <a:prstGeom prst="rect">
            <a:avLst/>
          </a:prstGeom>
          <a:noFill/>
        </p:spPr>
        <p:txBody>
          <a:bodyPr wrap="square" anchor="t" lIns="0" rIns="0" tIns="0" bIns="0">
            <a:spAutoFit/>
          </a:bodyPr>
          <a:lstStyle/>
          <a:p>
            <a:pPr algn="ctr">
              <a:lnSpc>
                <a:spcPct val="100000"/>
              </a:lnSpc>
              <a:spcAft>
                <a:spcPts val="0"/>
              </a:spcAft>
            </a:pPr>
            <a:r>
              <a:rPr sz="1100" b="1" i="0">
                <a:solidFill>
                  <a:srgbClr val="141B45"/>
                </a:solidFill>
                <a:latin typeface="Calibri"/>
              </a:rPr>
              <a:t>Deploy</a:t>
            </a:r>
          </a:p>
        </p:txBody>
      </p:sp>
      <p:sp>
        <p:nvSpPr>
          <p:cNvPr id="26" name="Rectangle 25"/>
          <p:cNvSpPr/>
          <p:nvPr/>
        </p:nvSpPr>
        <p:spPr>
          <a:xfrm>
            <a:off x="502920" y="4480560"/>
            <a:ext cx="11201400" cy="1417320"/>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90288"/>
            <a:ext cx="107442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141B45"/>
                </a:solidFill>
                <a:latin typeface="Calibri"/>
              </a:rPr>
              <a:t>What the pipeline needs to work</a:t>
            </a:r>
          </a:p>
        </p:txBody>
      </p:sp>
      <p:sp>
        <p:nvSpPr>
          <p:cNvPr id="28" name="TextBox 27"/>
          <p:cNvSpPr txBox="1"/>
          <p:nvPr/>
        </p:nvSpPr>
        <p:spPr>
          <a:xfrm>
            <a:off x="822960" y="4937760"/>
            <a:ext cx="10972800" cy="274320"/>
          </a:xfrm>
          <a:prstGeom prst="rect">
            <a:avLst/>
          </a:prstGeom>
          <a:noFill/>
        </p:spPr>
        <p:txBody>
          <a:bodyPr wrap="square" anchor="t" lIns="0" rIns="0" tIns="0" bIns="0">
            <a:spAutoFit/>
          </a:bodyPr>
          <a:lstStyle/>
          <a:p>
            <a:pPr algn="l">
              <a:lnSpc>
                <a:spcPct val="100000"/>
              </a:lnSpc>
              <a:spcAft>
                <a:spcPts val="0"/>
              </a:spcAft>
            </a:pPr>
            <a:r>
              <a:rPr sz="1150" b="0" i="0">
                <a:solidFill>
                  <a:srgbClr val="1F2328"/>
                </a:solidFill>
                <a:latin typeface="Calibri"/>
              </a:rPr>
              <a:t>•  Premium / Fabric capacity (or PPU) assigned to each stage workspace</a:t>
            </a:r>
          </a:p>
        </p:txBody>
      </p:sp>
      <p:sp>
        <p:nvSpPr>
          <p:cNvPr id="29" name="TextBox 28"/>
          <p:cNvSpPr txBox="1"/>
          <p:nvPr/>
        </p:nvSpPr>
        <p:spPr>
          <a:xfrm>
            <a:off x="822960" y="5166360"/>
            <a:ext cx="10972800" cy="274320"/>
          </a:xfrm>
          <a:prstGeom prst="rect">
            <a:avLst/>
          </a:prstGeom>
          <a:noFill/>
        </p:spPr>
        <p:txBody>
          <a:bodyPr wrap="square" anchor="t" lIns="0" rIns="0" tIns="0" bIns="0">
            <a:spAutoFit/>
          </a:bodyPr>
          <a:lstStyle/>
          <a:p>
            <a:pPr algn="l">
              <a:lnSpc>
                <a:spcPct val="100000"/>
              </a:lnSpc>
              <a:spcAft>
                <a:spcPts val="0"/>
              </a:spcAft>
            </a:pPr>
            <a:r>
              <a:rPr sz="1150" b="0" i="0">
                <a:solidFill>
                  <a:srgbClr val="1F2328"/>
                </a:solidFill>
                <a:latin typeface="Calibri"/>
              </a:rPr>
              <a:t>•  Deployment rules to swap data sources, parameters, and connection strings per stage</a:t>
            </a:r>
          </a:p>
        </p:txBody>
      </p:sp>
      <p:sp>
        <p:nvSpPr>
          <p:cNvPr id="30" name="TextBox 29"/>
          <p:cNvSpPr txBox="1"/>
          <p:nvPr/>
        </p:nvSpPr>
        <p:spPr>
          <a:xfrm>
            <a:off x="822960" y="5394960"/>
            <a:ext cx="10972800" cy="274320"/>
          </a:xfrm>
          <a:prstGeom prst="rect">
            <a:avLst/>
          </a:prstGeom>
          <a:noFill/>
        </p:spPr>
        <p:txBody>
          <a:bodyPr wrap="square" anchor="t" lIns="0" rIns="0" tIns="0" bIns="0">
            <a:spAutoFit/>
          </a:bodyPr>
          <a:lstStyle/>
          <a:p>
            <a:pPr algn="l">
              <a:lnSpc>
                <a:spcPct val="100000"/>
              </a:lnSpc>
              <a:spcAft>
                <a:spcPts val="0"/>
              </a:spcAft>
            </a:pPr>
            <a:r>
              <a:rPr sz="1150" b="0" i="0">
                <a:solidFill>
                  <a:srgbClr val="1F2328"/>
                </a:solidFill>
                <a:latin typeface="Calibri"/>
              </a:rPr>
              <a:t>•  Least-privileged workspace roles per stage — fewer Admins in PROD than in DEV</a:t>
            </a:r>
          </a:p>
        </p:txBody>
      </p:sp>
      <p:sp>
        <p:nvSpPr>
          <p:cNvPr id="31" name="TextBox 30"/>
          <p:cNvSpPr txBox="1"/>
          <p:nvPr/>
        </p:nvSpPr>
        <p:spPr>
          <a:xfrm>
            <a:off x="822960" y="5623560"/>
            <a:ext cx="10972800" cy="274320"/>
          </a:xfrm>
          <a:prstGeom prst="rect">
            <a:avLst/>
          </a:prstGeom>
          <a:noFill/>
        </p:spPr>
        <p:txBody>
          <a:bodyPr wrap="square" anchor="t" lIns="0" rIns="0" tIns="0" bIns="0">
            <a:spAutoFit/>
          </a:bodyPr>
          <a:lstStyle/>
          <a:p>
            <a:pPr algn="l">
              <a:lnSpc>
                <a:spcPct val="100000"/>
              </a:lnSpc>
              <a:spcAft>
                <a:spcPts val="0"/>
              </a:spcAft>
            </a:pPr>
            <a:r>
              <a:rPr sz="1150" b="0" i="0">
                <a:solidFill>
                  <a:srgbClr val="1F2328"/>
                </a:solidFill>
                <a:latin typeface="Calibri"/>
              </a:rPr>
              <a:t>•  ⚠  Verify for Gov: confirm licensing, capacity, and Service availability in Azure Government</a:t>
            </a:r>
          </a:p>
        </p:txBody>
      </p:sp>
      <p:sp>
        <p:nvSpPr>
          <p:cNvPr id="32" name="TextBox 31"/>
          <p:cNvSpPr txBox="1"/>
          <p:nvPr/>
        </p:nvSpPr>
        <p:spPr>
          <a:xfrm>
            <a:off x="640080" y="608076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the optional deployment pipelines lab has students walk through the three-stage promotion pattern; hands-on availability depends on capacity and tenant policy.</a:t>
            </a:r>
          </a:p>
        </p:txBody>
      </p:sp>
      <p:sp>
        <p:nvSpPr>
          <p:cNvPr id="33" name="TextBox 32"/>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10</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Endorsement — Promoted vs Certified</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072640"/>
                <a:gridCol w="4404360"/>
                <a:gridCol w="4404360"/>
              </a:tblGrid>
              <a:tr h="777240">
                <a:tc>
                  <a:txBody>
                    <a:bodyPr/>
                    <a:lstStyle/>
                    <a:p>
                      <a:pPr algn="l"/>
                      <a:r>
                        <a:rPr b="1" sz="1250">
                          <a:solidFill>
                            <a:srgbClr val="FFFFFF"/>
                          </a:solidFill>
                          <a:latin typeface="Calibri"/>
                        </a:rPr>
                        <a:t>Aspect</a:t>
                      </a:r>
                    </a:p>
                  </a:txBody>
                  <a:tcPr>
                    <a:solidFill>
                      <a:srgbClr val="1E2761"/>
                    </a:solidFill>
                  </a:tcPr>
                </a:tc>
                <a:tc>
                  <a:txBody>
                    <a:bodyPr/>
                    <a:lstStyle/>
                    <a:p>
                      <a:pPr algn="l"/>
                      <a:r>
                        <a:rPr b="1" sz="1250">
                          <a:solidFill>
                            <a:srgbClr val="FFFFFF"/>
                          </a:solidFill>
                          <a:latin typeface="Calibri"/>
                        </a:rPr>
                        <a:t>Promoted</a:t>
                      </a:r>
                    </a:p>
                  </a:txBody>
                  <a:tcPr>
                    <a:solidFill>
                      <a:srgbClr val="1E2761"/>
                    </a:solidFill>
                  </a:tcPr>
                </a:tc>
                <a:tc>
                  <a:txBody>
                    <a:bodyPr/>
                    <a:lstStyle/>
                    <a:p>
                      <a:pPr algn="l"/>
                      <a:r>
                        <a:rPr b="1" sz="1250">
                          <a:solidFill>
                            <a:srgbClr val="FFFFFF"/>
                          </a:solidFill>
                          <a:latin typeface="Calibri"/>
                        </a:rPr>
                        <a:t>Certified</a:t>
                      </a:r>
                    </a:p>
                  </a:txBody>
                  <a:tcPr>
                    <a:solidFill>
                      <a:srgbClr val="1E2761"/>
                    </a:solidFill>
                  </a:tcPr>
                </a:tc>
              </a:tr>
              <a:tr h="777240">
                <a:tc>
                  <a:txBody>
                    <a:bodyPr/>
                    <a:lstStyle/>
                    <a:p>
                      <a:r>
                        <a:rPr sz="1150">
                          <a:solidFill>
                            <a:srgbClr val="1F2328"/>
                          </a:solidFill>
                          <a:latin typeface="Calibri"/>
                        </a:rPr>
                        <a:t>Who grants it</a:t>
                      </a:r>
                    </a:p>
                  </a:txBody>
                  <a:tcPr>
                    <a:solidFill>
                      <a:srgbClr val="FFFFFF"/>
                    </a:solidFill>
                  </a:tcPr>
                </a:tc>
                <a:tc>
                  <a:txBody>
                    <a:bodyPr/>
                    <a:lstStyle/>
                    <a:p>
                      <a:r>
                        <a:rPr sz="1150">
                          <a:solidFill>
                            <a:srgbClr val="1F2328"/>
                          </a:solidFill>
                          <a:latin typeface="Calibri"/>
                        </a:rPr>
                        <a:t>Any workspace Contributor+ can self-promote their own content.</a:t>
                      </a:r>
                    </a:p>
                  </a:txBody>
                  <a:tcPr>
                    <a:solidFill>
                      <a:srgbClr val="FFFFFF"/>
                    </a:solidFill>
                  </a:tcPr>
                </a:tc>
                <a:tc>
                  <a:txBody>
                    <a:bodyPr/>
                    <a:lstStyle/>
                    <a:p>
                      <a:r>
                        <a:rPr sz="1150">
                          <a:solidFill>
                            <a:srgbClr val="1F2328"/>
                          </a:solidFill>
                          <a:latin typeface="Calibri"/>
                        </a:rPr>
                        <a:t>Only tenant-designated reviewers (defined in Admin Portal) can certify.</a:t>
                      </a:r>
                    </a:p>
                  </a:txBody>
                  <a:tcPr>
                    <a:solidFill>
                      <a:srgbClr val="FFFFFF"/>
                    </a:solidFill>
                  </a:tcPr>
                </a:tc>
              </a:tr>
              <a:tr h="777240">
                <a:tc>
                  <a:txBody>
                    <a:bodyPr/>
                    <a:lstStyle/>
                    <a:p>
                      <a:r>
                        <a:rPr sz="1150">
                          <a:solidFill>
                            <a:srgbClr val="1F2328"/>
                          </a:solidFill>
                          <a:latin typeface="Calibri"/>
                        </a:rPr>
                        <a:t>Signal to consumers</a:t>
                      </a:r>
                    </a:p>
                  </a:txBody>
                  <a:tcPr>
                    <a:solidFill>
                      <a:srgbClr val="F6F8FC"/>
                    </a:solidFill>
                  </a:tcPr>
                </a:tc>
                <a:tc>
                  <a:txBody>
                    <a:bodyPr/>
                    <a:lstStyle/>
                    <a:p>
                      <a:r>
                        <a:rPr sz="1150">
                          <a:solidFill>
                            <a:srgbClr val="1F2328"/>
                          </a:solidFill>
                          <a:latin typeface="Calibri"/>
                        </a:rPr>
                        <a:t>'This is content the author considers ready for a wider audience.'</a:t>
                      </a:r>
                    </a:p>
                  </a:txBody>
                  <a:tcPr>
                    <a:solidFill>
                      <a:srgbClr val="F6F8FC"/>
                    </a:solidFill>
                  </a:tcPr>
                </a:tc>
                <a:tc>
                  <a:txBody>
                    <a:bodyPr/>
                    <a:lstStyle/>
                    <a:p>
                      <a:r>
                        <a:rPr sz="1150">
                          <a:solidFill>
                            <a:srgbClr val="1F2328"/>
                          </a:solidFill>
                          <a:latin typeface="Calibri"/>
                        </a:rPr>
                        <a:t>'This is the authoritative, tenant-endorsed source for this topic.'</a:t>
                      </a:r>
                    </a:p>
                  </a:txBody>
                  <a:tcPr>
                    <a:solidFill>
                      <a:srgbClr val="F6F8FC"/>
                    </a:solidFill>
                  </a:tcPr>
                </a:tc>
              </a:tr>
              <a:tr h="777240">
                <a:tc>
                  <a:txBody>
                    <a:bodyPr/>
                    <a:lstStyle/>
                    <a:p>
                      <a:r>
                        <a:rPr sz="1150">
                          <a:solidFill>
                            <a:srgbClr val="1F2328"/>
                          </a:solidFill>
                          <a:latin typeface="Calibri"/>
                        </a:rPr>
                        <a:t>Governance evidence required</a:t>
                      </a:r>
                    </a:p>
                  </a:txBody>
                  <a:tcPr>
                    <a:solidFill>
                      <a:srgbClr val="FFFFFF"/>
                    </a:solidFill>
                  </a:tcPr>
                </a:tc>
                <a:tc>
                  <a:txBody>
                    <a:bodyPr/>
                    <a:lstStyle/>
                    <a:p>
                      <a:r>
                        <a:rPr sz="1150">
                          <a:solidFill>
                            <a:srgbClr val="1F2328"/>
                          </a:solidFill>
                          <a:latin typeface="Calibri"/>
                        </a:rPr>
                        <a:t>Basic — self-attestation of quality and support.</a:t>
                      </a:r>
                    </a:p>
                  </a:txBody>
                  <a:tcPr>
                    <a:solidFill>
                      <a:srgbClr val="FFFFFF"/>
                    </a:solidFill>
                  </a:tcPr>
                </a:tc>
                <a:tc>
                  <a:txBody>
                    <a:bodyPr/>
                    <a:lstStyle/>
                    <a:p>
                      <a:r>
                        <a:rPr sz="1150">
                          <a:solidFill>
                            <a:srgbClr val="1F2328"/>
                          </a:solidFill>
                          <a:latin typeface="Calibri"/>
                        </a:rPr>
                        <a:t>Ownership, refresh reliability, security review, and support model must all be documented.</a:t>
                      </a:r>
                    </a:p>
                  </a:txBody>
                  <a:tcPr>
                    <a:solidFill>
                      <a:srgbClr val="FFFFFF"/>
                    </a:solidFill>
                  </a:tcPr>
                </a:tc>
              </a:tr>
              <a:tr h="777240">
                <a:tc>
                  <a:txBody>
                    <a:bodyPr/>
                    <a:lstStyle/>
                    <a:p>
                      <a:r>
                        <a:rPr sz="1150">
                          <a:solidFill>
                            <a:srgbClr val="1F2328"/>
                          </a:solidFill>
                          <a:latin typeface="Calibri"/>
                        </a:rPr>
                        <a:t>Typical use</a:t>
                      </a:r>
                    </a:p>
                  </a:txBody>
                  <a:tcPr>
                    <a:solidFill>
                      <a:srgbClr val="F6F8FC"/>
                    </a:solidFill>
                  </a:tcPr>
                </a:tc>
                <a:tc>
                  <a:txBody>
                    <a:bodyPr/>
                    <a:lstStyle/>
                    <a:p>
                      <a:r>
                        <a:rPr sz="1150">
                          <a:solidFill>
                            <a:srgbClr val="1F2328"/>
                          </a:solidFill>
                          <a:latin typeface="Calibri"/>
                        </a:rPr>
                        <a:t>Team-level or department-level reference content.</a:t>
                      </a:r>
                    </a:p>
                  </a:txBody>
                  <a:tcPr>
                    <a:solidFill>
                      <a:srgbClr val="F6F8FC"/>
                    </a:solidFill>
                  </a:tcPr>
                </a:tc>
                <a:tc>
                  <a:txBody>
                    <a:bodyPr/>
                    <a:lstStyle/>
                    <a:p>
                      <a:r>
                        <a:rPr sz="1150">
                          <a:solidFill>
                            <a:srgbClr val="1F2328"/>
                          </a:solidFill>
                          <a:latin typeface="Calibri"/>
                        </a:rPr>
                        <a:t>Enterprise-wide 'source of truth' semantic models and reports.</a:t>
                      </a:r>
                    </a:p>
                  </a:txBody>
                  <a:tcPr>
                    <a:solidFill>
                      <a:srgbClr val="F6F8FC"/>
                    </a:solidFill>
                  </a:tcPr>
                </a:tc>
              </a:tr>
              <a:tr h="777240">
                <a:tc>
                  <a:txBody>
                    <a:bodyPr/>
                    <a:lstStyle/>
                    <a:p>
                      <a:r>
                        <a:rPr sz="1150">
                          <a:solidFill>
                            <a:srgbClr val="1F2328"/>
                          </a:solidFill>
                          <a:latin typeface="Calibri"/>
                        </a:rPr>
                        <a:t>Discoverability effect</a:t>
                      </a:r>
                    </a:p>
                  </a:txBody>
                  <a:tcPr>
                    <a:solidFill>
                      <a:srgbClr val="FFFFFF"/>
                    </a:solidFill>
                  </a:tcPr>
                </a:tc>
                <a:tc>
                  <a:txBody>
                    <a:bodyPr/>
                    <a:lstStyle/>
                    <a:p>
                      <a:r>
                        <a:rPr sz="1150">
                          <a:solidFill>
                            <a:srgbClr val="1F2328"/>
                          </a:solidFill>
                          <a:latin typeface="Calibri"/>
                        </a:rPr>
                        <a:t>Ribbon badge in workspace and shared model picker.</a:t>
                      </a:r>
                    </a:p>
                  </a:txBody>
                  <a:tcPr>
                    <a:solidFill>
                      <a:srgbClr val="FFFFFF"/>
                    </a:solidFill>
                  </a:tcPr>
                </a:tc>
                <a:tc>
                  <a:txBody>
                    <a:bodyPr/>
                    <a:lstStyle/>
                    <a:p>
                      <a:r>
                        <a:rPr sz="1150">
                          <a:solidFill>
                            <a:srgbClr val="1F2328"/>
                          </a:solidFill>
                          <a:latin typeface="Calibri"/>
                        </a:rPr>
                        <a:t>Ribbon badge plus priority sort in the shared model picker; steers new authors here.</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6 walks through the endorsement checklist and decides whether the lab content is eligible for Promoted or Certified.</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11</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Azure Government — What to Validate</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3108960"/>
                <a:gridCol w="2331720"/>
                <a:gridCol w="5440680"/>
              </a:tblGrid>
              <a:tr h="518160">
                <a:tc>
                  <a:txBody>
                    <a:bodyPr/>
                    <a:lstStyle/>
                    <a:p>
                      <a:pPr algn="l"/>
                      <a:r>
                        <a:rPr b="1" sz="1250">
                          <a:solidFill>
                            <a:srgbClr val="FFFFFF"/>
                          </a:solidFill>
                          <a:latin typeface="Calibri"/>
                        </a:rPr>
                        <a:t>Feature area</a:t>
                      </a:r>
                    </a:p>
                  </a:txBody>
                  <a:tcPr>
                    <a:solidFill>
                      <a:srgbClr val="1E2761"/>
                    </a:solidFill>
                  </a:tcPr>
                </a:tc>
                <a:tc>
                  <a:txBody>
                    <a:bodyPr/>
                    <a:lstStyle/>
                    <a:p>
                      <a:pPr algn="l"/>
                      <a:r>
                        <a:rPr b="1" sz="1250">
                          <a:solidFill>
                            <a:srgbClr val="FFFFFF"/>
                          </a:solidFill>
                          <a:latin typeface="Calibri"/>
                        </a:rPr>
                        <a:t>Status</a:t>
                      </a:r>
                    </a:p>
                  </a:txBody>
                  <a:tcPr>
                    <a:solidFill>
                      <a:srgbClr val="1E2761"/>
                    </a:solidFill>
                  </a:tcPr>
                </a:tc>
                <a:tc>
                  <a:txBody>
                    <a:bodyPr/>
                    <a:lstStyle/>
                    <a:p>
                      <a:pPr algn="l"/>
                      <a:r>
                        <a:rPr b="1" sz="1250">
                          <a:solidFill>
                            <a:srgbClr val="FFFFFF"/>
                          </a:solidFill>
                          <a:latin typeface="Calibri"/>
                        </a:rPr>
                        <a:t>What to verify before promising it</a:t>
                      </a:r>
                    </a:p>
                  </a:txBody>
                  <a:tcPr>
                    <a:solidFill>
                      <a:srgbClr val="1E2761"/>
                    </a:solidFill>
                  </a:tcPr>
                </a:tc>
              </a:tr>
              <a:tr h="518160">
                <a:tc>
                  <a:txBody>
                    <a:bodyPr/>
                    <a:lstStyle/>
                    <a:p>
                      <a:r>
                        <a:rPr sz="1150">
                          <a:solidFill>
                            <a:srgbClr val="1F2328"/>
                          </a:solidFill>
                          <a:latin typeface="Calibri"/>
                        </a:rPr>
                        <a:t>Workspaces, roles, publishing</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Confirm tenant settings, licensing (Pro/PPU/Premium/Fabric), and org naming policy.</a:t>
                      </a:r>
                    </a:p>
                  </a:txBody>
                  <a:tcPr>
                    <a:solidFill>
                      <a:srgbClr val="FFFFFF"/>
                    </a:solidFill>
                  </a:tcPr>
                </a:tc>
              </a:tr>
              <a:tr h="518160">
                <a:tc>
                  <a:txBody>
                    <a:bodyPr/>
                    <a:lstStyle/>
                    <a:p>
                      <a:r>
                        <a:rPr sz="1150">
                          <a:solidFill>
                            <a:srgbClr val="1F2328"/>
                          </a:solidFill>
                          <a:latin typeface="Calibri"/>
                        </a:rPr>
                        <a:t>Scheduled refresh</a:t>
                      </a:r>
                    </a:p>
                  </a:txBody>
                  <a:tcPr>
                    <a:solidFill>
                      <a:srgbClr val="F6F8FC"/>
                    </a:solidFill>
                  </a:tcPr>
                </a:tc>
                <a:tc>
                  <a:txBody>
                    <a:bodyPr/>
                    <a:lstStyle/>
                    <a:p>
                      <a:r>
                        <a:rPr sz="1150">
                          <a:solidFill>
                            <a:srgbClr val="1F2328"/>
                          </a:solidFill>
                          <a:latin typeface="Calibri"/>
                        </a:rPr>
                        <a:t>Gov-ready / verify per source</a:t>
                      </a:r>
                    </a:p>
                  </a:txBody>
                  <a:tcPr>
                    <a:solidFill>
                      <a:srgbClr val="F6F8FC"/>
                    </a:solidFill>
                  </a:tcPr>
                </a:tc>
                <a:tc>
                  <a:txBody>
                    <a:bodyPr/>
                    <a:lstStyle/>
                    <a:p>
                      <a:r>
                        <a:rPr sz="1150">
                          <a:solidFill>
                            <a:srgbClr val="1F2328"/>
                          </a:solidFill>
                          <a:latin typeface="Calibri"/>
                        </a:rPr>
                        <a:t>Data source connector must be supported in Gov cloud; validate credentials work.</a:t>
                      </a:r>
                    </a:p>
                  </a:txBody>
                  <a:tcPr>
                    <a:solidFill>
                      <a:srgbClr val="F6F8FC"/>
                    </a:solidFill>
                  </a:tcPr>
                </a:tc>
              </a:tr>
              <a:tr h="518160">
                <a:tc>
                  <a:txBody>
                    <a:bodyPr/>
                    <a:lstStyle/>
                    <a:p>
                      <a:r>
                        <a:rPr sz="1150">
                          <a:solidFill>
                            <a:srgbClr val="1F2328"/>
                          </a:solidFill>
                          <a:latin typeface="Calibri"/>
                        </a:rPr>
                        <a:t>Gateways</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c>
                  <a:txBody>
                    <a:bodyPr/>
                    <a:lstStyle/>
                    <a:p>
                      <a:r>
                        <a:rPr sz="1150">
                          <a:solidFill>
                            <a:srgbClr val="1F2328"/>
                          </a:solidFill>
                          <a:latin typeface="Calibri"/>
                        </a:rPr>
                        <a:t>Gateway installer version, network path, connector matrix, tenant policy.</a:t>
                      </a:r>
                    </a:p>
                  </a:txBody>
                  <a:tcPr>
                    <a:solidFill>
                      <a:srgbClr val="FFFFFF"/>
                    </a:solidFill>
                  </a:tcPr>
                </a:tc>
              </a:tr>
              <a:tr h="518160">
                <a:tc>
                  <a:txBody>
                    <a:bodyPr/>
                    <a:lstStyle/>
                    <a:p>
                      <a:r>
                        <a:rPr sz="1150">
                          <a:solidFill>
                            <a:srgbClr val="1F2328"/>
                          </a:solidFill>
                          <a:latin typeface="Calibri"/>
                        </a:rPr>
                        <a:t>Cloud connections</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Confirm connector GA status in Gov; some cloud connections lag commercial.</a:t>
                      </a:r>
                    </a:p>
                  </a:txBody>
                  <a:tcPr>
                    <a:solidFill>
                      <a:srgbClr val="F6F8FC"/>
                    </a:solidFill>
                  </a:tcPr>
                </a:tc>
              </a:tr>
              <a:tr h="518160">
                <a:tc>
                  <a:txBody>
                    <a:bodyPr/>
                    <a:lstStyle/>
                    <a:p>
                      <a:r>
                        <a:rPr sz="1150">
                          <a:solidFill>
                            <a:srgbClr val="1F2328"/>
                          </a:solidFill>
                          <a:latin typeface="Calibri"/>
                        </a:rPr>
                        <a:t>Power BI Apps</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Confirm tenant external-sharing restrictions and audience licensing.</a:t>
                      </a:r>
                    </a:p>
                  </a:txBody>
                  <a:tcPr>
                    <a:solidFill>
                      <a:srgbClr val="FFFFFF"/>
                    </a:solidFill>
                  </a:tcPr>
                </a:tc>
              </a:tr>
              <a:tr h="518160">
                <a:tc>
                  <a:txBody>
                    <a:bodyPr/>
                    <a:lstStyle/>
                    <a:p>
                      <a:r>
                        <a:rPr sz="1150">
                          <a:solidFill>
                            <a:srgbClr val="1F2328"/>
                          </a:solidFill>
                          <a:latin typeface="Calibri"/>
                        </a:rPr>
                        <a:t>App audiences</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Confirm Service parity; fall back to single-audience App + RLS if unavailable.</a:t>
                      </a:r>
                    </a:p>
                  </a:txBody>
                  <a:tcPr>
                    <a:solidFill>
                      <a:srgbClr val="F6F8FC"/>
                    </a:solidFill>
                  </a:tcPr>
                </a:tc>
              </a:tr>
              <a:tr h="518160">
                <a:tc>
                  <a:txBody>
                    <a:bodyPr/>
                    <a:lstStyle/>
                    <a:p>
                      <a:r>
                        <a:rPr sz="1150">
                          <a:solidFill>
                            <a:srgbClr val="1F2328"/>
                          </a:solidFill>
                          <a:latin typeface="Calibri"/>
                        </a:rPr>
                        <a:t>Deployment pipelines</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c>
                  <a:txBody>
                    <a:bodyPr/>
                    <a:lstStyle/>
                    <a:p>
                      <a:r>
                        <a:rPr sz="1150">
                          <a:solidFill>
                            <a:srgbClr val="1F2328"/>
                          </a:solidFill>
                          <a:latin typeface="Calibri"/>
                        </a:rPr>
                        <a:t>Requires Premium/Fabric/PPU capacity per stage; confirm Service availability.</a:t>
                      </a:r>
                    </a:p>
                  </a:txBody>
                  <a:tcPr>
                    <a:solidFill>
                      <a:srgbClr val="FFFFFF"/>
                    </a:solidFill>
                  </a:tcPr>
                </a:tc>
              </a:tr>
              <a:tr h="518160">
                <a:tc>
                  <a:txBody>
                    <a:bodyPr/>
                    <a:lstStyle/>
                    <a:p>
                      <a:r>
                        <a:rPr sz="1150">
                          <a:solidFill>
                            <a:srgbClr val="1F2328"/>
                          </a:solidFill>
                          <a:latin typeface="Calibri"/>
                        </a:rPr>
                        <a:t>Promoted / Certified</a:t>
                      </a:r>
                    </a:p>
                  </a:txBody>
                  <a:tcPr>
                    <a:solidFill>
                      <a:srgbClr val="F6F8FC"/>
                    </a:solidFill>
                  </a:tcPr>
                </a:tc>
                <a:tc>
                  <a:txBody>
                    <a:bodyPr/>
                    <a:lstStyle/>
                    <a:p>
                      <a:r>
                        <a:rPr sz="1150">
                          <a:solidFill>
                            <a:srgbClr val="1F2328"/>
                          </a:solidFill>
                          <a:latin typeface="Calibri"/>
                        </a:rPr>
                        <a:t>Gov-ready (process)</a:t>
                      </a:r>
                    </a:p>
                  </a:txBody>
                  <a:tcPr>
                    <a:solidFill>
                      <a:srgbClr val="F6F8FC"/>
                    </a:solidFill>
                  </a:tcPr>
                </a:tc>
                <a:tc>
                  <a:txBody>
                    <a:bodyPr/>
                    <a:lstStyle/>
                    <a:p>
                      <a:r>
                        <a:rPr sz="1150">
                          <a:solidFill>
                            <a:srgbClr val="1F2328"/>
                          </a:solidFill>
                          <a:latin typeface="Calibri"/>
                        </a:rPr>
                        <a:t>Confirm tenant has designated Certified reviewers configured in Admin Portal.</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Keep this table as a reference sheet: any Gov customer conversation should start by triaging features against these status categories.</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LAB EXERCISES — IN ORDER</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Publish PBIP report and semantic model to the training workspace; record owner and role.</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Open semantic model settings, review credentials, set a schedule, run refresh, capture history.</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Gateway-backed refresh — map data source to gateway cluster and validate, or document as an alternate path.</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Grant Build permission on the shared semantic model and create a thin report against it.</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5: Configure and publish a Power BI App with navigation and consumer assignments.</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Explore App audiences — create multiple audiences and validate audience-specific views (Verify for Gov).</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Walk through a deployment pipeline — assign dev/test/prod workspaces and review deployment rules (Verify for Gov).</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6: Complete the endorsement governance checklist and decide Promoted vs Certified eligibility.</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VALIDATION CHECKLIST AND DISCUSSION</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and Discussion</a:t>
            </a:r>
          </a:p>
        </p:txBody>
      </p:sp>
      <p:sp>
        <p:nvSpPr>
          <p:cNvPr id="6" name="Rectangle 5"/>
          <p:cNvSpPr/>
          <p:nvPr/>
        </p:nvSpPr>
        <p:spPr>
          <a:xfrm>
            <a:off x="64008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Workspace role and ownership documented — who is Admin, who is support owner?</a:t>
            </a:r>
          </a:p>
        </p:txBody>
      </p:sp>
      <p:sp>
        <p:nvSpPr>
          <p:cNvPr id="9" name="Rectangle 8"/>
          <p:cNvSpPr/>
          <p:nvPr/>
        </p:nvSpPr>
        <p:spPr>
          <a:xfrm>
            <a:off x="64008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Report and semantic model published (or demonstrated) to the training workspace.</a:t>
            </a:r>
          </a:p>
        </p:txBody>
      </p:sp>
      <p:sp>
        <p:nvSpPr>
          <p:cNvPr id="12" name="Rectangle 11"/>
          <p:cNvSpPr/>
          <p:nvPr/>
        </p:nvSpPr>
        <p:spPr>
          <a:xfrm>
            <a:off x="64008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Refresh settings reviewed — credentials configured, schedule set, history captured.</a:t>
            </a:r>
          </a:p>
        </p:txBody>
      </p:sp>
      <p:sp>
        <p:nvSpPr>
          <p:cNvPr id="15" name="Rectangle 14"/>
          <p:cNvSpPr/>
          <p:nvPr/>
        </p:nvSpPr>
        <p:spPr>
          <a:xfrm>
            <a:off x="64008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Gateway requirements documented — cluster, data source mapping, network path.</a:t>
            </a:r>
          </a:p>
        </p:txBody>
      </p:sp>
      <p:sp>
        <p:nvSpPr>
          <p:cNvPr id="18" name="Rectangle 17"/>
          <p:cNvSpPr/>
          <p:nvPr/>
        </p:nvSpPr>
        <p:spPr>
          <a:xfrm>
            <a:off x="64008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9844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Shared semantic model + Build permission pattern reviewed — who can build vs. who can read?</a:t>
            </a:r>
          </a:p>
        </p:txBody>
      </p:sp>
      <p:sp>
        <p:nvSpPr>
          <p:cNvPr id="21" name="Rectangle 20"/>
          <p:cNvSpPr/>
          <p:nvPr/>
        </p:nvSpPr>
        <p:spPr>
          <a:xfrm>
            <a:off x="630936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App distribution reviewed — workspace membership vs. App consumer audience.</a:t>
            </a:r>
          </a:p>
        </p:txBody>
      </p:sp>
      <p:sp>
        <p:nvSpPr>
          <p:cNvPr id="24" name="Rectangle 23"/>
          <p:cNvSpPr/>
          <p:nvPr/>
        </p:nvSpPr>
        <p:spPr>
          <a:xfrm>
            <a:off x="630936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App audiences marked Verify for Gov — what would validation entail in your tenant?</a:t>
            </a:r>
          </a:p>
        </p:txBody>
      </p:sp>
      <p:sp>
        <p:nvSpPr>
          <p:cNvPr id="27" name="Rectangle 26"/>
          <p:cNvSpPr/>
          <p:nvPr/>
        </p:nvSpPr>
        <p:spPr>
          <a:xfrm>
            <a:off x="630936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Deployment pipelines marked Verify for Gov — what capacity/licensing gates apply?</a:t>
            </a:r>
          </a:p>
        </p:txBody>
      </p:sp>
      <p:sp>
        <p:nvSpPr>
          <p:cNvPr id="30" name="Rectangle 29"/>
          <p:cNvSpPr/>
          <p:nvPr/>
        </p:nvSpPr>
        <p:spPr>
          <a:xfrm>
            <a:off x="630936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9224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6772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Endorsement checklist completed — Promoted, Certified, or neither, and why?</a:t>
            </a:r>
          </a:p>
        </p:txBody>
      </p:sp>
      <p:sp>
        <p:nvSpPr>
          <p:cNvPr id="33" name="Rectangle 32"/>
          <p:cNvSpPr/>
          <p:nvPr/>
        </p:nvSpPr>
        <p:spPr>
          <a:xfrm>
            <a:off x="630936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9224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what is the single biggest deployment risk in your current environment?</a:t>
            </a:r>
          </a:p>
        </p:txBody>
      </p:sp>
      <p:sp>
        <p:nvSpPr>
          <p:cNvPr id="36" name="TextBox 35"/>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08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can now publish PBIP-authored content, govern workspaces and roles, configure refresh and gateways, distribute Apps, and evaluate content for Promoted or Certified endorsement — in commercial and Gov clouds.</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09 — Monitoring, Administration, and Governance</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