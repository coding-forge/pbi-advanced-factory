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talk track: Welcome students to this module and explain that the goal is not to memorize features. The goal is to understand when a pattern helps authors build more trustworthy, maintainable, user-friendly Power BI solutions.</a:t>
            </a:r>
          </a:p>
          <a:p>
            <a:r>
              <a:t>Module framing: Frame this module as moving from a working desktop file to governed content users can trust in the Service.</a:t>
            </a:r>
          </a:p>
          <a:p>
            <a:r>
              <a:t>Set expectations: presentation will introduce the theme, then the lab will let learners build or evaluate the pattern hands-on. Encourage questions about tradeoffs, not just button clicks.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Emphasize sequence and dependency. Explain what students should already know from prior modules and what this module adds on top.</a:t>
            </a:r>
          </a:p>
          <a:p>
            <a:r>
              <a:t>Module framing: Frame this module as moving from a working desktop file to governed content users can trust in the Service.</a:t>
            </a:r>
          </a:p>
          <a:p>
            <a:r>
              <a:t>Transition: After this slide, move from the concept map into the specific pattern or lab activity.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1. From authoring to enterprise deployment.</a:t>
            </a:r>
          </a:p>
          <a:p>
            <a:r>
              <a:t>Talking points to expand: Talking points, learner value, and lab connection Talking points • PBIP source of record • Publishing targets Why it helps • Ownership • Supportability Lab connection Coverage: Covered. Use the lab README to demonstrate or discuss this topic. Review terms: authoring, supportability, targets. 03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2. Workspace design.</a:t>
            </a:r>
          </a:p>
          <a:p>
            <a:r>
              <a:t>Talking points to expand: Talking points, learner value, and lab connection Talking points • Development, test, production • Domain or subject-area workspaces Why it helps • Naming conventions • Ownership model Lab connection Coverage: Partial. Use the lab README to demonstrate or discuss this topic. Review terms: conventions, design, domain, naming, production. 04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3. Workspace roles.</a:t>
            </a:r>
          </a:p>
          <a:p>
            <a:r>
              <a:t>Talking points to expand: Talking points, learner value, and lab connection Talking points • Admin • Member • Contributor Why it helps • Viewer • Security implications Lab connection Coverage: Partial. Use the lab README to demonstrate or discuss this topic. Review terms: admin, contributor, member, roles, viewer. 05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4. Publishing content.</a:t>
            </a:r>
          </a:p>
          <a:p>
            <a:r>
              <a:t>Talking points to expand: Talking points, learner value, and lab connection Talking points • Reports • Semantic models Why it helps • PBIP-originated artifacts • Ownership and takeover Lab connection Coverage: Covered. Use the lab README to demonstrate or discuss this topic. Review terms: originated, takeover. 06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5. Refresh configuration.</a:t>
            </a:r>
          </a:p>
          <a:p>
            <a:r>
              <a:t>Talking points to expand: Talking points, learner value, and lab connection Talking points • Scheduled refresh • Credentials • Privacy levels Why it helps • Refresh history • Troubleshooting Lab connection Coverage: Covered. Use the lab README to demonstrate or discuss this topic. Review terms: levels, privacy. 07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6. Gateways and cloud connections.</a:t>
            </a:r>
          </a:p>
          <a:p>
            <a:r>
              <a:t>Talking points to expand: Talking points, learner value, and lab connection Talking points • On-premises data gateway • Gateway clusters • Data source mappings Why it helps • Cloud connections • Gov validation Lab connection Coverage: Covered. Use the lab README to demonstrate or discuss this topic. Review terms: clusters, mappings, premises. 08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7. Shared semantic models and thin reports.</a:t>
            </a:r>
          </a:p>
          <a:p>
            <a:r>
              <a:t>Talking points to expand: Talking points, learner value, and lab connection Talking points • Reuse pattern • Build permission Why it helps • Certified semantic models • Impact analysis Lab connection Coverage: Covered. Use the lab README to demonstrate or discuss this topic. Review terms: analysis, impact, pattern. 09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8. Power BI Apps.</a:t>
            </a:r>
          </a:p>
          <a:p>
            <a:r>
              <a:t>Talking points to expand: Talking points, learner value, and lab connection Talking points • App packaging • App consumers Why it helps • Update process • Audience targeting Lab connection Coverage: Covered. Use the lab README to demonstrate or discuss this topic. Review terms: packaging, targeting. 10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9. Deployment pipelines.</a:t>
            </a:r>
          </a:p>
          <a:p>
            <a:r>
              <a:t>Talking points to expand: Talking points, learner value, and lab connection Talking points • Dev/test/prod stages • Deployment rules Why it helps • Capacity/licensing requirements • Gov validation Lab connection Coverage: Covered. Use the lab README to demonstrate or discuss this topic. Review terms: none. 11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10. Endorsement.</a:t>
            </a:r>
          </a:p>
          <a:p>
            <a:r>
              <a:t>Talking points to expand: Talking points, learner value, and lab connection Talking points • Promoted • Certified Why it helps • Governance workflow • Ownership and support Lab connection Coverage: Covered. Use the lab README to demonstrate or discuss this topic. Review terms: workflow. 12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11. Azure Government considerations.</a:t>
            </a:r>
          </a:p>
          <a:p>
            <a:r>
              <a:t>Talking points to expand: Talking points, learner value, and lab connection Talking points • Tenant restrictions • Gateways and network • App audiences Why it helps • Deployment pipelines • Cloud connections Lab connection Coverage: Covered. Use the lab README to demonstrate or discuss this topic. Review terms: considerations, restrictions. 13</a:t>
            </a:r>
          </a:p>
          <a:p>
            <a:r>
              <a:t>Why it matters: Frame this module as moving from a working desktop file to governed content users can trust in the Service.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Treat this as a checkpoint. Ask learners to explain the pattern in their own words and identify where they would use it in a real report.</a:t>
            </a:r>
          </a:p>
          <a:p>
            <a:r>
              <a:t>Validation prompt: What would prove this worked? Look for a simple visual, expected filter behavior, or a documented before/after result.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Use this slide as the handoff for self-study. Do not read every link aloud. Point out which source is most relevant to the lab just completed and which source helps learners go deeper after class.</a:t>
            </a:r>
          </a:p>
          <a:p>
            <a:r>
              <a:t>Suggested prompt: Ask learners to bookmark the source that best matches the skill they want to improve next.</a:t>
            </a:r>
          </a:p>
          <a:p>
            <a:r>
              <a:t>Further learning: Publish from Desktop: https://learn.microsoft.com/power-bi/create-reports/desktop-upload-desktop-files | Power BI Apps: https://learn.microsoft.com/power-bi/collaborate-share/service-create-distribute-apps | Deployment pipelines: https://learn.microsoft.com/power-bi/create-reports/deployment-pipelines-overview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Aptos Display"/>
              </a:defRPr>
            </a:pPr>
            <a:r>
              <a:t>Service Enterprise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2C39A"/>
                </a:solidFill>
                <a:latin typeface="Aptos"/>
              </a:defRPr>
            </a:pPr>
            <a:r>
              <a:t>Power BI Advanced Factory teaching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What students learn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Key concepts and talking points from the module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91440" cy="12344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How the topic helps authors and report consumers.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91440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How labs connect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Where learners apply the theme hands-on.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Module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this to introduce the section before hands-on labs.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1. From authoring to enterprise deployment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PBIP source of record; Publishing targets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2. Workspace design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Development, test, production; Domain or subject-area workspaces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3. Workspace roles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Admin; Member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4. Publishing content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Reports; Semantic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5. Refresh configuration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Scheduled refresh; Credentials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6. Gateways and cloud connections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On-premises data gateway; Gateway clusters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7. Shared semantic models and thin reports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Reuse pattern; Build permission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8. Power BI Apps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App packaging; App consumers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1. From authoring to enterprise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PBIP source of record</a:t>
            </a:r>
            <a:br/>
            <a:r>
              <a:t>• Publishing targets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Ownership</a:t>
            </a:r>
            <a:br/>
            <a:r>
              <a:t>• Supportability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authoring, supportability, targets.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2. Workspace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Development, test, production</a:t>
            </a:r>
            <a:br/>
            <a:r>
              <a:t>• Domain or subject-area workspaces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Naming conventions</a:t>
            </a:r>
            <a:br/>
            <a:r>
              <a:t>• Ownership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conventions, design, domain, naming,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3. Workspace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Admin</a:t>
            </a:r>
            <a:br/>
            <a:r>
              <a:t>• Member</a:t>
            </a:r>
            <a:br/>
            <a:r>
              <a:t>• Contributor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Viewer</a:t>
            </a:r>
            <a:br/>
            <a:r>
              <a:t>• Security implications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admin, contributor, member, roles, viewer.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4. Publishing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Reports</a:t>
            </a:r>
            <a:br/>
            <a:r>
              <a:t>• Semantic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PBIP-originated artifacts</a:t>
            </a:r>
            <a:br/>
            <a:r>
              <a:t>• Ownership and takeover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originated, takeover.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5. Refresh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Scheduled refresh</a:t>
            </a:r>
            <a:br/>
            <a:r>
              <a:t>• Credentials</a:t>
            </a:r>
            <a:br/>
            <a:r>
              <a:t>• Privacy levels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Refresh history</a:t>
            </a:r>
            <a:br/>
            <a:r>
              <a:t>• Troubleshooting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levels, privacy.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6. Gateways and cloud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On-premises data gateway</a:t>
            </a:r>
            <a:br/>
            <a:r>
              <a:t>• Gateway clusters</a:t>
            </a:r>
            <a:br/>
            <a:r>
              <a:t>• Data source mappings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Cloud connections</a:t>
            </a:r>
            <a:br/>
            <a:r>
              <a:t>• Gov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clusters, mappings, premises.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7. Shared semantic models and thin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Reuse pattern</a:t>
            </a:r>
            <a:br/>
            <a:r>
              <a:t>• Build permission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Certified semantic models</a:t>
            </a:r>
            <a:br/>
            <a:r>
              <a:t>• Impact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analysis, impact,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8. Power BI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App packaging</a:t>
            </a:r>
            <a:br/>
            <a:r>
              <a:t>• App consumers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Update process</a:t>
            </a:r>
            <a:br/>
            <a:r>
              <a:t>• Audience targeting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packaging, targeting.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9. Deployment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Dev/test/prod stages</a:t>
            </a:r>
            <a:br/>
            <a:r>
              <a:t>• Deployment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Capacity/licensing requirements</a:t>
            </a:r>
            <a:br/>
            <a:r>
              <a:t>• Gov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none.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10. Endorsement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Promoted</a:t>
            </a:r>
            <a:br/>
            <a:r>
              <a:t>• Certified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Governance workflow</a:t>
            </a:r>
            <a:br/>
            <a:r>
              <a:t>• Ownership and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11. Azure Government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Tenant restrictions</a:t>
            </a:r>
            <a:br/>
            <a:r>
              <a:t>• Gateways and network</a:t>
            </a:r>
            <a:br/>
            <a:r>
              <a:t>• App audiences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Deployment pipelines</a:t>
            </a:r>
            <a:br/>
            <a:r>
              <a:t>• Cloud connections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considerations, restrictions.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12. Lab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Workspace setup</a:t>
            </a:r>
            <a:br/>
            <a:r>
              <a:t>• Refresh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App distribution</a:t>
            </a:r>
            <a:br/>
            <a:r>
              <a:t>• Governance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none.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Sources and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these official Microsoft docs for deeper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guidance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https://learn.microsoft.com/power-bi/guidance/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Desktop docs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https://learn.microsoft.com/power-bi/fundamentals/desktop-getting-started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42615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52344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Query M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https://learn.microsoft.com/powerquery-m/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92423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92423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1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 reference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2231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42231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Project files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https://learn.microsoft.com/power-bi/developer/projects/projects-overview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