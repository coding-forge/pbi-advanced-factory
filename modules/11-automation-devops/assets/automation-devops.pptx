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learners to Module 11. Frame this as the module that turns everything they have built so far — the semantic model, DAX measures, Power Query steps, report pages, RLS, deployment configuration — into a repeatable, reviewable engineering asset instead of a one-off PBIX floating in someone's OneDrive.</a:t>
            </a:r>
          </a:p>
          <a:p>
            <a:r>
              <a:t>Set the stakes: a lot of Power BI work still gets 'deployed' by emailing a PBIX or clicking Publish from Desktop. That works exactly once. It doesn't survive a peer review, a rollback, or a Gov compliance audit. Today is about the engineering practices that make it survive all three.</a:t>
            </a:r>
          </a:p>
          <a:p>
            <a:r>
              <a:t>Preview the lab: students will practice PBIP source control with git, review PBIP structure, and then work through conceptual walkthroughs of external tools (Tabular Editor, ALM Toolkit), REST APIs, PowerShell, service principals, Fabric Git integration, and Azure DevOps / GitHub Actions CI/CD patterns.</a:t>
            </a:r>
          </a:p>
          <a:p>
            <a:r>
              <a:t>Call out the Gov posture up front: PBIP and local git are Gov-ready, so the required hands-on portion works everywhere. Everything else in this module — external tools, REST APIs, service principals, Fabric Git integration, CI/CD platforms — is Verify-for-Gov or Commercial-focused, and we treat it conceptually unless the instructor has confirmed the tenant supports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fourteen items quickly. Group them mentally: 1-4 are foundations (why lifecycle matters, PBIP, git, PBIP structure), 5-8 are the tooling layer (external tools, REST APIs and PowerShell, service principals, Fabric Git), 9-10 are the two conceptual CI/CD platforms (Azure DevOps and GitHub Actions), and 11-12 are the governance/Gov and pre-deployment discipline.</a:t>
            </a:r>
          </a:p>
          <a:p>
            <a:r>
              <a:t>Set expectations clearly: only topics 2, 3, and 4 (PBIP, git, PBIP structure) are guaranteed hands-on for every student today. Everything else is Verify-for-Gov and will be delivered as conceptual walkthroughs unless the classroom tenant has already been validated for those features.</a:t>
            </a:r>
          </a:p>
          <a:p>
            <a:r>
              <a:t>Tell students the lab (topic 13) is where they will actually do the git workflow against a real PBIP project, and the knowledge check (topic 14) will focus on reasoning about tradeoffs — not memorizing feature lists.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module in the five words on the left: repeatability, reviewability, environment promotion, governance, rollback. Everything else today is in service of one of these. If a technique doesn't serve one of these goals, you probably don't need it in your release process.</a:t>
            </a:r>
          </a:p>
          <a:p>
            <a:r>
              <a:t>Give a concrete failure story to make it stick: someone republishes a PBIX from a laptop to fix a 'small' measure, the RLS role assignments get wiped, and finance sees numbers they aren't cleared to see. Every one of the five goals here would have prevented or contained that incident — reviewability catches the change, environment promotion prevents the direct-to-Prod deploy, governance preserves the role bindings, rollback lets you undo it in minutes instead of hours.</a:t>
            </a:r>
          </a:p>
          <a:p>
            <a:r>
              <a:t>Explain why the diff experience matters specifically: PBIP stores the semantic model as TMDL text and the report as structured JSON, so a git diff on a measure change actually shows the DAX before and after — a reviewer can catch a mistake without opening Power BI Desktop. A PBIX is a binary zip — a code reviewer can't see anything, so the review has to happen in a person's head, which doesn't scale.</a:t>
            </a:r>
          </a:p>
          <a:p>
            <a:r>
              <a:t>Tie forward to the lab: Exercise 7 asks students to fill in a deployment checklist covering source, security, refresh, validation, and rollback — that checklist is literally these five goals turned into a repeatable pre-release ritual.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Power BI Desktop's Save As dialog and note the format choice: .pbix (single binary file) vs .pbip (project folder). Explain that PBIP is not a different file format so much as a different unit of work — you are checking a *folder* of text into git instead of a single opaque binary.</a:t>
            </a:r>
          </a:p>
          <a:p>
            <a:r>
              <a:t>Walk the structure verbally: the .pbip file is a small pointer, the .Report folder contains report pages and visuals as JSON, and the .SemanticModel folder contains the model definition as TMDL. When a student edits a measure or renames a table in Desktop, saving the project writes textual changes into those folders — changes a reviewer can read.</a:t>
            </a:r>
          </a:p>
          <a:p>
            <a:r>
              <a:t>Make the review case concrete: 'Show me the diff for the measure change that shipped last Friday.' With PBIX that is impossible — the file is binary. With PBIP the reviewer opens the pull request and sees six lines of TMDL changed inside definition/model.tmdl, and can literally read the old DAX and the new DAX side by side.</a:t>
            </a:r>
          </a:p>
          <a:p>
            <a:r>
              <a:t>Close by warning against the common anti-pattern of committing the generated PBIX alongside the PBIP. The PBIX is a *build output*, like a compiled .exe — it belongs in a release/distribution channel, not in source control. If a PBIX has to be produced (for example for a Service that doesn't accept PBIP directly), generate it as part of the release process, not by hand-committing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workflow shape verbally: main is protected (nobody pushes to it directly), you branch off main for a specific unit of work, you commit small meaningful changes on that branch, you open a pull request, a peer reviews the diff, and only then does it merge back to main. Every deployable release comes from an annotated tag on main.</a:t>
            </a:r>
          </a:p>
          <a:p>
            <a:r>
              <a:t>Stress the 'commits document intent' point. A good Power BI commit message says 'Add YoY sales growth measure and update Sales Overview KPI card' — not 'updates.' The commit message plus the TMDL / JSON diff is what a future reviewer or auditor uses to reconstruct why the change was made.</a:t>
            </a:r>
          </a:p>
          <a:p>
            <a:r>
              <a:t>Walk the review expectation concretely. A PBIP pull request will show diffs inside definition/model.tmdl (measures, relationships, roles) and inside the report JSON (visuals, pages, bookmarks). The reviewer's job is to confirm those diffs match the PR description — no accidental role changes, no orphan visuals, no committed PBIX or cache files. Point out .gitignore is your friend here.</a:t>
            </a:r>
          </a:p>
          <a:p>
            <a:r>
              <a:t>Wrap by connecting tags to rollback. When Prod breaks, the on-call needs to answer 'what commit is currently deployed?' in seconds, not minutes. A tag plus release notes on the tagged commit is the mechanism that makes that answer instant, and that in turn is what makes rollback a five-minute operation instead of a war 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slide — you don't have to talk through every row, but leave it on screen long enough for students to skim. The point is that PBIP is not a mystery: every file on disk falls into one of these six categories, and the source-control treatment for each category is completely mechanical.</a:t>
            </a:r>
          </a:p>
          <a:p>
            <a:r>
              <a:t>Focus attention on rows 3 and 4 (SemanticModel folder and its subfolders). This is where 95% of your reviewable diffs will live — measures, relationships, roles, translations. When a reviewer says 'show me what changed', they are almost always looking at TMDL files inside definition/ under the SemanticModel folder.</a:t>
            </a:r>
          </a:p>
          <a:p>
            <a:r>
              <a:t>Call out the anti-patterns explicitly. Two common ones: committing the generated .pbix (row 5) 'just in case,' which pollutes the diff history and can leak binary cache data — and committing local cache/user settings (row 6), which creates spurious changes on every teammate's machine. Both belong in .gitignore.</a:t>
            </a:r>
          </a:p>
          <a:p>
            <a:r>
              <a:t>Bridge to Exercise 1: send students to their PBIP folder in File Explorer or VS Code and have them physically locate each of these six categories, then open one TMDL file and one report JSON file as text so they can see that these really are just text files a human can 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tools as 'community-standard, but not built in.' They aren't part of the Power BI Desktop install — they're third-party downloads that plug into the same TMDL / XMLA surfaces PBIP already exposes.</a:t>
            </a:r>
          </a:p>
          <a:p>
            <a:r>
              <a:t>For Tabular Editor, focus on the two capabilities that matter most for a lifecycle story: bulk edits (rename, reformat, refactor 40 measures at once using C# script) and the Best Practice Analyzer (a rules engine that flags common modeling mistakes — unformatted measures, missing descriptions, hidden foreign keys — as part of a review or CI step).</a:t>
            </a:r>
          </a:p>
          <a:p>
            <a:r>
              <a:t>For ALM Toolkit, focus on the deploy-the-diff case. Instead of overwriting a workspace model with a full PBIP publish, you compare source vs. deployed and generate a change script that pushes only what actually differs. That's how you ship a single measure update without disturbing production caches, refresh history, or bindings.</a:t>
            </a:r>
          </a:p>
          <a:p>
            <a:r>
              <a:t>Land the Gov point hard: both tools connect via XMLA endpoints, which are tenant- and capacity-gated. In a Gov environment, XMLA availability, workstation tooling policy, and customer approval all have to be validated before treating either tool as a real option. In this workshop, if that hasn't been validated, Exercises 3 and 4 stay conceptual.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REST APIs and the PowerShell cmdlets as two skins on the same surface — PowerShell is a convenient wrapper, but every cmdlet is ultimately making a REST call. Some low-level operations don't have a dedicated cmdlet and require calling the REST API directly with Invoke-PowerBIRestMethod — that's normal.</a:t>
            </a:r>
          </a:p>
          <a:p>
            <a:r>
              <a:t>Walk the capability rows as a mental checklist for 'what a deployment script actually needs to do': provision or find the workspace, upload the model, rebind data sources for the target environment, kick off a refresh, and set permissions. Every row on the slide answers one of those needs.</a:t>
            </a:r>
          </a:p>
          <a:p>
            <a:r>
              <a:t>Highlight the endpoint row specifically. This is the single most common cause of a Gov automation script silently failing — it authenticates fine, runs fine, and just talks to the Commercial cloud because nobody remembered to pass -Environment USGov to Connect-PowerBIServiceAccount, or hard-coded api.powerbi.com in the script. In a Gov engagement, treat endpoint validation as its own review step.</a:t>
            </a:r>
          </a:p>
          <a:p>
            <a:r>
              <a:t>Close with the Verify-for-Gov reminder in the note: none of these API calls is a given — tenant settings for service principal API access, permissions on the target workspace, and the cloud endpoint all have to be confirmed before you rely on them in a real release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anti-pattern: a lot of teams start automation by 'just using my account for now.' That works until the person leaves, MFA gets enforced, the password changes, or a security audit shows a personal identity running unattended jobs — all of which are inevitable. Service principals exist precisely so nothing production-critical is tied to a human's login.</a:t>
            </a:r>
          </a:p>
          <a:p>
            <a:r>
              <a:t>Walk the four requirements on the left in order, because they trip teams up in exactly this sequence. First, the Entra app registration exists. Second, the tenant setting 'Allow service principals to use Power BI APIs' is enabled and scoped to a security group. Third, that group is a member of the target workspace. Fourth, credentials (preferably a certificate) are handled outside the code repo, typically in Key Vault. Skip any one of these and the pipeline fails at a different, confusing point.</a:t>
            </a:r>
          </a:p>
          <a:p>
            <a:r>
              <a:t>Use the credential-rotation example to make group-based access click: if a secret is compromised and you need to rotate, you spin up a new app registration, add it to the security group, remove the old one, and every pipeline in the organization keeps working — no code changes, no workspace re-permissioning. If you had granted workspace access to the app directly, you'd be re-permissioning every workspace by hand.</a:t>
            </a:r>
          </a:p>
          <a:p>
            <a:r>
              <a:t>Close on the Gov point: service principals in a Gov tenant are Verify for Gov. The tenant setting approval, the app registration policy, and the customer's security-group governance all have to line up before this becomes viable. In this workshop we deliberately do not provision one — we walk the checklist so students know what to ask for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this as a fundamentally different model from PBIP + Desktop + Publish. In workspace Git integration, a Fabric workspace is directly bound to a branch and folder in a git repo — there is no separate 'publish' step, because commits and syncs are how the workspace and the branch stay aligned.</a:t>
            </a:r>
          </a:p>
          <a:p>
            <a:r>
              <a:t>Explain the two sync directions clearly, because they're the source of most confusion. 'Update from Git' is repo → workspace: whoever merged the PR just changed the branch, and the workspace is now behind. 'Commit to Git' is workspace → repo: someone edited an item in-workspace, and the branch is now behind. Conflicts are resolved per item, not per file, and workspace users see them in a familiar UI, not by editing text.</a:t>
            </a:r>
          </a:p>
          <a:p>
            <a:r>
              <a:t>Warn about item-type coverage. Not everything a Fabric workspace can hold syncs cleanly, and the supported list changes over time. Before adopting workspace Git integration for release management, run through your specific artifact list (semantic models, reports, notebooks, pipelines, lakehouses) and confirm each one round-trips as expected.</a:t>
            </a:r>
          </a:p>
          <a:p>
            <a:r>
              <a:t>Land the Gov note plainly. This is Commercial-focused; Gov availability, connector and identity requirements, and network path all have to be validated separately. In this workshop we cover it because students will encounter it in commercial engagements, but we do not require it for Gov delivery.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five stages left to right as a mental model, not a specific YAML. The point isn't which Azure DevOps task syntax to use — it's that any credible Power BI release pipeline has to answer these five questions in this order.</a:t>
            </a:r>
          </a:p>
          <a:p>
            <a:r>
              <a:t>Stage 1 (Validate) is where you catch a bad model before it reaches any environment: lint the PBIP folder shape (are the .Report and .SemanticModel folders where they should be, is the .pbix committed by mistake?) and run Tabular Editor's Best Practice Analyzer against the TMDL as a scripted check. High-severity BPA failures should fail the build.</a:t>
            </a:r>
          </a:p>
          <a:p>
            <a:r>
              <a:t>Stages 2 and 3 (Package and Deploy) are the mechanical part. If your Service target needs a PBIX, generate it from the PBIP now and stamp it with the commit SHA and build metadata so you can trace any deployed artifact back to source. Then authenticate as the service principal (never as a human), and call the Imports API to publish. Note how naturally this uses topics 6 (REST APIs) and 7 (service principals) from earlier today — that's not a coincidence.</a:t>
            </a:r>
          </a:p>
          <a:p>
            <a:r>
              <a:t>Stage 4 (Configure) is where most homegrown pipelines under-invest. Publishing the model isn't enough — you have to rebind parameters and data sources to the target environment, set RLS role memberships, and enable the refresh schedule. Do this with API calls, not by clicking around in the Service afterward.</a:t>
            </a:r>
          </a:p>
          <a:p>
            <a:r>
              <a:t>Stage 5 (Smoke test) is what earns the deployment the right to be called successful: trigger a refresh, poll until it finishes, run a canary DAX query, capture the evidence as a build artifact, and only then tag the commit. That evidence + tag is your rollback anchor from the very first topic today. Close by reminding students this is Verify for Gov — endpoint, identity, network, and customer policy all get validated before enabling this in a Gov tenant.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same five-question mental model as the Azure DevOps slide, and call out explicitly that the shape is identical on purpose. Trigger → Validate → Authenticate → Deploy → Record evidence is the pattern; Azure DevOps and GitHub Actions are just two rentals of the same house.</a:t>
            </a:r>
          </a:p>
          <a:p>
            <a:r>
              <a:t>Stage 1 (Trigger) differs in flavor from Azure DevOps: GitHub Actions leans on push, pull_request, and tag events, and path filters keep the workflow from running when unrelated docs change. That path scoping matters for Power BI mono-repos where a PBIP is one folder among many.</a:t>
            </a:r>
          </a:p>
          <a:p>
            <a:r>
              <a:t>Stage 2 (Validate) is essentially the same lint + BPA gate as the Azure DevOps side. Fail fast — a broken TMDL should never reach the authentication step, both because it wastes runner minutes and because a partial deploy is far worse than a clean 'validation failed.'</a:t>
            </a:r>
          </a:p>
          <a:p>
            <a:r>
              <a:t>Stage 3 (Authenticate) is where I want students to pay attention: prefer OIDC federation to Entra ID over long-lived client secrets stored in GitHub Encrypted Secrets. OIDC means the workflow trades a short-lived token per run instead of carrying a secret at all. In a Gov context, whether OIDC federation is actually available and approved is one of the specific Verify-for-Gov items to check.</a:t>
            </a:r>
          </a:p>
          <a:p>
            <a:r>
              <a:t>Stages 4 and 5 (Deploy and Record evidence) reuse the same REST API surface — correct cloud endpoint, Imports API, parameter and datasource updates, refresh + canary check, then upload logs as workflow artifacts and cut an annotated release. Close by tying back: Gov availability of the GitHub runner network path, the OIDC trust, and the customer's overall approval for GitHub as a platform are all Verify-for-Gov gates before turning this on for real.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no student walks out of the module thinking 'Gov is just Commercial with a different URL.' It is not. Endpoints, identity, network path, customer policy, and feature availability all have to be confirmed separately for any automation you plan to run against a Gov tenant.</a:t>
            </a:r>
          </a:p>
          <a:p>
            <a:r>
              <a:t>Walk the endpoints row first because it's the highest-impact and most common bug: hard-coded api.powerbi.com in a script, or forgetting -Environment USGov on Connect-PowerBIServiceAccount, results in the pipeline authenticating against the Commercial cloud, failing quietly, and leaving nobody sure whether the credentials, the network, or the code was the problem.</a:t>
            </a:r>
          </a:p>
          <a:p>
            <a:r>
              <a:t>For identity and network, explain that these are usually not the Power BI team's call — tenant settings, conditional access, and network egress from build agents are set by the customer's Entra and network teams. The Power BI team's job is to produce the concrete list of what needs to be enabled and negotiate for it early, not to discover it on release day.</a:t>
            </a:r>
          </a:p>
          <a:p>
            <a:r>
              <a:t>Land the feature-availability row with a specific example: designing an entire release process around Fabric workspace Git integration and then discovering it isn't approved in the target Gov tenant means starting over. The rule of thumb in the note — assume nothing, confirm everything — is not paranoia, it's the cheapest possible insurance policy.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this as the artifact that pulls the module together: everything we've discussed — PBIP, git, external tools, REST APIs, service principals, Fabric Git, DevOps and Actions pipelines, Gov posture — shows up here as a concrete checkbox on a pre-release checklist.</a:t>
            </a:r>
          </a:p>
          <a:p>
            <a:r>
              <a:t>Walk the eight items and explicitly map each one back to an earlier topic. Source ties to topics 2-4. Security ties to earlier modules' RLS and to topic 1's governance goal. Refresh, Validation, and Environment come out of REST APIs and the CI/CD pipeline stages. Automation and Azure Government are topics 6, 7, and 11. Rollback closes the loop with topic 1.</a:t>
            </a:r>
          </a:p>
          <a:p>
            <a:r>
              <a:t>Emphasize that this checklist is not aspirational — in a production Power BI practice, no release ships without it filled out and stored as release evidence. In a Gov engagement especially, auditors expect to see this artifact per release, not summarized once a year.</a:t>
            </a:r>
          </a:p>
          <a:p>
            <a:r>
              <a:t>Bridge to Exercise 7 in the lab: students fill out this checklist against their own PBIP project as the module's culminating deliverable. Half-answers ('yes but we'll fix it in Prod') count as fails — the point of the checklist is to move the failure earlier, not to paper over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as the literal table of contents for the hands-on session. Only Exercises 1, 2, and 7 are guaranteed hands-on for every student today — the others depend on tenant and workstation validation.</a:t>
            </a:r>
          </a:p>
          <a:p>
            <a:r>
              <a:t>Set expectations for time: PBIP structure (Exercise 1) is quick, git workflow (Exercise 2) usually takes the most classroom time because git behavior and PR review discussion open up broader conversations, and the deployment checklist (Exercise 7) benefits from being done thoughtfully rather than rushed.</a:t>
            </a:r>
          </a:p>
          <a:p>
            <a:r>
              <a:t>For any exercise students can't do hands-on today, tell them to still read the task list and think through what they would need to validate in a real engagement — the value is in knowing the shape of the work, so they can scope it correctly when it comes up on a real project.</a:t>
            </a:r>
          </a:p>
          <a:p>
            <a:r>
              <a:t>Bridge to Exercise 7 specifically: the deployment checklist is the artifact they should walk out with. If nothing else from this module survives, that checklist should — it turns everything we discussed into a repeatable, auditable ritual.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this as an open discussion, not a quiz. The goal is to hear reasoning — especially on tradeoff questions where multiple defensible answers exist.</a:t>
            </a:r>
          </a:p>
          <a:p>
            <a:r>
              <a:t>Pick two or three questions to spend real time on. The 'lifecycle goal most at risk on your projects' question tends to surface the most honest, useful conversation because students immediately map it to real pain they're feeling.</a:t>
            </a:r>
          </a:p>
          <a:p>
            <a:r>
              <a:t>For the Commercial-vs-Gov question, expect students to name at least the endpoint change; push them to also name the identity and network-path changes — that's the completeness answer, and it reinforces topic 11.</a:t>
            </a:r>
          </a:p>
          <a:p>
            <a:r>
              <a:t>Close by tying back to the deployment checklist: the last question is deliberately self-reflective. Students should walk out with a specific weakest-link category in mind, because that's where they should invest first when they go back to their real projects. Then bridge into the closing slide's capstone framing.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Congratulate the class — they've completed the full eleven-module instructor track. Everything from advanced semantic modeling in Module 1 through automation and Gov-aware deployment today is now in their toolkit.</a:t>
            </a:r>
          </a:p>
          <a:p>
            <a:r>
              <a:t>Reframe today's module specifically as the capstone-enabler: without lifecycle management, everything they built in Modules 1-10 lives as a series of one-off PBIX files. With today's material, those artifacts become a governed, reviewable, deployable engineering asset.</a:t>
            </a:r>
          </a:p>
          <a:p>
            <a:r>
              <a:t>Preview the capstone (Module 12): it is not a lecture module and has no slide deck. Instead, it is the end-to-end 'Enterprise-Ready Power BI Solution' delivery for Contoso Advanced Manufacturing, exercising every capability from the previous eleven modules — model, DAX, Power Query, report UX, RLS, deployment, governance, monitoring, and lifecycle — in a single Gov-ready solution with optional commercial-enhanced extensions.</a:t>
            </a:r>
          </a:p>
          <a:p>
            <a:r>
              <a:t>Take final questions with a bias toward capstone readiness: which module's material do students feel least confident carrying into the capstone? Point them at that module's artifacts (README, lab, deck) as their pre-capstone review and thank the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0644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5486400" cy="457200"/>
          </a:xfrm>
          <a:prstGeom prst="rect">
            <a:avLst/>
          </a:prstGeom>
          <a:noFill/>
        </p:spPr>
        <p:txBody>
          <a:bodyPr wrap="square" anchor="t" lIns="0" rIns="0" tIns="0" bIns="0">
            <a:spAutoFit/>
          </a:bodyPr>
          <a:lstStyle/>
          <a:p>
            <a:pPr algn="l">
              <a:lnSpc>
                <a:spcPct val="100000"/>
              </a:lnSpc>
              <a:spcAft>
                <a:spcPts val="0"/>
              </a:spcAft>
            </a:pPr>
            <a:r>
              <a:rPr sz="1600" b="1" i="0">
                <a:solidFill>
                  <a:srgbClr val="E8B44A"/>
                </a:solidFill>
                <a:latin typeface="Calibri"/>
              </a:rPr>
              <a:t>MODULE 11</a:t>
            </a:r>
          </a:p>
        </p:txBody>
      </p:sp>
      <p:sp>
        <p:nvSpPr>
          <p:cNvPr id="5" name="TextBox 4"/>
          <p:cNvSpPr txBox="1"/>
          <p:nvPr/>
        </p:nvSpPr>
        <p:spPr>
          <a:xfrm>
            <a:off x="822960" y="1874519"/>
            <a:ext cx="9601200" cy="1920240"/>
          </a:xfrm>
          <a:prstGeom prst="rect">
            <a:avLst/>
          </a:prstGeom>
          <a:noFill/>
        </p:spPr>
        <p:txBody>
          <a:bodyPr wrap="square" anchor="t" lIns="0" rIns="0" tIns="0" bIns="0">
            <a:spAutoFit/>
          </a:bodyPr>
          <a:lstStyle/>
          <a:p>
            <a:pPr algn="l">
              <a:lnSpc>
                <a:spcPct val="105000"/>
              </a:lnSpc>
              <a:spcAft>
                <a:spcPts val="0"/>
              </a:spcAft>
            </a:pPr>
            <a:r>
              <a:rPr sz="4400" b="1" i="0">
                <a:solidFill>
                  <a:srgbClr val="FFFFFF"/>
                </a:solidFill>
                <a:latin typeface="Cambria"/>
              </a:rPr>
              <a:t>Automation, DevOps, and Lifecycle Management</a:t>
            </a:r>
          </a:p>
        </p:txBody>
      </p:sp>
      <p:sp>
        <p:nvSpPr>
          <p:cNvPr id="6" name="TextBox 5"/>
          <p:cNvSpPr txBox="1"/>
          <p:nvPr/>
        </p:nvSpPr>
        <p:spPr>
          <a:xfrm>
            <a:off x="822960" y="3703320"/>
            <a:ext cx="9601200" cy="914400"/>
          </a:xfrm>
          <a:prstGeom prst="rect">
            <a:avLst/>
          </a:prstGeom>
          <a:noFill/>
        </p:spPr>
        <p:txBody>
          <a:bodyPr wrap="square" anchor="t" lIns="0" rIns="0" tIns="0" bIns="0">
            <a:spAutoFit/>
          </a:bodyPr>
          <a:lstStyle/>
          <a:p>
            <a:pPr algn="l">
              <a:lnSpc>
                <a:spcPct val="100000"/>
              </a:lnSpc>
              <a:spcAft>
                <a:spcPts val="0"/>
              </a:spcAft>
            </a:pPr>
            <a:r>
              <a:rPr sz="2000" b="0" i="1">
                <a:solidFill>
                  <a:srgbClr val="CADCFC"/>
                </a:solidFill>
                <a:latin typeface="Calibri"/>
              </a:rPr>
              <a:t>Making Power BI deployments repeatable, reviewable, and recoverable with PBIP, Git, external tools, REST APIs, and conceptual CI/CD.</a:t>
            </a:r>
          </a:p>
        </p:txBody>
      </p:sp>
      <p:sp>
        <p:nvSpPr>
          <p:cNvPr id="7" name="TextBox 6"/>
          <p:cNvSpPr txBox="1"/>
          <p:nvPr/>
        </p:nvSpPr>
        <p:spPr>
          <a:xfrm>
            <a:off x="822960" y="6035040"/>
            <a:ext cx="9144000" cy="548640"/>
          </a:xfrm>
          <a:prstGeom prst="rect">
            <a:avLst/>
          </a:prstGeom>
          <a:noFill/>
        </p:spPr>
        <p:txBody>
          <a:bodyPr wrap="square" anchor="t" lIns="0" rIns="0" tIns="0" bIns="0">
            <a:spAutoFit/>
          </a:bodyPr>
          <a:lstStyle/>
          <a:p>
            <a:pPr algn="l">
              <a:lnSpc>
                <a:spcPct val="100000"/>
              </a:lnSpc>
              <a:spcAft>
                <a:spcPts val="0"/>
              </a:spcAft>
            </a:pPr>
            <a:r>
              <a:rPr sz="1300" b="0" i="0">
                <a:solidFill>
                  <a:srgbClr val="CADCFC"/>
                </a:solidFill>
                <a:latin typeface="Calibri"/>
              </a:rPr>
              <a:t>Advanced Power BI Training — Instructor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MODULE 11 AGENDA</a:t>
            </a:r>
          </a:p>
        </p:txBody>
      </p:sp>
      <p:sp>
        <p:nvSpPr>
          <p:cNvPr id="5" name="TextBox 4"/>
          <p:cNvSpPr txBox="1"/>
          <p:nvPr/>
        </p:nvSpPr>
        <p:spPr>
          <a:xfrm>
            <a:off x="640080" y="868680"/>
            <a:ext cx="8229600" cy="640080"/>
          </a:xfrm>
          <a:prstGeom prst="rect">
            <a:avLst/>
          </a:prstGeom>
          <a:noFill/>
        </p:spPr>
        <p:txBody>
          <a:bodyPr wrap="square" anchor="t" lIns="0" rIns="0" tIns="0" bIns="0">
            <a:spAutoFit/>
          </a:bodyPr>
          <a:lstStyle/>
          <a:p>
            <a:pPr algn="l">
              <a:lnSpc>
                <a:spcPct val="100000"/>
              </a:lnSpc>
              <a:spcAft>
                <a:spcPts val="0"/>
              </a:spcAft>
            </a:pPr>
            <a:r>
              <a:rPr sz="3200" b="1" i="0">
                <a:solidFill>
                  <a:srgbClr val="141B45"/>
                </a:solidFill>
                <a:latin typeface="Cambria"/>
              </a:rPr>
              <a:t>What We'll Cover</a:t>
            </a:r>
          </a:p>
        </p:txBody>
      </p:sp>
      <p:sp>
        <p:nvSpPr>
          <p:cNvPr id="6" name="Rectangle 5"/>
          <p:cNvSpPr/>
          <p:nvPr/>
        </p:nvSpPr>
        <p:spPr>
          <a:xfrm>
            <a:off x="64008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a:t>
            </a:r>
          </a:p>
        </p:txBody>
      </p:sp>
      <p:sp>
        <p:nvSpPr>
          <p:cNvPr id="8" name="TextBox 7"/>
          <p:cNvSpPr txBox="1"/>
          <p:nvPr/>
        </p:nvSpPr>
        <p:spPr>
          <a:xfrm>
            <a:off x="117043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Lifecycle management goals</a:t>
            </a:r>
          </a:p>
        </p:txBody>
      </p:sp>
      <p:sp>
        <p:nvSpPr>
          <p:cNvPr id="9" name="Rectangle 8"/>
          <p:cNvSpPr/>
          <p:nvPr/>
        </p:nvSpPr>
        <p:spPr>
          <a:xfrm>
            <a:off x="64008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2</a:t>
            </a:r>
          </a:p>
        </p:txBody>
      </p:sp>
      <p:sp>
        <p:nvSpPr>
          <p:cNvPr id="11" name="TextBox 10"/>
          <p:cNvSpPr txBox="1"/>
          <p:nvPr/>
        </p:nvSpPr>
        <p:spPr>
          <a:xfrm>
            <a:off x="117043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PBIP as source of record</a:t>
            </a:r>
          </a:p>
        </p:txBody>
      </p:sp>
      <p:sp>
        <p:nvSpPr>
          <p:cNvPr id="12" name="Rectangle 11"/>
          <p:cNvSpPr/>
          <p:nvPr/>
        </p:nvSpPr>
        <p:spPr>
          <a:xfrm>
            <a:off x="64008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3</a:t>
            </a:r>
          </a:p>
        </p:txBody>
      </p:sp>
      <p:sp>
        <p:nvSpPr>
          <p:cNvPr id="14" name="TextBox 13"/>
          <p:cNvSpPr txBox="1"/>
          <p:nvPr/>
        </p:nvSpPr>
        <p:spPr>
          <a:xfrm>
            <a:off x="117043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Git workflow</a:t>
            </a:r>
          </a:p>
        </p:txBody>
      </p:sp>
      <p:sp>
        <p:nvSpPr>
          <p:cNvPr id="15" name="Rectangle 14"/>
          <p:cNvSpPr/>
          <p:nvPr/>
        </p:nvSpPr>
        <p:spPr>
          <a:xfrm>
            <a:off x="64008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4</a:t>
            </a:r>
          </a:p>
        </p:txBody>
      </p:sp>
      <p:sp>
        <p:nvSpPr>
          <p:cNvPr id="17" name="TextBox 16"/>
          <p:cNvSpPr txBox="1"/>
          <p:nvPr/>
        </p:nvSpPr>
        <p:spPr>
          <a:xfrm>
            <a:off x="117043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PBIP file structure</a:t>
            </a:r>
          </a:p>
        </p:txBody>
      </p:sp>
      <p:sp>
        <p:nvSpPr>
          <p:cNvPr id="18" name="Rectangle 17"/>
          <p:cNvSpPr/>
          <p:nvPr/>
        </p:nvSpPr>
        <p:spPr>
          <a:xfrm>
            <a:off x="64008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5</a:t>
            </a:r>
          </a:p>
        </p:txBody>
      </p:sp>
      <p:sp>
        <p:nvSpPr>
          <p:cNvPr id="20" name="TextBox 19"/>
          <p:cNvSpPr txBox="1"/>
          <p:nvPr/>
        </p:nvSpPr>
        <p:spPr>
          <a:xfrm>
            <a:off x="117043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External tools (Tabular Editor, ALM Toolkit)</a:t>
            </a:r>
          </a:p>
        </p:txBody>
      </p:sp>
      <p:sp>
        <p:nvSpPr>
          <p:cNvPr id="21" name="Rectangle 20"/>
          <p:cNvSpPr/>
          <p:nvPr/>
        </p:nvSpPr>
        <p:spPr>
          <a:xfrm>
            <a:off x="64008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6</a:t>
            </a:r>
          </a:p>
        </p:txBody>
      </p:sp>
      <p:sp>
        <p:nvSpPr>
          <p:cNvPr id="23" name="TextBox 22"/>
          <p:cNvSpPr txBox="1"/>
          <p:nvPr/>
        </p:nvSpPr>
        <p:spPr>
          <a:xfrm>
            <a:off x="117043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REST APIs and PowerShell</a:t>
            </a:r>
          </a:p>
        </p:txBody>
      </p:sp>
      <p:sp>
        <p:nvSpPr>
          <p:cNvPr id="24" name="Rectangle 23"/>
          <p:cNvSpPr/>
          <p:nvPr/>
        </p:nvSpPr>
        <p:spPr>
          <a:xfrm>
            <a:off x="64008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7</a:t>
            </a:r>
          </a:p>
        </p:txBody>
      </p:sp>
      <p:sp>
        <p:nvSpPr>
          <p:cNvPr id="26" name="TextBox 25"/>
          <p:cNvSpPr txBox="1"/>
          <p:nvPr/>
        </p:nvSpPr>
        <p:spPr>
          <a:xfrm>
            <a:off x="117043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Service principals</a:t>
            </a:r>
          </a:p>
        </p:txBody>
      </p:sp>
      <p:sp>
        <p:nvSpPr>
          <p:cNvPr id="27" name="Rectangle 26"/>
          <p:cNvSpPr/>
          <p:nvPr/>
        </p:nvSpPr>
        <p:spPr>
          <a:xfrm>
            <a:off x="6309360" y="178308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178308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8</a:t>
            </a:r>
          </a:p>
        </p:txBody>
      </p:sp>
      <p:sp>
        <p:nvSpPr>
          <p:cNvPr id="29" name="TextBox 28"/>
          <p:cNvSpPr txBox="1"/>
          <p:nvPr/>
        </p:nvSpPr>
        <p:spPr>
          <a:xfrm>
            <a:off x="6839712" y="180136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Fabric workspace Git integration</a:t>
            </a:r>
          </a:p>
        </p:txBody>
      </p:sp>
      <p:sp>
        <p:nvSpPr>
          <p:cNvPr id="30" name="Rectangle 29"/>
          <p:cNvSpPr/>
          <p:nvPr/>
        </p:nvSpPr>
        <p:spPr>
          <a:xfrm>
            <a:off x="6309360" y="244275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44275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9</a:t>
            </a:r>
          </a:p>
        </p:txBody>
      </p:sp>
      <p:sp>
        <p:nvSpPr>
          <p:cNvPr id="32" name="TextBox 31"/>
          <p:cNvSpPr txBox="1"/>
          <p:nvPr/>
        </p:nvSpPr>
        <p:spPr>
          <a:xfrm>
            <a:off x="6839712" y="246104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Azure DevOps conceptual pipeline</a:t>
            </a:r>
          </a:p>
        </p:txBody>
      </p:sp>
      <p:sp>
        <p:nvSpPr>
          <p:cNvPr id="33" name="Rectangle 32"/>
          <p:cNvSpPr/>
          <p:nvPr/>
        </p:nvSpPr>
        <p:spPr>
          <a:xfrm>
            <a:off x="6309360" y="3102428"/>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102428"/>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10</a:t>
            </a:r>
          </a:p>
        </p:txBody>
      </p:sp>
      <p:sp>
        <p:nvSpPr>
          <p:cNvPr id="35" name="TextBox 34"/>
          <p:cNvSpPr txBox="1"/>
          <p:nvPr/>
        </p:nvSpPr>
        <p:spPr>
          <a:xfrm>
            <a:off x="6839712" y="3120716"/>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GitHub Actions conceptual pipeline</a:t>
            </a:r>
          </a:p>
        </p:txBody>
      </p:sp>
      <p:sp>
        <p:nvSpPr>
          <p:cNvPr id="36" name="Rectangle 35"/>
          <p:cNvSpPr/>
          <p:nvPr/>
        </p:nvSpPr>
        <p:spPr>
          <a:xfrm>
            <a:off x="6309360" y="3762102"/>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3762102"/>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11</a:t>
            </a:r>
          </a:p>
        </p:txBody>
      </p:sp>
      <p:sp>
        <p:nvSpPr>
          <p:cNvPr id="38" name="TextBox 37"/>
          <p:cNvSpPr txBox="1"/>
          <p:nvPr/>
        </p:nvSpPr>
        <p:spPr>
          <a:xfrm>
            <a:off x="6839712" y="3780390"/>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Azure Government considerations</a:t>
            </a:r>
          </a:p>
        </p:txBody>
      </p:sp>
      <p:sp>
        <p:nvSpPr>
          <p:cNvPr id="39" name="Rectangle 38"/>
          <p:cNvSpPr/>
          <p:nvPr/>
        </p:nvSpPr>
        <p:spPr>
          <a:xfrm>
            <a:off x="6309360" y="4421776"/>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421776"/>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12</a:t>
            </a:r>
          </a:p>
        </p:txBody>
      </p:sp>
      <p:sp>
        <p:nvSpPr>
          <p:cNvPr id="41" name="TextBox 40"/>
          <p:cNvSpPr txBox="1"/>
          <p:nvPr/>
        </p:nvSpPr>
        <p:spPr>
          <a:xfrm>
            <a:off x="6839712" y="4440064"/>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Deployment checklist</a:t>
            </a:r>
          </a:p>
        </p:txBody>
      </p:sp>
      <p:sp>
        <p:nvSpPr>
          <p:cNvPr id="42" name="Rectangle 41"/>
          <p:cNvSpPr/>
          <p:nvPr/>
        </p:nvSpPr>
        <p:spPr>
          <a:xfrm>
            <a:off x="6309360" y="5081450"/>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5081450"/>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13</a:t>
            </a:r>
          </a:p>
        </p:txBody>
      </p:sp>
      <p:sp>
        <p:nvSpPr>
          <p:cNvPr id="44" name="TextBox 43"/>
          <p:cNvSpPr txBox="1"/>
          <p:nvPr/>
        </p:nvSpPr>
        <p:spPr>
          <a:xfrm>
            <a:off x="6839712" y="5099738"/>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Module lab walkthrough</a:t>
            </a:r>
          </a:p>
        </p:txBody>
      </p:sp>
      <p:sp>
        <p:nvSpPr>
          <p:cNvPr id="45" name="Rectangle 44"/>
          <p:cNvSpPr/>
          <p:nvPr/>
        </p:nvSpPr>
        <p:spPr>
          <a:xfrm>
            <a:off x="6309360" y="5741124"/>
            <a:ext cx="384048" cy="3840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5741124"/>
            <a:ext cx="384048" cy="384048"/>
          </a:xfrm>
          <a:prstGeom prst="rect">
            <a:avLst/>
          </a:prstGeom>
          <a:noFill/>
        </p:spPr>
        <p:txBody>
          <a:bodyPr wrap="square" anchor="ctr" lIns="0" rIns="0" tIns="0" bIns="0">
            <a:spAutoFit/>
          </a:bodyPr>
          <a:lstStyle/>
          <a:p>
            <a:pPr algn="ctr">
              <a:lnSpc>
                <a:spcPct val="100000"/>
              </a:lnSpc>
              <a:spcAft>
                <a:spcPts val="0"/>
              </a:spcAft>
            </a:pPr>
            <a:r>
              <a:rPr sz="1600" b="1" i="0">
                <a:solidFill>
                  <a:srgbClr val="FFFFFF"/>
                </a:solidFill>
                <a:latin typeface="Cambria"/>
              </a:rPr>
              <a:t>14</a:t>
            </a:r>
          </a:p>
        </p:txBody>
      </p:sp>
      <p:sp>
        <p:nvSpPr>
          <p:cNvPr id="47" name="TextBox 46"/>
          <p:cNvSpPr txBox="1"/>
          <p:nvPr/>
        </p:nvSpPr>
        <p:spPr>
          <a:xfrm>
            <a:off x="6839712" y="5759412"/>
            <a:ext cx="4572000" cy="640080"/>
          </a:xfrm>
          <a:prstGeom prst="rect">
            <a:avLst/>
          </a:prstGeom>
          <a:noFill/>
        </p:spPr>
        <p:txBody>
          <a:bodyPr wrap="square" anchor="ctr" lIns="0" rIns="0" tIns="0" bIns="0">
            <a:spAutoFit/>
          </a:bodyPr>
          <a:lstStyle/>
          <a:p>
            <a:pPr algn="l">
              <a:lnSpc>
                <a:spcPct val="100000"/>
              </a:lnSpc>
              <a:spcAft>
                <a:spcPts val="0"/>
              </a:spcAft>
            </a:pPr>
            <a:r>
              <a:rPr sz="1450" b="0" i="0">
                <a:solidFill>
                  <a:srgbClr val="1F2328"/>
                </a:solidFill>
                <a:latin typeface="Calibri"/>
              </a:rPr>
              <a:t>Knowledge check and discussion</a:t>
            </a:r>
          </a:p>
        </p:txBody>
      </p:sp>
      <p:sp>
        <p:nvSpPr>
          <p:cNvPr id="48" name="TextBox 4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01</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Lifecycle Management Goals</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Repeatability: the same PBIP source, deployed the same way, produces the same workspace state — no 'it worked when I clicked Publish from my laptop.'</a:t>
            </a:r>
          </a:p>
          <a:p>
            <a:pPr>
              <a:lnSpc>
                <a:spcPct val="105000"/>
              </a:lnSpc>
              <a:spcAft>
                <a:spcPts val="1000"/>
              </a:spcAft>
              <a:buClr>
                <a:srgbClr val="1E2761"/>
              </a:buClr>
              <a:buFont typeface="Arial"/>
              <a:buChar char="•"/>
            </a:pPr>
            <a:r>
              <a:rPr sz="1450">
                <a:solidFill>
                  <a:srgbClr val="1F2328"/>
                </a:solidFill>
                <a:latin typeface="Calibri"/>
              </a:rPr>
              <a:t>Reviewability: every model or report change is visible as a diff in git before it reaches an environment (semantic model TMDL and report JSON both diff cleanly).</a:t>
            </a:r>
          </a:p>
          <a:p>
            <a:pPr>
              <a:lnSpc>
                <a:spcPct val="105000"/>
              </a:lnSpc>
              <a:spcAft>
                <a:spcPts val="1000"/>
              </a:spcAft>
              <a:buClr>
                <a:srgbClr val="1E2761"/>
              </a:buClr>
              <a:buFont typeface="Arial"/>
              <a:buChar char="•"/>
            </a:pPr>
            <a:r>
              <a:rPr sz="1450">
                <a:solidFill>
                  <a:srgbClr val="1F2328"/>
                </a:solidFill>
                <a:latin typeface="Calibri"/>
              </a:rPr>
              <a:t>Environment promotion: Dev → Test → Prod workspaces are configured with parameters and dataset bindings, not by editing the PBIP for each environment.</a:t>
            </a:r>
          </a:p>
          <a:p>
            <a:pPr>
              <a:lnSpc>
                <a:spcPct val="105000"/>
              </a:lnSpc>
              <a:spcAft>
                <a:spcPts val="1000"/>
              </a:spcAft>
              <a:buClr>
                <a:srgbClr val="1E2761"/>
              </a:buClr>
              <a:buFont typeface="Arial"/>
              <a:buChar char="•"/>
            </a:pPr>
            <a:r>
              <a:rPr sz="1450">
                <a:solidFill>
                  <a:srgbClr val="1F2328"/>
                </a:solidFill>
                <a:latin typeface="Calibri"/>
              </a:rPr>
              <a:t>Governance: certified/promoted content, RLS, sensitivity labels, and workspace access are set intentionally, not left to whoever pressed Publish last.</a:t>
            </a:r>
          </a:p>
          <a:p>
            <a:pPr>
              <a:lnSpc>
                <a:spcPct val="105000"/>
              </a:lnSpc>
              <a:spcAft>
                <a:spcPts val="1000"/>
              </a:spcAft>
              <a:buClr>
                <a:srgbClr val="1E2761"/>
              </a:buClr>
              <a:buFont typeface="Arial"/>
              <a:buChar char="•"/>
            </a:pPr>
            <a:r>
              <a:rPr sz="1450">
                <a:solidFill>
                  <a:srgbClr val="1F2328"/>
                </a:solidFill>
                <a:latin typeface="Calibri"/>
              </a:rPr>
              <a:t>Rollback: a tagged git commit + release notes let you identify exactly what was promoted and re-deploy the previous version if a release regresses.</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These five properties are what separates a Power BI hobby project from an engineering deliverable that can survive audit, personnel change, and outages.</a:t>
            </a:r>
          </a:p>
          <a:p>
            <a:pPr>
              <a:lnSpc>
                <a:spcPct val="105000"/>
              </a:lnSpc>
              <a:spcAft>
                <a:spcPts val="1000"/>
              </a:spcAft>
              <a:buClr>
                <a:srgbClr val="E8B44A"/>
              </a:buClr>
              <a:buFont typeface="Arial"/>
              <a:buChar char="•"/>
            </a:pPr>
            <a:r>
              <a:rPr sz="1450">
                <a:solidFill>
                  <a:srgbClr val="1F2328"/>
                </a:solidFill>
                <a:latin typeface="Calibri"/>
              </a:rPr>
              <a:t>Every technique in the rest of this module — PBIP, git, external tools, REST APIs, service principals, CI/CD — exists to serve one or more of these five goals.</a:t>
            </a:r>
          </a:p>
          <a:p>
            <a:pPr>
              <a:lnSpc>
                <a:spcPct val="105000"/>
              </a:lnSpc>
              <a:spcAft>
                <a:spcPts val="1000"/>
              </a:spcAft>
              <a:buClr>
                <a:srgbClr val="E8B44A"/>
              </a:buClr>
              <a:buFont typeface="Arial"/>
              <a:buChar char="•"/>
            </a:pPr>
            <a:r>
              <a:rPr sz="1450">
                <a:solidFill>
                  <a:srgbClr val="1F2328"/>
                </a:solidFill>
                <a:latin typeface="Calibri"/>
              </a:rPr>
              <a:t>In Azure Government especially, 'rollback evidence' is not optional — auditors will ask what was deployed, when, by whom, and how you would reverse it.</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7 (Deployment checklist) is the concrete artifact that operationalizes these five goals — source, security, refresh, validation, rollback — for every release.</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02</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PBIP as Source of Record</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PBIP is a folder-based project format: a .pbip pointer file plus sibling .Report and .SemanticModel folders that hold text-based definition files.</a:t>
            </a:r>
          </a:p>
          <a:p>
            <a:pPr>
              <a:lnSpc>
                <a:spcPct val="105000"/>
              </a:lnSpc>
              <a:spcAft>
                <a:spcPts val="1000"/>
              </a:spcAft>
              <a:buClr>
                <a:srgbClr val="1E2761"/>
              </a:buClr>
              <a:buFont typeface="Arial"/>
              <a:buChar char="•"/>
            </a:pPr>
            <a:r>
              <a:rPr sz="1450">
                <a:solidFill>
                  <a:srgbClr val="1F2328"/>
                </a:solidFill>
                <a:latin typeface="Calibri"/>
              </a:rPr>
              <a:t>The semantic model is stored as TMDL (Tabular Model Definition Language) — human-readable text for tables, columns, measures, relationships, and roles.</a:t>
            </a:r>
          </a:p>
          <a:p>
            <a:pPr>
              <a:lnSpc>
                <a:spcPct val="105000"/>
              </a:lnSpc>
              <a:spcAft>
                <a:spcPts val="1000"/>
              </a:spcAft>
              <a:buClr>
                <a:srgbClr val="1E2761"/>
              </a:buClr>
              <a:buFont typeface="Arial"/>
              <a:buChar char="•"/>
            </a:pPr>
            <a:r>
              <a:rPr sz="1450">
                <a:solidFill>
                  <a:srgbClr val="1F2328"/>
                </a:solidFill>
                <a:latin typeface="Calibri"/>
              </a:rPr>
              <a:t>The report is stored as structured JSON — pages, visuals, bookmarks, theme — which diffs cleanly, unlike the opaque binary inside a PBIX.</a:t>
            </a:r>
          </a:p>
          <a:p>
            <a:pPr>
              <a:lnSpc>
                <a:spcPct val="105000"/>
              </a:lnSpc>
              <a:spcAft>
                <a:spcPts val="1000"/>
              </a:spcAft>
              <a:buClr>
                <a:srgbClr val="1E2761"/>
              </a:buClr>
              <a:buFont typeface="Arial"/>
              <a:buChar char="•"/>
            </a:pPr>
            <a:r>
              <a:rPr sz="1450">
                <a:solidFill>
                  <a:srgbClr val="1F2328"/>
                </a:solidFill>
                <a:latin typeface="Calibri"/>
              </a:rPr>
              <a:t>PBIX is treated as a generated output for distribution, not the source of record. Committing PBIX to git defeats the entire point of PBIP.</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Text-based definition files are what makes code review, pull requests, blame history, and CI validation possible for Power BI content at all.</a:t>
            </a:r>
          </a:p>
          <a:p>
            <a:pPr>
              <a:lnSpc>
                <a:spcPct val="105000"/>
              </a:lnSpc>
              <a:spcAft>
                <a:spcPts val="1000"/>
              </a:spcAft>
              <a:buClr>
                <a:srgbClr val="E8B44A"/>
              </a:buClr>
              <a:buFont typeface="Arial"/>
              <a:buChar char="•"/>
            </a:pPr>
            <a:r>
              <a:rPr sz="1450">
                <a:solidFill>
                  <a:srgbClr val="1F2328"/>
                </a:solidFill>
                <a:latin typeface="Calibri"/>
              </a:rPr>
              <a:t>TMDL and report JSON let non-authors (peers, reviewers, security) see exactly what changed — a new measure, a modified RLS filter, a removed visual — without opening Power BI Desktop.</a:t>
            </a:r>
          </a:p>
          <a:p>
            <a:pPr>
              <a:lnSpc>
                <a:spcPct val="105000"/>
              </a:lnSpc>
              <a:spcAft>
                <a:spcPts val="1000"/>
              </a:spcAft>
              <a:buClr>
                <a:srgbClr val="E8B44A"/>
              </a:buClr>
              <a:buFont typeface="Arial"/>
              <a:buChar char="•"/>
            </a:pPr>
            <a:r>
              <a:rPr sz="1450">
                <a:solidFill>
                  <a:srgbClr val="1F2328"/>
                </a:solidFill>
                <a:latin typeface="Calibri"/>
              </a:rPr>
              <a:t>PBIP is explicitly Gov-ready in this workshop, so this is one part of the module every student can practice hands-on regardless of tenant type.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1 has students open the actual PBIP folder in File Explorer / VS Code, locate the .Report and .SemanticModel folders, and read the TMDL and JSON to see what is source-controlled vs. generated.</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03</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Git Workflow for Power BI Content</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Branch per unit of work: main is protected, feature branches (feature/measure-yoy) isolate a specific change until it's reviewed.</a:t>
            </a:r>
          </a:p>
          <a:p>
            <a:pPr>
              <a:lnSpc>
                <a:spcPct val="105000"/>
              </a:lnSpc>
              <a:spcAft>
                <a:spcPts val="1000"/>
              </a:spcAft>
              <a:buClr>
                <a:srgbClr val="1E2761"/>
              </a:buClr>
              <a:buFont typeface="Arial"/>
              <a:buChar char="•"/>
            </a:pPr>
            <a:r>
              <a:rPr sz="1450">
                <a:solidFill>
                  <a:srgbClr val="1F2328"/>
                </a:solidFill>
                <a:latin typeface="Calibri"/>
              </a:rPr>
              <a:t>Commits document intent: `git status` and `git diff` before every commit to avoid accidentally checking in cache files, .pbix outputs, or secrets.</a:t>
            </a:r>
          </a:p>
          <a:p>
            <a:pPr>
              <a:lnSpc>
                <a:spcPct val="105000"/>
              </a:lnSpc>
              <a:spcAft>
                <a:spcPts val="1000"/>
              </a:spcAft>
              <a:buClr>
                <a:srgbClr val="1E2761"/>
              </a:buClr>
              <a:buFont typeface="Arial"/>
              <a:buChar char="•"/>
            </a:pPr>
            <a:r>
              <a:rPr sz="1450">
                <a:solidFill>
                  <a:srgbClr val="1F2328"/>
                </a:solidFill>
                <a:latin typeface="Calibri"/>
              </a:rPr>
              <a:t>Pull requests are the review gate: at least one peer reviews the TMDL / report JSON diff and confirms it matches the described intent before merge to main.</a:t>
            </a:r>
          </a:p>
          <a:p>
            <a:pPr>
              <a:lnSpc>
                <a:spcPct val="105000"/>
              </a:lnSpc>
              <a:spcAft>
                <a:spcPts val="1000"/>
              </a:spcAft>
              <a:buClr>
                <a:srgbClr val="1E2761"/>
              </a:buClr>
              <a:buFont typeface="Arial"/>
              <a:buChar char="•"/>
            </a:pPr>
            <a:r>
              <a:rPr sz="1450">
                <a:solidFill>
                  <a:srgbClr val="1F2328"/>
                </a:solidFill>
                <a:latin typeface="Calibri"/>
              </a:rPr>
              <a:t>Tags and releases mark what was deployed: an annotated tag (v2026.11.1) plus release notes gives operations a rollback anchor.</a:t>
            </a:r>
          </a:p>
          <a:p>
            <a:pPr>
              <a:lnSpc>
                <a:spcPct val="105000"/>
              </a:lnSpc>
              <a:spcAft>
                <a:spcPts val="1000"/>
              </a:spcAft>
              <a:buClr>
                <a:srgbClr val="1E2761"/>
              </a:buClr>
              <a:buFont typeface="Arial"/>
              <a:buChar char="•"/>
            </a:pPr>
            <a:r>
              <a:rPr sz="1450">
                <a:solidFill>
                  <a:srgbClr val="1F2328"/>
                </a:solidFill>
                <a:latin typeface="Calibri"/>
              </a:rPr>
              <a:t>Exclude generated and local artifacts via .gitignore: .pbix, cache folders, *.tmp, and any local settings that don't belong to every environment.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The git workflow is what makes 'reviewable' and 'recoverable' from the previous slide real instead of aspirational — the review happens in the pull request, and the rollback anchor is the tag.</a:t>
            </a:r>
          </a:p>
          <a:p>
            <a:pPr>
              <a:lnSpc>
                <a:spcPct val="105000"/>
              </a:lnSpc>
              <a:spcAft>
                <a:spcPts val="1000"/>
              </a:spcAft>
              <a:buClr>
                <a:srgbClr val="E8B44A"/>
              </a:buClr>
              <a:buFont typeface="Arial"/>
              <a:buChar char="•"/>
            </a:pPr>
            <a:r>
              <a:rPr sz="1450">
                <a:solidFill>
                  <a:srgbClr val="1F2328"/>
                </a:solidFill>
                <a:latin typeface="Calibri"/>
              </a:rPr>
              <a:t>Branch-and-PR discipline also acts as a lightweight change advisory board: no measure ships to Prod without a second pair of eyes on the DAX diff.</a:t>
            </a:r>
          </a:p>
          <a:p>
            <a:pPr>
              <a:lnSpc>
                <a:spcPct val="105000"/>
              </a:lnSpc>
              <a:spcAft>
                <a:spcPts val="1000"/>
              </a:spcAft>
              <a:buClr>
                <a:srgbClr val="E8B44A"/>
              </a:buClr>
              <a:buFont typeface="Arial"/>
              <a:buChar char="•"/>
            </a:pPr>
            <a:r>
              <a:rPr sz="1450">
                <a:solidFill>
                  <a:srgbClr val="1F2328"/>
                </a:solidFill>
                <a:latin typeface="Calibri"/>
              </a:rPr>
              <a:t>This is Gov-ready and platform-agnostic — Azure DevOps, GitHub, GitHub Enterprise Server, or an internal Git host all work as long as the repository policy is customer-approved.</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 2 has students create a feature branch, make a small PBIP change, run git status/diff, commit, and discuss pull-request review expectations.</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04</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PBIP File Structure — What Lives Where</a:t>
            </a:r>
          </a:p>
        </p:txBody>
      </p:sp>
      <p:graphicFrame>
        <p:nvGraphicFramePr>
          <p:cNvPr id="6" name="Table 5"/>
          <p:cNvGraphicFramePr>
            <a:graphicFrameLocks noGrp="1"/>
          </p:cNvGraphicFramePr>
          <p:nvPr/>
        </p:nvGraphicFramePr>
        <p:xfrm>
          <a:off x="640080" y="1325880"/>
          <a:ext cx="10881359" cy="4663440"/>
        </p:xfrm>
        <a:graphic>
          <a:graphicData uri="http://schemas.openxmlformats.org/drawingml/2006/table">
            <a:tbl>
              <a:tblPr firstRow="1" bandRow="1">
                <a:tableStyleId>{5C22544A-7EE6-4342-B048-85BDC9FD1C3A}</a:tableStyleId>
              </a:tblPr>
              <a:tblGrid>
                <a:gridCol w="2926080"/>
                <a:gridCol w="4937760"/>
                <a:gridCol w="3017519"/>
              </a:tblGrid>
              <a:tr h="666205">
                <a:tc>
                  <a:txBody>
                    <a:bodyPr/>
                    <a:lstStyle/>
                    <a:p>
                      <a:pPr algn="l"/>
                      <a:r>
                        <a:rPr b="1" sz="1250">
                          <a:solidFill>
                            <a:srgbClr val="FFFFFF"/>
                          </a:solidFill>
                          <a:latin typeface="Calibri"/>
                        </a:rPr>
                        <a:t>Location</a:t>
                      </a:r>
                    </a:p>
                  </a:txBody>
                  <a:tcPr>
                    <a:solidFill>
                      <a:srgbClr val="1E2761"/>
                    </a:solidFill>
                  </a:tcPr>
                </a:tc>
                <a:tc>
                  <a:txBody>
                    <a:bodyPr/>
                    <a:lstStyle/>
                    <a:p>
                      <a:pPr algn="l"/>
                      <a:r>
                        <a:rPr b="1" sz="1250">
                          <a:solidFill>
                            <a:srgbClr val="FFFFFF"/>
                          </a:solidFill>
                          <a:latin typeface="Calibri"/>
                        </a:rPr>
                        <a:t>Contents</a:t>
                      </a:r>
                    </a:p>
                  </a:txBody>
                  <a:tcPr>
                    <a:solidFill>
                      <a:srgbClr val="1E2761"/>
                    </a:solidFill>
                  </a:tcPr>
                </a:tc>
                <a:tc>
                  <a:txBody>
                    <a:bodyPr/>
                    <a:lstStyle/>
                    <a:p>
                      <a:pPr algn="l"/>
                      <a:r>
                        <a:rPr b="1" sz="1250">
                          <a:solidFill>
                            <a:srgbClr val="FFFFFF"/>
                          </a:solidFill>
                          <a:latin typeface="Calibri"/>
                        </a:rPr>
                        <a:t>Source-control treatment</a:t>
                      </a:r>
                    </a:p>
                  </a:txBody>
                  <a:tcPr>
                    <a:solidFill>
                      <a:srgbClr val="1E2761"/>
                    </a:solidFill>
                  </a:tcPr>
                </a:tc>
              </a:tr>
              <a:tr h="666205">
                <a:tc>
                  <a:txBody>
                    <a:bodyPr/>
                    <a:lstStyle/>
                    <a:p>
                      <a:r>
                        <a:rPr sz="1150">
                          <a:solidFill>
                            <a:srgbClr val="1F2328"/>
                          </a:solidFill>
                          <a:latin typeface="Calibri"/>
                        </a:rPr>
                        <a:t>&lt;project&gt;.pbip</a:t>
                      </a:r>
                    </a:p>
                  </a:txBody>
                  <a:tcPr>
                    <a:solidFill>
                      <a:srgbClr val="FFFFFF"/>
                    </a:solidFill>
                  </a:tcPr>
                </a:tc>
                <a:tc>
                  <a:txBody>
                    <a:bodyPr/>
                    <a:lstStyle/>
                    <a:p>
                      <a:r>
                        <a:rPr sz="1150">
                          <a:solidFill>
                            <a:srgbClr val="1F2328"/>
                          </a:solidFill>
                          <a:latin typeface="Calibri"/>
                        </a:rPr>
                        <a:t>Small pointer file that ties the Report and SemanticModel folders together.</a:t>
                      </a:r>
                    </a:p>
                  </a:txBody>
                  <a:tcPr>
                    <a:solidFill>
                      <a:srgbClr val="FFFFFF"/>
                    </a:solidFill>
                  </a:tcPr>
                </a:tc>
                <a:tc>
                  <a:txBody>
                    <a:bodyPr/>
                    <a:lstStyle/>
                    <a:p>
                      <a:r>
                        <a:rPr sz="1150">
                          <a:solidFill>
                            <a:srgbClr val="1F2328"/>
                          </a:solidFill>
                          <a:latin typeface="Calibri"/>
                        </a:rPr>
                        <a:t>Commit. Small, stable, required.</a:t>
                      </a:r>
                    </a:p>
                  </a:txBody>
                  <a:tcPr>
                    <a:solidFill>
                      <a:srgbClr val="FFFFFF"/>
                    </a:solidFill>
                  </a:tcPr>
                </a:tc>
              </a:tr>
              <a:tr h="666205">
                <a:tc>
                  <a:txBody>
                    <a:bodyPr/>
                    <a:lstStyle/>
                    <a:p>
                      <a:r>
                        <a:rPr sz="1150">
                          <a:solidFill>
                            <a:srgbClr val="1F2328"/>
                          </a:solidFill>
                          <a:latin typeface="Calibri"/>
                        </a:rPr>
                        <a:t>&lt;project&gt;.Report/</a:t>
                      </a:r>
                    </a:p>
                  </a:txBody>
                  <a:tcPr>
                    <a:solidFill>
                      <a:srgbClr val="F6F8FC"/>
                    </a:solidFill>
                  </a:tcPr>
                </a:tc>
                <a:tc>
                  <a:txBody>
                    <a:bodyPr/>
                    <a:lstStyle/>
                    <a:p>
                      <a:r>
                        <a:rPr sz="1150">
                          <a:solidFill>
                            <a:srgbClr val="1F2328"/>
                          </a:solidFill>
                          <a:latin typeface="Calibri"/>
                        </a:rPr>
                        <a:t>Report definition: report.json, page and visual definitions, bookmarks, theme.</a:t>
                      </a:r>
                    </a:p>
                  </a:txBody>
                  <a:tcPr>
                    <a:solidFill>
                      <a:srgbClr val="F6F8FC"/>
                    </a:solidFill>
                  </a:tcPr>
                </a:tc>
                <a:tc>
                  <a:txBody>
                    <a:bodyPr/>
                    <a:lstStyle/>
                    <a:p>
                      <a:r>
                        <a:rPr sz="1150">
                          <a:solidFill>
                            <a:srgbClr val="1F2328"/>
                          </a:solidFill>
                          <a:latin typeface="Calibri"/>
                        </a:rPr>
                        <a:t>Commit. Diffs cleanly as JSON.</a:t>
                      </a:r>
                    </a:p>
                  </a:txBody>
                  <a:tcPr>
                    <a:solidFill>
                      <a:srgbClr val="F6F8FC"/>
                    </a:solidFill>
                  </a:tcPr>
                </a:tc>
              </a:tr>
              <a:tr h="666205">
                <a:tc>
                  <a:txBody>
                    <a:bodyPr/>
                    <a:lstStyle/>
                    <a:p>
                      <a:r>
                        <a:rPr sz="1150">
                          <a:solidFill>
                            <a:srgbClr val="1F2328"/>
                          </a:solidFill>
                          <a:latin typeface="Calibri"/>
                        </a:rPr>
                        <a:t>&lt;project&gt;.SemanticModel/</a:t>
                      </a:r>
                    </a:p>
                  </a:txBody>
                  <a:tcPr>
                    <a:solidFill>
                      <a:srgbClr val="FFFFFF"/>
                    </a:solidFill>
                  </a:tcPr>
                </a:tc>
                <a:tc>
                  <a:txBody>
                    <a:bodyPr/>
                    <a:lstStyle/>
                    <a:p>
                      <a:r>
                        <a:rPr sz="1150">
                          <a:solidFill>
                            <a:srgbClr val="1F2328"/>
                          </a:solidFill>
                          <a:latin typeface="Calibri"/>
                        </a:rPr>
                        <a:t>Semantic model as TMDL: tables, columns, measures, relationships, roles, perspectives, translations.</a:t>
                      </a:r>
                    </a:p>
                  </a:txBody>
                  <a:tcPr>
                    <a:solidFill>
                      <a:srgbClr val="FFFFFF"/>
                    </a:solidFill>
                  </a:tcPr>
                </a:tc>
                <a:tc>
                  <a:txBody>
                    <a:bodyPr/>
                    <a:lstStyle/>
                    <a:p>
                      <a:r>
                        <a:rPr sz="1150">
                          <a:solidFill>
                            <a:srgbClr val="1F2328"/>
                          </a:solidFill>
                          <a:latin typeface="Calibri"/>
                        </a:rPr>
                        <a:t>Commit. Primary review surface.</a:t>
                      </a:r>
                    </a:p>
                  </a:txBody>
                  <a:tcPr>
                    <a:solidFill>
                      <a:srgbClr val="FFFFFF"/>
                    </a:solidFill>
                  </a:tcPr>
                </a:tc>
              </a:tr>
              <a:tr h="666205">
                <a:tc>
                  <a:txBody>
                    <a:bodyPr/>
                    <a:lstStyle/>
                    <a:p>
                      <a:r>
                        <a:rPr sz="1150">
                          <a:solidFill>
                            <a:srgbClr val="1F2328"/>
                          </a:solidFill>
                          <a:latin typeface="Calibri"/>
                        </a:rPr>
                        <a:t>definition/ subfolders</a:t>
                      </a:r>
                    </a:p>
                  </a:txBody>
                  <a:tcPr>
                    <a:solidFill>
                      <a:srgbClr val="F6F8FC"/>
                    </a:solidFill>
                  </a:tcPr>
                </a:tc>
                <a:tc>
                  <a:txBody>
                    <a:bodyPr/>
                    <a:lstStyle/>
                    <a:p>
                      <a:r>
                        <a:rPr sz="1150">
                          <a:solidFill>
                            <a:srgbClr val="1F2328"/>
                          </a:solidFill>
                          <a:latin typeface="Calibri"/>
                        </a:rPr>
                        <a:t>Individual TMDL / JSON files that Power BI Desktop writes on save.</a:t>
                      </a:r>
                    </a:p>
                  </a:txBody>
                  <a:tcPr>
                    <a:solidFill>
                      <a:srgbClr val="F6F8FC"/>
                    </a:solidFill>
                  </a:tcPr>
                </a:tc>
                <a:tc>
                  <a:txBody>
                    <a:bodyPr/>
                    <a:lstStyle/>
                    <a:p>
                      <a:r>
                        <a:rPr sz="1150">
                          <a:solidFill>
                            <a:srgbClr val="1F2328"/>
                          </a:solidFill>
                          <a:latin typeface="Calibri"/>
                        </a:rPr>
                        <a:t>Commit. These are the reviewable diff units.</a:t>
                      </a:r>
                    </a:p>
                  </a:txBody>
                  <a:tcPr>
                    <a:solidFill>
                      <a:srgbClr val="F6F8FC"/>
                    </a:solidFill>
                  </a:tcPr>
                </a:tc>
              </a:tr>
              <a:tr h="666205">
                <a:tc>
                  <a:txBody>
                    <a:bodyPr/>
                    <a:lstStyle/>
                    <a:p>
                      <a:r>
                        <a:rPr sz="1150">
                          <a:solidFill>
                            <a:srgbClr val="1F2328"/>
                          </a:solidFill>
                          <a:latin typeface="Calibri"/>
                        </a:rPr>
                        <a:t>Generated .pbix output</a:t>
                      </a:r>
                    </a:p>
                  </a:txBody>
                  <a:tcPr>
                    <a:solidFill>
                      <a:srgbClr val="FFFFFF"/>
                    </a:solidFill>
                  </a:tcPr>
                </a:tc>
                <a:tc>
                  <a:txBody>
                    <a:bodyPr/>
                    <a:lstStyle/>
                    <a:p>
                      <a:r>
                        <a:rPr sz="1150">
                          <a:solidFill>
                            <a:srgbClr val="1F2328"/>
                          </a:solidFill>
                          <a:latin typeface="Calibri"/>
                        </a:rPr>
                        <a:t>Binary produced when you Build/Export PBIX from the PBIP — for distribution or Service upload only.</a:t>
                      </a:r>
                    </a:p>
                  </a:txBody>
                  <a:tcPr>
                    <a:solidFill>
                      <a:srgbClr val="FFFFFF"/>
                    </a:solidFill>
                  </a:tcPr>
                </a:tc>
                <a:tc>
                  <a:txBody>
                    <a:bodyPr/>
                    <a:lstStyle/>
                    <a:p>
                      <a:r>
                        <a:rPr sz="1150">
                          <a:solidFill>
                            <a:srgbClr val="1F2328"/>
                          </a:solidFill>
                          <a:latin typeface="Calibri"/>
                        </a:rPr>
                        <a:t>Do NOT commit. Treat as a build artifact.</a:t>
                      </a:r>
                    </a:p>
                  </a:txBody>
                  <a:tcPr>
                    <a:solidFill>
                      <a:srgbClr val="FFFFFF"/>
                    </a:solidFill>
                  </a:tcPr>
                </a:tc>
              </a:tr>
              <a:tr h="666210">
                <a:tc>
                  <a:txBody>
                    <a:bodyPr/>
                    <a:lstStyle/>
                    <a:p>
                      <a:r>
                        <a:rPr sz="1150">
                          <a:solidFill>
                            <a:srgbClr val="1F2328"/>
                          </a:solidFill>
                          <a:latin typeface="Calibri"/>
                        </a:rPr>
                        <a:t>Local cache / temp / user settings</a:t>
                      </a:r>
                    </a:p>
                  </a:txBody>
                  <a:tcPr>
                    <a:solidFill>
                      <a:srgbClr val="F6F8FC"/>
                    </a:solidFill>
                  </a:tcPr>
                </a:tc>
                <a:tc>
                  <a:txBody>
                    <a:bodyPr/>
                    <a:lstStyle/>
                    <a:p>
                      <a:r>
                        <a:rPr sz="1150">
                          <a:solidFill>
                            <a:srgbClr val="1F2328"/>
                          </a:solidFill>
                          <a:latin typeface="Calibri"/>
                        </a:rPr>
                        <a:t>.pbi/cache, *.tmp, editor-specific settings that vary per workstation.</a:t>
                      </a:r>
                    </a:p>
                  </a:txBody>
                  <a:tcPr>
                    <a:solidFill>
                      <a:srgbClr val="F6F8FC"/>
                    </a:solidFill>
                  </a:tcPr>
                </a:tc>
                <a:tc>
                  <a:txBody>
                    <a:bodyPr/>
                    <a:lstStyle/>
                    <a:p>
                      <a:r>
                        <a:rPr sz="1150">
                          <a:solidFill>
                            <a:srgbClr val="1F2328"/>
                          </a:solidFill>
                          <a:latin typeface="Calibri"/>
                        </a:rPr>
                        <a:t>Exclude via .gitignore — never source-controlled.</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tie-in: Exercise 1 walks students through this table concretely against the PBIP project from earlier modules — identify each of these six categories in File Explorer and confirm which ones the .gitignore correctly excludes.</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05</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External Tools: Tabular Editor &amp; ALM Toolkit</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Tabular Editor: dedicated model editor that reads the same TMDL PBIP uses — bulk measure edits, scripting, best-practice analyzer, and calculation groups at a speed Desktop can't match.</a:t>
            </a:r>
          </a:p>
          <a:p>
            <a:pPr>
              <a:lnSpc>
                <a:spcPct val="105000"/>
              </a:lnSpc>
              <a:spcAft>
                <a:spcPts val="1000"/>
              </a:spcAft>
              <a:buClr>
                <a:srgbClr val="1E2761"/>
              </a:buClr>
              <a:buFont typeface="Arial"/>
              <a:buChar char="•"/>
            </a:pPr>
            <a:r>
              <a:rPr sz="1450">
                <a:solidFill>
                  <a:srgbClr val="1F2328"/>
                </a:solidFill>
                <a:latin typeface="Calibri"/>
              </a:rPr>
              <a:t>ALM Toolkit: model comparison tool that produces a schema-level diff between two models (or a model and a PBIP source) and generates a deploy script.</a:t>
            </a:r>
          </a:p>
          <a:p>
            <a:pPr>
              <a:lnSpc>
                <a:spcPct val="105000"/>
              </a:lnSpc>
              <a:spcAft>
                <a:spcPts val="1000"/>
              </a:spcAft>
              <a:buClr>
                <a:srgbClr val="1E2761"/>
              </a:buClr>
              <a:buFont typeface="Arial"/>
              <a:buChar char="•"/>
            </a:pPr>
            <a:r>
              <a:rPr sz="1450">
                <a:solidFill>
                  <a:srgbClr val="1F2328"/>
                </a:solidFill>
                <a:latin typeface="Calibri"/>
              </a:rPr>
              <a:t>Both tools rely on the XMLA endpoint to write back to a published dataset — that endpoint has to be enabled at tenant and capacity level.</a:t>
            </a:r>
          </a:p>
          <a:p>
            <a:pPr>
              <a:lnSpc>
                <a:spcPct val="105000"/>
              </a:lnSpc>
              <a:spcAft>
                <a:spcPts val="1000"/>
              </a:spcAft>
              <a:buClr>
                <a:srgbClr val="1E2761"/>
              </a:buClr>
              <a:buFont typeface="Arial"/>
              <a:buChar char="•"/>
            </a:pPr>
            <a:r>
              <a:rPr sz="1450">
                <a:solidFill>
                  <a:srgbClr val="1F2328"/>
                </a:solidFill>
                <a:latin typeface="Calibri"/>
              </a:rPr>
              <a:t>Customer policy matters: some organizations restrict which third-party tools may connect to their tenant. Confirm workstation and tenant policy before use.</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Once a model grows past a handful of measures, doing bulk changes in Desktop is slow and error-prone — Tabular Editor scripting turns 'rename 40 measures' from a half-day of clicking into a five-line script.</a:t>
            </a:r>
          </a:p>
          <a:p>
            <a:pPr>
              <a:lnSpc>
                <a:spcPct val="105000"/>
              </a:lnSpc>
              <a:spcAft>
                <a:spcPts val="1000"/>
              </a:spcAft>
              <a:buClr>
                <a:srgbClr val="E8B44A"/>
              </a:buClr>
              <a:buFont typeface="Arial"/>
              <a:buChar char="•"/>
            </a:pPr>
            <a:r>
              <a:rPr sz="1450">
                <a:solidFill>
                  <a:srgbClr val="1F2328"/>
                </a:solidFill>
                <a:latin typeface="Calibri"/>
              </a:rPr>
              <a:t>ALM Toolkit is what makes 'deploy only the metadata diff' possible — you can push a single measure change to Prod without republishing the entire model and resetting caches.</a:t>
            </a:r>
          </a:p>
          <a:p>
            <a:pPr>
              <a:lnSpc>
                <a:spcPct val="105000"/>
              </a:lnSpc>
              <a:spcAft>
                <a:spcPts val="1000"/>
              </a:spcAft>
              <a:buClr>
                <a:srgbClr val="E8B44A"/>
              </a:buClr>
              <a:buFont typeface="Arial"/>
              <a:buChar char="•"/>
            </a:pPr>
            <a:r>
              <a:rPr sz="1450">
                <a:solidFill>
                  <a:srgbClr val="1F2328"/>
                </a:solidFill>
                <a:latin typeface="Calibri"/>
              </a:rPr>
              <a:t>Both are marked Verify for Gov: XMLA, tenant settings, and customer approval must line up before either tool is used against a Gov tenant.</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Exercises 3 and 4 are conditional — only performed when Tabular Editor / ALM Toolkit are available and customer-approved; otherwise delivered as a conceptual walkthrough.</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06</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Power BI REST APIs &amp; PowerShell</a:t>
            </a:r>
          </a:p>
        </p:txBody>
      </p:sp>
      <p:graphicFrame>
        <p:nvGraphicFramePr>
          <p:cNvPr id="6" name="Table 5"/>
          <p:cNvGraphicFramePr>
            <a:graphicFrameLocks noGrp="1"/>
          </p:cNvGraphicFramePr>
          <p:nvPr/>
        </p:nvGraphicFramePr>
        <p:xfrm>
          <a:off x="640080" y="1325880"/>
          <a:ext cx="10881360" cy="4663440"/>
        </p:xfrm>
        <a:graphic>
          <a:graphicData uri="http://schemas.openxmlformats.org/drawingml/2006/table">
            <a:tbl>
              <a:tblPr firstRow="1" bandRow="1">
                <a:tableStyleId>{5C22544A-7EE6-4342-B048-85BDC9FD1C3A}</a:tableStyleId>
              </a:tblPr>
              <a:tblGrid>
                <a:gridCol w="2743200"/>
                <a:gridCol w="4754880"/>
                <a:gridCol w="3383280"/>
              </a:tblGrid>
              <a:tr h="666205">
                <a:tc>
                  <a:txBody>
                    <a:bodyPr/>
                    <a:lstStyle/>
                    <a:p>
                      <a:pPr algn="l"/>
                      <a:r>
                        <a:rPr b="1" sz="1250">
                          <a:solidFill>
                            <a:srgbClr val="FFFFFF"/>
                          </a:solidFill>
                          <a:latin typeface="Calibri"/>
                        </a:rPr>
                        <a:t>Capability</a:t>
                      </a:r>
                    </a:p>
                  </a:txBody>
                  <a:tcPr>
                    <a:solidFill>
                      <a:srgbClr val="1E2761"/>
                    </a:solidFill>
                  </a:tcPr>
                </a:tc>
                <a:tc>
                  <a:txBody>
                    <a:bodyPr/>
                    <a:lstStyle/>
                    <a:p>
                      <a:pPr algn="l"/>
                      <a:r>
                        <a:rPr b="1" sz="1250">
                          <a:solidFill>
                            <a:srgbClr val="FFFFFF"/>
                          </a:solidFill>
                          <a:latin typeface="Calibri"/>
                        </a:rPr>
                        <a:t>REST / cmdlet surface</a:t>
                      </a:r>
                    </a:p>
                  </a:txBody>
                  <a:tcPr>
                    <a:solidFill>
                      <a:srgbClr val="1E2761"/>
                    </a:solidFill>
                  </a:tcPr>
                </a:tc>
                <a:tc>
                  <a:txBody>
                    <a:bodyPr/>
                    <a:lstStyle/>
                    <a:p>
                      <a:pPr algn="l"/>
                      <a:r>
                        <a:rPr b="1" sz="1250">
                          <a:solidFill>
                            <a:srgbClr val="FFFFFF"/>
                          </a:solidFill>
                          <a:latin typeface="Calibri"/>
                        </a:rPr>
                        <a:t>What it enables</a:t>
                      </a:r>
                    </a:p>
                  </a:txBody>
                  <a:tcPr>
                    <a:solidFill>
                      <a:srgbClr val="1E2761"/>
                    </a:solidFill>
                  </a:tcPr>
                </a:tc>
              </a:tr>
              <a:tr h="666205">
                <a:tc>
                  <a:txBody>
                    <a:bodyPr/>
                    <a:lstStyle/>
                    <a:p>
                      <a:r>
                        <a:rPr sz="1150">
                          <a:solidFill>
                            <a:srgbClr val="1F2328"/>
                          </a:solidFill>
                          <a:latin typeface="Calibri"/>
                        </a:rPr>
                        <a:t>Workspace ops</a:t>
                      </a:r>
                    </a:p>
                  </a:txBody>
                  <a:tcPr>
                    <a:solidFill>
                      <a:srgbClr val="FFFFFF"/>
                    </a:solidFill>
                  </a:tcPr>
                </a:tc>
                <a:tc>
                  <a:txBody>
                    <a:bodyPr/>
                    <a:lstStyle/>
                    <a:p>
                      <a:r>
                        <a:rPr sz="1150">
                          <a:solidFill>
                            <a:srgbClr val="1F2328"/>
                          </a:solidFill>
                          <a:latin typeface="Calibri"/>
                        </a:rPr>
                        <a:t>Groups API; New-PowerBIWorkspace / Set-PowerBIWorkspace.</a:t>
                      </a:r>
                    </a:p>
                  </a:txBody>
                  <a:tcPr>
                    <a:solidFill>
                      <a:srgbClr val="FFFFFF"/>
                    </a:solidFill>
                  </a:tcPr>
                </a:tc>
                <a:tc>
                  <a:txBody>
                    <a:bodyPr/>
                    <a:lstStyle/>
                    <a:p>
                      <a:r>
                        <a:rPr sz="1150">
                          <a:solidFill>
                            <a:srgbClr val="1F2328"/>
                          </a:solidFill>
                          <a:latin typeface="Calibri"/>
                        </a:rPr>
                        <a:t>Provision Dev/Test/Prod workspaces programmatically.</a:t>
                      </a:r>
                    </a:p>
                  </a:txBody>
                  <a:tcPr>
                    <a:solidFill>
                      <a:srgbClr val="FFFFFF"/>
                    </a:solidFill>
                  </a:tcPr>
                </a:tc>
              </a:tr>
              <a:tr h="666205">
                <a:tc>
                  <a:txBody>
                    <a:bodyPr/>
                    <a:lstStyle/>
                    <a:p>
                      <a:r>
                        <a:rPr sz="1150">
                          <a:solidFill>
                            <a:srgbClr val="1F2328"/>
                          </a:solidFill>
                          <a:latin typeface="Calibri"/>
                        </a:rPr>
                        <a:t>Import / export</a:t>
                      </a:r>
                    </a:p>
                  </a:txBody>
                  <a:tcPr>
                    <a:solidFill>
                      <a:srgbClr val="F6F8FC"/>
                    </a:solidFill>
                  </a:tcPr>
                </a:tc>
                <a:tc>
                  <a:txBody>
                    <a:bodyPr/>
                    <a:lstStyle/>
                    <a:p>
                      <a:r>
                        <a:rPr sz="1150">
                          <a:solidFill>
                            <a:srgbClr val="1F2328"/>
                          </a:solidFill>
                          <a:latin typeface="Calibri"/>
                        </a:rPr>
                        <a:t>Imports API (POST /groups/{id}/imports); New-PowerBIReport / Get-PowerBIReport -OutFile.</a:t>
                      </a:r>
                    </a:p>
                  </a:txBody>
                  <a:tcPr>
                    <a:solidFill>
                      <a:srgbClr val="F6F8FC"/>
                    </a:solidFill>
                  </a:tcPr>
                </a:tc>
                <a:tc>
                  <a:txBody>
                    <a:bodyPr/>
                    <a:lstStyle/>
                    <a:p>
                      <a:r>
                        <a:rPr sz="1150">
                          <a:solidFill>
                            <a:srgbClr val="1F2328"/>
                          </a:solidFill>
                          <a:latin typeface="Calibri"/>
                        </a:rPr>
                        <a:t>Publish a PBIP-generated PBIX and pull artifacts for backup.</a:t>
                      </a:r>
                    </a:p>
                  </a:txBody>
                  <a:tcPr>
                    <a:solidFill>
                      <a:srgbClr val="F6F8FC"/>
                    </a:solidFill>
                  </a:tcPr>
                </a:tc>
              </a:tr>
              <a:tr h="666205">
                <a:tc>
                  <a:txBody>
                    <a:bodyPr/>
                    <a:lstStyle/>
                    <a:p>
                      <a:r>
                        <a:rPr sz="1150">
                          <a:solidFill>
                            <a:srgbClr val="1F2328"/>
                          </a:solidFill>
                          <a:latin typeface="Calibri"/>
                        </a:rPr>
                        <a:t>Refresh</a:t>
                      </a:r>
                    </a:p>
                  </a:txBody>
                  <a:tcPr>
                    <a:solidFill>
                      <a:srgbClr val="FFFFFF"/>
                    </a:solidFill>
                  </a:tcPr>
                </a:tc>
                <a:tc>
                  <a:txBody>
                    <a:bodyPr/>
                    <a:lstStyle/>
                    <a:p>
                      <a:r>
                        <a:rPr sz="1150">
                          <a:solidFill>
                            <a:srgbClr val="1F2328"/>
                          </a:solidFill>
                          <a:latin typeface="Calibri"/>
                        </a:rPr>
                        <a:t>Datasets Refreshes API; Invoke-PowerBIRestMethod against /datasets/{id}/refreshes.</a:t>
                      </a:r>
                    </a:p>
                  </a:txBody>
                  <a:tcPr>
                    <a:solidFill>
                      <a:srgbClr val="FFFFFF"/>
                    </a:solidFill>
                  </a:tcPr>
                </a:tc>
                <a:tc>
                  <a:txBody>
                    <a:bodyPr/>
                    <a:lstStyle/>
                    <a:p>
                      <a:r>
                        <a:rPr sz="1150">
                          <a:solidFill>
                            <a:srgbClr val="1F2328"/>
                          </a:solidFill>
                          <a:latin typeface="Calibri"/>
                        </a:rPr>
                        <a:t>Trigger and monitor dataset refresh from a pipeline.</a:t>
                      </a:r>
                    </a:p>
                  </a:txBody>
                  <a:tcPr>
                    <a:solidFill>
                      <a:srgbClr val="FFFFFF"/>
                    </a:solidFill>
                  </a:tcPr>
                </a:tc>
              </a:tr>
              <a:tr h="666205">
                <a:tc>
                  <a:txBody>
                    <a:bodyPr/>
                    <a:lstStyle/>
                    <a:p>
                      <a:r>
                        <a:rPr sz="1150">
                          <a:solidFill>
                            <a:srgbClr val="1F2328"/>
                          </a:solidFill>
                          <a:latin typeface="Calibri"/>
                        </a:rPr>
                        <a:t>Permissions</a:t>
                      </a:r>
                    </a:p>
                  </a:txBody>
                  <a:tcPr>
                    <a:solidFill>
                      <a:srgbClr val="F6F8FC"/>
                    </a:solidFill>
                  </a:tcPr>
                </a:tc>
                <a:tc>
                  <a:txBody>
                    <a:bodyPr/>
                    <a:lstStyle/>
                    <a:p>
                      <a:r>
                        <a:rPr sz="1150">
                          <a:solidFill>
                            <a:srgbClr val="1F2328"/>
                          </a:solidFill>
                          <a:latin typeface="Calibri"/>
                        </a:rPr>
                        <a:t>Users API; Add-PowerBIWorkspaceUser; Add-PowerBIDataset..Permission.</a:t>
                      </a:r>
                    </a:p>
                  </a:txBody>
                  <a:tcPr>
                    <a:solidFill>
                      <a:srgbClr val="F6F8FC"/>
                    </a:solidFill>
                  </a:tcPr>
                </a:tc>
                <a:tc>
                  <a:txBody>
                    <a:bodyPr/>
                    <a:lstStyle/>
                    <a:p>
                      <a:r>
                        <a:rPr sz="1150">
                          <a:solidFill>
                            <a:srgbClr val="1F2328"/>
                          </a:solidFill>
                          <a:latin typeface="Calibri"/>
                        </a:rPr>
                        <a:t>Manage workspace and content access as code, not clicks.</a:t>
                      </a:r>
                    </a:p>
                  </a:txBody>
                  <a:tcPr>
                    <a:solidFill>
                      <a:srgbClr val="F6F8FC"/>
                    </a:solidFill>
                  </a:tcPr>
                </a:tc>
              </a:tr>
              <a:tr h="666205">
                <a:tc>
                  <a:txBody>
                    <a:bodyPr/>
                    <a:lstStyle/>
                    <a:p>
                      <a:r>
                        <a:rPr sz="1150">
                          <a:solidFill>
                            <a:srgbClr val="1F2328"/>
                          </a:solidFill>
                          <a:latin typeface="Calibri"/>
                        </a:rPr>
                        <a:t>Dataset parameters / bindings</a:t>
                      </a:r>
                    </a:p>
                  </a:txBody>
                  <a:tcPr>
                    <a:solidFill>
                      <a:srgbClr val="FFFFFF"/>
                    </a:solidFill>
                  </a:tcPr>
                </a:tc>
                <a:tc>
                  <a:txBody>
                    <a:bodyPr/>
                    <a:lstStyle/>
                    <a:p>
                      <a:r>
                        <a:rPr sz="1150">
                          <a:solidFill>
                            <a:srgbClr val="1F2328"/>
                          </a:solidFill>
                          <a:latin typeface="Calibri"/>
                        </a:rPr>
                        <a:t>UpdateParameters, TakeOver, UpdateDatasources APIs.</a:t>
                      </a:r>
                    </a:p>
                  </a:txBody>
                  <a:tcPr>
                    <a:solidFill>
                      <a:srgbClr val="FFFFFF"/>
                    </a:solidFill>
                  </a:tcPr>
                </a:tc>
                <a:tc>
                  <a:txBody>
                    <a:bodyPr/>
                    <a:lstStyle/>
                    <a:p>
                      <a:r>
                        <a:rPr sz="1150">
                          <a:solidFill>
                            <a:srgbClr val="1F2328"/>
                          </a:solidFill>
                          <a:latin typeface="Calibri"/>
                        </a:rPr>
                        <a:t>Rebind a promoted dataset to the target environment's data source.</a:t>
                      </a:r>
                    </a:p>
                  </a:txBody>
                  <a:tcPr>
                    <a:solidFill>
                      <a:srgbClr val="FFFFFF"/>
                    </a:solidFill>
                  </a:tcPr>
                </a:tc>
              </a:tr>
              <a:tr h="666210">
                <a:tc>
                  <a:txBody>
                    <a:bodyPr/>
                    <a:lstStyle/>
                    <a:p>
                      <a:r>
                        <a:rPr sz="1150">
                          <a:solidFill>
                            <a:srgbClr val="1F2328"/>
                          </a:solidFill>
                          <a:latin typeface="Calibri"/>
                        </a:rPr>
                        <a:t>Endpoint &amp; cloud validation</a:t>
                      </a:r>
                    </a:p>
                  </a:txBody>
                  <a:tcPr>
                    <a:solidFill>
                      <a:srgbClr val="F6F8FC"/>
                    </a:solidFill>
                  </a:tcPr>
                </a:tc>
                <a:tc>
                  <a:txBody>
                    <a:bodyPr/>
                    <a:lstStyle/>
                    <a:p>
                      <a:r>
                        <a:rPr sz="1150">
                          <a:solidFill>
                            <a:srgbClr val="1F2328"/>
                          </a:solidFill>
                          <a:latin typeface="Calibri"/>
                        </a:rPr>
                        <a:t>api.powerbi.com (Commercial) vs api.powerbigov.us (Gov); Connect-PowerBIServiceAccount -Environment.</a:t>
                      </a:r>
                    </a:p>
                  </a:txBody>
                  <a:tcPr>
                    <a:solidFill>
                      <a:srgbClr val="F6F8FC"/>
                    </a:solidFill>
                  </a:tcPr>
                </a:tc>
                <a:tc>
                  <a:txBody>
                    <a:bodyPr/>
                    <a:lstStyle/>
                    <a:p>
                      <a:r>
                        <a:rPr sz="1150">
                          <a:solidFill>
                            <a:srgbClr val="1F2328"/>
                          </a:solidFill>
                          <a:latin typeface="Calibri"/>
                        </a:rPr>
                        <a:t>Point every call at the right sovereign cloud; wrong endpoint = silent failure.</a:t>
                      </a:r>
                    </a:p>
                  </a:txBody>
                  <a:tcPr>
                    <a:solidFill>
                      <a:srgbClr val="F6F8FC"/>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All rows are Verify for Gov — confirm endpoint, permissions, tenant settings, and authentication method before scripting against a Gov tenant.</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07</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Service Principals for Automation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 service principal is an Entra ID app registration that acts as a non-human identity — the correct identity for a CI/CD pipeline or scheduled job to use instead of a personal account.</a:t>
            </a:r>
          </a:p>
          <a:p>
            <a:pPr>
              <a:lnSpc>
                <a:spcPct val="105000"/>
              </a:lnSpc>
              <a:spcAft>
                <a:spcPts val="1000"/>
              </a:spcAft>
              <a:buClr>
                <a:srgbClr val="1E2761"/>
              </a:buClr>
              <a:buFont typeface="Arial"/>
              <a:buChar char="•"/>
            </a:pPr>
            <a:r>
              <a:rPr sz="1450">
                <a:solidFill>
                  <a:srgbClr val="1F2328"/>
                </a:solidFill>
                <a:latin typeface="Calibri"/>
              </a:rPr>
              <a:t>Tenant setting 'Allow service principals to use Power BI APIs' must be enabled and scoped to a specific security group. Without that setting, every REST call fails authorization.</a:t>
            </a:r>
          </a:p>
          <a:p>
            <a:pPr>
              <a:lnSpc>
                <a:spcPct val="105000"/>
              </a:lnSpc>
              <a:spcAft>
                <a:spcPts val="1000"/>
              </a:spcAft>
              <a:buClr>
                <a:srgbClr val="1E2761"/>
              </a:buClr>
              <a:buFont typeface="Arial"/>
              <a:buChar char="•"/>
            </a:pPr>
            <a:r>
              <a:rPr sz="1450">
                <a:solidFill>
                  <a:srgbClr val="1F2328"/>
                </a:solidFill>
                <a:latin typeface="Calibri"/>
              </a:rPr>
              <a:t>Grant workspace access to that security group (Member or Contributor), not to the app itself — group-based access is auditable and easier to rotate.</a:t>
            </a:r>
          </a:p>
          <a:p>
            <a:pPr>
              <a:lnSpc>
                <a:spcPct val="105000"/>
              </a:lnSpc>
              <a:spcAft>
                <a:spcPts val="1000"/>
              </a:spcAft>
              <a:buClr>
                <a:srgbClr val="1E2761"/>
              </a:buClr>
              <a:buFont typeface="Arial"/>
              <a:buChar char="•"/>
            </a:pPr>
            <a:r>
              <a:rPr sz="1450">
                <a:solidFill>
                  <a:srgbClr val="1F2328"/>
                </a:solidFill>
                <a:latin typeface="Calibri"/>
              </a:rPr>
              <a:t>Prefer certificate-based authentication over client secrets; if a secret is used, store it in Azure Key Vault, rotate it on a schedule, and never commit it to git.</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Automation that runs as a person breaks the moment that person leaves, changes roles, has MFA enforced, or has their session expire — all of which happen routinely. Service principals are the only durable answer.</a:t>
            </a:r>
          </a:p>
          <a:p>
            <a:pPr>
              <a:lnSpc>
                <a:spcPct val="105000"/>
              </a:lnSpc>
              <a:spcAft>
                <a:spcPts val="1000"/>
              </a:spcAft>
              <a:buClr>
                <a:srgbClr val="E8B44A"/>
              </a:buClr>
              <a:buFont typeface="Arial"/>
              <a:buChar char="•"/>
            </a:pPr>
            <a:r>
              <a:rPr sz="1450">
                <a:solidFill>
                  <a:srgbClr val="1F2328"/>
                </a:solidFill>
                <a:latin typeface="Calibri"/>
              </a:rPr>
              <a:t>Group-based workspace access is how a security team can rotate credentials or revoke pipeline access without ripping the pipeline apart — the app changes, the group membership doesn't.</a:t>
            </a:r>
          </a:p>
          <a:p>
            <a:pPr>
              <a:lnSpc>
                <a:spcPct val="105000"/>
              </a:lnSpc>
              <a:spcAft>
                <a:spcPts val="1000"/>
              </a:spcAft>
              <a:buClr>
                <a:srgbClr val="E8B44A"/>
              </a:buClr>
              <a:buFont typeface="Arial"/>
              <a:buChar char="•"/>
            </a:pPr>
            <a:r>
              <a:rPr sz="1450">
                <a:solidFill>
                  <a:srgbClr val="1F2328"/>
                </a:solidFill>
                <a:latin typeface="Calibri"/>
              </a:rPr>
              <a:t>In a Gov tenant, service-principal API access is Verify for Gov — tenant setting approval, app registration policy, and workspace access all have to be confirmed before wiring one into a pipeline.</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this is a conceptual walkthrough in Lab 11 (Optional Lab: Service principal authentication) — students review app registration, tenant settings, workspace access, and secret handling requirements without provisioning a real principal.</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56032"/>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08</a:t>
            </a:r>
          </a:p>
        </p:txBody>
      </p:sp>
      <p:sp>
        <p:nvSpPr>
          <p:cNvPr id="5" name="TextBox 4"/>
          <p:cNvSpPr txBox="1"/>
          <p:nvPr/>
        </p:nvSpPr>
        <p:spPr>
          <a:xfrm>
            <a:off x="640080" y="566928"/>
            <a:ext cx="10515600" cy="594360"/>
          </a:xfrm>
          <a:prstGeom prst="rect">
            <a:avLst/>
          </a:prstGeom>
          <a:noFill/>
        </p:spPr>
        <p:txBody>
          <a:bodyPr wrap="square" anchor="t" lIns="0" rIns="0" tIns="0" bIns="0">
            <a:spAutoFit/>
          </a:bodyPr>
          <a:lstStyle/>
          <a:p>
            <a:pPr algn="l">
              <a:lnSpc>
                <a:spcPct val="100000"/>
              </a:lnSpc>
              <a:spcAft>
                <a:spcPts val="0"/>
              </a:spcAft>
            </a:pPr>
            <a:r>
              <a:rPr sz="2700" b="1" i="0">
                <a:solidFill>
                  <a:srgbClr val="FFFFFF"/>
                </a:solidFill>
                <a:latin typeface="Cambria"/>
              </a:rPr>
              <a:t>Fabric Workspace Git Integration</a:t>
            </a:r>
          </a:p>
        </p:txBody>
      </p:sp>
      <p:sp>
        <p:nvSpPr>
          <p:cNvPr id="6" name="Rectangle 5"/>
          <p:cNvSpPr/>
          <p:nvPr/>
        </p:nvSpPr>
        <p:spPr>
          <a:xfrm>
            <a:off x="640080" y="1600200"/>
            <a:ext cx="5074920" cy="4572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141B45"/>
                </a:solidFill>
                <a:latin typeface="Calibri"/>
              </a:rPr>
              <a:t>What &amp; how</a:t>
            </a:r>
          </a:p>
        </p:txBody>
      </p:sp>
      <p:sp>
        <p:nvSpPr>
          <p:cNvPr id="8" name="TextBox 7"/>
          <p:cNvSpPr txBox="1"/>
          <p:nvPr/>
        </p:nvSpPr>
        <p:spPr>
          <a:xfrm>
            <a:off x="685800" y="2194560"/>
            <a:ext cx="4983480" cy="4206240"/>
          </a:xfrm>
          <a:prstGeom prst="rect">
            <a:avLst/>
          </a:prstGeom>
          <a:noFill/>
        </p:spPr>
        <p:txBody>
          <a:bodyPr wrap="square" lIns="0" rIns="0" tIns="0" bIns="0">
            <a:spAutoFit/>
          </a:bodyPr>
          <a:lstStyle/>
          <a:p>
            <a:pPr>
              <a:lnSpc>
                <a:spcPct val="105000"/>
              </a:lnSpc>
              <a:spcAft>
                <a:spcPts val="1000"/>
              </a:spcAft>
              <a:buClr>
                <a:srgbClr val="1E2761"/>
              </a:buClr>
              <a:buFont typeface="Arial"/>
              <a:buChar char="•"/>
            </a:pPr>
            <a:r>
              <a:rPr sz="1450">
                <a:solidFill>
                  <a:srgbClr val="1F2328"/>
                </a:solidFill>
                <a:latin typeface="Calibri"/>
              </a:rPr>
              <a:t>A Fabric workspace can connect directly to a git branch and folder — workspace items sync bidirectionally with the repo instead of being published from Desktop.</a:t>
            </a:r>
          </a:p>
          <a:p>
            <a:pPr>
              <a:lnSpc>
                <a:spcPct val="105000"/>
              </a:lnSpc>
              <a:spcAft>
                <a:spcPts val="1000"/>
              </a:spcAft>
              <a:buClr>
                <a:srgbClr val="1E2761"/>
              </a:buClr>
              <a:buFont typeface="Arial"/>
              <a:buChar char="•"/>
            </a:pPr>
            <a:r>
              <a:rPr sz="1450">
                <a:solidFill>
                  <a:srgbClr val="1F2328"/>
                </a:solidFill>
                <a:latin typeface="Calibri"/>
              </a:rPr>
              <a:t>Sync direction matters: 'Update from Git' pulls repo changes into the workspace, 'Commit to Git' pushes workspace changes back to the branch. Conflicts are resolved item by item, not file by file.</a:t>
            </a:r>
          </a:p>
          <a:p>
            <a:pPr>
              <a:lnSpc>
                <a:spcPct val="105000"/>
              </a:lnSpc>
              <a:spcAft>
                <a:spcPts val="1000"/>
              </a:spcAft>
              <a:buClr>
                <a:srgbClr val="1E2761"/>
              </a:buClr>
              <a:buFont typeface="Arial"/>
              <a:buChar char="•"/>
            </a:pPr>
            <a:r>
              <a:rPr sz="1450">
                <a:solidFill>
                  <a:srgbClr val="1F2328"/>
                </a:solidFill>
                <a:latin typeface="Calibri"/>
              </a:rPr>
              <a:t>Not every Fabric item type is supported — confirm which of your artifacts (semantic models, reports, notebooks, pipelines, lakehouses) round-trip cleanly before relying on it for release management.</a:t>
            </a:r>
          </a:p>
          <a:p>
            <a:pPr>
              <a:lnSpc>
                <a:spcPct val="105000"/>
              </a:lnSpc>
              <a:spcAft>
                <a:spcPts val="1000"/>
              </a:spcAft>
              <a:buClr>
                <a:srgbClr val="1E2761"/>
              </a:buClr>
              <a:buFont typeface="Arial"/>
              <a:buChar char="•"/>
            </a:pPr>
            <a:r>
              <a:rPr sz="1450">
                <a:solidFill>
                  <a:srgbClr val="1F2328"/>
                </a:solidFill>
                <a:latin typeface="Calibri"/>
              </a:rPr>
              <a:t>Commercial-focused / Verify for Gov: this feature is generally available in Commercial but availability, connector support, and identity requirements have to be confirmed in Gov before use.</a:t>
            </a:r>
          </a:p>
        </p:txBody>
      </p:sp>
      <p:sp>
        <p:nvSpPr>
          <p:cNvPr id="9" name="Rectangle 8"/>
          <p:cNvSpPr/>
          <p:nvPr/>
        </p:nvSpPr>
        <p:spPr>
          <a:xfrm>
            <a:off x="6126480" y="1600200"/>
            <a:ext cx="5074920" cy="4572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600200"/>
            <a:ext cx="4709160" cy="457200"/>
          </a:xfrm>
          <a:prstGeom prst="rect">
            <a:avLst/>
          </a:prstGeom>
          <a:noFill/>
        </p:spPr>
        <p:txBody>
          <a:bodyPr wrap="square" anchor="ctr" lIns="0" rIns="0" tIns="0" bIns="0">
            <a:spAutoFit/>
          </a:bodyPr>
          <a:lstStyle/>
          <a:p>
            <a:pPr algn="l">
              <a:lnSpc>
                <a:spcPct val="100000"/>
              </a:lnSpc>
              <a:spcAft>
                <a:spcPts val="0"/>
              </a:spcAft>
            </a:pPr>
            <a:r>
              <a:rPr sz="1500" b="1" i="0">
                <a:solidFill>
                  <a:srgbClr val="FFFFFF"/>
                </a:solidFill>
                <a:latin typeface="Calibri"/>
              </a:rPr>
              <a:t>Why it matters</a:t>
            </a:r>
          </a:p>
        </p:txBody>
      </p:sp>
      <p:sp>
        <p:nvSpPr>
          <p:cNvPr id="11" name="TextBox 10"/>
          <p:cNvSpPr txBox="1"/>
          <p:nvPr/>
        </p:nvSpPr>
        <p:spPr>
          <a:xfrm>
            <a:off x="6172200" y="2194560"/>
            <a:ext cx="4983480" cy="4206240"/>
          </a:xfrm>
          <a:prstGeom prst="rect">
            <a:avLst/>
          </a:prstGeom>
          <a:noFill/>
        </p:spPr>
        <p:txBody>
          <a:bodyPr wrap="square" lIns="0" rIns="0" tIns="0" bIns="0">
            <a:spAutoFit/>
          </a:bodyPr>
          <a:lstStyle/>
          <a:p>
            <a:pPr>
              <a:lnSpc>
                <a:spcPct val="105000"/>
              </a:lnSpc>
              <a:spcAft>
                <a:spcPts val="1000"/>
              </a:spcAft>
              <a:buClr>
                <a:srgbClr val="E8B44A"/>
              </a:buClr>
              <a:buFont typeface="Arial"/>
              <a:buChar char="•"/>
            </a:pPr>
            <a:r>
              <a:rPr sz="1450">
                <a:solidFill>
                  <a:srgbClr val="1F2328"/>
                </a:solidFill>
                <a:latin typeface="Calibri"/>
              </a:rPr>
              <a:t>Workspace Git integration collapses part of the CI/CD story — the workspace itself becomes an environment tied to a branch, so promotion can be 'merge branch, sync workspace' instead of a bespoke publish script.</a:t>
            </a:r>
          </a:p>
          <a:p>
            <a:pPr>
              <a:lnSpc>
                <a:spcPct val="105000"/>
              </a:lnSpc>
              <a:spcAft>
                <a:spcPts val="1000"/>
              </a:spcAft>
              <a:buClr>
                <a:srgbClr val="E8B44A"/>
              </a:buClr>
              <a:buFont typeface="Arial"/>
              <a:buChar char="•"/>
            </a:pPr>
            <a:r>
              <a:rPr sz="1450">
                <a:solidFill>
                  <a:srgbClr val="1F2328"/>
                </a:solidFill>
                <a:latin typeface="Calibri"/>
              </a:rPr>
              <a:t>It also changes where the source of record lives during authoring: Fabric items authored in-workspace can be committed to git without ever passing through a PBIP on someone's desktop.</a:t>
            </a:r>
          </a:p>
          <a:p>
            <a:pPr>
              <a:lnSpc>
                <a:spcPct val="105000"/>
              </a:lnSpc>
              <a:spcAft>
                <a:spcPts val="1000"/>
              </a:spcAft>
              <a:buClr>
                <a:srgbClr val="E8B44A"/>
              </a:buClr>
              <a:buFont typeface="Arial"/>
              <a:buChar char="•"/>
            </a:pPr>
            <a:r>
              <a:rPr sz="1450">
                <a:solidFill>
                  <a:srgbClr val="1F2328"/>
                </a:solidFill>
                <a:latin typeface="Calibri"/>
              </a:rPr>
              <a:t>Because behavior differs between Commercial and Gov, treat it as an optional commercial-enhanced path in this workshop, not a required capability.</a:t>
            </a:r>
          </a:p>
        </p:txBody>
      </p:sp>
      <p:sp>
        <p:nvSpPr>
          <p:cNvPr id="12" name="Rectangle 11"/>
          <p:cNvSpPr/>
          <p:nvPr/>
        </p:nvSpPr>
        <p:spPr>
          <a:xfrm>
            <a:off x="0" y="6172200"/>
            <a:ext cx="12191695" cy="6858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281928"/>
            <a:ext cx="10881360" cy="50292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Lab connection: Optional commercial lab — Fabric workspace Git integration is walked through conceptually (connect workspace, select branch/folder, review sync status) unless the classroom tenant is validated for it.</a:t>
            </a:r>
          </a:p>
        </p:txBody>
      </p:sp>
      <p:sp>
        <p:nvSpPr>
          <p:cNvPr id="14" name="TextBox 13"/>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09</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Azure DevOps Conceptual Pipeline</a:t>
            </a:r>
          </a:p>
        </p:txBody>
      </p:sp>
      <p:sp>
        <p:nvSpPr>
          <p:cNvPr id="6" name="Rectangle 5"/>
          <p:cNvSpPr/>
          <p:nvPr/>
        </p:nvSpPr>
        <p:spPr>
          <a:xfrm>
            <a:off x="63230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30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1</a:t>
            </a:r>
          </a:p>
        </p:txBody>
      </p:sp>
      <p:sp>
        <p:nvSpPr>
          <p:cNvPr id="8" name="TextBox 7"/>
          <p:cNvSpPr txBox="1"/>
          <p:nvPr/>
        </p:nvSpPr>
        <p:spPr>
          <a:xfrm>
            <a:off x="72374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Validate</a:t>
            </a:r>
          </a:p>
        </p:txBody>
      </p:sp>
      <p:sp>
        <p:nvSpPr>
          <p:cNvPr id="9" name="Rectangle 8"/>
          <p:cNvSpPr/>
          <p:nvPr/>
        </p:nvSpPr>
        <p:spPr>
          <a:xfrm>
            <a:off x="63230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03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Lint PBIP folder structure. Run Tabular Editor Best Practice Analyzer against TMDL. Fail on high-severity rule violations.</a:t>
            </a:r>
          </a:p>
        </p:txBody>
      </p:sp>
      <p:sp>
        <p:nvSpPr>
          <p:cNvPr id="11" name="Right Arrow 10"/>
          <p:cNvSpPr/>
          <p:nvPr/>
        </p:nvSpPr>
        <p:spPr>
          <a:xfrm>
            <a:off x="259826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7258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258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2</a:t>
            </a:r>
          </a:p>
        </p:txBody>
      </p:sp>
      <p:sp>
        <p:nvSpPr>
          <p:cNvPr id="14" name="TextBox 13"/>
          <p:cNvSpPr txBox="1"/>
          <p:nvPr/>
        </p:nvSpPr>
        <p:spPr>
          <a:xfrm>
            <a:off x="296402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Package</a:t>
            </a:r>
          </a:p>
        </p:txBody>
      </p:sp>
      <p:sp>
        <p:nvSpPr>
          <p:cNvPr id="15" name="Rectangle 14"/>
          <p:cNvSpPr/>
          <p:nvPr/>
        </p:nvSpPr>
        <p:spPr>
          <a:xfrm>
            <a:off x="287258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231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Generate PBIX from PBIP if the target requires it. Capture build metadata (commit SHA, tag, build number).</a:t>
            </a:r>
          </a:p>
        </p:txBody>
      </p:sp>
      <p:sp>
        <p:nvSpPr>
          <p:cNvPr id="17" name="Right Arrow 16"/>
          <p:cNvSpPr/>
          <p:nvPr/>
        </p:nvSpPr>
        <p:spPr>
          <a:xfrm>
            <a:off x="483854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1286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1286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3</a:t>
            </a:r>
          </a:p>
        </p:txBody>
      </p:sp>
      <p:sp>
        <p:nvSpPr>
          <p:cNvPr id="20" name="TextBox 19"/>
          <p:cNvSpPr txBox="1"/>
          <p:nvPr/>
        </p:nvSpPr>
        <p:spPr>
          <a:xfrm>
            <a:off x="520430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Deploy</a:t>
            </a:r>
          </a:p>
        </p:txBody>
      </p:sp>
      <p:sp>
        <p:nvSpPr>
          <p:cNvPr id="21" name="Rectangle 20"/>
          <p:cNvSpPr/>
          <p:nvPr/>
        </p:nvSpPr>
        <p:spPr>
          <a:xfrm>
            <a:off x="511286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259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Authenticate as service principal. Call Power BI REST Imports API to publish to target workspace.</a:t>
            </a:r>
          </a:p>
        </p:txBody>
      </p:sp>
      <p:sp>
        <p:nvSpPr>
          <p:cNvPr id="23" name="Right Arrow 22"/>
          <p:cNvSpPr/>
          <p:nvPr/>
        </p:nvSpPr>
        <p:spPr>
          <a:xfrm>
            <a:off x="707882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314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5314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4</a:t>
            </a:r>
          </a:p>
        </p:txBody>
      </p:sp>
      <p:sp>
        <p:nvSpPr>
          <p:cNvPr id="26" name="TextBox 25"/>
          <p:cNvSpPr txBox="1"/>
          <p:nvPr/>
        </p:nvSpPr>
        <p:spPr>
          <a:xfrm>
            <a:off x="744458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Configure</a:t>
            </a:r>
          </a:p>
        </p:txBody>
      </p:sp>
      <p:sp>
        <p:nvSpPr>
          <p:cNvPr id="27" name="Rectangle 26"/>
          <p:cNvSpPr/>
          <p:nvPr/>
        </p:nvSpPr>
        <p:spPr>
          <a:xfrm>
            <a:off x="735314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6287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UpdateParameters and UpdateDatasources to bind to the target environment. Set RLS role members. Enable schedule.</a:t>
            </a:r>
          </a:p>
        </p:txBody>
      </p:sp>
      <p:sp>
        <p:nvSpPr>
          <p:cNvPr id="29" name="Right Arrow 28"/>
          <p:cNvSpPr/>
          <p:nvPr/>
        </p:nvSpPr>
        <p:spPr>
          <a:xfrm>
            <a:off x="931910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9342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342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5</a:t>
            </a:r>
          </a:p>
        </p:txBody>
      </p:sp>
      <p:sp>
        <p:nvSpPr>
          <p:cNvPr id="32" name="TextBox 31"/>
          <p:cNvSpPr txBox="1"/>
          <p:nvPr/>
        </p:nvSpPr>
        <p:spPr>
          <a:xfrm>
            <a:off x="968486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Smoke test</a:t>
            </a:r>
          </a:p>
        </p:txBody>
      </p:sp>
      <p:sp>
        <p:nvSpPr>
          <p:cNvPr id="33" name="Rectangle 32"/>
          <p:cNvSpPr/>
          <p:nvPr/>
        </p:nvSpPr>
        <p:spPr>
          <a:xfrm>
            <a:off x="959342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0315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Trigger refresh, poll status, run a canary DAX query. Publish evidence artifact and tag the commit on success.</a:t>
            </a:r>
          </a:p>
        </p:txBody>
      </p:sp>
      <p:sp>
        <p:nvSpPr>
          <p:cNvPr id="35" name="TextBox 34"/>
          <p:cNvSpPr txBox="1"/>
          <p:nvPr/>
        </p:nvSpPr>
        <p:spPr>
          <a:xfrm>
            <a:off x="640080" y="6172200"/>
            <a:ext cx="10881360" cy="54864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Verify for Gov: network path to api.powerbigov.us, service-principal tenant settings, agent identity, and customer policy all validated before enabling.</a:t>
            </a:r>
          </a:p>
        </p:txBody>
      </p:sp>
      <p:sp>
        <p:nvSpPr>
          <p:cNvPr id="36" name="TextBox 35"/>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10</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GitHub Actions Conceptual Pipeline</a:t>
            </a:r>
          </a:p>
        </p:txBody>
      </p:sp>
      <p:sp>
        <p:nvSpPr>
          <p:cNvPr id="6" name="Rectangle 5"/>
          <p:cNvSpPr/>
          <p:nvPr/>
        </p:nvSpPr>
        <p:spPr>
          <a:xfrm>
            <a:off x="63230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230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1</a:t>
            </a:r>
          </a:p>
        </p:txBody>
      </p:sp>
      <p:sp>
        <p:nvSpPr>
          <p:cNvPr id="8" name="TextBox 7"/>
          <p:cNvSpPr txBox="1"/>
          <p:nvPr/>
        </p:nvSpPr>
        <p:spPr>
          <a:xfrm>
            <a:off x="72374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Trigger</a:t>
            </a:r>
          </a:p>
        </p:txBody>
      </p:sp>
      <p:sp>
        <p:nvSpPr>
          <p:cNvPr id="9" name="Rectangle 8"/>
          <p:cNvSpPr/>
          <p:nvPr/>
        </p:nvSpPr>
        <p:spPr>
          <a:xfrm>
            <a:off x="63230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203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workflow on: push to main / pull_request / tag. Path filters scope runs to PBIP folders only.</a:t>
            </a:r>
          </a:p>
        </p:txBody>
      </p:sp>
      <p:sp>
        <p:nvSpPr>
          <p:cNvPr id="11" name="Right Arrow 10"/>
          <p:cNvSpPr/>
          <p:nvPr/>
        </p:nvSpPr>
        <p:spPr>
          <a:xfrm>
            <a:off x="259826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7258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7258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2</a:t>
            </a:r>
          </a:p>
        </p:txBody>
      </p:sp>
      <p:sp>
        <p:nvSpPr>
          <p:cNvPr id="14" name="TextBox 13"/>
          <p:cNvSpPr txBox="1"/>
          <p:nvPr/>
        </p:nvSpPr>
        <p:spPr>
          <a:xfrm>
            <a:off x="296402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Validate</a:t>
            </a:r>
          </a:p>
        </p:txBody>
      </p:sp>
      <p:sp>
        <p:nvSpPr>
          <p:cNvPr id="15" name="Rectangle 14"/>
          <p:cNvSpPr/>
          <p:nvPr/>
        </p:nvSpPr>
        <p:spPr>
          <a:xfrm>
            <a:off x="287258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231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actions/checkout + PBIP structural checks + BPA rules run against TMDL. Fail fast on high-severity findings.</a:t>
            </a:r>
          </a:p>
        </p:txBody>
      </p:sp>
      <p:sp>
        <p:nvSpPr>
          <p:cNvPr id="17" name="Right Arrow 16"/>
          <p:cNvSpPr/>
          <p:nvPr/>
        </p:nvSpPr>
        <p:spPr>
          <a:xfrm>
            <a:off x="483854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1286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1286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3</a:t>
            </a:r>
          </a:p>
        </p:txBody>
      </p:sp>
      <p:sp>
        <p:nvSpPr>
          <p:cNvPr id="20" name="TextBox 19"/>
          <p:cNvSpPr txBox="1"/>
          <p:nvPr/>
        </p:nvSpPr>
        <p:spPr>
          <a:xfrm>
            <a:off x="520430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Authenticate</a:t>
            </a:r>
          </a:p>
        </p:txBody>
      </p:sp>
      <p:sp>
        <p:nvSpPr>
          <p:cNvPr id="21" name="Rectangle 20"/>
          <p:cNvSpPr/>
          <p:nvPr/>
        </p:nvSpPr>
        <p:spPr>
          <a:xfrm>
            <a:off x="511286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2259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OIDC federation to Entra ID (preferred) or a scoped service-principal secret from GitHub Encrypted Secrets.</a:t>
            </a:r>
          </a:p>
        </p:txBody>
      </p:sp>
      <p:sp>
        <p:nvSpPr>
          <p:cNvPr id="23" name="Right Arrow 22"/>
          <p:cNvSpPr/>
          <p:nvPr/>
        </p:nvSpPr>
        <p:spPr>
          <a:xfrm>
            <a:off x="707882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5314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5314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4</a:t>
            </a:r>
          </a:p>
        </p:txBody>
      </p:sp>
      <p:sp>
        <p:nvSpPr>
          <p:cNvPr id="26" name="TextBox 25"/>
          <p:cNvSpPr txBox="1"/>
          <p:nvPr/>
        </p:nvSpPr>
        <p:spPr>
          <a:xfrm>
            <a:off x="744458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Deploy</a:t>
            </a:r>
          </a:p>
        </p:txBody>
      </p:sp>
      <p:sp>
        <p:nvSpPr>
          <p:cNvPr id="27" name="Rectangle 26"/>
          <p:cNvSpPr/>
          <p:nvPr/>
        </p:nvSpPr>
        <p:spPr>
          <a:xfrm>
            <a:off x="735314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6287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Call Power BI REST Imports API against the correct cloud endpoint. Update parameters and data source bindings.</a:t>
            </a:r>
          </a:p>
        </p:txBody>
      </p:sp>
      <p:sp>
        <p:nvSpPr>
          <p:cNvPr id="29" name="Right Arrow 28"/>
          <p:cNvSpPr/>
          <p:nvPr/>
        </p:nvSpPr>
        <p:spPr>
          <a:xfrm>
            <a:off x="9319107" y="2610612"/>
            <a:ext cx="274320" cy="310896"/>
          </a:xfrm>
          <a:prstGeom prst="rightArrow">
            <a:avLst/>
          </a:prstGeom>
          <a:solidFill>
            <a:srgbClr val="E8B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93427" y="2148840"/>
            <a:ext cx="196596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3427" y="2240280"/>
            <a:ext cx="1965960" cy="365760"/>
          </a:xfrm>
          <a:prstGeom prst="rect">
            <a:avLst/>
          </a:prstGeom>
          <a:noFill/>
        </p:spPr>
        <p:txBody>
          <a:bodyPr wrap="square" anchor="t" lIns="0" rIns="0" tIns="0" bIns="0">
            <a:spAutoFit/>
          </a:bodyPr>
          <a:lstStyle/>
          <a:p>
            <a:pPr algn="ctr">
              <a:lnSpc>
                <a:spcPct val="100000"/>
              </a:lnSpc>
              <a:spcAft>
                <a:spcPts val="0"/>
              </a:spcAft>
            </a:pPr>
            <a:r>
              <a:rPr sz="1100" b="1" i="0">
                <a:solidFill>
                  <a:srgbClr val="E8B44A"/>
                </a:solidFill>
                <a:latin typeface="Calibri"/>
              </a:rPr>
              <a:t>STAGE 5</a:t>
            </a:r>
          </a:p>
        </p:txBody>
      </p:sp>
      <p:sp>
        <p:nvSpPr>
          <p:cNvPr id="32" name="TextBox 31"/>
          <p:cNvSpPr txBox="1"/>
          <p:nvPr/>
        </p:nvSpPr>
        <p:spPr>
          <a:xfrm>
            <a:off x="9684867" y="2606040"/>
            <a:ext cx="1783080" cy="777240"/>
          </a:xfrm>
          <a:prstGeom prst="rect">
            <a:avLst/>
          </a:prstGeom>
          <a:noFill/>
        </p:spPr>
        <p:txBody>
          <a:bodyPr wrap="square" anchor="ctr" lIns="0" rIns="0" tIns="0" bIns="0">
            <a:spAutoFit/>
          </a:bodyPr>
          <a:lstStyle/>
          <a:p>
            <a:pPr algn="ctr">
              <a:lnSpc>
                <a:spcPct val="100000"/>
              </a:lnSpc>
              <a:spcAft>
                <a:spcPts val="0"/>
              </a:spcAft>
            </a:pPr>
            <a:r>
              <a:rPr sz="1500" b="1" i="0">
                <a:solidFill>
                  <a:srgbClr val="FFFFFF"/>
                </a:solidFill>
                <a:latin typeface="Cambria"/>
              </a:rPr>
              <a:t>Record evidence</a:t>
            </a:r>
          </a:p>
        </p:txBody>
      </p:sp>
      <p:sp>
        <p:nvSpPr>
          <p:cNvPr id="33" name="Rectangle 32"/>
          <p:cNvSpPr/>
          <p:nvPr/>
        </p:nvSpPr>
        <p:spPr>
          <a:xfrm>
            <a:off x="9593427" y="3611880"/>
            <a:ext cx="1965960" cy="2011680"/>
          </a:xfrm>
          <a:prstGeom prst="rect">
            <a:avLst/>
          </a:prstGeom>
          <a:solidFill>
            <a:srgbClr val="F6F8FC"/>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03155" y="3703320"/>
            <a:ext cx="1746504" cy="1828800"/>
          </a:xfrm>
          <a:prstGeom prst="rect">
            <a:avLst/>
          </a:prstGeom>
          <a:noFill/>
        </p:spPr>
        <p:txBody>
          <a:bodyPr wrap="square" anchor="t" lIns="0" rIns="0" tIns="0" bIns="0">
            <a:spAutoFit/>
          </a:bodyPr>
          <a:lstStyle/>
          <a:p>
            <a:pPr algn="l">
              <a:lnSpc>
                <a:spcPct val="115000"/>
              </a:lnSpc>
              <a:spcAft>
                <a:spcPts val="0"/>
              </a:spcAft>
            </a:pPr>
            <a:r>
              <a:rPr sz="1150" b="0" i="0">
                <a:solidFill>
                  <a:srgbClr val="1F2328"/>
                </a:solidFill>
                <a:latin typeface="Calibri"/>
              </a:rPr>
              <a:t>Trigger and poll refresh. Upload logs and refresh history as workflow artifacts. Create annotated release on success.</a:t>
            </a:r>
          </a:p>
        </p:txBody>
      </p:sp>
      <p:sp>
        <p:nvSpPr>
          <p:cNvPr id="35" name="TextBox 34"/>
          <p:cNvSpPr txBox="1"/>
          <p:nvPr/>
        </p:nvSpPr>
        <p:spPr>
          <a:xfrm>
            <a:off x="640080" y="6172200"/>
            <a:ext cx="10881360" cy="54864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Verify for Gov: hosted runner egress to api.powerbigov.us, OIDC federation, identity provider trust, and customer policy for GitHub availability all validated before enabling.</a:t>
            </a:r>
          </a:p>
        </p:txBody>
      </p:sp>
      <p:sp>
        <p:nvSpPr>
          <p:cNvPr id="36" name="TextBox 35"/>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463040" cy="365760"/>
          </a:xfrm>
          <a:prstGeom prst="rect">
            <a:avLst/>
          </a:prstGeom>
          <a:noFill/>
        </p:spPr>
        <p:txBody>
          <a:bodyPr wrap="square" anchor="t" lIns="0" rIns="0" tIns="0" bIns="0">
            <a:spAutoFit/>
          </a:bodyPr>
          <a:lstStyle/>
          <a:p>
            <a:pPr algn="l">
              <a:lnSpc>
                <a:spcPct val="100000"/>
              </a:lnSpc>
              <a:spcAft>
                <a:spcPts val="0"/>
              </a:spcAft>
            </a:pPr>
            <a:r>
              <a:rPr sz="1300" b="1" i="0">
                <a:solidFill>
                  <a:srgbClr val="E8B44A"/>
                </a:solidFill>
                <a:latin typeface="Calibri"/>
              </a:rPr>
              <a:t>TOPIC 11</a:t>
            </a:r>
          </a:p>
        </p:txBody>
      </p:sp>
      <p:sp>
        <p:nvSpPr>
          <p:cNvPr id="5" name="TextBox 4"/>
          <p:cNvSpPr txBox="1"/>
          <p:nvPr/>
        </p:nvSpPr>
        <p:spPr>
          <a:xfrm>
            <a:off x="640080" y="475488"/>
            <a:ext cx="10515600" cy="502920"/>
          </a:xfrm>
          <a:prstGeom prst="rect">
            <a:avLst/>
          </a:prstGeom>
          <a:noFill/>
        </p:spPr>
        <p:txBody>
          <a:bodyPr wrap="square" anchor="t" lIns="0" rIns="0" tIns="0" bIns="0">
            <a:spAutoFit/>
          </a:bodyPr>
          <a:lstStyle/>
          <a:p>
            <a:pPr algn="l">
              <a:lnSpc>
                <a:spcPct val="100000"/>
              </a:lnSpc>
              <a:spcAft>
                <a:spcPts val="0"/>
              </a:spcAft>
            </a:pPr>
            <a:r>
              <a:rPr sz="2400" b="1" i="0">
                <a:solidFill>
                  <a:srgbClr val="FFFFFF"/>
                </a:solidFill>
                <a:latin typeface="Cambria"/>
              </a:rPr>
              <a:t>Azure Government Considerations</a:t>
            </a:r>
          </a:p>
        </p:txBody>
      </p:sp>
      <p:graphicFrame>
        <p:nvGraphicFramePr>
          <p:cNvPr id="6" name="Table 5"/>
          <p:cNvGraphicFramePr>
            <a:graphicFrameLocks noGrp="1"/>
          </p:cNvGraphicFramePr>
          <p:nvPr/>
        </p:nvGraphicFramePr>
        <p:xfrm>
          <a:off x="640080" y="1325880"/>
          <a:ext cx="10881359" cy="4663440"/>
        </p:xfrm>
        <a:graphic>
          <a:graphicData uri="http://schemas.openxmlformats.org/drawingml/2006/table">
            <a:tbl>
              <a:tblPr firstRow="1" bandRow="1">
                <a:tableStyleId>{5C22544A-7EE6-4342-B048-85BDC9FD1C3A}</a:tableStyleId>
              </a:tblPr>
              <a:tblGrid>
                <a:gridCol w="2286000"/>
                <a:gridCol w="5212079"/>
                <a:gridCol w="3383280"/>
              </a:tblGrid>
              <a:tr h="777240">
                <a:tc>
                  <a:txBody>
                    <a:bodyPr/>
                    <a:lstStyle/>
                    <a:p>
                      <a:pPr algn="l"/>
                      <a:r>
                        <a:rPr b="1" sz="1250">
                          <a:solidFill>
                            <a:srgbClr val="FFFFFF"/>
                          </a:solidFill>
                          <a:latin typeface="Calibri"/>
                        </a:rPr>
                        <a:t>Area</a:t>
                      </a:r>
                    </a:p>
                  </a:txBody>
                  <a:tcPr>
                    <a:solidFill>
                      <a:srgbClr val="1E2761"/>
                    </a:solidFill>
                  </a:tcPr>
                </a:tc>
                <a:tc>
                  <a:txBody>
                    <a:bodyPr/>
                    <a:lstStyle/>
                    <a:p>
                      <a:pPr algn="l"/>
                      <a:r>
                        <a:rPr b="1" sz="1250">
                          <a:solidFill>
                            <a:srgbClr val="FFFFFF"/>
                          </a:solidFill>
                          <a:latin typeface="Calibri"/>
                        </a:rPr>
                        <a:t>What to validate</a:t>
                      </a:r>
                    </a:p>
                  </a:txBody>
                  <a:tcPr>
                    <a:solidFill>
                      <a:srgbClr val="1E2761"/>
                    </a:solidFill>
                  </a:tcPr>
                </a:tc>
                <a:tc>
                  <a:txBody>
                    <a:bodyPr/>
                    <a:lstStyle/>
                    <a:p>
                      <a:pPr algn="l"/>
                      <a:r>
                        <a:rPr b="1" sz="1250">
                          <a:solidFill>
                            <a:srgbClr val="FFFFFF"/>
                          </a:solidFill>
                          <a:latin typeface="Calibri"/>
                        </a:rPr>
                        <a:t>Why it matters</a:t>
                      </a:r>
                    </a:p>
                  </a:txBody>
                  <a:tcPr>
                    <a:solidFill>
                      <a:srgbClr val="1E2761"/>
                    </a:solidFill>
                  </a:tcPr>
                </a:tc>
              </a:tr>
              <a:tr h="777240">
                <a:tc>
                  <a:txBody>
                    <a:bodyPr/>
                    <a:lstStyle/>
                    <a:p>
                      <a:r>
                        <a:rPr sz="1150">
                          <a:solidFill>
                            <a:srgbClr val="1F2328"/>
                          </a:solidFill>
                          <a:latin typeface="Calibri"/>
                        </a:rPr>
                        <a:t>Endpoints</a:t>
                      </a:r>
                    </a:p>
                  </a:txBody>
                  <a:tcPr>
                    <a:solidFill>
                      <a:srgbClr val="FFFFFF"/>
                    </a:solidFill>
                  </a:tcPr>
                </a:tc>
                <a:tc>
                  <a:txBody>
                    <a:bodyPr/>
                    <a:lstStyle/>
                    <a:p>
                      <a:r>
                        <a:rPr sz="1150">
                          <a:solidFill>
                            <a:srgbClr val="1F2328"/>
                          </a:solidFill>
                          <a:latin typeface="Calibri"/>
                        </a:rPr>
                        <a:t>api.powerbigov.us for Power BI APIs; login.microsoftonline.us for identity; correct sovereign endpoints for every dependency.</a:t>
                      </a:r>
                    </a:p>
                  </a:txBody>
                  <a:tcPr>
                    <a:solidFill>
                      <a:srgbClr val="FFFFFF"/>
                    </a:solidFill>
                  </a:tcPr>
                </a:tc>
                <a:tc>
                  <a:txBody>
                    <a:bodyPr/>
                    <a:lstStyle/>
                    <a:p>
                      <a:r>
                        <a:rPr sz="1150">
                          <a:solidFill>
                            <a:srgbClr val="1F2328"/>
                          </a:solidFill>
                          <a:latin typeface="Calibri"/>
                        </a:rPr>
                        <a:t>Wrong endpoint = silent auth against Commercial cloud.</a:t>
                      </a:r>
                    </a:p>
                  </a:txBody>
                  <a:tcPr>
                    <a:solidFill>
                      <a:srgbClr val="FFFFFF"/>
                    </a:solidFill>
                  </a:tcPr>
                </a:tc>
              </a:tr>
              <a:tr h="777240">
                <a:tc>
                  <a:txBody>
                    <a:bodyPr/>
                    <a:lstStyle/>
                    <a:p>
                      <a:r>
                        <a:rPr sz="1150">
                          <a:solidFill>
                            <a:srgbClr val="1F2328"/>
                          </a:solidFill>
                          <a:latin typeface="Calibri"/>
                        </a:rPr>
                        <a:t>Identity</a:t>
                      </a:r>
                    </a:p>
                  </a:txBody>
                  <a:tcPr>
                    <a:solidFill>
                      <a:srgbClr val="F6F8FC"/>
                    </a:solidFill>
                  </a:tcPr>
                </a:tc>
                <a:tc>
                  <a:txBody>
                    <a:bodyPr/>
                    <a:lstStyle/>
                    <a:p>
                      <a:r>
                        <a:rPr sz="1150">
                          <a:solidFill>
                            <a:srgbClr val="1F2328"/>
                          </a:solidFill>
                          <a:latin typeface="Calibri"/>
                        </a:rPr>
                        <a:t>Entra ID Gov tenant, MFA, conditional access, service-principal tenant settings and app registration policy.</a:t>
                      </a:r>
                    </a:p>
                  </a:txBody>
                  <a:tcPr>
                    <a:solidFill>
                      <a:srgbClr val="F6F8FC"/>
                    </a:solidFill>
                  </a:tcPr>
                </a:tc>
                <a:tc>
                  <a:txBody>
                    <a:bodyPr/>
                    <a:lstStyle/>
                    <a:p>
                      <a:r>
                        <a:rPr sz="1150">
                          <a:solidFill>
                            <a:srgbClr val="1F2328"/>
                          </a:solidFill>
                          <a:latin typeface="Calibri"/>
                        </a:rPr>
                        <a:t>Automation identity has to exist and be permitted before it can be used.</a:t>
                      </a:r>
                    </a:p>
                  </a:txBody>
                  <a:tcPr>
                    <a:solidFill>
                      <a:srgbClr val="F6F8FC"/>
                    </a:solidFill>
                  </a:tcPr>
                </a:tc>
              </a:tr>
              <a:tr h="777240">
                <a:tc>
                  <a:txBody>
                    <a:bodyPr/>
                    <a:lstStyle/>
                    <a:p>
                      <a:r>
                        <a:rPr sz="1150">
                          <a:solidFill>
                            <a:srgbClr val="1F2328"/>
                          </a:solidFill>
                          <a:latin typeface="Calibri"/>
                        </a:rPr>
                        <a:t>Network</a:t>
                      </a:r>
                    </a:p>
                  </a:txBody>
                  <a:tcPr>
                    <a:solidFill>
                      <a:srgbClr val="FFFFFF"/>
                    </a:solidFill>
                  </a:tcPr>
                </a:tc>
                <a:tc>
                  <a:txBody>
                    <a:bodyPr/>
                    <a:lstStyle/>
                    <a:p>
                      <a:r>
                        <a:rPr sz="1150">
                          <a:solidFill>
                            <a:srgbClr val="1F2328"/>
                          </a:solidFill>
                          <a:latin typeface="Calibri"/>
                        </a:rPr>
                        <a:t>Egress path from build agents / runners / workstations to Gov endpoints; private endpoints or gateway where required.</a:t>
                      </a:r>
                    </a:p>
                  </a:txBody>
                  <a:tcPr>
                    <a:solidFill>
                      <a:srgbClr val="FFFFFF"/>
                    </a:solidFill>
                  </a:tcPr>
                </a:tc>
                <a:tc>
                  <a:txBody>
                    <a:bodyPr/>
                    <a:lstStyle/>
                    <a:p>
                      <a:r>
                        <a:rPr sz="1150">
                          <a:solidFill>
                            <a:srgbClr val="1F2328"/>
                          </a:solidFill>
                          <a:latin typeface="Calibri"/>
                        </a:rPr>
                        <a:t>Runners in the wrong network can't reach the Gov endpoints at all.</a:t>
                      </a:r>
                    </a:p>
                  </a:txBody>
                  <a:tcPr>
                    <a:solidFill>
                      <a:srgbClr val="FFFFFF"/>
                    </a:solidFill>
                  </a:tcPr>
                </a:tc>
              </a:tr>
              <a:tr h="777240">
                <a:tc>
                  <a:txBody>
                    <a:bodyPr/>
                    <a:lstStyle/>
                    <a:p>
                      <a:r>
                        <a:rPr sz="1150">
                          <a:solidFill>
                            <a:srgbClr val="1F2328"/>
                          </a:solidFill>
                          <a:latin typeface="Calibri"/>
                        </a:rPr>
                        <a:t>Customer policy</a:t>
                      </a:r>
                    </a:p>
                  </a:txBody>
                  <a:tcPr>
                    <a:solidFill>
                      <a:srgbClr val="F6F8FC"/>
                    </a:solidFill>
                  </a:tcPr>
                </a:tc>
                <a:tc>
                  <a:txBody>
                    <a:bodyPr/>
                    <a:lstStyle/>
                    <a:p>
                      <a:r>
                        <a:rPr sz="1150">
                          <a:solidFill>
                            <a:srgbClr val="1F2328"/>
                          </a:solidFill>
                          <a:latin typeface="Calibri"/>
                        </a:rPr>
                        <a:t>Workstation tooling policy for Tabular Editor / ALM Toolkit; repository hosting policy; approved CI/CD platforms.</a:t>
                      </a:r>
                    </a:p>
                  </a:txBody>
                  <a:tcPr>
                    <a:solidFill>
                      <a:srgbClr val="F6F8FC"/>
                    </a:solidFill>
                  </a:tcPr>
                </a:tc>
                <a:tc>
                  <a:txBody>
                    <a:bodyPr/>
                    <a:lstStyle/>
                    <a:p>
                      <a:r>
                        <a:rPr sz="1150">
                          <a:solidFill>
                            <a:srgbClr val="1F2328"/>
                          </a:solidFill>
                          <a:latin typeface="Calibri"/>
                        </a:rPr>
                        <a:t>Tools you can't install or run don't belong in the design.</a:t>
                      </a:r>
                    </a:p>
                  </a:txBody>
                  <a:tcPr>
                    <a:solidFill>
                      <a:srgbClr val="F6F8FC"/>
                    </a:solidFill>
                  </a:tcPr>
                </a:tc>
              </a:tr>
              <a:tr h="777240">
                <a:tc>
                  <a:txBody>
                    <a:bodyPr/>
                    <a:lstStyle/>
                    <a:p>
                      <a:r>
                        <a:rPr sz="1150">
                          <a:solidFill>
                            <a:srgbClr val="1F2328"/>
                          </a:solidFill>
                          <a:latin typeface="Calibri"/>
                        </a:rPr>
                        <a:t>Feature availability</a:t>
                      </a:r>
                    </a:p>
                  </a:txBody>
                  <a:tcPr>
                    <a:solidFill>
                      <a:srgbClr val="FFFFFF"/>
                    </a:solidFill>
                  </a:tcPr>
                </a:tc>
                <a:tc>
                  <a:txBody>
                    <a:bodyPr/>
                    <a:lstStyle/>
                    <a:p>
                      <a:r>
                        <a:rPr sz="1150">
                          <a:solidFill>
                            <a:srgbClr val="1F2328"/>
                          </a:solidFill>
                          <a:latin typeface="Calibri"/>
                        </a:rPr>
                        <a:t>Fabric workspace Git integration, Copilot, deployment pipelines, and other commercial-only features — confirmed available before design.</a:t>
                      </a:r>
                    </a:p>
                  </a:txBody>
                  <a:tcPr>
                    <a:solidFill>
                      <a:srgbClr val="FFFFFF"/>
                    </a:solidFill>
                  </a:tcPr>
                </a:tc>
                <a:tc>
                  <a:txBody>
                    <a:bodyPr/>
                    <a:lstStyle/>
                    <a:p>
                      <a:r>
                        <a:rPr sz="1150">
                          <a:solidFill>
                            <a:srgbClr val="1F2328"/>
                          </a:solidFill>
                          <a:latin typeface="Calibri"/>
                        </a:rPr>
                        <a:t>Designing around a feature that isn't in Gov is a rework guarantee.</a:t>
                      </a:r>
                    </a:p>
                  </a:txBody>
                  <a:tcPr>
                    <a:solidFill>
                      <a:srgbClr val="FFFFFF"/>
                    </a:solidFill>
                  </a:tcPr>
                </a:tc>
              </a:tr>
            </a:tbl>
          </a:graphicData>
        </a:graphic>
      </p:graphicFrame>
      <p:sp>
        <p:nvSpPr>
          <p:cNvPr id="7" name="TextBox 6"/>
          <p:cNvSpPr txBox="1"/>
          <p:nvPr/>
        </p:nvSpPr>
        <p:spPr>
          <a:xfrm>
            <a:off x="640080" y="6126480"/>
            <a:ext cx="10881360" cy="640080"/>
          </a:xfrm>
          <a:prstGeom prst="rect">
            <a:avLst/>
          </a:prstGeom>
          <a:noFill/>
        </p:spPr>
        <p:txBody>
          <a:bodyPr wrap="square" anchor="t" lIns="0" rIns="0" tIns="0" bIns="0">
            <a:spAutoFit/>
          </a:bodyPr>
          <a:lstStyle/>
          <a:p>
            <a:pPr algn="l">
              <a:lnSpc>
                <a:spcPct val="110000"/>
              </a:lnSpc>
              <a:spcAft>
                <a:spcPts val="0"/>
              </a:spcAft>
            </a:pPr>
            <a:r>
              <a:rPr sz="1250" b="0" i="1">
                <a:solidFill>
                  <a:srgbClr val="4B5563"/>
                </a:solidFill>
                <a:latin typeface="Calibri"/>
              </a:rPr>
              <a:t>Rule of thumb: assume nothing about Gov availability. Confirm every endpoint, identity, network path, and feature before designing a release process around it.</a:t>
            </a:r>
          </a:p>
        </p:txBody>
      </p:sp>
      <p:sp>
        <p:nvSpPr>
          <p:cNvPr id="8" name="TextBox 7"/>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12 — PRE-RELEASE GATE</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Deployment Checklist — Pre-Release Gate</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Source: PBIP committed on the correct branch; annotated tag applied; PBIX and cache excluded via .gitignore.</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Security: RLS roles reviewed; workspace membership matches release plan; sensitivity labels applied where required.</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Refresh: data source credentials configured on target dataset; schedule set; gateway (if used) validated.</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Validation: BPA passed on TMDL; measure totals reconciled to a trusted source; critical report pages smoke-tested.</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Environment: parameters and datasource bindings switched to the target environment; incremental refresh policy verified.</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Automation: service principal authentication tested end-to-end; cloud endpoint confirmed (Commercial vs Gov).</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Azure Government: endpoints, identity, network, and customer policy validated for every automation touchpoint.</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Rollback: previous release tag identified; rollback procedure written down and known to on-call; release notes attached to the tag.</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13 — WHAT YOU'LL BUILD</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Module Lab Walkthrough</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1: PBIP file structure — identify .Report, .SemanticModel, generated and cache files in your project folder.</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2: Source control workflow — feature branch, small PBIP change, git status/diff, commit, PR review discussion.</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3: Tabular Editor workflow (Verify for Gov) — open model, review measures, small metadata change, review diff.</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4: ALM Toolkit model comparison (Verify for Gov) — diff two model versions and discuss deployment impact.</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Optional labs: REST API deployment, PowerShell admin, service principal setup — all conceptual walkthroughs unless the tenant is validated.</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Optional commercial lab: Fabric workspace Git integration — connect workspace, select branch/folder, review sync behavior.</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5 &amp; 6: Conceptual Azure DevOps and GitHub Actions CI/CD pipelines — identify stages, auth, validation, Gov notes.</a:t>
            </a:r>
          </a:p>
        </p:txBody>
      </p:sp>
      <p:sp>
        <p:nvSpPr>
          <p:cNvPr id="27" name="Rectangle 26"/>
          <p:cNvSpPr/>
          <p:nvPr/>
        </p:nvSpPr>
        <p:spPr>
          <a:xfrm>
            <a:off x="630936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9224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Exercise 7: Deployment checklist — fill it out end to end against your PBIP.</a:t>
            </a:r>
          </a:p>
        </p:txBody>
      </p:sp>
      <p:sp>
        <p:nvSpPr>
          <p:cNvPr id="30" name="TextBox 29"/>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B4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761"/>
                </a:solidFill>
                <a:latin typeface="Calibri"/>
              </a:rPr>
              <a:t>TOPIC 14 — WRAP-UP</a:t>
            </a:r>
          </a:p>
        </p:txBody>
      </p:sp>
      <p:sp>
        <p:nvSpPr>
          <p:cNvPr id="5" name="TextBox 4"/>
          <p:cNvSpPr txBox="1"/>
          <p:nvPr/>
        </p:nvSpPr>
        <p:spPr>
          <a:xfrm>
            <a:off x="640080" y="868680"/>
            <a:ext cx="9601200" cy="640080"/>
          </a:xfrm>
          <a:prstGeom prst="rect">
            <a:avLst/>
          </a:prstGeom>
          <a:noFill/>
        </p:spPr>
        <p:txBody>
          <a:bodyPr wrap="square" anchor="t" lIns="0" rIns="0" tIns="0" bIns="0">
            <a:spAutoFit/>
          </a:bodyPr>
          <a:lstStyle/>
          <a:p>
            <a:pPr algn="l">
              <a:lnSpc>
                <a:spcPct val="100000"/>
              </a:lnSpc>
              <a:spcAft>
                <a:spcPts val="0"/>
              </a:spcAft>
            </a:pPr>
            <a:r>
              <a:rPr sz="3000" b="1" i="0">
                <a:solidFill>
                  <a:srgbClr val="141B45"/>
                </a:solidFill>
                <a:latin typeface="Cambria"/>
              </a:rPr>
              <a:t>Knowledge Check &amp; Discussion</a:t>
            </a:r>
          </a:p>
        </p:txBody>
      </p:sp>
      <p:sp>
        <p:nvSpPr>
          <p:cNvPr id="6" name="Rectangle 5"/>
          <p:cNvSpPr/>
          <p:nvPr/>
        </p:nvSpPr>
        <p:spPr>
          <a:xfrm>
            <a:off x="64008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9844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Why is PBIP the source of record and not PBIX? Give one concrete review scenario that PBIX makes impossible.</a:t>
            </a:r>
          </a:p>
        </p:txBody>
      </p:sp>
      <p:sp>
        <p:nvSpPr>
          <p:cNvPr id="9" name="Rectangle 8"/>
          <p:cNvSpPr/>
          <p:nvPr/>
        </p:nvSpPr>
        <p:spPr>
          <a:xfrm>
            <a:off x="64008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844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Which lifecycle goal (repeatability, reviewability, promotion, governance, rollback) is most at risk on your current projects, and what would fix it?</a:t>
            </a:r>
          </a:p>
        </p:txBody>
      </p:sp>
      <p:sp>
        <p:nvSpPr>
          <p:cNvPr id="12" name="Rectangle 11"/>
          <p:cNvSpPr/>
          <p:nvPr/>
        </p:nvSpPr>
        <p:spPr>
          <a:xfrm>
            <a:off x="64008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844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Which parts of a REST API / PowerShell deployment change when you move from Commercial to Gov? Name three.</a:t>
            </a:r>
          </a:p>
        </p:txBody>
      </p:sp>
      <p:sp>
        <p:nvSpPr>
          <p:cNvPr id="15" name="Rectangle 14"/>
          <p:cNvSpPr/>
          <p:nvPr/>
        </p:nvSpPr>
        <p:spPr>
          <a:xfrm>
            <a:off x="640080" y="524637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560412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524637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When would you accept a client secret over certificate auth for a service principal, and how would you compensate?</a:t>
            </a:r>
          </a:p>
        </p:txBody>
      </p:sp>
      <p:sp>
        <p:nvSpPr>
          <p:cNvPr id="18" name="Rectangle 17"/>
          <p:cNvSpPr/>
          <p:nvPr/>
        </p:nvSpPr>
        <p:spPr>
          <a:xfrm>
            <a:off x="6309360" y="178308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214083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7728" y="178308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Fabric workspace Git integration vs. PBIP + Desktop + Publish — when would you choose each, and what changes in the review process?</a:t>
            </a:r>
          </a:p>
        </p:txBody>
      </p:sp>
      <p:sp>
        <p:nvSpPr>
          <p:cNvPr id="21" name="Rectangle 20"/>
          <p:cNvSpPr/>
          <p:nvPr/>
        </p:nvSpPr>
        <p:spPr>
          <a:xfrm>
            <a:off x="6309360" y="293751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92240" y="329526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293751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Walk through the five CI/CD pipeline stages from memory (Validate, Package, Deploy, Configure, Smoke test) and give one Gov note for each.</a:t>
            </a:r>
          </a:p>
        </p:txBody>
      </p:sp>
      <p:sp>
        <p:nvSpPr>
          <p:cNvPr id="24" name="Rectangle 23"/>
          <p:cNvSpPr/>
          <p:nvPr/>
        </p:nvSpPr>
        <p:spPr>
          <a:xfrm>
            <a:off x="6309360" y="4091940"/>
            <a:ext cx="5120640" cy="1026414"/>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4449699"/>
            <a:ext cx="310896" cy="310896"/>
          </a:xfrm>
          <a:prstGeom prst="rect">
            <a:avLst/>
          </a:prstGeom>
          <a:solidFill>
            <a:srgbClr val="F6F8FC"/>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091940"/>
            <a:ext cx="4279392" cy="1026414"/>
          </a:xfrm>
          <a:prstGeom prst="rect">
            <a:avLst/>
          </a:prstGeom>
          <a:noFill/>
        </p:spPr>
        <p:txBody>
          <a:bodyPr wrap="square" anchor="ctr" lIns="0" rIns="0" tIns="0" bIns="0">
            <a:spAutoFit/>
          </a:bodyPr>
          <a:lstStyle/>
          <a:p>
            <a:pPr algn="l">
              <a:lnSpc>
                <a:spcPct val="105000"/>
              </a:lnSpc>
              <a:spcAft>
                <a:spcPts val="0"/>
              </a:spcAft>
            </a:pPr>
            <a:r>
              <a:rPr sz="1350" b="0" i="0">
                <a:solidFill>
                  <a:srgbClr val="1F2328"/>
                </a:solidFill>
                <a:latin typeface="Calibri"/>
              </a:rPr>
              <a:t>Deployment checklist self-assessment: which section (source, security, refresh, validation, automation, Gov, rollback) is your team weakest on today?</a:t>
            </a:r>
          </a:p>
        </p:txBody>
      </p:sp>
      <p:sp>
        <p:nvSpPr>
          <p:cNvPr id="27" name="TextBox 26"/>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4B5563"/>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058400" cy="640080"/>
          </a:xfrm>
          <a:prstGeom prst="rect">
            <a:avLst/>
          </a:prstGeom>
          <a:noFill/>
        </p:spPr>
        <p:txBody>
          <a:bodyPr wrap="square" anchor="t" lIns="0" rIns="0" tIns="0" bIns="0">
            <a:spAutoFit/>
          </a:bodyPr>
          <a:lstStyle/>
          <a:p>
            <a:pPr algn="l">
              <a:lnSpc>
                <a:spcPct val="100000"/>
              </a:lnSpc>
              <a:spcAft>
                <a:spcPts val="0"/>
              </a:spcAft>
            </a:pPr>
            <a:r>
              <a:rPr sz="1500" b="1" i="0">
                <a:solidFill>
                  <a:srgbClr val="E8B44A"/>
                </a:solidFill>
                <a:latin typeface="Calibri"/>
              </a:rPr>
              <a:t>COURSE WRAP-UP</a:t>
            </a:r>
          </a:p>
        </p:txBody>
      </p:sp>
      <p:sp>
        <p:nvSpPr>
          <p:cNvPr id="4" name="TextBox 3"/>
          <p:cNvSpPr txBox="1"/>
          <p:nvPr/>
        </p:nvSpPr>
        <p:spPr>
          <a:xfrm>
            <a:off x="822960" y="1691640"/>
            <a:ext cx="10058400" cy="1097280"/>
          </a:xfrm>
          <a:prstGeom prst="rect">
            <a:avLst/>
          </a:prstGeom>
          <a:noFill/>
        </p:spPr>
        <p:txBody>
          <a:bodyPr wrap="square" anchor="t" lIns="0" rIns="0" tIns="0" bIns="0">
            <a:spAutoFit/>
          </a:bodyPr>
          <a:lstStyle/>
          <a:p>
            <a:pPr algn="l">
              <a:lnSpc>
                <a:spcPct val="100000"/>
              </a:lnSpc>
              <a:spcAft>
                <a:spcPts val="0"/>
              </a:spcAft>
            </a:pPr>
            <a:r>
              <a:rPr sz="3400" b="1" i="0">
                <a:solidFill>
                  <a:srgbClr val="FFFFFF"/>
                </a:solidFill>
                <a:latin typeface="Cambria"/>
              </a:rPr>
              <a:t>Module 11 Complete — Modules 1–11 delivered.</a:t>
            </a:r>
          </a:p>
        </p:txBody>
      </p:sp>
      <p:sp>
        <p:nvSpPr>
          <p:cNvPr id="5" name="TextBox 4"/>
          <p:cNvSpPr txBox="1"/>
          <p:nvPr/>
        </p:nvSpPr>
        <p:spPr>
          <a:xfrm>
            <a:off x="822960" y="2788920"/>
            <a:ext cx="10515600" cy="1554480"/>
          </a:xfrm>
          <a:prstGeom prst="rect">
            <a:avLst/>
          </a:prstGeom>
          <a:noFill/>
        </p:spPr>
        <p:txBody>
          <a:bodyPr wrap="square" anchor="t" lIns="0" rIns="0" tIns="0" bIns="0">
            <a:spAutoFit/>
          </a:bodyPr>
          <a:lstStyle/>
          <a:p>
            <a:pPr algn="l">
              <a:lnSpc>
                <a:spcPct val="120000"/>
              </a:lnSpc>
              <a:spcAft>
                <a:spcPts val="0"/>
              </a:spcAft>
            </a:pPr>
            <a:r>
              <a:rPr sz="1500" b="0" i="1">
                <a:solidFill>
                  <a:srgbClr val="CADCFC"/>
                </a:solidFill>
                <a:latin typeface="Calibri"/>
              </a:rPr>
              <a:t>You now have a complete, source-controlled Power BI lifecycle: PBIP as source of record, git-based review, external-tool and REST/PowerShell automation patterns, service-principal identity, conceptual Azure DevOps and GitHub Actions CI/CD, and an Azure Government-aware deployment checklist to gate every release.</a:t>
            </a:r>
          </a:p>
        </p:txBody>
      </p:sp>
      <p:sp>
        <p:nvSpPr>
          <p:cNvPr id="6" name="Rectangle 5"/>
          <p:cNvSpPr/>
          <p:nvPr/>
        </p:nvSpPr>
        <p:spPr>
          <a:xfrm>
            <a:off x="822960" y="4526280"/>
            <a:ext cx="1051560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617720"/>
            <a:ext cx="10058400" cy="411480"/>
          </a:xfrm>
          <a:prstGeom prst="rect">
            <a:avLst/>
          </a:prstGeom>
          <a:noFill/>
        </p:spPr>
        <p:txBody>
          <a:bodyPr wrap="square" anchor="t" lIns="0" rIns="0" tIns="0" bIns="0">
            <a:spAutoFit/>
          </a:bodyPr>
          <a:lstStyle/>
          <a:p>
            <a:pPr algn="l">
              <a:lnSpc>
                <a:spcPct val="100000"/>
              </a:lnSpc>
              <a:spcAft>
                <a:spcPts val="0"/>
              </a:spcAft>
            </a:pPr>
            <a:r>
              <a:rPr sz="1700" b="1" i="0">
                <a:solidFill>
                  <a:srgbClr val="E8B44A"/>
                </a:solidFill>
                <a:latin typeface="Calibri"/>
              </a:rPr>
              <a:t>Next: Capstone — Enterprise-Ready Power BI Solution</a:t>
            </a:r>
          </a:p>
        </p:txBody>
      </p:sp>
      <p:sp>
        <p:nvSpPr>
          <p:cNvPr id="8" name="TextBox 7"/>
          <p:cNvSpPr txBox="1"/>
          <p:nvPr/>
        </p:nvSpPr>
        <p:spPr>
          <a:xfrm>
            <a:off x="1051560" y="5074920"/>
            <a:ext cx="10058400" cy="777240"/>
          </a:xfrm>
          <a:prstGeom prst="rect">
            <a:avLst/>
          </a:prstGeom>
          <a:noFill/>
        </p:spPr>
        <p:txBody>
          <a:bodyPr wrap="square" anchor="t" lIns="0" rIns="0" tIns="0" bIns="0">
            <a:spAutoFit/>
          </a:bodyPr>
          <a:lstStyle/>
          <a:p>
            <a:pPr algn="l">
              <a:lnSpc>
                <a:spcPct val="115000"/>
              </a:lnSpc>
              <a:spcAft>
                <a:spcPts val="0"/>
              </a:spcAft>
            </a:pPr>
            <a:r>
              <a:rPr sz="1300" b="0" i="0">
                <a:solidFill>
                  <a:srgbClr val="CADCFC"/>
                </a:solidFill>
                <a:latin typeface="Calibri"/>
              </a:rPr>
              <a:t>Combine every module — semantic model, DAX, Power Query, report UX, performance, security, deployment, governance, monitoring, and today's automation — into one end-to-end Contoso Advanced Manufacturing delivery.</a:t>
            </a:r>
          </a:p>
        </p:txBody>
      </p:sp>
      <p:sp>
        <p:nvSpPr>
          <p:cNvPr id="9" name="TextBox 8"/>
          <p:cNvSpPr txBox="1"/>
          <p:nvPr/>
        </p:nvSpPr>
        <p:spPr>
          <a:xfrm>
            <a:off x="11521440" y="6446520"/>
            <a:ext cx="548640" cy="320040"/>
          </a:xfrm>
          <a:prstGeom prst="rect">
            <a:avLst/>
          </a:prstGeom>
          <a:noFill/>
        </p:spPr>
        <p:txBody>
          <a:bodyPr wrap="square" anchor="t" lIns="0" rIns="0" tIns="0" bIns="0">
            <a:spAutoFit/>
          </a:bodyPr>
          <a:lstStyle/>
          <a:p>
            <a:pPr algn="r">
              <a:lnSpc>
                <a:spcPct val="100000"/>
              </a:lnSpc>
              <a:spcAft>
                <a:spcPts val="0"/>
              </a:spcAft>
            </a:pPr>
            <a:r>
              <a:rPr sz="1100" b="0" i="0">
                <a:solidFill>
                  <a:srgbClr val="CADCFC"/>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