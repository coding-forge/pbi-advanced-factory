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notesMaster" Target="notesMasters/notesMaster1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Opening talk track: Welcome students to this module and explain that the goal is not to memorize features. The goal is to understand when a pattern helps authors build more trustworthy, maintainable, user-friendly Power BI solutions.</a:t>
            </a:r>
          </a:p>
          <a:p>
            <a:r>
              <a:t>Module framing: Frame this module as lifecycle discipline. PBIP and source control make Power BI changes reviewable and repeatable.</a:t>
            </a:r>
          </a:p>
          <a:p>
            <a:r>
              <a:t>Set expectations: presentation will introduce the theme, then the lab will let learners build or evaluate the pattern hands-on. Encourage questions about tradeoffs, not just button clicks.</a:t>
            </a:r>
          </a:p>
          <a:p>
            <a:r>
              <a:t>Further learning: Power BI Projects: https://learn.microsoft.com/power-bi/developer/projects/projects-overview | TMDL overview: https://learn.microsoft.com/analysis-services/tmdl/tmdl-overview | Power BI REST APIs: https://learn.microsoft.com/rest/api/power-bi/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Speaker guidance: Emphasize sequence and dependency. Explain what students should already know from prior modules and what this module adds on top.</a:t>
            </a:r>
          </a:p>
          <a:p>
            <a:r>
              <a:t>Module framing: Frame this module as lifecycle discipline. PBIP and source control make Power BI changes reviewable and repeatable.</a:t>
            </a:r>
          </a:p>
          <a:p>
            <a:r>
              <a:t>Transition: After this slide, move from the concept map into the specific pattern or lab activity.</a:t>
            </a:r>
          </a:p>
          <a:p>
            <a:r>
              <a:t>Further learning: Power BI Projects: https://learn.microsoft.com/power-bi/developer/projects/projects-overview | TMDL overview: https://learn.microsoft.com/analysis-services/tmdl/tmdl-overview | Power BI REST APIs: https://learn.microsoft.com/rest/api/power-bi/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Core message: 1. Lifecycle management goals.</a:t>
            </a:r>
          </a:p>
          <a:p>
            <a:r>
              <a:t>Talking points to expand: Talking points, learner value, and lab connection Talking points • Repeatability • Reviewability • Environment promotion Why it helps • Governance • Rollback Lab connection Coverage: Partial. Use the lab README to demonstrate or discuss this topic. Review terms: goals, governance, promotion, repeatability, reviewability. 03</a:t>
            </a:r>
          </a:p>
          <a:p>
            <a:r>
              <a:t>Why it matters: Frame this module as lifecycle discipline. PBIP and source control make Power BI changes reviewable and repeatable.</a:t>
            </a:r>
          </a:p>
          <a:p>
            <a:r>
              <a:t>How it helps users: connect the technical pattern to clearer decisions, fewer confusing report interactions, better trust in results, or easier support.</a:t>
            </a:r>
          </a:p>
          <a:p>
            <a:r>
              <a:t>How it builds on prior lessons: reference the previous layer in the workshop, such as prepared data, a clean model, tested measures, or report UX conventions.</a:t>
            </a:r>
          </a:p>
          <a:p>
            <a:r>
              <a:t>Lab connection: Show where this concept appears in the module lab. If the lab path is conceptual or Verify for Gov, explain what learners should document instead of building hands-on.</a:t>
            </a:r>
          </a:p>
          <a:p>
            <a:r>
              <a:t>Instructor prompt: Ask one learner to describe the risk of skipping this pattern or using it without validation.</a:t>
            </a:r>
          </a:p>
          <a:p>
            <a:r>
              <a:t>Further learning: Power BI Projects: https://learn.microsoft.com/power-bi/developer/projects/projects-overview | TMDL overview: https://learn.microsoft.com/analysis-services/tmdl/tmdl-overview | Power BI REST APIs: https://learn.microsoft.com/rest/api/power-bi/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Core message: 2. PBIP as source of record.</a:t>
            </a:r>
          </a:p>
          <a:p>
            <a:r>
              <a:t>Talking points to expand: Talking points, learner value, and lab connection Talking points • Report source files • Semantic model source files Why it helps • Git-friendly review • PBIX as generated output Lab connection Coverage: Covered. Use the lab README to demonstrate or discuss this topic. Review terms: output. 04</a:t>
            </a:r>
          </a:p>
          <a:p>
            <a:r>
              <a:t>Why it matters: Frame this module as lifecycle discipline. PBIP and source control make Power BI changes reviewable and repeatable.</a:t>
            </a:r>
          </a:p>
          <a:p>
            <a:r>
              <a:t>How it helps users: connect the technical pattern to clearer decisions, fewer confusing report interactions, better trust in results, or easier support.</a:t>
            </a:r>
          </a:p>
          <a:p>
            <a:r>
              <a:t>How it builds on prior lessons: reference the previous layer in the workshop, such as prepared data, a clean model, tested measures, or report UX conventions.</a:t>
            </a:r>
          </a:p>
          <a:p>
            <a:r>
              <a:t>Lab connection: Show where this concept appears in the module lab. If the lab path is conceptual or Verify for Gov, explain what learners should document instead of building hands-on.</a:t>
            </a:r>
          </a:p>
          <a:p>
            <a:r>
              <a:t>Instructor prompt: Ask one learner to describe the risk of skipping this pattern or using it without validation.</a:t>
            </a:r>
          </a:p>
          <a:p>
            <a:r>
              <a:t>Further learning: Power BI Projects: https://learn.microsoft.com/power-bi/developer/projects/projects-overview | TMDL overview: https://learn.microsoft.com/analysis-services/tmdl/tmdl-overview | Power BI REST APIs: https://learn.microsoft.com/rest/api/power-bi/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Speaker guidance: Emphasize sequence and dependency. Explain what students should already know from prior modules and what this module adds on top.</a:t>
            </a:r>
          </a:p>
          <a:p>
            <a:r>
              <a:t>Module framing: Frame this module as lifecycle discipline. PBIP and source control make Power BI changes reviewable and repeatable.</a:t>
            </a:r>
          </a:p>
          <a:p>
            <a:r>
              <a:t>Transition: After this slide, move from the concept map into the specific pattern or lab activity.</a:t>
            </a:r>
          </a:p>
          <a:p>
            <a:r>
              <a:t>Further learning: Power BI Projects: https://learn.microsoft.com/power-bi/developer/projects/projects-overview | TMDL overview: https://learn.microsoft.com/analysis-services/tmdl/tmdl-overview | Power BI REST APIs: https://learn.microsoft.com/rest/api/power-bi/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Core message: 4. PBIP file structure.</a:t>
            </a:r>
          </a:p>
          <a:p>
            <a:r>
              <a:t>Talking points to expand: Talking points, learner value, and lab connection Talking points • Report folder • Semantic model folder Why it helps • Definition files • What to review Lab connection Coverage: Covered. Use the lab README to demonstrate or discuss this topic. Review terms: none. 06</a:t>
            </a:r>
          </a:p>
          <a:p>
            <a:r>
              <a:t>Why it matters: Frame this module as lifecycle discipline. PBIP and source control make Power BI changes reviewable and repeatable.</a:t>
            </a:r>
          </a:p>
          <a:p>
            <a:r>
              <a:t>How it helps users: connect the technical pattern to clearer decisions, fewer confusing report interactions, better trust in results, or easier support.</a:t>
            </a:r>
          </a:p>
          <a:p>
            <a:r>
              <a:t>How it builds on prior lessons: reference the previous layer in the workshop, such as prepared data, a clean model, tested measures, or report UX conventions.</a:t>
            </a:r>
          </a:p>
          <a:p>
            <a:r>
              <a:t>Lab connection: Show where this concept appears in the module lab. If the lab path is conceptual or Verify for Gov, explain what learners should document instead of building hands-on.</a:t>
            </a:r>
          </a:p>
          <a:p>
            <a:r>
              <a:t>Instructor prompt: Ask one learner to describe the risk of skipping this pattern or using it without validation.</a:t>
            </a:r>
          </a:p>
          <a:p>
            <a:r>
              <a:t>Further learning: Power BI Projects: https://learn.microsoft.com/power-bi/developer/projects/projects-overview | TMDL overview: https://learn.microsoft.com/analysis-services/tmdl/tmdl-overview | Power BI REST APIs: https://learn.microsoft.com/rest/api/power-bi/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Core message: 5. External tools.</a:t>
            </a:r>
          </a:p>
          <a:p>
            <a:r>
              <a:t>Talking points to expand: Talking points, learner value, and lab connection Talking points • Tabular Editor • ALM Toolkit Why it helps • XMLA dependency • Customer policy validation Lab connection Coverage: Covered. Use the lab README to demonstrate or discuss this topic. Review terms: dependency. 07</a:t>
            </a:r>
          </a:p>
          <a:p>
            <a:r>
              <a:t>Why it matters: Frame this module as lifecycle discipline. PBIP and source control make Power BI changes reviewable and repeatable.</a:t>
            </a:r>
          </a:p>
          <a:p>
            <a:r>
              <a:t>How it helps users: connect the technical pattern to clearer decisions, fewer confusing report interactions, better trust in results, or easier support.</a:t>
            </a:r>
          </a:p>
          <a:p>
            <a:r>
              <a:t>How it builds on prior lessons: reference the previous layer in the workshop, such as prepared data, a clean model, tested measures, or report UX conventions.</a:t>
            </a:r>
          </a:p>
          <a:p>
            <a:r>
              <a:t>Lab connection: Show where this concept appears in the module lab. If the lab path is conceptual or Verify for Gov, explain what learners should document instead of building hands-on.</a:t>
            </a:r>
          </a:p>
          <a:p>
            <a:r>
              <a:t>Instructor prompt: Ask one learner to describe the risk of skipping this pattern or using it without validation.</a:t>
            </a:r>
          </a:p>
          <a:p>
            <a:r>
              <a:t>Further learning: Power BI Projects: https://learn.microsoft.com/power-bi/developer/projects/projects-overview | TMDL overview: https://learn.microsoft.com/analysis-services/tmdl/tmdl-overview | Power BI REST APIs: https://learn.microsoft.com/rest/api/power-bi/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Core message: 6. REST APIs and PowerShell.</a:t>
            </a:r>
          </a:p>
          <a:p>
            <a:r>
              <a:t>Talking points to expand: Talking points, learner value, and lab connection Talking points • Workspace operations • Import/export • Refresh Why it helps • Permissions • Endpoint and cloud validation Lab connection Coverage: Covered. Use the lab README to demonstrate or discuss this topic. Review terms: export, import, refresh. 08</a:t>
            </a:r>
          </a:p>
          <a:p>
            <a:r>
              <a:t>Why it matters: Frame this module as lifecycle discipline. PBIP and source control make Power BI changes reviewable and repeatable.</a:t>
            </a:r>
          </a:p>
          <a:p>
            <a:r>
              <a:t>How it helps users: connect the technical pattern to clearer decisions, fewer confusing report interactions, better trust in results, or easier support.</a:t>
            </a:r>
          </a:p>
          <a:p>
            <a:r>
              <a:t>How it builds on prior lessons: reference the previous layer in the workshop, such as prepared data, a clean model, tested measures, or report UX conventions.</a:t>
            </a:r>
          </a:p>
          <a:p>
            <a:r>
              <a:t>Lab connection: Show where this concept appears in the module lab. If the lab path is conceptual or Verify for Gov, explain what learners should document instead of building hands-on.</a:t>
            </a:r>
          </a:p>
          <a:p>
            <a:r>
              <a:t>Instructor prompt: Ask one learner to describe the risk of skipping this pattern or using it without validation.</a:t>
            </a:r>
          </a:p>
          <a:p>
            <a:r>
              <a:t>Further learning: Power BI Projects: https://learn.microsoft.com/power-bi/developer/projects/projects-overview | TMDL overview: https://learn.microsoft.com/analysis-services/tmdl/tmdl-overview | Power BI REST APIs: https://learn.microsoft.com/rest/api/power-bi/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Core message: 7. Service principals.</a:t>
            </a:r>
          </a:p>
          <a:p>
            <a:r>
              <a:t>Talking points to expand: Talking points, learner value, and lab connection Talking points • Entra ID app registration • Tenant settings • Security groups Why it helps • Workspace access • Secret/certificate handling Lab connection Coverage: Covered. Use the lab README to demonstrate or discuss this topic. Review terms: groups. 09</a:t>
            </a:r>
          </a:p>
          <a:p>
            <a:r>
              <a:t>Why it matters: Frame this module as lifecycle discipline. PBIP and source control make Power BI changes reviewable and repeatable.</a:t>
            </a:r>
          </a:p>
          <a:p>
            <a:r>
              <a:t>How it helps users: connect the technical pattern to clearer decisions, fewer confusing report interactions, better trust in results, or easier support.</a:t>
            </a:r>
          </a:p>
          <a:p>
            <a:r>
              <a:t>How it builds on prior lessons: reference the previous layer in the workshop, such as prepared data, a clean model, tested measures, or report UX conventions.</a:t>
            </a:r>
          </a:p>
          <a:p>
            <a:r>
              <a:t>Lab connection: Show where this concept appears in the module lab. If the lab path is conceptual or Verify for Gov, explain what learners should document instead of building hands-on.</a:t>
            </a:r>
          </a:p>
          <a:p>
            <a:r>
              <a:t>Instructor prompt: Ask one learner to describe the risk of skipping this pattern or using it without validation.</a:t>
            </a:r>
          </a:p>
          <a:p>
            <a:r>
              <a:t>Further learning: Power BI Projects: https://learn.microsoft.com/power-bi/developer/projects/projects-overview | TMDL overview: https://learn.microsoft.com/analysis-services/tmdl/tmdl-overview | Power BI REST APIs: https://learn.microsoft.com/rest/api/power-bi/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Core message: 8. Fabric workspace Git integration.</a:t>
            </a:r>
          </a:p>
          <a:p>
            <a:r>
              <a:t>Talking points to expand: Talking points, learner value, and lab connection Talking points • Workspace-connected git • Branching Why it helps • Sync behavior • Commercial/Gov caveats Lab connection Coverage: Partial. Use the lab README to demonstrate or discuss this topic. Review terms: behavior, branching, caveats, connected. 10</a:t>
            </a:r>
          </a:p>
          <a:p>
            <a:r>
              <a:t>Why it matters: Frame this module as lifecycle discipline. PBIP and source control make Power BI changes reviewable and repeatable.</a:t>
            </a:r>
          </a:p>
          <a:p>
            <a:r>
              <a:t>How it helps users: connect the technical pattern to clearer decisions, fewer confusing report interactions, better trust in results, or easier support.</a:t>
            </a:r>
          </a:p>
          <a:p>
            <a:r>
              <a:t>How it builds on prior lessons: reference the previous layer in the workshop, such as prepared data, a clean model, tested measures, or report UX conventions.</a:t>
            </a:r>
          </a:p>
          <a:p>
            <a:r>
              <a:t>Lab connection: Show where this concept appears in the module lab. If the lab path is conceptual or Verify for Gov, explain what learners should document instead of building hands-on.</a:t>
            </a:r>
          </a:p>
          <a:p>
            <a:r>
              <a:t>Instructor prompt: Ask one learner to describe the risk of skipping this pattern or using it without validation.</a:t>
            </a:r>
          </a:p>
          <a:p>
            <a:r>
              <a:t>Further learning: Power BI Projects: https://learn.microsoft.com/power-bi/developer/projects/projects-overview | TMDL overview: https://learn.microsoft.com/analysis-services/tmdl/tmdl-overview | Power BI REST APIs: https://learn.microsoft.com/rest/api/power-bi/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Core message: 9. Azure DevOps conceptual pipeline.</a:t>
            </a:r>
          </a:p>
          <a:p>
            <a:r>
              <a:t>Talking points to expand: Talking points, learner value, and lab connection Talking points • Validate • Package • Deploy Why it helps • Configure • Smoke test Lab connection Coverage: Covered. Use the lab README to demonstrate or discuss this topic. Review terms: configure, package, smoke. 11</a:t>
            </a:r>
          </a:p>
          <a:p>
            <a:r>
              <a:t>Why it matters: Frame this module as lifecycle discipline. PBIP and source control make Power BI changes reviewable and repeatable.</a:t>
            </a:r>
          </a:p>
          <a:p>
            <a:r>
              <a:t>How it helps users: connect the technical pattern to clearer decisions, fewer confusing report interactions, better trust in results, or easier support.</a:t>
            </a:r>
          </a:p>
          <a:p>
            <a:r>
              <a:t>How it builds on prior lessons: reference the previous layer in the workshop, such as prepared data, a clean model, tested measures, or report UX conventions.</a:t>
            </a:r>
          </a:p>
          <a:p>
            <a:r>
              <a:t>Lab connection: Show where this concept appears in the module lab. If the lab path is conceptual or Verify for Gov, explain what learners should document instead of building hands-on.</a:t>
            </a:r>
          </a:p>
          <a:p>
            <a:r>
              <a:t>Instructor prompt: Ask one learner to describe the risk of skipping this pattern or using it without validation.</a:t>
            </a:r>
          </a:p>
          <a:p>
            <a:r>
              <a:t>Further learning: Power BI Projects: https://learn.microsoft.com/power-bi/developer/projects/projects-overview | TMDL overview: https://learn.microsoft.com/analysis-services/tmdl/tmdl-overview | Power BI REST APIs: https://learn.microsoft.com/rest/api/power-bi/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Core message: 10. GitHub Actions conceptual pipeline.</a:t>
            </a:r>
          </a:p>
          <a:p>
            <a:r>
              <a:t>Talking points to expand: Talking points, learner value, and lab connection Talking points • Trigger • Validate • Authenticate Why it helps • Deploy • Record evidence Lab connection Coverage: Covered. Use the lab README to demonstrate or discuss this topic. Review terms: authenticate. 12</a:t>
            </a:r>
          </a:p>
          <a:p>
            <a:r>
              <a:t>Why it matters: Frame this module as lifecycle discipline. PBIP and source control make Power BI changes reviewable and repeatable.</a:t>
            </a:r>
          </a:p>
          <a:p>
            <a:r>
              <a:t>How it helps users: connect the technical pattern to clearer decisions, fewer confusing report interactions, better trust in results, or easier support.</a:t>
            </a:r>
          </a:p>
          <a:p>
            <a:r>
              <a:t>How it builds on prior lessons: reference the previous layer in the workshop, such as prepared data, a clean model, tested measures, or report UX conventions.</a:t>
            </a:r>
          </a:p>
          <a:p>
            <a:r>
              <a:t>Lab connection: Show where this concept appears in the module lab. If the lab path is conceptual or Verify for Gov, explain what learners should document instead of building hands-on.</a:t>
            </a:r>
          </a:p>
          <a:p>
            <a:r>
              <a:t>Instructor prompt: Ask one learner to describe the risk of skipping this pattern or using it without validation.</a:t>
            </a:r>
          </a:p>
          <a:p>
            <a:r>
              <a:t>Further learning: Power BI Projects: https://learn.microsoft.com/power-bi/developer/projects/projects-overview | TMDL overview: https://learn.microsoft.com/analysis-services/tmdl/tmdl-overview | Power BI REST APIs: https://learn.microsoft.com/rest/api/power-bi/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Core message: 11. Azure Government considerations.</a:t>
            </a:r>
          </a:p>
          <a:p>
            <a:r>
              <a:t>Talking points to expand: Talking points, learner value, and lab connection Talking points • Endpoints • Identity • Network Why it helps • Customer policy • Feature availability Lab connection Coverage: Partial. Use the lab README to demonstrate or discuss this topic. Review terms: availability, considerations, endpoints, identity, network. 13</a:t>
            </a:r>
          </a:p>
          <a:p>
            <a:r>
              <a:t>Why it matters: Frame this module as lifecycle discipline. PBIP and source control make Power BI changes reviewable and repeatable.</a:t>
            </a:r>
          </a:p>
          <a:p>
            <a:r>
              <a:t>How it helps users: connect the technical pattern to clearer decisions, fewer confusing report interactions, better trust in results, or easier support.</a:t>
            </a:r>
          </a:p>
          <a:p>
            <a:r>
              <a:t>How it builds on prior lessons: reference the previous layer in the workshop, such as prepared data, a clean model, tested measures, or report UX conventions.</a:t>
            </a:r>
          </a:p>
          <a:p>
            <a:r>
              <a:t>Lab connection: Show where this concept appears in the module lab. If the lab path is conceptual or Verify for Gov, explain what learners should document instead of building hands-on.</a:t>
            </a:r>
          </a:p>
          <a:p>
            <a:r>
              <a:t>Instructor prompt: Ask one learner to describe the risk of skipping this pattern or using it without validation.</a:t>
            </a:r>
          </a:p>
          <a:p>
            <a:r>
              <a:t>Further learning: Power BI Projects: https://learn.microsoft.com/power-bi/developer/projects/projects-overview | TMDL overview: https://learn.microsoft.com/analysis-services/tmdl/tmdl-overview | Power BI REST APIs: https://learn.microsoft.com/rest/api/power-bi/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Core message: 12. Deployment checklist.</a:t>
            </a:r>
          </a:p>
          <a:p>
            <a:r>
              <a:t>Talking points to expand: Talking points, learner value, and lab connection Talking points • Source • Security • Refresh Why it helps • Validation • Rollback Lab connection Coverage: Covered. Use the lab README to demonstrate or discuss this topic. Review terms: refresh, rollback. 14</a:t>
            </a:r>
          </a:p>
          <a:p>
            <a:r>
              <a:t>Why it matters: Frame this module as lifecycle discipline. PBIP and source control make Power BI changes reviewable and repeatable.</a:t>
            </a:r>
          </a:p>
          <a:p>
            <a:r>
              <a:t>How it helps users: connect the technical pattern to clearer decisions, fewer confusing report interactions, better trust in results, or easier support.</a:t>
            </a:r>
          </a:p>
          <a:p>
            <a:r>
              <a:t>How it builds on prior lessons: reference the previous layer in the workshop, such as prepared data, a clean model, tested measures, or report UX conventions.</a:t>
            </a:r>
          </a:p>
          <a:p>
            <a:r>
              <a:t>Lab connection: Show where this concept appears in the module lab. If the lab path is conceptual or Verify for Gov, explain what learners should document instead of building hands-on.</a:t>
            </a:r>
          </a:p>
          <a:p>
            <a:r>
              <a:t>Instructor prompt: Ask one learner to describe the risk of skipping this pattern or using it without validation.</a:t>
            </a:r>
          </a:p>
          <a:p>
            <a:r>
              <a:t>Further learning: Power BI Projects: https://learn.microsoft.com/power-bi/developer/projects/projects-overview | TMDL overview: https://learn.microsoft.com/analysis-services/tmdl/tmdl-overview | Power BI REST APIs: https://learn.microsoft.com/rest/api/power-bi/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Speaker guidance: Use this slide as the handoff for self-study. Do not read every link aloud. Point out which source is most relevant to the lab just completed and which source helps learners go deeper after class.</a:t>
            </a:r>
          </a:p>
          <a:p>
            <a:r>
              <a:t>Suggested prompt: Ask learners to bookmark the source that best matches the skill they want to improve next.</a:t>
            </a:r>
          </a:p>
          <a:p>
            <a:r>
              <a:t>Further learning: Power BI Projects: https://learn.microsoft.com/power-bi/developer/projects/projects-overview | TMDL overview: https://learn.microsoft.com/analysis-services/tmdl/tmdl-overview | Power BI REST APIs: https://learn.microsoft.com/rest/api/power-bi/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E27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20040"/>
            <a:ext cx="1078992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b="1" sz="3000">
                <a:solidFill>
                  <a:srgbClr val="FFFFFF"/>
                </a:solidFill>
                <a:latin typeface="Aptos Display"/>
              </a:defRPr>
            </a:pPr>
            <a:r>
              <a:t>Automation Devops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914400"/>
            <a:ext cx="105156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>
                <a:solidFill>
                  <a:srgbClr val="02C39A"/>
                </a:solidFill>
                <a:latin typeface="Aptos"/>
              </a:defRPr>
            </a:pPr>
            <a:r>
              <a:t>Power BI Advanced Factory teaching deck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85800" y="1828800"/>
            <a:ext cx="3200400" cy="1234440"/>
          </a:xfrm>
          <a:prstGeom prst="roundRect">
            <a:avLst/>
          </a:prstGeom>
          <a:solidFill>
            <a:srgbClr val="FFFFFF"/>
          </a:solidFill>
          <a:ln>
            <a:solidFill>
              <a:srgbClr val="DCDC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85800" y="1828800"/>
            <a:ext cx="91440" cy="1234440"/>
          </a:xfrm>
          <a:prstGeom prst="rect">
            <a:avLst/>
          </a:prstGeom>
          <a:solidFill>
            <a:srgbClr val="02C3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68680" y="1938528"/>
            <a:ext cx="2880360" cy="1069848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defRPr b="1" sz="1500">
                <a:solidFill>
                  <a:srgbClr val="1E2761"/>
                </a:solidFill>
                <a:latin typeface="Aptos Display"/>
              </a:defRPr>
            </a:pPr>
            <a:r>
              <a:t>What students learn</a:t>
            </a:r>
          </a:p>
          <a:p>
            <a:pPr>
              <a:spcBef>
                <a:spcPts val="400"/>
              </a:spcBef>
              <a:defRPr sz="1050">
                <a:solidFill>
                  <a:srgbClr val="242424"/>
                </a:solidFill>
                <a:latin typeface="Aptos"/>
              </a:defRPr>
            </a:pPr>
            <a:r>
              <a:t>Key concepts and talking points from the module outline.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480560" y="1828800"/>
            <a:ext cx="3200400" cy="1234440"/>
          </a:xfrm>
          <a:prstGeom prst="roundRect">
            <a:avLst/>
          </a:prstGeom>
          <a:solidFill>
            <a:srgbClr val="FFFFFF"/>
          </a:solidFill>
          <a:ln>
            <a:solidFill>
              <a:srgbClr val="DCDC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480560" y="1828800"/>
            <a:ext cx="91440" cy="1234440"/>
          </a:xfrm>
          <a:prstGeom prst="rect">
            <a:avLst/>
          </a:prstGeom>
          <a:solidFill>
            <a:srgbClr val="F9B7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663440" y="1938528"/>
            <a:ext cx="2880360" cy="1069848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defRPr b="1" sz="1500">
                <a:solidFill>
                  <a:srgbClr val="1E2761"/>
                </a:solidFill>
                <a:latin typeface="Aptos Display"/>
              </a:defRPr>
            </a:pPr>
            <a:r>
              <a:t>Why it matters</a:t>
            </a:r>
          </a:p>
          <a:p>
            <a:pPr>
              <a:spcBef>
                <a:spcPts val="400"/>
              </a:spcBef>
              <a:defRPr sz="1050">
                <a:solidFill>
                  <a:srgbClr val="242424"/>
                </a:solidFill>
                <a:latin typeface="Aptos"/>
              </a:defRPr>
            </a:pPr>
            <a:r>
              <a:t>How the topic helps authors and report consumers.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275320" y="1828800"/>
            <a:ext cx="3200400" cy="1234440"/>
          </a:xfrm>
          <a:prstGeom prst="roundRect">
            <a:avLst/>
          </a:prstGeom>
          <a:solidFill>
            <a:srgbClr val="FFFFFF"/>
          </a:solidFill>
          <a:ln>
            <a:solidFill>
              <a:srgbClr val="DCDC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275320" y="1828800"/>
            <a:ext cx="91440" cy="1234440"/>
          </a:xfrm>
          <a:prstGeom prst="rect">
            <a:avLst/>
          </a:prstGeom>
          <a:solidFill>
            <a:srgbClr val="02809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458200" y="1938528"/>
            <a:ext cx="2880360" cy="1069848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defRPr b="1" sz="1500">
                <a:solidFill>
                  <a:srgbClr val="1E2761"/>
                </a:solidFill>
                <a:latin typeface="Aptos Display"/>
              </a:defRPr>
            </a:pPr>
            <a:r>
              <a:t>How labs connect</a:t>
            </a:r>
          </a:p>
          <a:p>
            <a:pPr>
              <a:spcBef>
                <a:spcPts val="400"/>
              </a:spcBef>
              <a:defRPr sz="1050">
                <a:solidFill>
                  <a:srgbClr val="242424"/>
                </a:solidFill>
                <a:latin typeface="Aptos"/>
              </a:defRPr>
            </a:pPr>
            <a:r>
              <a:t>Where learners apply the theme hands-on.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8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20040"/>
            <a:ext cx="1078992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b="1" sz="3000">
                <a:solidFill>
                  <a:srgbClr val="1E2761"/>
                </a:solidFill>
                <a:latin typeface="Aptos Display"/>
              </a:defRPr>
            </a:pPr>
            <a:r>
              <a:t>Module flow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914400"/>
            <a:ext cx="105156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>
                <a:solidFill>
                  <a:srgbClr val="5C5C5C"/>
                </a:solidFill>
                <a:latin typeface="Aptos"/>
              </a:defRPr>
            </a:pPr>
            <a:r>
              <a:t>Use this to introduce the section before hands-on labs.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94360" y="1143000"/>
            <a:ext cx="5074920" cy="822960"/>
          </a:xfrm>
          <a:prstGeom prst="roundRect">
            <a:avLst/>
          </a:prstGeom>
          <a:solidFill>
            <a:srgbClr val="FFFFFF"/>
          </a:solidFill>
          <a:ln>
            <a:solidFill>
              <a:srgbClr val="DCDC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94360" y="1143000"/>
            <a:ext cx="91440" cy="822960"/>
          </a:xfrm>
          <a:prstGeom prst="rect">
            <a:avLst/>
          </a:prstGeom>
          <a:solidFill>
            <a:srgbClr val="02809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1252728"/>
            <a:ext cx="4754880" cy="658368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defRPr b="1" sz="1500">
                <a:solidFill>
                  <a:srgbClr val="1E2761"/>
                </a:solidFill>
                <a:latin typeface="Aptos Display"/>
              </a:defRPr>
            </a:pPr>
            <a:r>
              <a:t>1. Lifecycle management goals</a:t>
            </a:r>
          </a:p>
          <a:p>
            <a:pPr>
              <a:spcBef>
                <a:spcPts val="400"/>
              </a:spcBef>
              <a:defRPr sz="1050">
                <a:solidFill>
                  <a:srgbClr val="242424"/>
                </a:solidFill>
                <a:latin typeface="Aptos"/>
              </a:defRPr>
            </a:pPr>
            <a:r>
              <a:t>Repeatability; Reviewability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172200" y="1143000"/>
            <a:ext cx="5074920" cy="822960"/>
          </a:xfrm>
          <a:prstGeom prst="roundRect">
            <a:avLst/>
          </a:prstGeom>
          <a:solidFill>
            <a:srgbClr val="FFFFFF"/>
          </a:solidFill>
          <a:ln>
            <a:solidFill>
              <a:srgbClr val="DCDC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172200" y="1143000"/>
            <a:ext cx="91440" cy="822960"/>
          </a:xfrm>
          <a:prstGeom prst="rect">
            <a:avLst/>
          </a:prstGeom>
          <a:solidFill>
            <a:srgbClr val="02C3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355080" y="1252728"/>
            <a:ext cx="4754880" cy="658368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defRPr b="1" sz="1500">
                <a:solidFill>
                  <a:srgbClr val="1E2761"/>
                </a:solidFill>
                <a:latin typeface="Aptos Display"/>
              </a:defRPr>
            </a:pPr>
            <a:r>
              <a:t>2. PBIP as source of record</a:t>
            </a:r>
          </a:p>
          <a:p>
            <a:pPr>
              <a:spcBef>
                <a:spcPts val="400"/>
              </a:spcBef>
              <a:defRPr sz="1050">
                <a:solidFill>
                  <a:srgbClr val="242424"/>
                </a:solidFill>
                <a:latin typeface="Aptos"/>
              </a:defRPr>
            </a:pPr>
            <a:r>
              <a:t>Report source files; Semantic model source files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94360" y="2286000"/>
            <a:ext cx="5074920" cy="822960"/>
          </a:xfrm>
          <a:prstGeom prst="roundRect">
            <a:avLst/>
          </a:prstGeom>
          <a:solidFill>
            <a:srgbClr val="FFFFFF"/>
          </a:solidFill>
          <a:ln>
            <a:solidFill>
              <a:srgbClr val="DCDC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594360" y="2286000"/>
            <a:ext cx="91440" cy="822960"/>
          </a:xfrm>
          <a:prstGeom prst="rect">
            <a:avLst/>
          </a:prstGeom>
          <a:solidFill>
            <a:srgbClr val="02809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77240" y="2395728"/>
            <a:ext cx="4754880" cy="658368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defRPr b="1" sz="1500">
                <a:solidFill>
                  <a:srgbClr val="1E2761"/>
                </a:solidFill>
                <a:latin typeface="Aptos Display"/>
              </a:defRPr>
            </a:pPr>
            <a:r>
              <a:t>3. Git workflow</a:t>
            </a:r>
          </a:p>
          <a:p>
            <a:pPr>
              <a:spcBef>
                <a:spcPts val="400"/>
              </a:spcBef>
              <a:defRPr sz="1050">
                <a:solidFill>
                  <a:srgbClr val="242424"/>
                </a:solidFill>
                <a:latin typeface="Aptos"/>
              </a:defRPr>
            </a:pPr>
            <a:r>
              <a:t>Branches; Commits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172200" y="2286000"/>
            <a:ext cx="5074920" cy="822960"/>
          </a:xfrm>
          <a:prstGeom prst="roundRect">
            <a:avLst/>
          </a:prstGeom>
          <a:solidFill>
            <a:srgbClr val="FFFFFF"/>
          </a:solidFill>
          <a:ln>
            <a:solidFill>
              <a:srgbClr val="DCDC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172200" y="2286000"/>
            <a:ext cx="91440" cy="822960"/>
          </a:xfrm>
          <a:prstGeom prst="rect">
            <a:avLst/>
          </a:prstGeom>
          <a:solidFill>
            <a:srgbClr val="02C3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355080" y="2395728"/>
            <a:ext cx="4754880" cy="658368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defRPr b="1" sz="1500">
                <a:solidFill>
                  <a:srgbClr val="1E2761"/>
                </a:solidFill>
                <a:latin typeface="Aptos Display"/>
              </a:defRPr>
            </a:pPr>
            <a:r>
              <a:t>4. PBIP file structure</a:t>
            </a:r>
          </a:p>
          <a:p>
            <a:pPr>
              <a:spcBef>
                <a:spcPts val="400"/>
              </a:spcBef>
              <a:defRPr sz="1050">
                <a:solidFill>
                  <a:srgbClr val="242424"/>
                </a:solidFill>
                <a:latin typeface="Aptos"/>
              </a:defRPr>
            </a:pPr>
            <a:r>
              <a:t>Report folder; Semantic model folder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94360" y="3429000"/>
            <a:ext cx="5074920" cy="822960"/>
          </a:xfrm>
          <a:prstGeom prst="roundRect">
            <a:avLst/>
          </a:prstGeom>
          <a:solidFill>
            <a:srgbClr val="FFFFFF"/>
          </a:solidFill>
          <a:ln>
            <a:solidFill>
              <a:srgbClr val="DCDC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594360" y="3429000"/>
            <a:ext cx="91440" cy="822960"/>
          </a:xfrm>
          <a:prstGeom prst="rect">
            <a:avLst/>
          </a:prstGeom>
          <a:solidFill>
            <a:srgbClr val="02809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77240" y="3538728"/>
            <a:ext cx="4754880" cy="658368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defRPr b="1" sz="1500">
                <a:solidFill>
                  <a:srgbClr val="1E2761"/>
                </a:solidFill>
                <a:latin typeface="Aptos Display"/>
              </a:defRPr>
            </a:pPr>
            <a:r>
              <a:t>5. External tools</a:t>
            </a:r>
          </a:p>
          <a:p>
            <a:pPr>
              <a:spcBef>
                <a:spcPts val="400"/>
              </a:spcBef>
              <a:defRPr sz="1050">
                <a:solidFill>
                  <a:srgbClr val="242424"/>
                </a:solidFill>
                <a:latin typeface="Aptos"/>
              </a:defRPr>
            </a:pPr>
            <a:r>
              <a:t>Tabular Editor; ALM Toolkit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172200" y="3429000"/>
            <a:ext cx="5074920" cy="822960"/>
          </a:xfrm>
          <a:prstGeom prst="roundRect">
            <a:avLst/>
          </a:prstGeom>
          <a:solidFill>
            <a:srgbClr val="FFFFFF"/>
          </a:solidFill>
          <a:ln>
            <a:solidFill>
              <a:srgbClr val="DCDC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6172200" y="3429000"/>
            <a:ext cx="91440" cy="822960"/>
          </a:xfrm>
          <a:prstGeom prst="rect">
            <a:avLst/>
          </a:prstGeom>
          <a:solidFill>
            <a:srgbClr val="02C3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355080" y="3538728"/>
            <a:ext cx="4754880" cy="658368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defRPr b="1" sz="1500">
                <a:solidFill>
                  <a:srgbClr val="1E2761"/>
                </a:solidFill>
                <a:latin typeface="Aptos Display"/>
              </a:defRPr>
            </a:pPr>
            <a:r>
              <a:t>6. REST APIs and PowerShell</a:t>
            </a:r>
          </a:p>
          <a:p>
            <a:pPr>
              <a:spcBef>
                <a:spcPts val="400"/>
              </a:spcBef>
              <a:defRPr sz="1050">
                <a:solidFill>
                  <a:srgbClr val="242424"/>
                </a:solidFill>
                <a:latin typeface="Aptos"/>
              </a:defRPr>
            </a:pPr>
            <a:r>
              <a:t>Workspace operations; Import/export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594360" y="4572000"/>
            <a:ext cx="5074920" cy="822960"/>
          </a:xfrm>
          <a:prstGeom prst="roundRect">
            <a:avLst/>
          </a:prstGeom>
          <a:solidFill>
            <a:srgbClr val="FFFFFF"/>
          </a:solidFill>
          <a:ln>
            <a:solidFill>
              <a:srgbClr val="DCDC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594360" y="4572000"/>
            <a:ext cx="91440" cy="822960"/>
          </a:xfrm>
          <a:prstGeom prst="rect">
            <a:avLst/>
          </a:prstGeom>
          <a:solidFill>
            <a:srgbClr val="02809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777240" y="4681728"/>
            <a:ext cx="4754880" cy="658368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defRPr b="1" sz="1500">
                <a:solidFill>
                  <a:srgbClr val="1E2761"/>
                </a:solidFill>
                <a:latin typeface="Aptos Display"/>
              </a:defRPr>
            </a:pPr>
            <a:r>
              <a:t>7. Service principals</a:t>
            </a:r>
          </a:p>
          <a:p>
            <a:pPr>
              <a:spcBef>
                <a:spcPts val="400"/>
              </a:spcBef>
              <a:defRPr sz="1050">
                <a:solidFill>
                  <a:srgbClr val="242424"/>
                </a:solidFill>
                <a:latin typeface="Aptos"/>
              </a:defRPr>
            </a:pPr>
            <a:r>
              <a:t>Entra ID app registration; Tenant settings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6172200" y="4572000"/>
            <a:ext cx="5074920" cy="822960"/>
          </a:xfrm>
          <a:prstGeom prst="roundRect">
            <a:avLst/>
          </a:prstGeom>
          <a:solidFill>
            <a:srgbClr val="FFFFFF"/>
          </a:solidFill>
          <a:ln>
            <a:solidFill>
              <a:srgbClr val="DCDC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6172200" y="4572000"/>
            <a:ext cx="91440" cy="822960"/>
          </a:xfrm>
          <a:prstGeom prst="rect">
            <a:avLst/>
          </a:prstGeom>
          <a:solidFill>
            <a:srgbClr val="02C3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355080" y="4681728"/>
            <a:ext cx="4754880" cy="658368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defRPr b="1" sz="1500">
                <a:solidFill>
                  <a:srgbClr val="1E2761"/>
                </a:solidFill>
                <a:latin typeface="Aptos Display"/>
              </a:defRPr>
            </a:pPr>
            <a:r>
              <a:t>8. Fabric workspace Git integration</a:t>
            </a:r>
          </a:p>
          <a:p>
            <a:pPr>
              <a:spcBef>
                <a:spcPts val="400"/>
              </a:spcBef>
              <a:defRPr sz="1050">
                <a:solidFill>
                  <a:srgbClr val="242424"/>
                </a:solidFill>
                <a:latin typeface="Aptos"/>
              </a:defRPr>
            </a:pPr>
            <a:r>
              <a:t>Workspace-connected git; Branching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0789920" y="6492240"/>
            <a:ext cx="91440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900">
                <a:solidFill>
                  <a:srgbClr val="5C5C5C"/>
                </a:solidFill>
              </a:defRPr>
            </a:pPr>
            <a:r>
              <a:t>02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8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20040"/>
            <a:ext cx="1078992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b="1" sz="3000">
                <a:solidFill>
                  <a:srgbClr val="1E2761"/>
                </a:solidFill>
                <a:latin typeface="Aptos Display"/>
              </a:defRPr>
            </a:pPr>
            <a:r>
              <a:t>1. Lifecycle management goals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914400"/>
            <a:ext cx="105156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>
                <a:solidFill>
                  <a:srgbClr val="5C5C5C"/>
                </a:solidFill>
                <a:latin typeface="Aptos"/>
              </a:defRPr>
            </a:pPr>
            <a:r>
              <a:t>Talking points, learner value, and lab connection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" y="1234440"/>
            <a:ext cx="5303520" cy="1828800"/>
          </a:xfrm>
          <a:prstGeom prst="roundRect">
            <a:avLst/>
          </a:prstGeom>
          <a:solidFill>
            <a:srgbClr val="FFFFFF"/>
          </a:solidFill>
          <a:ln>
            <a:solidFill>
              <a:srgbClr val="DCDC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40080" y="1234440"/>
            <a:ext cx="91440" cy="1828800"/>
          </a:xfrm>
          <a:prstGeom prst="rect">
            <a:avLst/>
          </a:prstGeom>
          <a:solidFill>
            <a:srgbClr val="02809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59" y="1344168"/>
            <a:ext cx="4983480" cy="1664208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defRPr b="1" sz="1500">
                <a:solidFill>
                  <a:srgbClr val="1E2761"/>
                </a:solidFill>
                <a:latin typeface="Aptos Display"/>
              </a:defRPr>
            </a:pPr>
            <a:r>
              <a:t>Talking points</a:t>
            </a:r>
          </a:p>
          <a:p>
            <a:pPr>
              <a:spcBef>
                <a:spcPts val="400"/>
              </a:spcBef>
              <a:defRPr sz="1050">
                <a:solidFill>
                  <a:srgbClr val="242424"/>
                </a:solidFill>
                <a:latin typeface="Aptos"/>
              </a:defRPr>
            </a:pPr>
            <a:r>
              <a:t>• Repeatability</a:t>
            </a:r>
            <a:br/>
            <a:r>
              <a:t>• Reviewability</a:t>
            </a:r>
            <a:br/>
            <a:r>
              <a:t>• Environment promotion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63640" y="1234440"/>
            <a:ext cx="5303520" cy="1828800"/>
          </a:xfrm>
          <a:prstGeom prst="roundRect">
            <a:avLst/>
          </a:prstGeom>
          <a:solidFill>
            <a:srgbClr val="FFFFFF"/>
          </a:solidFill>
          <a:ln>
            <a:solidFill>
              <a:srgbClr val="DCDC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263640" y="1234440"/>
            <a:ext cx="91440" cy="1828800"/>
          </a:xfrm>
          <a:prstGeom prst="rect">
            <a:avLst/>
          </a:prstGeom>
          <a:solidFill>
            <a:srgbClr val="02C3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46520" y="1344168"/>
            <a:ext cx="4983480" cy="1664208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defRPr b="1" sz="1500">
                <a:solidFill>
                  <a:srgbClr val="1E2761"/>
                </a:solidFill>
                <a:latin typeface="Aptos Display"/>
              </a:defRPr>
            </a:pPr>
            <a:r>
              <a:t>Why it helps</a:t>
            </a:r>
          </a:p>
          <a:p>
            <a:pPr>
              <a:spcBef>
                <a:spcPts val="400"/>
              </a:spcBef>
              <a:defRPr sz="1050">
                <a:solidFill>
                  <a:srgbClr val="242424"/>
                </a:solidFill>
                <a:latin typeface="Aptos"/>
              </a:defRPr>
            </a:pPr>
            <a:r>
              <a:t>• Governance</a:t>
            </a:r>
            <a:br/>
            <a:r>
              <a:t>• Rollback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22960" y="4160520"/>
            <a:ext cx="10424160" cy="868680"/>
          </a:xfrm>
          <a:prstGeom prst="roundRect">
            <a:avLst/>
          </a:prstGeom>
          <a:solidFill>
            <a:srgbClr val="FFFFFF"/>
          </a:solidFill>
          <a:ln>
            <a:solidFill>
              <a:srgbClr val="DCDC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22960" y="4160520"/>
            <a:ext cx="91440" cy="868680"/>
          </a:xfrm>
          <a:prstGeom prst="rect">
            <a:avLst/>
          </a:prstGeom>
          <a:solidFill>
            <a:srgbClr val="F9B7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05840" y="4270248"/>
            <a:ext cx="10104120" cy="704088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defRPr b="1" sz="1500">
                <a:solidFill>
                  <a:srgbClr val="1E2761"/>
                </a:solidFill>
                <a:latin typeface="Aptos Display"/>
              </a:defRPr>
            </a:pPr>
            <a:r>
              <a:t>Lab connection</a:t>
            </a:r>
          </a:p>
          <a:p>
            <a:pPr>
              <a:spcBef>
                <a:spcPts val="400"/>
              </a:spcBef>
              <a:defRPr sz="1050">
                <a:solidFill>
                  <a:srgbClr val="242424"/>
                </a:solidFill>
                <a:latin typeface="Aptos"/>
              </a:defRPr>
            </a:pPr>
            <a:r>
              <a:t>Coverage: Partial. Use the lab README to demonstrate or discuss this topic. Review terms: goals, governance, promotion, repeatability, reviewability.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789920" y="6492240"/>
            <a:ext cx="91440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900">
                <a:solidFill>
                  <a:srgbClr val="5C5C5C"/>
                </a:solidFill>
              </a:defRPr>
            </a:pPr>
            <a:r>
              <a:t>03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8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20040"/>
            <a:ext cx="1078992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b="1" sz="3000">
                <a:solidFill>
                  <a:srgbClr val="1E2761"/>
                </a:solidFill>
                <a:latin typeface="Aptos Display"/>
              </a:defRPr>
            </a:pPr>
            <a:r>
              <a:t>2. PBIP as source of record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914400"/>
            <a:ext cx="105156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>
                <a:solidFill>
                  <a:srgbClr val="5C5C5C"/>
                </a:solidFill>
                <a:latin typeface="Aptos"/>
              </a:defRPr>
            </a:pPr>
            <a:r>
              <a:t>Talking points, learner value, and lab connection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" y="1234440"/>
            <a:ext cx="5303520" cy="1828800"/>
          </a:xfrm>
          <a:prstGeom prst="roundRect">
            <a:avLst/>
          </a:prstGeom>
          <a:solidFill>
            <a:srgbClr val="FFFFFF"/>
          </a:solidFill>
          <a:ln>
            <a:solidFill>
              <a:srgbClr val="DCDC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40080" y="1234440"/>
            <a:ext cx="91440" cy="1828800"/>
          </a:xfrm>
          <a:prstGeom prst="rect">
            <a:avLst/>
          </a:prstGeom>
          <a:solidFill>
            <a:srgbClr val="02809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59" y="1344168"/>
            <a:ext cx="4983480" cy="1664208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defRPr b="1" sz="1500">
                <a:solidFill>
                  <a:srgbClr val="1E2761"/>
                </a:solidFill>
                <a:latin typeface="Aptos Display"/>
              </a:defRPr>
            </a:pPr>
            <a:r>
              <a:t>Talking points</a:t>
            </a:r>
          </a:p>
          <a:p>
            <a:pPr>
              <a:spcBef>
                <a:spcPts val="400"/>
              </a:spcBef>
              <a:defRPr sz="1050">
                <a:solidFill>
                  <a:srgbClr val="242424"/>
                </a:solidFill>
                <a:latin typeface="Aptos"/>
              </a:defRPr>
            </a:pPr>
            <a:r>
              <a:t>• Report source files</a:t>
            </a:r>
            <a:br/>
            <a:r>
              <a:t>• Semantic model source files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63640" y="1234440"/>
            <a:ext cx="5303520" cy="1828800"/>
          </a:xfrm>
          <a:prstGeom prst="roundRect">
            <a:avLst/>
          </a:prstGeom>
          <a:solidFill>
            <a:srgbClr val="FFFFFF"/>
          </a:solidFill>
          <a:ln>
            <a:solidFill>
              <a:srgbClr val="DCDC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263640" y="1234440"/>
            <a:ext cx="91440" cy="1828800"/>
          </a:xfrm>
          <a:prstGeom prst="rect">
            <a:avLst/>
          </a:prstGeom>
          <a:solidFill>
            <a:srgbClr val="02C3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46520" y="1344168"/>
            <a:ext cx="4983480" cy="1664208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defRPr b="1" sz="1500">
                <a:solidFill>
                  <a:srgbClr val="1E2761"/>
                </a:solidFill>
                <a:latin typeface="Aptos Display"/>
              </a:defRPr>
            </a:pPr>
            <a:r>
              <a:t>Why it helps</a:t>
            </a:r>
          </a:p>
          <a:p>
            <a:pPr>
              <a:spcBef>
                <a:spcPts val="400"/>
              </a:spcBef>
              <a:defRPr sz="1050">
                <a:solidFill>
                  <a:srgbClr val="242424"/>
                </a:solidFill>
                <a:latin typeface="Aptos"/>
              </a:defRPr>
            </a:pPr>
            <a:r>
              <a:t>• Git-friendly review</a:t>
            </a:r>
            <a:br/>
            <a:r>
              <a:t>• PBIX as generated output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22960" y="4160520"/>
            <a:ext cx="10424160" cy="868680"/>
          </a:xfrm>
          <a:prstGeom prst="roundRect">
            <a:avLst/>
          </a:prstGeom>
          <a:solidFill>
            <a:srgbClr val="FFFFFF"/>
          </a:solidFill>
          <a:ln>
            <a:solidFill>
              <a:srgbClr val="DCDC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22960" y="4160520"/>
            <a:ext cx="91440" cy="868680"/>
          </a:xfrm>
          <a:prstGeom prst="rect">
            <a:avLst/>
          </a:prstGeom>
          <a:solidFill>
            <a:srgbClr val="F9B7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05840" y="4270248"/>
            <a:ext cx="10104120" cy="704088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defRPr b="1" sz="1500">
                <a:solidFill>
                  <a:srgbClr val="1E2761"/>
                </a:solidFill>
                <a:latin typeface="Aptos Display"/>
              </a:defRPr>
            </a:pPr>
            <a:r>
              <a:t>Lab connection</a:t>
            </a:r>
          </a:p>
          <a:p>
            <a:pPr>
              <a:spcBef>
                <a:spcPts val="400"/>
              </a:spcBef>
              <a:defRPr sz="1050">
                <a:solidFill>
                  <a:srgbClr val="242424"/>
                </a:solidFill>
                <a:latin typeface="Aptos"/>
              </a:defRPr>
            </a:pPr>
            <a:r>
              <a:t>Coverage: Covered. Use the lab README to demonstrate or discuss this topic. Review terms: output.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789920" y="6492240"/>
            <a:ext cx="91440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900">
                <a:solidFill>
                  <a:srgbClr val="5C5C5C"/>
                </a:solidFill>
              </a:defRPr>
            </a:pPr>
            <a:r>
              <a:t>04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8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20040"/>
            <a:ext cx="1078992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b="1" sz="3000">
                <a:solidFill>
                  <a:srgbClr val="1E2761"/>
                </a:solidFill>
                <a:latin typeface="Aptos Display"/>
              </a:defRPr>
            </a:pPr>
            <a:r>
              <a:t>3. Git workflow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914400"/>
            <a:ext cx="105156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>
                <a:solidFill>
                  <a:srgbClr val="5C5C5C"/>
                </a:solidFill>
                <a:latin typeface="Aptos"/>
              </a:defRPr>
            </a:pPr>
            <a:r>
              <a:t>Talking points, learner value, and lab connection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" y="1234440"/>
            <a:ext cx="5303520" cy="1828800"/>
          </a:xfrm>
          <a:prstGeom prst="roundRect">
            <a:avLst/>
          </a:prstGeom>
          <a:solidFill>
            <a:srgbClr val="FFFFFF"/>
          </a:solidFill>
          <a:ln>
            <a:solidFill>
              <a:srgbClr val="DCDC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40080" y="1234440"/>
            <a:ext cx="91440" cy="1828800"/>
          </a:xfrm>
          <a:prstGeom prst="rect">
            <a:avLst/>
          </a:prstGeom>
          <a:solidFill>
            <a:srgbClr val="02809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59" y="1344168"/>
            <a:ext cx="4983480" cy="1664208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defRPr b="1" sz="1500">
                <a:solidFill>
                  <a:srgbClr val="1E2761"/>
                </a:solidFill>
                <a:latin typeface="Aptos Display"/>
              </a:defRPr>
            </a:pPr>
            <a:r>
              <a:t>Talking points</a:t>
            </a:r>
          </a:p>
          <a:p>
            <a:pPr>
              <a:spcBef>
                <a:spcPts val="400"/>
              </a:spcBef>
              <a:defRPr sz="1050">
                <a:solidFill>
                  <a:srgbClr val="242424"/>
                </a:solidFill>
                <a:latin typeface="Aptos"/>
              </a:defRPr>
            </a:pPr>
            <a:r>
              <a:t>• Branches</a:t>
            </a:r>
            <a:br/>
            <a:r>
              <a:t>• Commits</a:t>
            </a:r>
            <a:br/>
            <a:r>
              <a:t>• Pull requests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63640" y="1234440"/>
            <a:ext cx="5303520" cy="1828800"/>
          </a:xfrm>
          <a:prstGeom prst="roundRect">
            <a:avLst/>
          </a:prstGeom>
          <a:solidFill>
            <a:srgbClr val="FFFFFF"/>
          </a:solidFill>
          <a:ln>
            <a:solidFill>
              <a:srgbClr val="DCDC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263640" y="1234440"/>
            <a:ext cx="91440" cy="1828800"/>
          </a:xfrm>
          <a:prstGeom prst="rect">
            <a:avLst/>
          </a:prstGeom>
          <a:solidFill>
            <a:srgbClr val="02C3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46520" y="1344168"/>
            <a:ext cx="4983480" cy="1664208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defRPr b="1" sz="1500">
                <a:solidFill>
                  <a:srgbClr val="1E2761"/>
                </a:solidFill>
                <a:latin typeface="Aptos Display"/>
              </a:defRPr>
            </a:pPr>
            <a:r>
              <a:t>Why it helps</a:t>
            </a:r>
          </a:p>
          <a:p>
            <a:pPr>
              <a:spcBef>
                <a:spcPts val="400"/>
              </a:spcBef>
              <a:defRPr sz="1050">
                <a:solidFill>
                  <a:srgbClr val="242424"/>
                </a:solidFill>
                <a:latin typeface="Aptos"/>
              </a:defRPr>
            </a:pPr>
            <a:r>
              <a:t>• Review practices</a:t>
            </a:r>
            <a:br/>
            <a:r>
              <a:t>• Tags and releases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22960" y="4160520"/>
            <a:ext cx="10424160" cy="868680"/>
          </a:xfrm>
          <a:prstGeom prst="roundRect">
            <a:avLst/>
          </a:prstGeom>
          <a:solidFill>
            <a:srgbClr val="FFFFFF"/>
          </a:solidFill>
          <a:ln>
            <a:solidFill>
              <a:srgbClr val="DCDC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22960" y="4160520"/>
            <a:ext cx="91440" cy="868680"/>
          </a:xfrm>
          <a:prstGeom prst="rect">
            <a:avLst/>
          </a:prstGeom>
          <a:solidFill>
            <a:srgbClr val="F9B7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05840" y="4270248"/>
            <a:ext cx="10104120" cy="704088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defRPr b="1" sz="1500">
                <a:solidFill>
                  <a:srgbClr val="1E2761"/>
                </a:solidFill>
                <a:latin typeface="Aptos Display"/>
              </a:defRPr>
            </a:pPr>
            <a:r>
              <a:t>Lab connection</a:t>
            </a:r>
          </a:p>
          <a:p>
            <a:pPr>
              <a:spcBef>
                <a:spcPts val="400"/>
              </a:spcBef>
              <a:defRPr sz="1050">
                <a:solidFill>
                  <a:srgbClr val="242424"/>
                </a:solidFill>
                <a:latin typeface="Aptos"/>
              </a:defRPr>
            </a:pPr>
            <a:r>
              <a:t>Coverage: Partial. Use the lab README to demonstrate or discuss this topic. Review terms: branches, commits, practices, releases, requests.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789920" y="6492240"/>
            <a:ext cx="91440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900">
                <a:solidFill>
                  <a:srgbClr val="5C5C5C"/>
                </a:solidFill>
              </a:defRPr>
            </a:pPr>
            <a:r>
              <a:t>05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8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20040"/>
            <a:ext cx="1078992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b="1" sz="3000">
                <a:solidFill>
                  <a:srgbClr val="1E2761"/>
                </a:solidFill>
                <a:latin typeface="Aptos Display"/>
              </a:defRPr>
            </a:pPr>
            <a:r>
              <a:t>4. PBIP file structure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914400"/>
            <a:ext cx="105156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>
                <a:solidFill>
                  <a:srgbClr val="5C5C5C"/>
                </a:solidFill>
                <a:latin typeface="Aptos"/>
              </a:defRPr>
            </a:pPr>
            <a:r>
              <a:t>Talking points, learner value, and lab connection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" y="1234440"/>
            <a:ext cx="5303520" cy="1828800"/>
          </a:xfrm>
          <a:prstGeom prst="roundRect">
            <a:avLst/>
          </a:prstGeom>
          <a:solidFill>
            <a:srgbClr val="FFFFFF"/>
          </a:solidFill>
          <a:ln>
            <a:solidFill>
              <a:srgbClr val="DCDC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40080" y="1234440"/>
            <a:ext cx="91440" cy="1828800"/>
          </a:xfrm>
          <a:prstGeom prst="rect">
            <a:avLst/>
          </a:prstGeom>
          <a:solidFill>
            <a:srgbClr val="02809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59" y="1344168"/>
            <a:ext cx="4983480" cy="1664208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defRPr b="1" sz="1500">
                <a:solidFill>
                  <a:srgbClr val="1E2761"/>
                </a:solidFill>
                <a:latin typeface="Aptos Display"/>
              </a:defRPr>
            </a:pPr>
            <a:r>
              <a:t>Talking points</a:t>
            </a:r>
          </a:p>
          <a:p>
            <a:pPr>
              <a:spcBef>
                <a:spcPts val="400"/>
              </a:spcBef>
              <a:defRPr sz="1050">
                <a:solidFill>
                  <a:srgbClr val="242424"/>
                </a:solidFill>
                <a:latin typeface="Aptos"/>
              </a:defRPr>
            </a:pPr>
            <a:r>
              <a:t>• Report folder</a:t>
            </a:r>
            <a:br/>
            <a:r>
              <a:t>• Semantic model folder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63640" y="1234440"/>
            <a:ext cx="5303520" cy="1828800"/>
          </a:xfrm>
          <a:prstGeom prst="roundRect">
            <a:avLst/>
          </a:prstGeom>
          <a:solidFill>
            <a:srgbClr val="FFFFFF"/>
          </a:solidFill>
          <a:ln>
            <a:solidFill>
              <a:srgbClr val="DCDC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263640" y="1234440"/>
            <a:ext cx="91440" cy="1828800"/>
          </a:xfrm>
          <a:prstGeom prst="rect">
            <a:avLst/>
          </a:prstGeom>
          <a:solidFill>
            <a:srgbClr val="02C3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46520" y="1344168"/>
            <a:ext cx="4983480" cy="1664208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defRPr b="1" sz="1500">
                <a:solidFill>
                  <a:srgbClr val="1E2761"/>
                </a:solidFill>
                <a:latin typeface="Aptos Display"/>
              </a:defRPr>
            </a:pPr>
            <a:r>
              <a:t>Why it helps</a:t>
            </a:r>
          </a:p>
          <a:p>
            <a:pPr>
              <a:spcBef>
                <a:spcPts val="400"/>
              </a:spcBef>
              <a:defRPr sz="1050">
                <a:solidFill>
                  <a:srgbClr val="242424"/>
                </a:solidFill>
                <a:latin typeface="Aptos"/>
              </a:defRPr>
            </a:pPr>
            <a:r>
              <a:t>• Definition files</a:t>
            </a:r>
            <a:br/>
            <a:r>
              <a:t>• What to review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22960" y="4160520"/>
            <a:ext cx="10424160" cy="868680"/>
          </a:xfrm>
          <a:prstGeom prst="roundRect">
            <a:avLst/>
          </a:prstGeom>
          <a:solidFill>
            <a:srgbClr val="FFFFFF"/>
          </a:solidFill>
          <a:ln>
            <a:solidFill>
              <a:srgbClr val="DCDC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22960" y="4160520"/>
            <a:ext cx="91440" cy="868680"/>
          </a:xfrm>
          <a:prstGeom prst="rect">
            <a:avLst/>
          </a:prstGeom>
          <a:solidFill>
            <a:srgbClr val="F9B7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05840" y="4270248"/>
            <a:ext cx="10104120" cy="704088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defRPr b="1" sz="1500">
                <a:solidFill>
                  <a:srgbClr val="1E2761"/>
                </a:solidFill>
                <a:latin typeface="Aptos Display"/>
              </a:defRPr>
            </a:pPr>
            <a:r>
              <a:t>Lab connection</a:t>
            </a:r>
          </a:p>
          <a:p>
            <a:pPr>
              <a:spcBef>
                <a:spcPts val="400"/>
              </a:spcBef>
              <a:defRPr sz="1050">
                <a:solidFill>
                  <a:srgbClr val="242424"/>
                </a:solidFill>
                <a:latin typeface="Aptos"/>
              </a:defRPr>
            </a:pPr>
            <a:r>
              <a:t>Coverage: Covered. Use the lab README to demonstrate or discuss this topic. Review terms: none.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789920" y="6492240"/>
            <a:ext cx="91440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900">
                <a:solidFill>
                  <a:srgbClr val="5C5C5C"/>
                </a:solidFill>
              </a:defRPr>
            </a:pPr>
            <a:r>
              <a:t>06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8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20040"/>
            <a:ext cx="1078992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b="1" sz="3000">
                <a:solidFill>
                  <a:srgbClr val="1E2761"/>
                </a:solidFill>
                <a:latin typeface="Aptos Display"/>
              </a:defRPr>
            </a:pPr>
            <a:r>
              <a:t>5. External tools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914400"/>
            <a:ext cx="105156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>
                <a:solidFill>
                  <a:srgbClr val="5C5C5C"/>
                </a:solidFill>
                <a:latin typeface="Aptos"/>
              </a:defRPr>
            </a:pPr>
            <a:r>
              <a:t>Talking points, learner value, and lab connection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" y="1234440"/>
            <a:ext cx="5303520" cy="1828800"/>
          </a:xfrm>
          <a:prstGeom prst="roundRect">
            <a:avLst/>
          </a:prstGeom>
          <a:solidFill>
            <a:srgbClr val="FFFFFF"/>
          </a:solidFill>
          <a:ln>
            <a:solidFill>
              <a:srgbClr val="DCDC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40080" y="1234440"/>
            <a:ext cx="91440" cy="1828800"/>
          </a:xfrm>
          <a:prstGeom prst="rect">
            <a:avLst/>
          </a:prstGeom>
          <a:solidFill>
            <a:srgbClr val="02809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59" y="1344168"/>
            <a:ext cx="4983480" cy="1664208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defRPr b="1" sz="1500">
                <a:solidFill>
                  <a:srgbClr val="1E2761"/>
                </a:solidFill>
                <a:latin typeface="Aptos Display"/>
              </a:defRPr>
            </a:pPr>
            <a:r>
              <a:t>Talking points</a:t>
            </a:r>
          </a:p>
          <a:p>
            <a:pPr>
              <a:spcBef>
                <a:spcPts val="400"/>
              </a:spcBef>
              <a:defRPr sz="1050">
                <a:solidFill>
                  <a:srgbClr val="242424"/>
                </a:solidFill>
                <a:latin typeface="Aptos"/>
              </a:defRPr>
            </a:pPr>
            <a:r>
              <a:t>• Tabular Editor</a:t>
            </a:r>
            <a:br/>
            <a:r>
              <a:t>• ALM Toolkit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63640" y="1234440"/>
            <a:ext cx="5303520" cy="1828800"/>
          </a:xfrm>
          <a:prstGeom prst="roundRect">
            <a:avLst/>
          </a:prstGeom>
          <a:solidFill>
            <a:srgbClr val="FFFFFF"/>
          </a:solidFill>
          <a:ln>
            <a:solidFill>
              <a:srgbClr val="DCDC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263640" y="1234440"/>
            <a:ext cx="91440" cy="1828800"/>
          </a:xfrm>
          <a:prstGeom prst="rect">
            <a:avLst/>
          </a:prstGeom>
          <a:solidFill>
            <a:srgbClr val="02C3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46520" y="1344168"/>
            <a:ext cx="4983480" cy="1664208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defRPr b="1" sz="1500">
                <a:solidFill>
                  <a:srgbClr val="1E2761"/>
                </a:solidFill>
                <a:latin typeface="Aptos Display"/>
              </a:defRPr>
            </a:pPr>
            <a:r>
              <a:t>Why it helps</a:t>
            </a:r>
          </a:p>
          <a:p>
            <a:pPr>
              <a:spcBef>
                <a:spcPts val="400"/>
              </a:spcBef>
              <a:defRPr sz="1050">
                <a:solidFill>
                  <a:srgbClr val="242424"/>
                </a:solidFill>
                <a:latin typeface="Aptos"/>
              </a:defRPr>
            </a:pPr>
            <a:r>
              <a:t>• XMLA dependency</a:t>
            </a:r>
            <a:br/>
            <a:r>
              <a:t>• Customer policy validation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22960" y="4160520"/>
            <a:ext cx="10424160" cy="868680"/>
          </a:xfrm>
          <a:prstGeom prst="roundRect">
            <a:avLst/>
          </a:prstGeom>
          <a:solidFill>
            <a:srgbClr val="FFFFFF"/>
          </a:solidFill>
          <a:ln>
            <a:solidFill>
              <a:srgbClr val="DCDC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22960" y="4160520"/>
            <a:ext cx="91440" cy="868680"/>
          </a:xfrm>
          <a:prstGeom prst="rect">
            <a:avLst/>
          </a:prstGeom>
          <a:solidFill>
            <a:srgbClr val="F9B7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05840" y="4270248"/>
            <a:ext cx="10104120" cy="704088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defRPr b="1" sz="1500">
                <a:solidFill>
                  <a:srgbClr val="1E2761"/>
                </a:solidFill>
                <a:latin typeface="Aptos Display"/>
              </a:defRPr>
            </a:pPr>
            <a:r>
              <a:t>Lab connection</a:t>
            </a:r>
          </a:p>
          <a:p>
            <a:pPr>
              <a:spcBef>
                <a:spcPts val="400"/>
              </a:spcBef>
              <a:defRPr sz="1050">
                <a:solidFill>
                  <a:srgbClr val="242424"/>
                </a:solidFill>
                <a:latin typeface="Aptos"/>
              </a:defRPr>
            </a:pPr>
            <a:r>
              <a:t>Coverage: Covered. Use the lab README to demonstrate or discuss this topic. Review terms: dependency.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789920" y="6492240"/>
            <a:ext cx="91440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900">
                <a:solidFill>
                  <a:srgbClr val="5C5C5C"/>
                </a:solidFill>
              </a:defRPr>
            </a:pPr>
            <a:r>
              <a:t>07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8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20040"/>
            <a:ext cx="1078992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b="1" sz="3000">
                <a:solidFill>
                  <a:srgbClr val="1E2761"/>
                </a:solidFill>
                <a:latin typeface="Aptos Display"/>
              </a:defRPr>
            </a:pPr>
            <a:r>
              <a:t>6. REST APIs and PowerShell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914400"/>
            <a:ext cx="105156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>
                <a:solidFill>
                  <a:srgbClr val="5C5C5C"/>
                </a:solidFill>
                <a:latin typeface="Aptos"/>
              </a:defRPr>
            </a:pPr>
            <a:r>
              <a:t>Talking points, learner value, and lab connection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" y="1234440"/>
            <a:ext cx="5303520" cy="1828800"/>
          </a:xfrm>
          <a:prstGeom prst="roundRect">
            <a:avLst/>
          </a:prstGeom>
          <a:solidFill>
            <a:srgbClr val="FFFFFF"/>
          </a:solidFill>
          <a:ln>
            <a:solidFill>
              <a:srgbClr val="DCDC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40080" y="1234440"/>
            <a:ext cx="91440" cy="1828800"/>
          </a:xfrm>
          <a:prstGeom prst="rect">
            <a:avLst/>
          </a:prstGeom>
          <a:solidFill>
            <a:srgbClr val="02809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59" y="1344168"/>
            <a:ext cx="4983480" cy="1664208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defRPr b="1" sz="1500">
                <a:solidFill>
                  <a:srgbClr val="1E2761"/>
                </a:solidFill>
                <a:latin typeface="Aptos Display"/>
              </a:defRPr>
            </a:pPr>
            <a:r>
              <a:t>Talking points</a:t>
            </a:r>
          </a:p>
          <a:p>
            <a:pPr>
              <a:spcBef>
                <a:spcPts val="400"/>
              </a:spcBef>
              <a:defRPr sz="1050">
                <a:solidFill>
                  <a:srgbClr val="242424"/>
                </a:solidFill>
                <a:latin typeface="Aptos"/>
              </a:defRPr>
            </a:pPr>
            <a:r>
              <a:t>• Workspace operations</a:t>
            </a:r>
            <a:br/>
            <a:r>
              <a:t>• Import/export</a:t>
            </a:r>
            <a:br/>
            <a:r>
              <a:t>• Refresh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63640" y="1234440"/>
            <a:ext cx="5303520" cy="1828800"/>
          </a:xfrm>
          <a:prstGeom prst="roundRect">
            <a:avLst/>
          </a:prstGeom>
          <a:solidFill>
            <a:srgbClr val="FFFFFF"/>
          </a:solidFill>
          <a:ln>
            <a:solidFill>
              <a:srgbClr val="DCDC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263640" y="1234440"/>
            <a:ext cx="91440" cy="1828800"/>
          </a:xfrm>
          <a:prstGeom prst="rect">
            <a:avLst/>
          </a:prstGeom>
          <a:solidFill>
            <a:srgbClr val="02C3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46520" y="1344168"/>
            <a:ext cx="4983480" cy="1664208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defRPr b="1" sz="1500">
                <a:solidFill>
                  <a:srgbClr val="1E2761"/>
                </a:solidFill>
                <a:latin typeface="Aptos Display"/>
              </a:defRPr>
            </a:pPr>
            <a:r>
              <a:t>Why it helps</a:t>
            </a:r>
          </a:p>
          <a:p>
            <a:pPr>
              <a:spcBef>
                <a:spcPts val="400"/>
              </a:spcBef>
              <a:defRPr sz="1050">
                <a:solidFill>
                  <a:srgbClr val="242424"/>
                </a:solidFill>
                <a:latin typeface="Aptos"/>
              </a:defRPr>
            </a:pPr>
            <a:r>
              <a:t>• Permissions</a:t>
            </a:r>
            <a:br/>
            <a:r>
              <a:t>• Endpoint and cloud validation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22960" y="4160520"/>
            <a:ext cx="10424160" cy="868680"/>
          </a:xfrm>
          <a:prstGeom prst="roundRect">
            <a:avLst/>
          </a:prstGeom>
          <a:solidFill>
            <a:srgbClr val="FFFFFF"/>
          </a:solidFill>
          <a:ln>
            <a:solidFill>
              <a:srgbClr val="DCDC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22960" y="4160520"/>
            <a:ext cx="91440" cy="868680"/>
          </a:xfrm>
          <a:prstGeom prst="rect">
            <a:avLst/>
          </a:prstGeom>
          <a:solidFill>
            <a:srgbClr val="F9B7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05840" y="4270248"/>
            <a:ext cx="10104120" cy="704088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defRPr b="1" sz="1500">
                <a:solidFill>
                  <a:srgbClr val="1E2761"/>
                </a:solidFill>
                <a:latin typeface="Aptos Display"/>
              </a:defRPr>
            </a:pPr>
            <a:r>
              <a:t>Lab connection</a:t>
            </a:r>
          </a:p>
          <a:p>
            <a:pPr>
              <a:spcBef>
                <a:spcPts val="400"/>
              </a:spcBef>
              <a:defRPr sz="1050">
                <a:solidFill>
                  <a:srgbClr val="242424"/>
                </a:solidFill>
                <a:latin typeface="Aptos"/>
              </a:defRPr>
            </a:pPr>
            <a:r>
              <a:t>Coverage: Covered. Use the lab README to demonstrate or discuss this topic. Review terms: export, import, refresh.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789920" y="6492240"/>
            <a:ext cx="91440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900">
                <a:solidFill>
                  <a:srgbClr val="5C5C5C"/>
                </a:solidFill>
              </a:defRPr>
            </a:pPr>
            <a:r>
              <a:t>08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8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20040"/>
            <a:ext cx="1078992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b="1" sz="3000">
                <a:solidFill>
                  <a:srgbClr val="1E2761"/>
                </a:solidFill>
                <a:latin typeface="Aptos Display"/>
              </a:defRPr>
            </a:pPr>
            <a:r>
              <a:t>7. Service principals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914400"/>
            <a:ext cx="105156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>
                <a:solidFill>
                  <a:srgbClr val="5C5C5C"/>
                </a:solidFill>
                <a:latin typeface="Aptos"/>
              </a:defRPr>
            </a:pPr>
            <a:r>
              <a:t>Talking points, learner value, and lab connection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" y="1234440"/>
            <a:ext cx="5303520" cy="1828800"/>
          </a:xfrm>
          <a:prstGeom prst="roundRect">
            <a:avLst/>
          </a:prstGeom>
          <a:solidFill>
            <a:srgbClr val="FFFFFF"/>
          </a:solidFill>
          <a:ln>
            <a:solidFill>
              <a:srgbClr val="DCDC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40080" y="1234440"/>
            <a:ext cx="91440" cy="1828800"/>
          </a:xfrm>
          <a:prstGeom prst="rect">
            <a:avLst/>
          </a:prstGeom>
          <a:solidFill>
            <a:srgbClr val="02809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59" y="1344168"/>
            <a:ext cx="4983480" cy="1664208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defRPr b="1" sz="1500">
                <a:solidFill>
                  <a:srgbClr val="1E2761"/>
                </a:solidFill>
                <a:latin typeface="Aptos Display"/>
              </a:defRPr>
            </a:pPr>
            <a:r>
              <a:t>Talking points</a:t>
            </a:r>
          </a:p>
          <a:p>
            <a:pPr>
              <a:spcBef>
                <a:spcPts val="400"/>
              </a:spcBef>
              <a:defRPr sz="1050">
                <a:solidFill>
                  <a:srgbClr val="242424"/>
                </a:solidFill>
                <a:latin typeface="Aptos"/>
              </a:defRPr>
            </a:pPr>
            <a:r>
              <a:t>• Entra ID app registration</a:t>
            </a:r>
            <a:br/>
            <a:r>
              <a:t>• Tenant settings</a:t>
            </a:r>
            <a:br/>
            <a:r>
              <a:t>• Security groups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63640" y="1234440"/>
            <a:ext cx="5303520" cy="1828800"/>
          </a:xfrm>
          <a:prstGeom prst="roundRect">
            <a:avLst/>
          </a:prstGeom>
          <a:solidFill>
            <a:srgbClr val="FFFFFF"/>
          </a:solidFill>
          <a:ln>
            <a:solidFill>
              <a:srgbClr val="DCDC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263640" y="1234440"/>
            <a:ext cx="91440" cy="1828800"/>
          </a:xfrm>
          <a:prstGeom prst="rect">
            <a:avLst/>
          </a:prstGeom>
          <a:solidFill>
            <a:srgbClr val="02C3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46520" y="1344168"/>
            <a:ext cx="4983480" cy="1664208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defRPr b="1" sz="1500">
                <a:solidFill>
                  <a:srgbClr val="1E2761"/>
                </a:solidFill>
                <a:latin typeface="Aptos Display"/>
              </a:defRPr>
            </a:pPr>
            <a:r>
              <a:t>Why it helps</a:t>
            </a:r>
          </a:p>
          <a:p>
            <a:pPr>
              <a:spcBef>
                <a:spcPts val="400"/>
              </a:spcBef>
              <a:defRPr sz="1050">
                <a:solidFill>
                  <a:srgbClr val="242424"/>
                </a:solidFill>
                <a:latin typeface="Aptos"/>
              </a:defRPr>
            </a:pPr>
            <a:r>
              <a:t>• Workspace access</a:t>
            </a:r>
            <a:br/>
            <a:r>
              <a:t>• Secret/certificate handling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22960" y="4160520"/>
            <a:ext cx="10424160" cy="868680"/>
          </a:xfrm>
          <a:prstGeom prst="roundRect">
            <a:avLst/>
          </a:prstGeom>
          <a:solidFill>
            <a:srgbClr val="FFFFFF"/>
          </a:solidFill>
          <a:ln>
            <a:solidFill>
              <a:srgbClr val="DCDC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22960" y="4160520"/>
            <a:ext cx="91440" cy="868680"/>
          </a:xfrm>
          <a:prstGeom prst="rect">
            <a:avLst/>
          </a:prstGeom>
          <a:solidFill>
            <a:srgbClr val="F9B7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05840" y="4270248"/>
            <a:ext cx="10104120" cy="704088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defRPr b="1" sz="1500">
                <a:solidFill>
                  <a:srgbClr val="1E2761"/>
                </a:solidFill>
                <a:latin typeface="Aptos Display"/>
              </a:defRPr>
            </a:pPr>
            <a:r>
              <a:t>Lab connection</a:t>
            </a:r>
          </a:p>
          <a:p>
            <a:pPr>
              <a:spcBef>
                <a:spcPts val="400"/>
              </a:spcBef>
              <a:defRPr sz="1050">
                <a:solidFill>
                  <a:srgbClr val="242424"/>
                </a:solidFill>
                <a:latin typeface="Aptos"/>
              </a:defRPr>
            </a:pPr>
            <a:r>
              <a:t>Coverage: Covered. Use the lab README to demonstrate or discuss this topic. Review terms: groups.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789920" y="6492240"/>
            <a:ext cx="91440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900">
                <a:solidFill>
                  <a:srgbClr val="5C5C5C"/>
                </a:solidFill>
              </a:defRPr>
            </a:pPr>
            <a:r>
              <a:t>09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8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20040"/>
            <a:ext cx="1078992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b="1" sz="3000">
                <a:solidFill>
                  <a:srgbClr val="1E2761"/>
                </a:solidFill>
                <a:latin typeface="Aptos Display"/>
              </a:defRPr>
            </a:pPr>
            <a:r>
              <a:t>8. Fabric workspace Git integration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914400"/>
            <a:ext cx="105156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>
                <a:solidFill>
                  <a:srgbClr val="5C5C5C"/>
                </a:solidFill>
                <a:latin typeface="Aptos"/>
              </a:defRPr>
            </a:pPr>
            <a:r>
              <a:t>Talking points, learner value, and lab connection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" y="1234440"/>
            <a:ext cx="5303520" cy="1828800"/>
          </a:xfrm>
          <a:prstGeom prst="roundRect">
            <a:avLst/>
          </a:prstGeom>
          <a:solidFill>
            <a:srgbClr val="FFFFFF"/>
          </a:solidFill>
          <a:ln>
            <a:solidFill>
              <a:srgbClr val="DCDC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40080" y="1234440"/>
            <a:ext cx="91440" cy="1828800"/>
          </a:xfrm>
          <a:prstGeom prst="rect">
            <a:avLst/>
          </a:prstGeom>
          <a:solidFill>
            <a:srgbClr val="02809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59" y="1344168"/>
            <a:ext cx="4983480" cy="1664208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defRPr b="1" sz="1500">
                <a:solidFill>
                  <a:srgbClr val="1E2761"/>
                </a:solidFill>
                <a:latin typeface="Aptos Display"/>
              </a:defRPr>
            </a:pPr>
            <a:r>
              <a:t>Talking points</a:t>
            </a:r>
          </a:p>
          <a:p>
            <a:pPr>
              <a:spcBef>
                <a:spcPts val="400"/>
              </a:spcBef>
              <a:defRPr sz="1050">
                <a:solidFill>
                  <a:srgbClr val="242424"/>
                </a:solidFill>
                <a:latin typeface="Aptos"/>
              </a:defRPr>
            </a:pPr>
            <a:r>
              <a:t>• Workspace-connected git</a:t>
            </a:r>
            <a:br/>
            <a:r>
              <a:t>• Branching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63640" y="1234440"/>
            <a:ext cx="5303520" cy="1828800"/>
          </a:xfrm>
          <a:prstGeom prst="roundRect">
            <a:avLst/>
          </a:prstGeom>
          <a:solidFill>
            <a:srgbClr val="FFFFFF"/>
          </a:solidFill>
          <a:ln>
            <a:solidFill>
              <a:srgbClr val="DCDC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263640" y="1234440"/>
            <a:ext cx="91440" cy="1828800"/>
          </a:xfrm>
          <a:prstGeom prst="rect">
            <a:avLst/>
          </a:prstGeom>
          <a:solidFill>
            <a:srgbClr val="02C3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46520" y="1344168"/>
            <a:ext cx="4983480" cy="1664208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defRPr b="1" sz="1500">
                <a:solidFill>
                  <a:srgbClr val="1E2761"/>
                </a:solidFill>
                <a:latin typeface="Aptos Display"/>
              </a:defRPr>
            </a:pPr>
            <a:r>
              <a:t>Why it helps</a:t>
            </a:r>
          </a:p>
          <a:p>
            <a:pPr>
              <a:spcBef>
                <a:spcPts val="400"/>
              </a:spcBef>
              <a:defRPr sz="1050">
                <a:solidFill>
                  <a:srgbClr val="242424"/>
                </a:solidFill>
                <a:latin typeface="Aptos"/>
              </a:defRPr>
            </a:pPr>
            <a:r>
              <a:t>• Sync behavior</a:t>
            </a:r>
            <a:br/>
            <a:r>
              <a:t>• Commercial/Gov caveats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22960" y="4160520"/>
            <a:ext cx="10424160" cy="868680"/>
          </a:xfrm>
          <a:prstGeom prst="roundRect">
            <a:avLst/>
          </a:prstGeom>
          <a:solidFill>
            <a:srgbClr val="FFFFFF"/>
          </a:solidFill>
          <a:ln>
            <a:solidFill>
              <a:srgbClr val="DCDC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22960" y="4160520"/>
            <a:ext cx="91440" cy="868680"/>
          </a:xfrm>
          <a:prstGeom prst="rect">
            <a:avLst/>
          </a:prstGeom>
          <a:solidFill>
            <a:srgbClr val="F9B7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05840" y="4270248"/>
            <a:ext cx="10104120" cy="704088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defRPr b="1" sz="1500">
                <a:solidFill>
                  <a:srgbClr val="1E2761"/>
                </a:solidFill>
                <a:latin typeface="Aptos Display"/>
              </a:defRPr>
            </a:pPr>
            <a:r>
              <a:t>Lab connection</a:t>
            </a:r>
          </a:p>
          <a:p>
            <a:pPr>
              <a:spcBef>
                <a:spcPts val="400"/>
              </a:spcBef>
              <a:defRPr sz="1050">
                <a:solidFill>
                  <a:srgbClr val="242424"/>
                </a:solidFill>
                <a:latin typeface="Aptos"/>
              </a:defRPr>
            </a:pPr>
            <a:r>
              <a:t>Coverage: Partial. Use the lab README to demonstrate or discuss this topic. Review terms: behavior, branching, caveats, connected.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789920" y="6492240"/>
            <a:ext cx="91440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900">
                <a:solidFill>
                  <a:srgbClr val="5C5C5C"/>
                </a:solidFill>
              </a:defRPr>
            </a:pPr>
            <a: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8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20040"/>
            <a:ext cx="1078992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b="1" sz="3000">
                <a:solidFill>
                  <a:srgbClr val="1E2761"/>
                </a:solidFill>
                <a:latin typeface="Aptos Display"/>
              </a:defRPr>
            </a:pPr>
            <a:r>
              <a:t>9. Azure DevOps conceptual pipeline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914400"/>
            <a:ext cx="105156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>
                <a:solidFill>
                  <a:srgbClr val="5C5C5C"/>
                </a:solidFill>
                <a:latin typeface="Aptos"/>
              </a:defRPr>
            </a:pPr>
            <a:r>
              <a:t>Talking points, learner value, and lab connection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" y="1234440"/>
            <a:ext cx="5303520" cy="1828800"/>
          </a:xfrm>
          <a:prstGeom prst="roundRect">
            <a:avLst/>
          </a:prstGeom>
          <a:solidFill>
            <a:srgbClr val="FFFFFF"/>
          </a:solidFill>
          <a:ln>
            <a:solidFill>
              <a:srgbClr val="DCDC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40080" y="1234440"/>
            <a:ext cx="91440" cy="1828800"/>
          </a:xfrm>
          <a:prstGeom prst="rect">
            <a:avLst/>
          </a:prstGeom>
          <a:solidFill>
            <a:srgbClr val="02809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59" y="1344168"/>
            <a:ext cx="4983480" cy="1664208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defRPr b="1" sz="1500">
                <a:solidFill>
                  <a:srgbClr val="1E2761"/>
                </a:solidFill>
                <a:latin typeface="Aptos Display"/>
              </a:defRPr>
            </a:pPr>
            <a:r>
              <a:t>Talking points</a:t>
            </a:r>
          </a:p>
          <a:p>
            <a:pPr>
              <a:spcBef>
                <a:spcPts val="400"/>
              </a:spcBef>
              <a:defRPr sz="1050">
                <a:solidFill>
                  <a:srgbClr val="242424"/>
                </a:solidFill>
                <a:latin typeface="Aptos"/>
              </a:defRPr>
            </a:pPr>
            <a:r>
              <a:t>• Validate</a:t>
            </a:r>
            <a:br/>
            <a:r>
              <a:t>• Package</a:t>
            </a:r>
            <a:br/>
            <a:r>
              <a:t>• Deploy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63640" y="1234440"/>
            <a:ext cx="5303520" cy="1828800"/>
          </a:xfrm>
          <a:prstGeom prst="roundRect">
            <a:avLst/>
          </a:prstGeom>
          <a:solidFill>
            <a:srgbClr val="FFFFFF"/>
          </a:solidFill>
          <a:ln>
            <a:solidFill>
              <a:srgbClr val="DCDC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263640" y="1234440"/>
            <a:ext cx="91440" cy="1828800"/>
          </a:xfrm>
          <a:prstGeom prst="rect">
            <a:avLst/>
          </a:prstGeom>
          <a:solidFill>
            <a:srgbClr val="02C3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46520" y="1344168"/>
            <a:ext cx="4983480" cy="1664208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defRPr b="1" sz="1500">
                <a:solidFill>
                  <a:srgbClr val="1E2761"/>
                </a:solidFill>
                <a:latin typeface="Aptos Display"/>
              </a:defRPr>
            </a:pPr>
            <a:r>
              <a:t>Why it helps</a:t>
            </a:r>
          </a:p>
          <a:p>
            <a:pPr>
              <a:spcBef>
                <a:spcPts val="400"/>
              </a:spcBef>
              <a:defRPr sz="1050">
                <a:solidFill>
                  <a:srgbClr val="242424"/>
                </a:solidFill>
                <a:latin typeface="Aptos"/>
              </a:defRPr>
            </a:pPr>
            <a:r>
              <a:t>• Configure</a:t>
            </a:r>
            <a:br/>
            <a:r>
              <a:t>• Smoke test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22960" y="4160520"/>
            <a:ext cx="10424160" cy="868680"/>
          </a:xfrm>
          <a:prstGeom prst="roundRect">
            <a:avLst/>
          </a:prstGeom>
          <a:solidFill>
            <a:srgbClr val="FFFFFF"/>
          </a:solidFill>
          <a:ln>
            <a:solidFill>
              <a:srgbClr val="DCDC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22960" y="4160520"/>
            <a:ext cx="91440" cy="868680"/>
          </a:xfrm>
          <a:prstGeom prst="rect">
            <a:avLst/>
          </a:prstGeom>
          <a:solidFill>
            <a:srgbClr val="F9B7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05840" y="4270248"/>
            <a:ext cx="10104120" cy="704088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defRPr b="1" sz="1500">
                <a:solidFill>
                  <a:srgbClr val="1E2761"/>
                </a:solidFill>
                <a:latin typeface="Aptos Display"/>
              </a:defRPr>
            </a:pPr>
            <a:r>
              <a:t>Lab connection</a:t>
            </a:r>
          </a:p>
          <a:p>
            <a:pPr>
              <a:spcBef>
                <a:spcPts val="400"/>
              </a:spcBef>
              <a:defRPr sz="1050">
                <a:solidFill>
                  <a:srgbClr val="242424"/>
                </a:solidFill>
                <a:latin typeface="Aptos"/>
              </a:defRPr>
            </a:pPr>
            <a:r>
              <a:t>Coverage: Covered. Use the lab README to demonstrate or discuss this topic. Review terms: configure, package, smoke.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789920" y="6492240"/>
            <a:ext cx="91440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900">
                <a:solidFill>
                  <a:srgbClr val="5C5C5C"/>
                </a:solidFill>
              </a:defRPr>
            </a:pPr>
            <a:r>
              <a:t>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8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20040"/>
            <a:ext cx="1078992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b="1" sz="3000">
                <a:solidFill>
                  <a:srgbClr val="1E2761"/>
                </a:solidFill>
                <a:latin typeface="Aptos Display"/>
              </a:defRPr>
            </a:pPr>
            <a:r>
              <a:t>10. GitHub Actions conceptual pipeline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914400"/>
            <a:ext cx="105156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>
                <a:solidFill>
                  <a:srgbClr val="5C5C5C"/>
                </a:solidFill>
                <a:latin typeface="Aptos"/>
              </a:defRPr>
            </a:pPr>
            <a:r>
              <a:t>Talking points, learner value, and lab connection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" y="1234440"/>
            <a:ext cx="5303520" cy="1828800"/>
          </a:xfrm>
          <a:prstGeom prst="roundRect">
            <a:avLst/>
          </a:prstGeom>
          <a:solidFill>
            <a:srgbClr val="FFFFFF"/>
          </a:solidFill>
          <a:ln>
            <a:solidFill>
              <a:srgbClr val="DCDC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40080" y="1234440"/>
            <a:ext cx="91440" cy="1828800"/>
          </a:xfrm>
          <a:prstGeom prst="rect">
            <a:avLst/>
          </a:prstGeom>
          <a:solidFill>
            <a:srgbClr val="02809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59" y="1344168"/>
            <a:ext cx="4983480" cy="1664208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defRPr b="1" sz="1500">
                <a:solidFill>
                  <a:srgbClr val="1E2761"/>
                </a:solidFill>
                <a:latin typeface="Aptos Display"/>
              </a:defRPr>
            </a:pPr>
            <a:r>
              <a:t>Talking points</a:t>
            </a:r>
          </a:p>
          <a:p>
            <a:pPr>
              <a:spcBef>
                <a:spcPts val="400"/>
              </a:spcBef>
              <a:defRPr sz="1050">
                <a:solidFill>
                  <a:srgbClr val="242424"/>
                </a:solidFill>
                <a:latin typeface="Aptos"/>
              </a:defRPr>
            </a:pPr>
            <a:r>
              <a:t>• Trigger</a:t>
            </a:r>
            <a:br/>
            <a:r>
              <a:t>• Validate</a:t>
            </a:r>
            <a:br/>
            <a:r>
              <a:t>• Authenticate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63640" y="1234440"/>
            <a:ext cx="5303520" cy="1828800"/>
          </a:xfrm>
          <a:prstGeom prst="roundRect">
            <a:avLst/>
          </a:prstGeom>
          <a:solidFill>
            <a:srgbClr val="FFFFFF"/>
          </a:solidFill>
          <a:ln>
            <a:solidFill>
              <a:srgbClr val="DCDC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263640" y="1234440"/>
            <a:ext cx="91440" cy="1828800"/>
          </a:xfrm>
          <a:prstGeom prst="rect">
            <a:avLst/>
          </a:prstGeom>
          <a:solidFill>
            <a:srgbClr val="02C3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46520" y="1344168"/>
            <a:ext cx="4983480" cy="1664208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defRPr b="1" sz="1500">
                <a:solidFill>
                  <a:srgbClr val="1E2761"/>
                </a:solidFill>
                <a:latin typeface="Aptos Display"/>
              </a:defRPr>
            </a:pPr>
            <a:r>
              <a:t>Why it helps</a:t>
            </a:r>
          </a:p>
          <a:p>
            <a:pPr>
              <a:spcBef>
                <a:spcPts val="400"/>
              </a:spcBef>
              <a:defRPr sz="1050">
                <a:solidFill>
                  <a:srgbClr val="242424"/>
                </a:solidFill>
                <a:latin typeface="Aptos"/>
              </a:defRPr>
            </a:pPr>
            <a:r>
              <a:t>• Deploy</a:t>
            </a:r>
            <a:br/>
            <a:r>
              <a:t>• Record evidence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22960" y="4160520"/>
            <a:ext cx="10424160" cy="868680"/>
          </a:xfrm>
          <a:prstGeom prst="roundRect">
            <a:avLst/>
          </a:prstGeom>
          <a:solidFill>
            <a:srgbClr val="FFFFFF"/>
          </a:solidFill>
          <a:ln>
            <a:solidFill>
              <a:srgbClr val="DCDC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22960" y="4160520"/>
            <a:ext cx="91440" cy="868680"/>
          </a:xfrm>
          <a:prstGeom prst="rect">
            <a:avLst/>
          </a:prstGeom>
          <a:solidFill>
            <a:srgbClr val="F9B7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05840" y="4270248"/>
            <a:ext cx="10104120" cy="704088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defRPr b="1" sz="1500">
                <a:solidFill>
                  <a:srgbClr val="1E2761"/>
                </a:solidFill>
                <a:latin typeface="Aptos Display"/>
              </a:defRPr>
            </a:pPr>
            <a:r>
              <a:t>Lab connection</a:t>
            </a:r>
          </a:p>
          <a:p>
            <a:pPr>
              <a:spcBef>
                <a:spcPts val="400"/>
              </a:spcBef>
              <a:defRPr sz="1050">
                <a:solidFill>
                  <a:srgbClr val="242424"/>
                </a:solidFill>
                <a:latin typeface="Aptos"/>
              </a:defRPr>
            </a:pPr>
            <a:r>
              <a:t>Coverage: Covered. Use the lab README to demonstrate or discuss this topic. Review terms: authenticate.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789920" y="6492240"/>
            <a:ext cx="91440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900">
                <a:solidFill>
                  <a:srgbClr val="5C5C5C"/>
                </a:solidFill>
              </a:defRPr>
            </a:pPr>
            <a:r>
              <a:t>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8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20040"/>
            <a:ext cx="1078992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b="1" sz="3000">
                <a:solidFill>
                  <a:srgbClr val="1E2761"/>
                </a:solidFill>
                <a:latin typeface="Aptos Display"/>
              </a:defRPr>
            </a:pPr>
            <a:r>
              <a:t>11. Azure Government considerations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914400"/>
            <a:ext cx="105156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>
                <a:solidFill>
                  <a:srgbClr val="5C5C5C"/>
                </a:solidFill>
                <a:latin typeface="Aptos"/>
              </a:defRPr>
            </a:pPr>
            <a:r>
              <a:t>Talking points, learner value, and lab connection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" y="1234440"/>
            <a:ext cx="5303520" cy="1828800"/>
          </a:xfrm>
          <a:prstGeom prst="roundRect">
            <a:avLst/>
          </a:prstGeom>
          <a:solidFill>
            <a:srgbClr val="FFFFFF"/>
          </a:solidFill>
          <a:ln>
            <a:solidFill>
              <a:srgbClr val="DCDC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40080" y="1234440"/>
            <a:ext cx="91440" cy="1828800"/>
          </a:xfrm>
          <a:prstGeom prst="rect">
            <a:avLst/>
          </a:prstGeom>
          <a:solidFill>
            <a:srgbClr val="02809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59" y="1344168"/>
            <a:ext cx="4983480" cy="1664208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defRPr b="1" sz="1500">
                <a:solidFill>
                  <a:srgbClr val="1E2761"/>
                </a:solidFill>
                <a:latin typeface="Aptos Display"/>
              </a:defRPr>
            </a:pPr>
            <a:r>
              <a:t>Talking points</a:t>
            </a:r>
          </a:p>
          <a:p>
            <a:pPr>
              <a:spcBef>
                <a:spcPts val="400"/>
              </a:spcBef>
              <a:defRPr sz="1050">
                <a:solidFill>
                  <a:srgbClr val="242424"/>
                </a:solidFill>
                <a:latin typeface="Aptos"/>
              </a:defRPr>
            </a:pPr>
            <a:r>
              <a:t>• Endpoints</a:t>
            </a:r>
            <a:br/>
            <a:r>
              <a:t>• Identity</a:t>
            </a:r>
            <a:br/>
            <a:r>
              <a:t>• Network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63640" y="1234440"/>
            <a:ext cx="5303520" cy="1828800"/>
          </a:xfrm>
          <a:prstGeom prst="roundRect">
            <a:avLst/>
          </a:prstGeom>
          <a:solidFill>
            <a:srgbClr val="FFFFFF"/>
          </a:solidFill>
          <a:ln>
            <a:solidFill>
              <a:srgbClr val="DCDC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263640" y="1234440"/>
            <a:ext cx="91440" cy="1828800"/>
          </a:xfrm>
          <a:prstGeom prst="rect">
            <a:avLst/>
          </a:prstGeom>
          <a:solidFill>
            <a:srgbClr val="02C3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46520" y="1344168"/>
            <a:ext cx="4983480" cy="1664208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defRPr b="1" sz="1500">
                <a:solidFill>
                  <a:srgbClr val="1E2761"/>
                </a:solidFill>
                <a:latin typeface="Aptos Display"/>
              </a:defRPr>
            </a:pPr>
            <a:r>
              <a:t>Why it helps</a:t>
            </a:r>
          </a:p>
          <a:p>
            <a:pPr>
              <a:spcBef>
                <a:spcPts val="400"/>
              </a:spcBef>
              <a:defRPr sz="1050">
                <a:solidFill>
                  <a:srgbClr val="242424"/>
                </a:solidFill>
                <a:latin typeface="Aptos"/>
              </a:defRPr>
            </a:pPr>
            <a:r>
              <a:t>• Customer policy</a:t>
            </a:r>
            <a:br/>
            <a:r>
              <a:t>• Feature availability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22960" y="4160520"/>
            <a:ext cx="10424160" cy="868680"/>
          </a:xfrm>
          <a:prstGeom prst="roundRect">
            <a:avLst/>
          </a:prstGeom>
          <a:solidFill>
            <a:srgbClr val="FFFFFF"/>
          </a:solidFill>
          <a:ln>
            <a:solidFill>
              <a:srgbClr val="DCDC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22960" y="4160520"/>
            <a:ext cx="91440" cy="868680"/>
          </a:xfrm>
          <a:prstGeom prst="rect">
            <a:avLst/>
          </a:prstGeom>
          <a:solidFill>
            <a:srgbClr val="F9B7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05840" y="4270248"/>
            <a:ext cx="10104120" cy="704088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defRPr b="1" sz="1500">
                <a:solidFill>
                  <a:srgbClr val="1E2761"/>
                </a:solidFill>
                <a:latin typeface="Aptos Display"/>
              </a:defRPr>
            </a:pPr>
            <a:r>
              <a:t>Lab connection</a:t>
            </a:r>
          </a:p>
          <a:p>
            <a:pPr>
              <a:spcBef>
                <a:spcPts val="400"/>
              </a:spcBef>
              <a:defRPr sz="1050">
                <a:solidFill>
                  <a:srgbClr val="242424"/>
                </a:solidFill>
                <a:latin typeface="Aptos"/>
              </a:defRPr>
            </a:pPr>
            <a:r>
              <a:t>Coverage: Partial. Use the lab README to demonstrate or discuss this topic. Review terms: availability, considerations, endpoints, identity, network.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789920" y="6492240"/>
            <a:ext cx="91440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900">
                <a:solidFill>
                  <a:srgbClr val="5C5C5C"/>
                </a:solidFill>
              </a:defRPr>
            </a:pPr>
            <a:r>
              <a:t>13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8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20040"/>
            <a:ext cx="1078992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b="1" sz="3000">
                <a:solidFill>
                  <a:srgbClr val="1E2761"/>
                </a:solidFill>
                <a:latin typeface="Aptos Display"/>
              </a:defRPr>
            </a:pPr>
            <a:r>
              <a:t>12. Deployment checklist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914400"/>
            <a:ext cx="105156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>
                <a:solidFill>
                  <a:srgbClr val="5C5C5C"/>
                </a:solidFill>
                <a:latin typeface="Aptos"/>
              </a:defRPr>
            </a:pPr>
            <a:r>
              <a:t>Talking points, learner value, and lab connection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" y="1234440"/>
            <a:ext cx="5303520" cy="1828800"/>
          </a:xfrm>
          <a:prstGeom prst="roundRect">
            <a:avLst/>
          </a:prstGeom>
          <a:solidFill>
            <a:srgbClr val="FFFFFF"/>
          </a:solidFill>
          <a:ln>
            <a:solidFill>
              <a:srgbClr val="DCDC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40080" y="1234440"/>
            <a:ext cx="91440" cy="1828800"/>
          </a:xfrm>
          <a:prstGeom prst="rect">
            <a:avLst/>
          </a:prstGeom>
          <a:solidFill>
            <a:srgbClr val="02809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59" y="1344168"/>
            <a:ext cx="4983480" cy="1664208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defRPr b="1" sz="1500">
                <a:solidFill>
                  <a:srgbClr val="1E2761"/>
                </a:solidFill>
                <a:latin typeface="Aptos Display"/>
              </a:defRPr>
            </a:pPr>
            <a:r>
              <a:t>Talking points</a:t>
            </a:r>
          </a:p>
          <a:p>
            <a:pPr>
              <a:spcBef>
                <a:spcPts val="400"/>
              </a:spcBef>
              <a:defRPr sz="1050">
                <a:solidFill>
                  <a:srgbClr val="242424"/>
                </a:solidFill>
                <a:latin typeface="Aptos"/>
              </a:defRPr>
            </a:pPr>
            <a:r>
              <a:t>• Source</a:t>
            </a:r>
            <a:br/>
            <a:r>
              <a:t>• Security</a:t>
            </a:r>
            <a:br/>
            <a:r>
              <a:t>• Refresh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63640" y="1234440"/>
            <a:ext cx="5303520" cy="1828800"/>
          </a:xfrm>
          <a:prstGeom prst="roundRect">
            <a:avLst/>
          </a:prstGeom>
          <a:solidFill>
            <a:srgbClr val="FFFFFF"/>
          </a:solidFill>
          <a:ln>
            <a:solidFill>
              <a:srgbClr val="DCDC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263640" y="1234440"/>
            <a:ext cx="91440" cy="1828800"/>
          </a:xfrm>
          <a:prstGeom prst="rect">
            <a:avLst/>
          </a:prstGeom>
          <a:solidFill>
            <a:srgbClr val="02C3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46520" y="1344168"/>
            <a:ext cx="4983480" cy="1664208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defRPr b="1" sz="1500">
                <a:solidFill>
                  <a:srgbClr val="1E2761"/>
                </a:solidFill>
                <a:latin typeface="Aptos Display"/>
              </a:defRPr>
            </a:pPr>
            <a:r>
              <a:t>Why it helps</a:t>
            </a:r>
          </a:p>
          <a:p>
            <a:pPr>
              <a:spcBef>
                <a:spcPts val="400"/>
              </a:spcBef>
              <a:defRPr sz="1050">
                <a:solidFill>
                  <a:srgbClr val="242424"/>
                </a:solidFill>
                <a:latin typeface="Aptos"/>
              </a:defRPr>
            </a:pPr>
            <a:r>
              <a:t>• Validation</a:t>
            </a:r>
            <a:br/>
            <a:r>
              <a:t>• Rollback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22960" y="4160520"/>
            <a:ext cx="10424160" cy="868680"/>
          </a:xfrm>
          <a:prstGeom prst="roundRect">
            <a:avLst/>
          </a:prstGeom>
          <a:solidFill>
            <a:srgbClr val="FFFFFF"/>
          </a:solidFill>
          <a:ln>
            <a:solidFill>
              <a:srgbClr val="DCDC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22960" y="4160520"/>
            <a:ext cx="91440" cy="868680"/>
          </a:xfrm>
          <a:prstGeom prst="rect">
            <a:avLst/>
          </a:prstGeom>
          <a:solidFill>
            <a:srgbClr val="F9B7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05840" y="4270248"/>
            <a:ext cx="10104120" cy="704088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defRPr b="1" sz="1500">
                <a:solidFill>
                  <a:srgbClr val="1E2761"/>
                </a:solidFill>
                <a:latin typeface="Aptos Display"/>
              </a:defRPr>
            </a:pPr>
            <a:r>
              <a:t>Lab connection</a:t>
            </a:r>
          </a:p>
          <a:p>
            <a:pPr>
              <a:spcBef>
                <a:spcPts val="400"/>
              </a:spcBef>
              <a:defRPr sz="1050">
                <a:solidFill>
                  <a:srgbClr val="242424"/>
                </a:solidFill>
                <a:latin typeface="Aptos"/>
              </a:defRPr>
            </a:pPr>
            <a:r>
              <a:t>Coverage: Covered. Use the lab README to demonstrate or discuss this topic. Review terms: refresh, rollback.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789920" y="6492240"/>
            <a:ext cx="91440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900">
                <a:solidFill>
                  <a:srgbClr val="5C5C5C"/>
                </a:solidFill>
              </a:defRPr>
            </a:pPr>
            <a:r>
              <a:t>14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8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20040"/>
            <a:ext cx="1078992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b="1" sz="3000">
                <a:solidFill>
                  <a:srgbClr val="1E2761"/>
                </a:solidFill>
                <a:latin typeface="Aptos Display"/>
              </a:defRPr>
            </a:pPr>
            <a:r>
              <a:t>Sources and further learning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914400"/>
            <a:ext cx="105156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>
                <a:solidFill>
                  <a:srgbClr val="5C5C5C"/>
                </a:solidFill>
                <a:latin typeface="Aptos"/>
              </a:defRPr>
            </a:pPr>
            <a:r>
              <a:t>Use these official Microsoft docs for deeper study.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143000"/>
            <a:ext cx="10698480" cy="594360"/>
          </a:xfrm>
          <a:prstGeom prst="roundRect">
            <a:avLst/>
          </a:prstGeom>
          <a:solidFill>
            <a:srgbClr val="FFFFFF"/>
          </a:solidFill>
          <a:ln>
            <a:solidFill>
              <a:srgbClr val="DCDC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31520" y="1143000"/>
            <a:ext cx="91440" cy="594360"/>
          </a:xfrm>
          <a:prstGeom prst="rect">
            <a:avLst/>
          </a:prstGeom>
          <a:solidFill>
            <a:srgbClr val="02809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252728"/>
            <a:ext cx="10378440" cy="429768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defRPr b="1" sz="1500">
                <a:solidFill>
                  <a:srgbClr val="1E2761"/>
                </a:solidFill>
                <a:latin typeface="Aptos Display"/>
              </a:defRPr>
            </a:pPr>
            <a:r>
              <a:t>Power BI guidance</a:t>
            </a:r>
          </a:p>
          <a:p>
            <a:pPr>
              <a:spcBef>
                <a:spcPts val="400"/>
              </a:spcBef>
              <a:defRPr sz="1050">
                <a:solidFill>
                  <a:srgbClr val="242424"/>
                </a:solidFill>
                <a:latin typeface="Aptos"/>
              </a:defRPr>
            </a:pPr>
            <a:r>
              <a:t>https://learn.microsoft.com/power-bi/guidance/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1892807"/>
            <a:ext cx="10698480" cy="594360"/>
          </a:xfrm>
          <a:prstGeom prst="roundRect">
            <a:avLst/>
          </a:prstGeom>
          <a:solidFill>
            <a:srgbClr val="FFFFFF"/>
          </a:solidFill>
          <a:ln>
            <a:solidFill>
              <a:srgbClr val="DCDC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731520" y="1892807"/>
            <a:ext cx="91440" cy="594360"/>
          </a:xfrm>
          <a:prstGeom prst="rect">
            <a:avLst/>
          </a:prstGeom>
          <a:solidFill>
            <a:srgbClr val="02809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2002536"/>
            <a:ext cx="10378440" cy="429768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defRPr b="1" sz="1500">
                <a:solidFill>
                  <a:srgbClr val="1E2761"/>
                </a:solidFill>
                <a:latin typeface="Aptos Display"/>
              </a:defRPr>
            </a:pPr>
            <a:r>
              <a:t>Power BI Desktop docs</a:t>
            </a:r>
          </a:p>
          <a:p>
            <a:pPr>
              <a:spcBef>
                <a:spcPts val="400"/>
              </a:spcBef>
              <a:defRPr sz="1050">
                <a:solidFill>
                  <a:srgbClr val="242424"/>
                </a:solidFill>
                <a:latin typeface="Aptos"/>
              </a:defRPr>
            </a:pPr>
            <a:r>
              <a:t>https://learn.microsoft.com/power-bi/fundamentals/desktop-getting-started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31520" y="2642615"/>
            <a:ext cx="10698480" cy="594360"/>
          </a:xfrm>
          <a:prstGeom prst="roundRect">
            <a:avLst/>
          </a:prstGeom>
          <a:solidFill>
            <a:srgbClr val="FFFFFF"/>
          </a:solidFill>
          <a:ln>
            <a:solidFill>
              <a:srgbClr val="DCDC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731520" y="2642615"/>
            <a:ext cx="91440" cy="594360"/>
          </a:xfrm>
          <a:prstGeom prst="rect">
            <a:avLst/>
          </a:prstGeom>
          <a:solidFill>
            <a:srgbClr val="02809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14400" y="2752344"/>
            <a:ext cx="10378440" cy="429768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defRPr b="1" sz="1500">
                <a:solidFill>
                  <a:srgbClr val="1E2761"/>
                </a:solidFill>
                <a:latin typeface="Aptos Display"/>
              </a:defRPr>
            </a:pPr>
            <a:r>
              <a:t>Power Query M</a:t>
            </a:r>
          </a:p>
          <a:p>
            <a:pPr>
              <a:spcBef>
                <a:spcPts val="400"/>
              </a:spcBef>
              <a:defRPr sz="1050">
                <a:solidFill>
                  <a:srgbClr val="242424"/>
                </a:solidFill>
                <a:latin typeface="Aptos"/>
              </a:defRPr>
            </a:pPr>
            <a:r>
              <a:t>https://learn.microsoft.com/powerquery-m/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31520" y="3392423"/>
            <a:ext cx="10698480" cy="594360"/>
          </a:xfrm>
          <a:prstGeom prst="roundRect">
            <a:avLst/>
          </a:prstGeom>
          <a:solidFill>
            <a:srgbClr val="FFFFFF"/>
          </a:solidFill>
          <a:ln>
            <a:solidFill>
              <a:srgbClr val="DCDC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731520" y="3392423"/>
            <a:ext cx="91440" cy="594360"/>
          </a:xfrm>
          <a:prstGeom prst="rect">
            <a:avLst/>
          </a:prstGeom>
          <a:solidFill>
            <a:srgbClr val="02809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14400" y="3502151"/>
            <a:ext cx="10378440" cy="429768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defRPr b="1" sz="1500">
                <a:solidFill>
                  <a:srgbClr val="1E2761"/>
                </a:solidFill>
                <a:latin typeface="Aptos Display"/>
              </a:defRPr>
            </a:pPr>
            <a:r>
              <a:t>DAX reference</a:t>
            </a:r>
          </a:p>
          <a:p>
            <a:pPr>
              <a:spcBef>
                <a:spcPts val="400"/>
              </a:spcBef>
              <a:defRPr sz="1050">
                <a:solidFill>
                  <a:srgbClr val="242424"/>
                </a:solidFill>
                <a:latin typeface="Aptos"/>
              </a:defRPr>
            </a:pPr>
            <a:r>
              <a:t>https://learn.microsoft.com/dax/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31520" y="4142231"/>
            <a:ext cx="10698480" cy="594360"/>
          </a:xfrm>
          <a:prstGeom prst="roundRect">
            <a:avLst/>
          </a:prstGeom>
          <a:solidFill>
            <a:srgbClr val="FFFFFF"/>
          </a:solidFill>
          <a:ln>
            <a:solidFill>
              <a:srgbClr val="DCDC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31520" y="4142231"/>
            <a:ext cx="91440" cy="594360"/>
          </a:xfrm>
          <a:prstGeom prst="rect">
            <a:avLst/>
          </a:prstGeom>
          <a:solidFill>
            <a:srgbClr val="02809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14400" y="4251959"/>
            <a:ext cx="10378440" cy="429768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defRPr b="1" sz="1500">
                <a:solidFill>
                  <a:srgbClr val="1E2761"/>
                </a:solidFill>
                <a:latin typeface="Aptos Display"/>
              </a:defRPr>
            </a:pPr>
            <a:r>
              <a:t>Power BI Project files</a:t>
            </a:r>
          </a:p>
          <a:p>
            <a:pPr>
              <a:spcBef>
                <a:spcPts val="400"/>
              </a:spcBef>
              <a:defRPr sz="1050">
                <a:solidFill>
                  <a:srgbClr val="242424"/>
                </a:solidFill>
                <a:latin typeface="Aptos"/>
              </a:defRPr>
            </a:pPr>
            <a:r>
              <a:t>https://learn.microsoft.com/power-bi/developer/projects/projects-overview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789920" y="6492240"/>
            <a:ext cx="91440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900">
                <a:solidFill>
                  <a:srgbClr val="5C5C5C"/>
                </a:solidFill>
              </a:defRPr>
            </a:pPr>
            <a:r>
              <a:t>15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