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FFFFFF"/>
                </a:solidFill>
                <a:latin typeface="Aptos Display"/>
              </a:defRPr>
            </a:pPr>
            <a:r>
              <a:t>Automation Devops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02C39A"/>
                </a:solidFill>
                <a:latin typeface="Aptos"/>
              </a:defRPr>
            </a:pPr>
            <a:r>
              <a:t>Power BI Advanced Factory teaching deck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828800"/>
            <a:ext cx="320040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828800"/>
            <a:ext cx="91440" cy="123444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938528"/>
            <a:ext cx="2880360" cy="10698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What students learn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Key concepts and talking points from the module outline.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60" y="1828800"/>
            <a:ext cx="320040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480560" y="1828800"/>
            <a:ext cx="91440" cy="123444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440" y="1938528"/>
            <a:ext cx="2880360" cy="10698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matters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How the topic helps authors and report consumers.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75320" y="1828800"/>
            <a:ext cx="320040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75320" y="1828800"/>
            <a:ext cx="91440" cy="123444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58200" y="1938528"/>
            <a:ext cx="2880360" cy="10698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How labs connect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Where learners apply the theme hands-on.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Module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Use this to introduce the section before hands-on labs.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143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143000"/>
            <a:ext cx="91440" cy="8229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252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1. Lifecycle management goals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Repeatability; Reviewability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43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72200" y="1143000"/>
            <a:ext cx="91440" cy="82296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1252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2. PBIP as source of record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Report source files; Semantic model source files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" y="2286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94360" y="2286000"/>
            <a:ext cx="91440" cy="8229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395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3. Git workflow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Branches; Commits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2286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2286000"/>
            <a:ext cx="91440" cy="82296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2395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4. PBIP file structure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Report folder; Semantic model folder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4360" y="3429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94360" y="3429000"/>
            <a:ext cx="91440" cy="8229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538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5. External tools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Tabular Editor; ALM Toolkit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3429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3429000"/>
            <a:ext cx="91440" cy="82296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5080" y="3538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6. REST APIs and PowerShell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Workspace operations; Import/export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4360" y="4572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94360" y="4572000"/>
            <a:ext cx="91440" cy="8229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4681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7. Service principals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Entra ID app registration; Tenant settings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4572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72200" y="4572000"/>
            <a:ext cx="91440" cy="82296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55080" y="4681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8. Fabric workspace Git integration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Workspace-connected git; Branching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1. Lifecycle management goals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Repeatability</a:t>
            </a:r>
            <a:br/>
            <a:r>
              <a:t>• Reviewability</a:t>
            </a:r>
            <a:br/>
            <a:r>
              <a:t>• Environment promotion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Governance</a:t>
            </a:r>
            <a:br/>
            <a:r>
              <a:t>• Rollback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Partial. Use the lab README to demonstrate or discuss this topic. Review terms: goals, governance, promotion, repeatability, reviewability.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2. PBIP as source of record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Report source files</a:t>
            </a:r>
            <a:br/>
            <a:r>
              <a:t>• Semantic model source files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Git-friendly review</a:t>
            </a:r>
            <a:br/>
            <a:r>
              <a:t>• PBIX as generated output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Covered. Use the lab README to demonstrate or discuss this topic. Review terms: output.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3. Git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Branches</a:t>
            </a:r>
            <a:br/>
            <a:r>
              <a:t>• Commits</a:t>
            </a:r>
            <a:br/>
            <a:r>
              <a:t>• Pull requests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Review practices</a:t>
            </a:r>
            <a:br/>
            <a:r>
              <a:t>• Tags and releases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Partial. Use the lab README to demonstrate or discuss this topic. Review terms: branches, commits, practices, releases, requests.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4. PBIP file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Report folder</a:t>
            </a:r>
            <a:br/>
            <a:r>
              <a:t>• Semantic model folder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Definition files</a:t>
            </a:r>
            <a:br/>
            <a:r>
              <a:t>• What to review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Covered. Use the lab README to demonstrate or discuss this topic. Review terms: none.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5. External tools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Tabular Editor</a:t>
            </a:r>
            <a:br/>
            <a:r>
              <a:t>• ALM Toolkit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XMLA dependency</a:t>
            </a:r>
            <a:br/>
            <a:r>
              <a:t>• Customer policy validation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Covered. Use the lab README to demonstrate or discuss this topic. Review terms: dependency.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6. REST APIs and PowerShell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Workspace operations</a:t>
            </a:r>
            <a:br/>
            <a:r>
              <a:t>• Import/export</a:t>
            </a:r>
            <a:br/>
            <a:r>
              <a:t>• Refresh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Permissions</a:t>
            </a:r>
            <a:br/>
            <a:r>
              <a:t>• Endpoint and cloud validation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Covered. Use the lab README to demonstrate or discuss this topic. Review terms: export, import, refresh.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7. Service principals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Entra ID app registration</a:t>
            </a:r>
            <a:br/>
            <a:r>
              <a:t>• Tenant settings</a:t>
            </a:r>
            <a:br/>
            <a:r>
              <a:t>• Security groups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Workspace access</a:t>
            </a:r>
            <a:br/>
            <a:r>
              <a:t>• Secret/certificate handling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Covered. Use the lab README to demonstrate or discuss this topic. Review terms: groups.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8. Fabric workspace Git integration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Workspace-connected git</a:t>
            </a:r>
            <a:br/>
            <a:r>
              <a:t>• Branching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Sync behavior</a:t>
            </a:r>
            <a:br/>
            <a:r>
              <a:t>• Commercial/Gov caveats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Partial. Use the lab README to demonstrate or discuss this topic. Review terms: behavior, branching, caveats, connected.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9. Azure DevOps conceptual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Validate</a:t>
            </a:r>
            <a:br/>
            <a:r>
              <a:t>• Package</a:t>
            </a:r>
            <a:br/>
            <a:r>
              <a:t>• Deploy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Configure</a:t>
            </a:r>
            <a:br/>
            <a:r>
              <a:t>• Smoke test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Covered. Use the lab README to demonstrate or discuss this topic. Review terms: configure, package, smoke.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10. GitHub Actions conceptual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Trigger</a:t>
            </a:r>
            <a:br/>
            <a:r>
              <a:t>• Validate</a:t>
            </a:r>
            <a:br/>
            <a:r>
              <a:t>• Authenticate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Deploy</a:t>
            </a:r>
            <a:br/>
            <a:r>
              <a:t>• Record evidence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Covered. Use the lab README to demonstrate or discuss this topic. Review terms: authenticate.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11. Azure Government considerations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Endpoints</a:t>
            </a:r>
            <a:br/>
            <a:r>
              <a:t>• Identity</a:t>
            </a:r>
            <a:br/>
            <a:r>
              <a:t>• Network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Customer policy</a:t>
            </a:r>
            <a:br/>
            <a:r>
              <a:t>• Feature availability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Partial. Use the lab README to demonstrate or discuss this topic. Review terms: availability, considerations, endpoints, identity, network.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12. Deployment 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Source</a:t>
            </a:r>
            <a:br/>
            <a:r>
              <a:t>• Security</a:t>
            </a:r>
            <a:br/>
            <a:r>
              <a:t>• Refresh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Validation</a:t>
            </a:r>
            <a:br/>
            <a:r>
              <a:t>• Rollback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Covered. Use the lab README to demonstrate or discuss this topic. Review terms: refresh, rollback.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Sources and further learning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Use these official Microsoft docs for deeper study.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43000"/>
            <a:ext cx="10698480" cy="5943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143000"/>
            <a:ext cx="91440" cy="5943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252728"/>
            <a:ext cx="1037844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Power BI guidance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https://learn.microsoft.com/power-bi/guidance/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892807"/>
            <a:ext cx="10698480" cy="5943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892807"/>
            <a:ext cx="91440" cy="5943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02536"/>
            <a:ext cx="1037844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Power BI Desktop docs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https://learn.microsoft.com/power-bi/fundamentals/desktop-getting-started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642615"/>
            <a:ext cx="10698480" cy="5943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2642615"/>
            <a:ext cx="91440" cy="5943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752344"/>
            <a:ext cx="1037844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Power Query M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https://learn.microsoft.com/powerquery-m/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392423"/>
            <a:ext cx="10698480" cy="5943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3392423"/>
            <a:ext cx="91440" cy="5943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502151"/>
            <a:ext cx="1037844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DAX reference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https://learn.microsoft.com/dax/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142231"/>
            <a:ext cx="10698480" cy="5943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4142231"/>
            <a:ext cx="91440" cy="5943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251959"/>
            <a:ext cx="1037844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Power BI Project files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https://learn.microsoft.com/power-bi/developer/projects/projects-overview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