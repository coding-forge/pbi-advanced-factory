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42" d="100"/>
          <a:sy n="242" d="100"/>
        </p:scale>
        <p:origin x="5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 track: Welcome students to this module and explain that the goal is not to memorize features. The goal is to understand when a pattern helps authors build more trustworthy, maintainable, user-friendly Power BI solutions.</a:t>
            </a:r>
          </a:p>
          <a:p>
            <a:r>
              <a:t>Module framing: Frame this module as the foundation: a good model makes DAX, security, UX, and performance easier. Keep returning to grain, keys, and relationship direction.</a:t>
            </a:r>
          </a:p>
          <a:p>
            <a:r>
              <a:t>Set expectations: presentation will introduce the theme, then the lab will let learners build or evaluate the pattern hands-on. Encourage questions about tradeoffs, not just button clicks.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Emphasize sequence and dependency. Explain what students should already know from prior modules and what this module adds on top.</a:t>
            </a:r>
          </a:p>
          <a:p>
            <a:r>
              <a:t>Module framing: Frame this module as the foundation: a good model makes DAX, security, UX, and performance easier. Keep returning to grain, keys, and relationship direction.</a:t>
            </a:r>
          </a:p>
          <a:p>
            <a:r>
              <a:t>Transition: After this slide, move from the concept map into the specific pattern or lab activity.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1. Why semantic modeling matters.</a:t>
            </a:r>
          </a:p>
          <a:p>
            <a:r>
              <a:t>Talking points to expand: Talking points, learner value, and lab connection Talking points • Advanced Power BI starts with the model. • Poor models create slow reports, complex DAX, and inconsistent metrics. Why it helps • Enterprise models should be reusable, governed, and understandable. Lab connection Coverage: Covered. Use the lab README to demonstrate or discuss this topic. Review terms: complex, governed, inconsistent, matters, reports. 03</a:t>
            </a:r>
          </a:p>
          <a:p>
            <a:r>
              <a:t>Why it matters: Frame this module as the foundation: a good model makes DAX, security, UX, and performance easier. Keep returning to grain, keys, and relationship direction.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2. From flat files to analytical models.</a:t>
            </a:r>
          </a:p>
          <a:p>
            <a:r>
              <a:t>Talking points to expand: Talking points, learner value, and lab connection Talking points • Reporting exports vs. analytical models • Repeated text attributes Why it helps • Hidden grain problems • Fact and dimension separation Lab connection Coverage: Partial. Use the lab README to demonstrate or discuss this topic. Review terms: analytical, exports, hidden, problems, repeated. 04</a:t>
            </a:r>
          </a:p>
          <a:p>
            <a:r>
              <a:t>Why it matters: Frame this module as the foundation: a good model makes DAX, security, UX, and performance easier. Keep returning to grain, keys, and relationship direction.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3. Star schema design.</a:t>
            </a:r>
          </a:p>
          <a:p>
            <a:r>
              <a:t>Talking points to expand: Talking points, learner value, and lab connection Talking points • Fact table grain • Dimension attributes • Surrogate/business keys Why it helps • Conformed dimensions • Model readability Lab connection Coverage: Covered. Use the lab README to demonstrate or discuss this topic. Review terms: conformed, readability, surrogate. 05</a:t>
            </a:r>
          </a:p>
          <a:p>
            <a:r>
              <a:t>Why it matters: Frame this module as the foundation: a good model makes DAX, security, UX, and performance easier. Keep returning to grain, keys, and relationship direction.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4. Relationship design.</a:t>
            </a:r>
          </a:p>
          <a:p>
            <a:r>
              <a:t>Talking points to expand: Talking points, learner value, and lab connection Talking points • One-to-many relationships • Cardinality • Single-direction filtering Why it helps • Ambiguity and bi-directional filters • Many-to-many risks Lab connection Coverage: Covered. Use the lab README to demonstrate or discuss this topic. Review terms: risks. 06</a:t>
            </a:r>
          </a:p>
          <a:p>
            <a:r>
              <a:t>Why it matters: Frame this module as the foundation: a good model makes DAX, security, UX, and performance easier. Keep returning to grain, keys, and relationship direction.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5. Role-playing dimensions.</a:t>
            </a:r>
          </a:p>
          <a:p>
            <a:r>
              <a:t>Talking points to expand: Talking points, learner value, and lab connection Talking points • Order date, ship date, invoice date • Duplicated dimensions vs. inactive relationships Why it helps • `USERELATIONSHIP` pattern overview Lab connection Coverage: Covered. Use the lab README to demonstrate or discuss this topic. Review terms: duplicated, inactive, overview, userelationship. 07</a:t>
            </a:r>
          </a:p>
          <a:p>
            <a:r>
              <a:t>Why it matters: Frame this module as the foundation: a good model makes DAX, security, UX, and performance easier. Keep returning to grain, keys, and relationship direction.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6. Bridge tables.</a:t>
            </a:r>
          </a:p>
          <a:p>
            <a:r>
              <a:t>Talking points to expand: Talking points, learner value, and lab connection Talking points • Multi-valued attributes • Customer-to-segment example Why it helps • Bridge table grain • Filter direction considerations Lab connection Coverage: Covered. Use the lab README to demonstrate or discuss this topic. Review terms: considerations. 08</a:t>
            </a:r>
          </a:p>
          <a:p>
            <a:r>
              <a:t>Why it matters: Frame this module as the foundation: a good model makes DAX, security, UX, and performance easier. Keep returning to grain, keys, and relationship direction.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7. Composite models and storage modes.</a:t>
            </a:r>
          </a:p>
          <a:p>
            <a:r>
              <a:t>Talking points to expand: Talking points, learner value, and lab connection Talking points • Import • DirectQuery • Dual Why it helps • Composite models • Hybrid table concept Lab connection Coverage: Covered. Use the lab README to demonstrate or discuss this topic. Review terms: modes, requirements. 09</a:t>
            </a:r>
          </a:p>
          <a:p>
            <a:r>
              <a:t>Why it matters: Frame this module as the foundation: a good model makes DAX, security, UX, and performance easier. Keep returning to grain, keys, and relationship direction.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8. Large semantic model considerations.</a:t>
            </a:r>
          </a:p>
          <a:p>
            <a:r>
              <a:t>Talking points to expand: Talking points, learner value, and lab connection Talking points • Cardinality reduction • Aggregations • Incremental refresh Why it helps • Capacity and tenant settings • Gov validation requirements Lab connection Coverage: Covered. Use the lab README to demonstrate or discuss this topic. Review terms: aggregations, capacity, considerations, incremental, reduction. 10</a:t>
            </a:r>
          </a:p>
          <a:p>
            <a:r>
              <a:t>Why it matters: Frame this module as the foundation: a good model makes DAX, security, UX, and performance easier. Keep returning to grain, keys, and relationship direction.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9. Module lab walkthrough.</a:t>
            </a:r>
          </a:p>
          <a:p>
            <a:r>
              <a:t>Talking points to expand: Talking points, learner value, and lab connection Talking points • Data overview • Target model Why it helps • Validation checks • Optional commercial-enhanced path Lab connection Coverage: Partial. Use the lab README to demonstrate or discuss this topic. Review terms: checks, commercial, enhanced, overview, walkthrough. 11</a:t>
            </a:r>
          </a:p>
          <a:p>
            <a:r>
              <a:t>Why it matters: Frame this module as the foundation: a good model makes DAX, security, UX, and performance easier. Keep returning to grain, keys, and relationship direction.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Treat this as a checkpoint. Ask learners to explain the pattern in their own words and identify where they would use it in a real report.</a:t>
            </a:r>
          </a:p>
          <a:p>
            <a:r>
              <a:t>Validation prompt: What would prove this worked? Look for a simple visual, expected filter behavior, or a documented before/after result.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Use this slide as the handoff for self-study. Do not read every link aloud. Point out which source is most relevant to the lab just completed and which source helps learners go deeper after class.</a:t>
            </a:r>
          </a:p>
          <a:p>
            <a:r>
              <a:t>Suggested prompt: Ask learners to bookmark the source that best matches the skill they want to improve next.</a:t>
            </a:r>
          </a:p>
          <a:p>
            <a:r>
              <a:t>Further learning: Star schema guidance: https://learn.microsoft.com/power-bi/guidance/star-schema | Model relationships: https://learn.microsoft.com/power-bi/transform-model/desktop-relationships-understand | Power BI Desktop modeling: https://learn.microsoft.com/power-bi/transform-model/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Advanced Semantic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C39A"/>
                </a:solidFill>
                <a:latin typeface="Aptos"/>
              </a:defRPr>
            </a:pPr>
            <a:r>
              <a:t>Power BI Advanced Factory teaching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What students learn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Key concepts and talking points from the module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91440" cy="12344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How the topic helps authors and report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914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How labs connect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learners apply the theme hands-on.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Module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this to introduce the section before hands-on labs.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1. Why semantic modeling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Advanced Power BI starts with the model.; Poor models create slow reports, complex DAX, and inconsistent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2. From flat files to analytical models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Reporting exports vs. analytical models; Repeated text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3. Star schema design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Fact table grain; Dimension attributes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4. Relationship design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One-to-many relationships; Cardinality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5. Role-playing dimensions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Order date, ship date, invoice date; Duplicated dimensions vs. inactive relationships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6. Bridge tables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Multi-valued attributes; Customer-to-segment example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7. Composite models and storage modes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Import; DirectQuery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8. Large semantic model considerations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Cardinality reduction; Aggregations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1. Why semantic modeling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Advanced Power BI starts with the model.</a:t>
            </a:r>
            <a:br/>
            <a:r>
              <a:t>• Poor models create slow reports, complex DAX, and inconsistent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Enterprise models should be reusable, governed, and understandable.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complex, governed, inconsistent, matters, reports.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2. From flat files to analytical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Reporting exports vs. analytical models</a:t>
            </a:r>
            <a:br/>
            <a:r>
              <a:t>• Repeated text attributes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Hidden grain problems</a:t>
            </a:r>
            <a:br/>
            <a:r>
              <a:t>• Fact and dimension separation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analytical, exports, hidden, problems, repeated.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3. Star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Fact table grain</a:t>
            </a:r>
            <a:br/>
            <a:r>
              <a:t>• Dimension attributes</a:t>
            </a:r>
            <a:br/>
            <a:r>
              <a:t>• Surrogate/business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Conformed dimensions</a:t>
            </a:r>
            <a:br/>
            <a:r>
              <a:t>• Model readability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conformed, readability, surrogate.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4. Relationship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One-to-many relationships</a:t>
            </a:r>
            <a:br/>
            <a:r>
              <a:t>• Cardinality</a:t>
            </a:r>
            <a:br/>
            <a:r>
              <a:t>• Single-direction filtering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Ambiguity and bi-directional filters</a:t>
            </a:r>
            <a:br/>
            <a:r>
              <a:t>• Many-to-many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risks.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5. Role-playing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Order date, ship date, invoice date</a:t>
            </a:r>
            <a:br/>
            <a:r>
              <a:t>• Duplicated dimensions vs. inactive relationships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`USERELATIONSHIP` pattern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duplicated, inactive, overview, userelationship.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6. Bridge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Multi-valued attributes</a:t>
            </a:r>
            <a:br/>
            <a:r>
              <a:t>• Customer-to-segment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Bridge table grain</a:t>
            </a:r>
            <a:br/>
            <a:r>
              <a:t>• Filter direction considerations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considerations.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7. Composite models and storage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Import</a:t>
            </a:r>
            <a:br/>
            <a:r>
              <a:t>• DirectQuery</a:t>
            </a:r>
            <a:br/>
            <a:r>
              <a:t>• Dual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Composite models</a:t>
            </a:r>
            <a:br/>
            <a:r>
              <a:t>• Hybrid table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modes,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8. Large semantic model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Cardinality reduction</a:t>
            </a:r>
            <a:br/>
            <a:r>
              <a:t>• Aggregations</a:t>
            </a:r>
            <a:br/>
            <a:r>
              <a:t>• Incremental refresh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Capacity and tenant settings</a:t>
            </a:r>
            <a:br/>
            <a:r>
              <a:t>• Gov validation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aggregations, capacity, considerations, incremental, reduction.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9. Module lab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Data overview</a:t>
            </a:r>
            <a:br/>
            <a:r>
              <a:t>• Target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Validation checks</a:t>
            </a:r>
            <a:br/>
            <a:r>
              <a:t>• Optional commercial-enhanced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checks, commercial, enhanced, overview, walkthrough.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10. Knowledge check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Design tradeoffs</a:t>
            </a:r>
            <a:br/>
            <a:r>
              <a:t>• Gov readiness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Production review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discussion, knowledge,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ptos Display"/>
              </a:defRPr>
            </a:pPr>
            <a:r>
              <a:t>Sources and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these official Microsoft docs for deeper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rPr dirty="0"/>
              <a:t>Power BI guidance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rPr dirty="0"/>
              <a:t>https://learn.microsoft.com/power-bi/guidance/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Power BI Desktop docs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rPr dirty="0"/>
              <a:t>https://learn.microsoft.com/power-bi/fundamentals/desktop-getting-started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642615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Power Query M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3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392423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1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DAX reference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1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142231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1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931</Words>
  <Application>Microsoft Office PowerPoint</Application>
  <PresentationFormat>Widescreen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Brandon Campbell</cp:lastModifiedBy>
  <cp:revision>1</cp:revision>
  <dcterms:created xsi:type="dcterms:W3CDTF">2013-01-27T09:14:16Z</dcterms:created>
  <dcterms:modified xsi:type="dcterms:W3CDTF">2026-08-13T14:57:22Z</dcterms:modified>
  <cp:category/>
</cp:coreProperties>
</file>