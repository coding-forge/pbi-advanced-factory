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to Module 1. Frame this as the foundation module for the entire workshop: every later module — DAX, Power Query, report UX, performance, security — assumes the semantic model underneath is well-designed.</a:t>
            </a:r>
          </a:p>
          <a:p>
            <a:r>
              <a:t>Set the stakes early: a flat, ungoverned data export can still 'work' in a report, but it quietly produces slow visuals, duplicated business logic in DAX measures, and numbers that don't reconcile between reports. Today is about preventing that.</a:t>
            </a:r>
          </a:p>
          <a:p>
            <a:r>
              <a:t>Preview the lab: students will take a flat CSV sales export for Contoso Advanced Manufacturing and refactor it into a star schema with fact/dimension separation, role-playing dates, and a bridge table for multi-valued customer segments.</a:t>
            </a:r>
          </a:p>
          <a:p>
            <a:r>
              <a:t>Mention the Azure Government angle up front so it isn't a surprise later: most of this module is Gov-ready because it only uses local CSVs and core Desktop modeling features. Composite models, DirectQuery, and large semantic model features are 'Verify for Gov' and are treated as optional/conceptual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ten topics quickly — don't over-explain, just orient the room to the shape of the session: concepts first (1-3), relationship mechanics (4-6), advanced storage/scale topics (7-8), then the hands-on lab and wrap-up (9-10).</a:t>
            </a:r>
          </a:p>
          <a:p>
            <a:r>
              <a:t>Call out that topics 7 and 8 (composite models, large semantic models) are conceptual discussion only for most students — they are Verify-for-Gov and depend on tenant settings the classroom environment may not have enabled.</a:t>
            </a:r>
          </a:p>
          <a:p>
            <a:r>
              <a:t>Tell students the lab (topic 9) is where all of this becomes real: they will build the actual fact table, dimension tables, and relationships described in topics 2-6.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a direct statement: 'Advanced Power BI starts with the model.' Everything else in this workshop — the DAX patterns in Module 2, the Power Query techniques in Module 3, even the report UX and performance modules — assumes you already have a clean, dimensional model underneath.</a:t>
            </a:r>
          </a:p>
          <a:p>
            <a:r>
              <a:t>Explain the failure mode concretely: when a model is just a wide flat table pretending to be a data model, authors compensate with increasingly complex DAX — nested CALCULATE statements, filter context hacks — to work around the missing structure. That complexity is a symptom, not a feature.</a:t>
            </a:r>
          </a:p>
          <a:p>
            <a:r>
              <a:t>Define the three qualities — reusable, governed, understandable — and tie each one to a concrete pain point: reusable avoids rebuilding the same logic in five different reports; governed means naming and keys are predictable so new authors don't guess; understandable means the model documents itself through table names, hidden keys, and relationship direction.</a:t>
            </a:r>
          </a:p>
          <a:p>
            <a:r>
              <a:t>Ask the discussion question from the slide footer and let 2-3 students answer before moving on. Use their answers to bridge into the next topic: most mismatched numbers trace back to grain problems, which is exactly what we cover next.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up the actual source file: sales-flat.csv. Point out that it looks like a perfectly normal Excel-style export — one row per sales order line — but every row also repeats the customer's name, type, state, region; the product's name, category, subcategory; and the territory's name and region.</a:t>
            </a:r>
          </a:p>
          <a:p>
            <a:r>
              <a:t>Explain why that repetition is the tell-tale sign of a reporting export instead of an analytical model: if you group by CustomerName in Power BI against this flat table, it will 'work', but every calculation is now scanning far more repeated text than necessary, and there is no single place to fix a customer's attribute if it changes.</a:t>
            </a:r>
          </a:p>
          <a:p>
            <a:r>
              <a:t>Introduce the phrase 'hidden grain problem' — the grain (what one row represents) isn't documented anywhere in a flat file. You have to reverse-engineer it by testing: is SalesOrderLineKey actually unique? Could there be two rows for one order? This matters because measures like SUM() silently produce wrong totals if the grain is wrong and you don't realize it.</a:t>
            </a:r>
          </a:p>
          <a:p>
            <a:r>
              <a:t>Close the loop by explaining the fix is always the same recipe: 1) determine the true grain of the fact table (in this lab, transaction/order-line grain), 2) split every repeated attribute column into its own dimension table keyed by an ID, 3) leave only keys and numeric measures in the fact table. This is exactly what Exercise 1 in the lab has students do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heart of the module, so slow down here. Star schema means one central fact table (the 'many' side, holding transactions and numeric measures) surrounded by dimension tables (the 'one' side, holding descriptive attributes).</a:t>
            </a:r>
          </a:p>
          <a:p>
            <a:r>
              <a:t>Walk each row of the table. For fact table grain, stress that the grain decision comes first — before you write a single relationship — because every other decision depends on it. In this lab, grain is 'one row per sales order line.'</a:t>
            </a:r>
          </a:p>
          <a:p>
            <a:r>
              <a:t>For surrogate/business keys, explain the difference simply: this lab uses the business keys already present in the source (CustomerKey, ProductKey, TerritoryKey) rather than generating new integer surrogate keys, which is a perfectly valid approach for smaller, well-controlled synthetic datasets like this one. In larger enterprise warehouses, you'd often add a generated surrogate key layer, but that's out of scope here.</a:t>
            </a:r>
          </a:p>
          <a:p>
            <a:r>
              <a:t>For conformed dimensions, use the DimTerritory example directly from this lab: because the *same* DimTerritory table relates to both FactSales and FactTargets, a single territory slicer filters actuals and targets together consistently — that's the entire point of a conformed dimension.</a:t>
            </a:r>
          </a:p>
          <a:p>
            <a:r>
              <a:t>End by previewing that Exercise 1 in the lab gives students the *exact* column lists to keep and remove for every table — there's no guesswork, so if their relationships don't resolve later, the first thing to check is whether they followed those column lists precisely.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default rule clearly: in this workshop, relationships should be one-to-many, single-direction, from dimension into fact. That's the safe, predictable 90% case.</a:t>
            </a:r>
          </a:p>
          <a:p>
            <a:r>
              <a:t>Explain cardinality using a plain description: 'one-to-many' means one row on the dimension side can match many rows on the fact side — one customer, many sales transactions. If Power BI reports 'many-to-many' between two tables you expected to be one-to-many, that's almost always a sign your grain or key assumptions are wrong, not something to just accept and move past.</a:t>
            </a:r>
          </a:p>
          <a:p>
            <a:r>
              <a:t>On cross-filter direction, be concrete about the risk of bidirectional filtering: it can create filter paths that loop back on themselves and produce wrong totals that are hard to spot because the report still runs — it just quietly shows the wrong number. Tell students: if you think you need bidirectional filtering, that's your cue to pause and discuss it with the class or instructor before flipping the switch.</a:t>
            </a:r>
          </a:p>
          <a:p>
            <a:r>
              <a:t>Foreshadow the FactTargets/DimProduct grain mismatch that's coming up in Exercise 1's DimProductCategory step — it's a perfect concrete example of exactly the ambiguity this slide is warning about, and having it primed now will make that exercise step click immediately when students get there.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separate dates does a single sales transaction actually have?' Let them notice OrderDate, ShipDate, and InvoiceDate all exist on the same fact row — this is the classic role-playing dimension scenario.</a:t>
            </a:r>
          </a:p>
          <a:p>
            <a:r>
              <a:t>Explain the term 'role-playing dimension' directly: it's one dimension — a calendar — playing multiple 'roles' against the same fact table. The calendar itself doesn't change; what changes is which date column on the fact table it's related to.</a:t>
            </a:r>
          </a:p>
          <a:p>
            <a:r>
              <a:t>Present both implementation options honestly, with tradeoffs: duplicating the date table (DimOrderDate, DimShipDate as separate physical tables, each actively related) is simple and each slicer works with plain-language 'order date' or 'ship date' filters without extra DAX. The alternative — one shared DimDate table with multiple inactive relationships activated via USERELATIONSHIP inside specific measures — saves a table but pushes complexity into every measure that needs date-role-specific behavior.</a:t>
            </a:r>
          </a:p>
          <a:p>
            <a:r>
              <a:t>Tell students this lab uses the duplicated-table pattern deliberately because it's easier for newer authors to reason about, and set expectations that USERELATIONSHIP will come back explicitly in Module 2 when they're more comfortable with DAX.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business problem first, before the model: a single customer in this dataset can belong to more than one market segment simultaneously — for example 'Enterprise' and 'Government'. A simple one-to-many DimCustomer-to-Segment column can't represent that.</a:t>
            </a:r>
          </a:p>
          <a:p>
            <a:r>
              <a:t>Walk through the diagram (adapted here to show the bridge concept using the same fact/dimension visual language as star schema): BridgeCustomerSegment sits between DimCustomer and DimSegment, at 'customer-segment pair' grain — one row per valid customer/segment combination.</a:t>
            </a:r>
          </a:p>
          <a:p>
            <a:r>
              <a:t>Emphasize the critical rule: DimCustomer relates one-to-many into the bridge table, and DimSegment relates one-to-many into the bridge table — but the bridge table itself does NOT relate directly to FactSales. Filtering flows: Segment slicer → bridge → DimCustomer → FactSales.</a:t>
            </a:r>
          </a:p>
          <a:p>
            <a:r>
              <a:t>Mention the filter-direction consideration explicitly: getting a segment slicer to filter sales requires the bridge table's relationships to propagate correctly, which is exactly what Exercise 3 has students build and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topic shifts from 'required, hands-on' to 'important to understand, but conceptual for most students.' Say that explicitly so nobody is confused about why Exercise 4 doesn't involve actually building a DirectQuery connection.</a:t>
            </a:r>
          </a:p>
          <a:p>
            <a:r>
              <a:t>Go through each storage mode row and anchor it to a plain tradeoff: Import is fast but stale until refresh; DirectQuery is always fresh but as slow as the source and gateway allow; Dual lets the engine pick the best of both per-query for small dimension tables; composite models mix Import fact tables with DirectQuery for huge or highly volatile tables; hybrid tables split one table's history into Import for old/stable data and DirectQuery for the most recent, fast-changing rows.</a:t>
            </a:r>
          </a:p>
          <a:p>
            <a:r>
              <a:t>Stress the Gov note column: everything except plain Import here is 'Verify for Gov', meaning before treating any of it as a real project decision, the student needs to confirm the target tenant's connector support, gateway availability, network path to the source, and licensing/capacity settings actually support it.</a:t>
            </a:r>
          </a:p>
          <a:p>
            <a:r>
              <a:t>Run Exercise 4 as a discussion, not a build: ask students, given what they know about FactSales/FactTargets and the dimensions, which tables would be good Import candidates (hint: everything in this lab, since it's small synthetic CSV data) versus which *could* need DirectQuery in a real enterprise scenario (very large, rapidly changing fact tables, or a real-time operational source).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preview, not a deep dive — tell students explicitly that aggregations and incremental refresh will come back in much more depth in the Performance Optimization module later in the workshop. Today's job is just to know these concepts exist and roughly what problem each one solves.</a:t>
            </a:r>
          </a:p>
          <a:p>
            <a:r>
              <a:t>Connect cardinality reduction back to something they already did: point out that DimProductCategory, which they built to solve the FactTargets grain mismatch, is *also* a cardinality reduction technique — it's a smaller, low-cardinality lookup table that keeps relationships efficient. Same technique, two motivations (correctness AND scale).</a:t>
            </a:r>
          </a:p>
          <a:p>
            <a:r>
              <a:t>Briefly define aggregations and incremental refresh in one sentence each, using the language on the slide, but don't go deep — park detailed examples for the later module.</a:t>
            </a:r>
          </a:p>
          <a:p>
            <a:r>
              <a:t>Reinforce the Gov note one more time: capacity SKU and tenant settings gate all of this, so it should never be assumed available by default in a government tenant without checking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bridge from lecture into hands-on work — walk through it as a literal table of contents for what's about to happen at the keyboard.</a:t>
            </a:r>
          </a:p>
          <a:p>
            <a:r>
              <a:t>Point out the three raw data files and how each maps to an exercise: sales-flat.csv feeds Exercise 1's star schema refactor, customer-segments.csv feeds Exercise 3's bridge table, and targets.csv is what makes the DimProductCategory grain-mismatch problem real in Exercise 1.</a:t>
            </a:r>
          </a:p>
          <a:p>
            <a:r>
              <a:t>Remind students of the 'target model' shape one more time before they start: one central FactSales table, clean dimensions, single-direction relationships flowing from dimension into fact, and business keys hidden from report view. If their model doesn't look like that at the end, something needs fixing before moving to Module 2.</a:t>
            </a:r>
          </a:p>
          <a:p>
            <a:r>
              <a:t>Tell them Exercise 4 is discussion/documentation only — there is no DirectQuery connection to actually build in this classroom environment — so they should treat it as a written tradeoff exercise, not a technical build step.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discussion-driven wrap-up rather than a quiz — the goal is to surface reasoning, not just recall facts.</a:t>
            </a:r>
          </a:p>
          <a:p>
            <a:r>
              <a:t>Pick 2-3 items and ask specific students to answer out loud, especially the design tradeoff and Gov readiness questions — those require synthesizing multiple topics from today rather than repeating a single slide.</a:t>
            </a:r>
          </a:p>
          <a:p>
            <a:r>
              <a:t>For the production review checklist question, connect it back to the lab's own Validation checklist (grain, naming, cardinality, filter direction, role-playing dates, bridge table, Gov labeling, and measure totals) — tell students this exact checklist is what they should run before considering any model 'done', not just in this lab but in real project work.</a:t>
            </a:r>
          </a:p>
          <a:p>
            <a:r>
              <a:t>Close by connecting forward: everything validated today — grain, keys, relationships — is the foundation Module 2 (Advanced DAX) will build measures on top of. If a measure misbehaves in Module 2, the first thing to re-check is whether the model foundation from today is actually correct.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Congratulate the class on completing the foundation module — this is the module everything else depends on, and it's normal for the star-schema refactor exercise to take real focus and time.</a:t>
            </a:r>
          </a:p>
          <a:p>
            <a:r>
              <a:t>Remind students to keep their completed PBIP model open or close at hand, since Module 2 builds DAX measures directly on top of the FactSales/Dim tables they just created.</a:t>
            </a:r>
          </a:p>
          <a:p>
            <a:r>
              <a:t>Take final questions before moving on, especially anything about the Verify-for-Gov topics (composite models, storage modes, large semantic models) since those are the most likely source of lingering confusion.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80644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17320"/>
            <a:ext cx="5486400" cy="457200"/>
          </a:xfrm>
          <a:prstGeom prst="rect">
            <a:avLst/>
          </a:prstGeom>
          <a:noFill/>
        </p:spPr>
        <p:txBody>
          <a:bodyPr wrap="square" anchor="t" lIns="0" rIns="0" tIns="0" bIns="0">
            <a:spAutoFit/>
          </a:bodyPr>
          <a:lstStyle/>
          <a:p>
            <a:pPr algn="l">
              <a:lnSpc>
                <a:spcPct val="100000"/>
              </a:lnSpc>
              <a:spcAft>
                <a:spcPts val="0"/>
              </a:spcAft>
            </a:pPr>
            <a:r>
              <a:rPr sz="1600" b="1" i="0">
                <a:solidFill>
                  <a:srgbClr val="E8B44A"/>
                </a:solidFill>
                <a:latin typeface="Calibri"/>
              </a:rPr>
              <a:t>MODULE 01</a:t>
            </a:r>
          </a:p>
        </p:txBody>
      </p:sp>
      <p:sp>
        <p:nvSpPr>
          <p:cNvPr id="5" name="TextBox 4"/>
          <p:cNvSpPr txBox="1"/>
          <p:nvPr/>
        </p:nvSpPr>
        <p:spPr>
          <a:xfrm>
            <a:off x="822960" y="1874519"/>
            <a:ext cx="9601200" cy="1920240"/>
          </a:xfrm>
          <a:prstGeom prst="rect">
            <a:avLst/>
          </a:prstGeom>
          <a:noFill/>
        </p:spPr>
        <p:txBody>
          <a:bodyPr wrap="square" anchor="t" lIns="0" rIns="0" tIns="0" bIns="0">
            <a:spAutoFit/>
          </a:bodyPr>
          <a:lstStyle/>
          <a:p>
            <a:pPr algn="l">
              <a:lnSpc>
                <a:spcPct val="105000"/>
              </a:lnSpc>
              <a:spcAft>
                <a:spcPts val="0"/>
              </a:spcAft>
            </a:pPr>
            <a:r>
              <a:rPr sz="4400" b="1" i="0">
                <a:solidFill>
                  <a:srgbClr val="FFFFFF"/>
                </a:solidFill>
                <a:latin typeface="Cambria"/>
              </a:rPr>
              <a:t>Advanced Semantic Modeling</a:t>
            </a:r>
          </a:p>
        </p:txBody>
      </p:sp>
      <p:sp>
        <p:nvSpPr>
          <p:cNvPr id="6" name="TextBox 5"/>
          <p:cNvSpPr txBox="1"/>
          <p:nvPr/>
        </p:nvSpPr>
        <p:spPr>
          <a:xfrm>
            <a:off x="822960" y="3703320"/>
            <a:ext cx="9601200" cy="914400"/>
          </a:xfrm>
          <a:prstGeom prst="rect">
            <a:avLst/>
          </a:prstGeom>
          <a:noFill/>
        </p:spPr>
        <p:txBody>
          <a:bodyPr wrap="square" anchor="t" lIns="0" rIns="0" tIns="0" bIns="0">
            <a:spAutoFit/>
          </a:bodyPr>
          <a:lstStyle/>
          <a:p>
            <a:pPr algn="l">
              <a:lnSpc>
                <a:spcPct val="100000"/>
              </a:lnSpc>
              <a:spcAft>
                <a:spcPts val="0"/>
              </a:spcAft>
            </a:pPr>
            <a:r>
              <a:rPr sz="2000" b="0" i="1">
                <a:solidFill>
                  <a:srgbClr val="CADCFC"/>
                </a:solidFill>
                <a:latin typeface="Calibri"/>
              </a:rPr>
              <a:t>Building a governed, reusable star schema for Contoso Advanced Manufacturing</a:t>
            </a:r>
          </a:p>
        </p:txBody>
      </p:sp>
      <p:sp>
        <p:nvSpPr>
          <p:cNvPr id="7" name="TextBox 6"/>
          <p:cNvSpPr txBox="1"/>
          <p:nvPr/>
        </p:nvSpPr>
        <p:spPr>
          <a:xfrm>
            <a:off x="822960" y="6035040"/>
            <a:ext cx="9144000" cy="548640"/>
          </a:xfrm>
          <a:prstGeom prst="rect">
            <a:avLst/>
          </a:prstGeom>
          <a:noFill/>
        </p:spPr>
        <p:txBody>
          <a:bodyPr wrap="square" anchor="t" lIns="0" rIns="0" tIns="0" bIns="0">
            <a:spAutoFit/>
          </a:bodyPr>
          <a:lstStyle/>
          <a:p>
            <a:pPr algn="l">
              <a:lnSpc>
                <a:spcPct val="100000"/>
              </a:lnSpc>
              <a:spcAft>
                <a:spcPts val="0"/>
              </a:spcAft>
            </a:pPr>
            <a:r>
              <a:rPr sz="1300" b="0" i="0">
                <a:solidFill>
                  <a:srgbClr val="CADCFC"/>
                </a:solidFill>
                <a:latin typeface="Calibri"/>
              </a:rPr>
              <a:t>Advanced Power BI Training — Instructor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MODULE 01 AGENDA</a:t>
            </a:r>
          </a:p>
        </p:txBody>
      </p:sp>
      <p:sp>
        <p:nvSpPr>
          <p:cNvPr id="5" name="TextBox 4"/>
          <p:cNvSpPr txBox="1"/>
          <p:nvPr/>
        </p:nvSpPr>
        <p:spPr>
          <a:xfrm>
            <a:off x="640080" y="868680"/>
            <a:ext cx="8229600" cy="640080"/>
          </a:xfrm>
          <a:prstGeom prst="rect">
            <a:avLst/>
          </a:prstGeom>
          <a:noFill/>
        </p:spPr>
        <p:txBody>
          <a:bodyPr wrap="square" anchor="t" lIns="0" rIns="0" tIns="0" bIns="0">
            <a:spAutoFit/>
          </a:bodyPr>
          <a:lstStyle/>
          <a:p>
            <a:pPr algn="l">
              <a:lnSpc>
                <a:spcPct val="100000"/>
              </a:lnSpc>
              <a:spcAft>
                <a:spcPts val="0"/>
              </a:spcAft>
            </a:pPr>
            <a:r>
              <a:rPr sz="3200" b="1" i="0">
                <a:solidFill>
                  <a:srgbClr val="141B45"/>
                </a:solidFill>
                <a:latin typeface="Cambria"/>
              </a:rPr>
              <a:t>What We'll Cover</a:t>
            </a:r>
          </a:p>
        </p:txBody>
      </p:sp>
      <p:sp>
        <p:nvSpPr>
          <p:cNvPr id="6" name="Rectangle 5"/>
          <p:cNvSpPr/>
          <p:nvPr/>
        </p:nvSpPr>
        <p:spPr>
          <a:xfrm>
            <a:off x="64008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a:t>
            </a:r>
          </a:p>
        </p:txBody>
      </p:sp>
      <p:sp>
        <p:nvSpPr>
          <p:cNvPr id="8" name="TextBox 7"/>
          <p:cNvSpPr txBox="1"/>
          <p:nvPr/>
        </p:nvSpPr>
        <p:spPr>
          <a:xfrm>
            <a:off x="117043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Why semantic modeling matters</a:t>
            </a:r>
          </a:p>
        </p:txBody>
      </p:sp>
      <p:sp>
        <p:nvSpPr>
          <p:cNvPr id="9" name="Rectangle 8"/>
          <p:cNvSpPr/>
          <p:nvPr/>
        </p:nvSpPr>
        <p:spPr>
          <a:xfrm>
            <a:off x="640080" y="256032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6032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2</a:t>
            </a:r>
          </a:p>
        </p:txBody>
      </p:sp>
      <p:sp>
        <p:nvSpPr>
          <p:cNvPr id="11" name="TextBox 10"/>
          <p:cNvSpPr txBox="1"/>
          <p:nvPr/>
        </p:nvSpPr>
        <p:spPr>
          <a:xfrm>
            <a:off x="1170432" y="257860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From flat files to analytical models</a:t>
            </a:r>
          </a:p>
        </p:txBody>
      </p:sp>
      <p:sp>
        <p:nvSpPr>
          <p:cNvPr id="12" name="Rectangle 11"/>
          <p:cNvSpPr/>
          <p:nvPr/>
        </p:nvSpPr>
        <p:spPr>
          <a:xfrm>
            <a:off x="640080" y="333756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33756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3</a:t>
            </a:r>
          </a:p>
        </p:txBody>
      </p:sp>
      <p:sp>
        <p:nvSpPr>
          <p:cNvPr id="14" name="TextBox 13"/>
          <p:cNvSpPr txBox="1"/>
          <p:nvPr/>
        </p:nvSpPr>
        <p:spPr>
          <a:xfrm>
            <a:off x="1170432" y="335584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Star schema design</a:t>
            </a:r>
          </a:p>
        </p:txBody>
      </p:sp>
      <p:sp>
        <p:nvSpPr>
          <p:cNvPr id="15" name="Rectangle 14"/>
          <p:cNvSpPr/>
          <p:nvPr/>
        </p:nvSpPr>
        <p:spPr>
          <a:xfrm>
            <a:off x="640080" y="411480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1480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4</a:t>
            </a:r>
          </a:p>
        </p:txBody>
      </p:sp>
      <p:sp>
        <p:nvSpPr>
          <p:cNvPr id="17" name="TextBox 16"/>
          <p:cNvSpPr txBox="1"/>
          <p:nvPr/>
        </p:nvSpPr>
        <p:spPr>
          <a:xfrm>
            <a:off x="1170432" y="413308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Relationship design</a:t>
            </a:r>
          </a:p>
        </p:txBody>
      </p:sp>
      <p:sp>
        <p:nvSpPr>
          <p:cNvPr id="18" name="Rectangle 17"/>
          <p:cNvSpPr/>
          <p:nvPr/>
        </p:nvSpPr>
        <p:spPr>
          <a:xfrm>
            <a:off x="640080" y="489204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89204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5</a:t>
            </a:r>
          </a:p>
        </p:txBody>
      </p:sp>
      <p:sp>
        <p:nvSpPr>
          <p:cNvPr id="20" name="TextBox 19"/>
          <p:cNvSpPr txBox="1"/>
          <p:nvPr/>
        </p:nvSpPr>
        <p:spPr>
          <a:xfrm>
            <a:off x="1170432" y="491032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Role-playing dimensions</a:t>
            </a:r>
          </a:p>
        </p:txBody>
      </p:sp>
      <p:sp>
        <p:nvSpPr>
          <p:cNvPr id="21" name="Rectangle 20"/>
          <p:cNvSpPr/>
          <p:nvPr/>
        </p:nvSpPr>
        <p:spPr>
          <a:xfrm>
            <a:off x="630936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6</a:t>
            </a:r>
          </a:p>
        </p:txBody>
      </p:sp>
      <p:sp>
        <p:nvSpPr>
          <p:cNvPr id="23" name="TextBox 22"/>
          <p:cNvSpPr txBox="1"/>
          <p:nvPr/>
        </p:nvSpPr>
        <p:spPr>
          <a:xfrm>
            <a:off x="683971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Bridge tables</a:t>
            </a:r>
          </a:p>
        </p:txBody>
      </p:sp>
      <p:sp>
        <p:nvSpPr>
          <p:cNvPr id="24" name="Rectangle 23"/>
          <p:cNvSpPr/>
          <p:nvPr/>
        </p:nvSpPr>
        <p:spPr>
          <a:xfrm>
            <a:off x="6309360" y="256032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56032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7</a:t>
            </a:r>
          </a:p>
        </p:txBody>
      </p:sp>
      <p:sp>
        <p:nvSpPr>
          <p:cNvPr id="26" name="TextBox 25"/>
          <p:cNvSpPr txBox="1"/>
          <p:nvPr/>
        </p:nvSpPr>
        <p:spPr>
          <a:xfrm>
            <a:off x="6839712" y="257860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Composite models and storage modes</a:t>
            </a:r>
          </a:p>
        </p:txBody>
      </p:sp>
      <p:sp>
        <p:nvSpPr>
          <p:cNvPr id="27" name="Rectangle 26"/>
          <p:cNvSpPr/>
          <p:nvPr/>
        </p:nvSpPr>
        <p:spPr>
          <a:xfrm>
            <a:off x="6309360" y="333756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33756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8</a:t>
            </a:r>
          </a:p>
        </p:txBody>
      </p:sp>
      <p:sp>
        <p:nvSpPr>
          <p:cNvPr id="29" name="TextBox 28"/>
          <p:cNvSpPr txBox="1"/>
          <p:nvPr/>
        </p:nvSpPr>
        <p:spPr>
          <a:xfrm>
            <a:off x="6839712" y="335584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Large semantic model considerations</a:t>
            </a:r>
          </a:p>
        </p:txBody>
      </p:sp>
      <p:sp>
        <p:nvSpPr>
          <p:cNvPr id="30" name="Rectangle 29"/>
          <p:cNvSpPr/>
          <p:nvPr/>
        </p:nvSpPr>
        <p:spPr>
          <a:xfrm>
            <a:off x="6309360" y="411480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411480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9</a:t>
            </a:r>
          </a:p>
        </p:txBody>
      </p:sp>
      <p:sp>
        <p:nvSpPr>
          <p:cNvPr id="32" name="TextBox 31"/>
          <p:cNvSpPr txBox="1"/>
          <p:nvPr/>
        </p:nvSpPr>
        <p:spPr>
          <a:xfrm>
            <a:off x="6839712" y="413308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Module lab walkthrough</a:t>
            </a:r>
          </a:p>
        </p:txBody>
      </p:sp>
      <p:sp>
        <p:nvSpPr>
          <p:cNvPr id="33" name="Rectangle 32"/>
          <p:cNvSpPr/>
          <p:nvPr/>
        </p:nvSpPr>
        <p:spPr>
          <a:xfrm>
            <a:off x="6309360" y="489204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489204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10</a:t>
            </a:r>
          </a:p>
        </p:txBody>
      </p:sp>
      <p:sp>
        <p:nvSpPr>
          <p:cNvPr id="35" name="TextBox 34"/>
          <p:cNvSpPr txBox="1"/>
          <p:nvPr/>
        </p:nvSpPr>
        <p:spPr>
          <a:xfrm>
            <a:off x="6839712" y="491032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Knowledge check and discussion</a:t>
            </a:r>
          </a:p>
        </p:txBody>
      </p:sp>
      <p:sp>
        <p:nvSpPr>
          <p:cNvPr id="36" name="TextBox 35"/>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01</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Why Semantic Modeling Matters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Advanced Power BI starts with the model, not the visual canvas.</a:t>
            </a:r>
          </a:p>
          <a:p>
            <a:pPr>
              <a:lnSpc>
                <a:spcPct val="105000"/>
              </a:lnSpc>
              <a:spcAft>
                <a:spcPts val="1000"/>
              </a:spcAft>
              <a:buClr>
                <a:srgbClr val="1E2761"/>
              </a:buClr>
              <a:buFont typeface="Arial"/>
              <a:buChar char="•"/>
            </a:pPr>
            <a:r>
              <a:rPr sz="1450">
                <a:solidFill>
                  <a:srgbClr val="1F2328"/>
                </a:solidFill>
                <a:latin typeface="Calibri"/>
              </a:rPr>
              <a:t>A poor model shows up later as slow reports, overly complex DAX, and metrics that don't match between two reports built by different authors.</a:t>
            </a:r>
          </a:p>
          <a:p>
            <a:pPr>
              <a:lnSpc>
                <a:spcPct val="105000"/>
              </a:lnSpc>
              <a:spcAft>
                <a:spcPts val="1000"/>
              </a:spcAft>
              <a:buClr>
                <a:srgbClr val="1E2761"/>
              </a:buClr>
              <a:buFont typeface="Arial"/>
              <a:buChar char="•"/>
            </a:pPr>
            <a:r>
              <a:rPr sz="1450">
                <a:solidFill>
                  <a:srgbClr val="1F2328"/>
                </a:solidFill>
                <a:latin typeface="Calibri"/>
              </a:rPr>
              <a:t>Enterprise-grade models need three qualities: reusable (many reports can share one model), governed (naming, keys, and relationships follow a standard), and understandable (a new author can open it and know what belongs where).</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Every later module in this workshop — DAX, Power Query, report UX, performance, security — builds directly on top of the model shape decided here.</a:t>
            </a:r>
          </a:p>
          <a:p>
            <a:pPr>
              <a:lnSpc>
                <a:spcPct val="105000"/>
              </a:lnSpc>
              <a:spcAft>
                <a:spcPts val="1000"/>
              </a:spcAft>
              <a:buClr>
                <a:srgbClr val="E8B44A"/>
              </a:buClr>
              <a:buFont typeface="Arial"/>
              <a:buChar char="•"/>
            </a:pPr>
            <a:r>
              <a:rPr sz="1450">
                <a:solidFill>
                  <a:srgbClr val="1F2328"/>
                </a:solidFill>
                <a:latin typeface="Calibri"/>
              </a:rPr>
              <a:t>Fixing a bad model after 20 reports depend on it is far more expensive than designing it correctly in Lab 01.</a:t>
            </a:r>
          </a:p>
          <a:p>
            <a:pPr>
              <a:lnSpc>
                <a:spcPct val="105000"/>
              </a:lnSpc>
              <a:spcAft>
                <a:spcPts val="1000"/>
              </a:spcAft>
              <a:buClr>
                <a:srgbClr val="E8B44A"/>
              </a:buClr>
              <a:buFont typeface="Arial"/>
              <a:buChar char="•"/>
            </a:pPr>
            <a:r>
              <a:rPr sz="1450">
                <a:solidFill>
                  <a:srgbClr val="1F2328"/>
                </a:solidFill>
                <a:latin typeface="Calibri"/>
              </a:rPr>
              <a:t>A governed model is what lets an organization certify a single 'source of truth' semantic model instead of every team rebuilding their own.</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Instructor prompt: ask the room to describe a report they've seen where numbers didn't match across two dashboards — was it a model problem or a DAX problem?</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02</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From Flat Files to Analytical Models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The lab's raw source, sales-flat.csv, is a reporting export: one row per sales order line, but with customer, product, and territory attribute text repeated on every row.</a:t>
            </a:r>
          </a:p>
          <a:p>
            <a:pPr>
              <a:lnSpc>
                <a:spcPct val="105000"/>
              </a:lnSpc>
              <a:spcAft>
                <a:spcPts val="1000"/>
              </a:spcAft>
              <a:buClr>
                <a:srgbClr val="1E2761"/>
              </a:buClr>
              <a:buFont typeface="Arial"/>
              <a:buChar char="•"/>
            </a:pPr>
            <a:r>
              <a:rPr sz="1450">
                <a:solidFill>
                  <a:srgbClr val="1F2328"/>
                </a:solidFill>
                <a:latin typeface="Calibri"/>
              </a:rPr>
              <a:t>Repeated text attributes (CustomerName, ProductCategory, TerritoryName, etc.) are the visible symptom of a flat file; the invisible risk is a hidden grain problem — you can't tell just by looking whether a row is unique per order, per line, or per shipment.</a:t>
            </a:r>
          </a:p>
          <a:p>
            <a:pPr>
              <a:lnSpc>
                <a:spcPct val="105000"/>
              </a:lnSpc>
              <a:spcAft>
                <a:spcPts val="1000"/>
              </a:spcAft>
              <a:buClr>
                <a:srgbClr val="1E2761"/>
              </a:buClr>
              <a:buFont typeface="Arial"/>
              <a:buChar char="•"/>
            </a:pPr>
            <a:r>
              <a:rPr sz="1450">
                <a:solidFill>
                  <a:srgbClr val="1F2328"/>
                </a:solidFill>
                <a:latin typeface="Calibri"/>
              </a:rPr>
              <a:t>The fix is always the same two moves: identify the true grain of the fact table, then split repeated attributes out into their own dimension tables.</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A flat file is fine as a data *source* — it is not the final analytical model.</a:t>
            </a:r>
          </a:p>
          <a:p>
            <a:pPr>
              <a:lnSpc>
                <a:spcPct val="105000"/>
              </a:lnSpc>
              <a:spcAft>
                <a:spcPts val="1000"/>
              </a:spcAft>
              <a:buClr>
                <a:srgbClr val="E8B44A"/>
              </a:buClr>
              <a:buFont typeface="Arial"/>
              <a:buChar char="•"/>
            </a:pPr>
            <a:r>
              <a:rPr sz="1450">
                <a:solidFill>
                  <a:srgbClr val="1F2328"/>
                </a:solidFill>
                <a:latin typeface="Calibri"/>
              </a:rPr>
              <a:t>Once grain is fixed and dimensions are split out, the same governed model can support many reports without duplicating business logic in every one of them.</a:t>
            </a:r>
          </a:p>
          <a:p>
            <a:pPr>
              <a:lnSpc>
                <a:spcPct val="105000"/>
              </a:lnSpc>
              <a:spcAft>
                <a:spcPts val="1000"/>
              </a:spcAft>
              <a:buClr>
                <a:srgbClr val="E8B44A"/>
              </a:buClr>
              <a:buFont typeface="Arial"/>
              <a:buChar char="•"/>
            </a:pPr>
            <a:r>
              <a:rPr sz="1450">
                <a:solidFill>
                  <a:srgbClr val="1F2328"/>
                </a:solidFill>
                <a:latin typeface="Calibri"/>
              </a:rPr>
              <a:t>Making the grain explicit up front prevents silent double-counting later, which is one of the hardest DAX bugs to diagnose after the fact.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1 (Star schema refactor) does exactly this — splits sales-flat.csv into FactSales plus DimCustomer, DimProduct, and DimTerritory.</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03</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Star Schema Design</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377440"/>
                <a:gridCol w="4846320"/>
                <a:gridCol w="3657600"/>
              </a:tblGrid>
              <a:tr h="777240">
                <a:tc>
                  <a:txBody>
                    <a:bodyPr/>
                    <a:lstStyle/>
                    <a:p>
                      <a:pPr algn="l"/>
                      <a:r>
                        <a:rPr b="1" sz="1250">
                          <a:solidFill>
                            <a:srgbClr val="FFFFFF"/>
                          </a:solidFill>
                          <a:latin typeface="Calibri"/>
                        </a:rPr>
                        <a:t>Concept</a:t>
                      </a:r>
                    </a:p>
                  </a:txBody>
                  <a:tcPr>
                    <a:solidFill>
                      <a:srgbClr val="1E2761"/>
                    </a:solidFill>
                  </a:tcPr>
                </a:tc>
                <a:tc>
                  <a:txBody>
                    <a:bodyPr/>
                    <a:lstStyle/>
                    <a:p>
                      <a:pPr algn="l"/>
                      <a:r>
                        <a:rPr b="1" sz="1250">
                          <a:solidFill>
                            <a:srgbClr val="FFFFFF"/>
                          </a:solidFill>
                          <a:latin typeface="Calibri"/>
                        </a:rPr>
                        <a:t>What it means in this lab</a:t>
                      </a:r>
                    </a:p>
                  </a:txBody>
                  <a:tcPr>
                    <a:solidFill>
                      <a:srgbClr val="1E2761"/>
                    </a:solidFill>
                  </a:tcPr>
                </a:tc>
                <a:tc>
                  <a:txBody>
                    <a:bodyPr/>
                    <a:lstStyle/>
                    <a:p>
                      <a:pPr algn="l"/>
                      <a:r>
                        <a:rPr b="1" sz="1250">
                          <a:solidFill>
                            <a:srgbClr val="FFFFFF"/>
                          </a:solidFill>
                          <a:latin typeface="Calibri"/>
                        </a:rPr>
                        <a:t>Why it matters</a:t>
                      </a:r>
                    </a:p>
                  </a:txBody>
                  <a:tcPr>
                    <a:solidFill>
                      <a:srgbClr val="1E2761"/>
                    </a:solidFill>
                  </a:tcPr>
                </a:tc>
              </a:tr>
              <a:tr h="777240">
                <a:tc>
                  <a:txBody>
                    <a:bodyPr/>
                    <a:lstStyle/>
                    <a:p>
                      <a:r>
                        <a:rPr sz="1150">
                          <a:solidFill>
                            <a:srgbClr val="1F2328"/>
                          </a:solidFill>
                          <a:latin typeface="Calibri"/>
                        </a:rPr>
                        <a:t>Fact table grain</a:t>
                      </a:r>
                    </a:p>
                  </a:txBody>
                  <a:tcPr>
                    <a:solidFill>
                      <a:srgbClr val="FFFFFF"/>
                    </a:solidFill>
                  </a:tcPr>
                </a:tc>
                <a:tc>
                  <a:txBody>
                    <a:bodyPr/>
                    <a:lstStyle/>
                    <a:p>
                      <a:r>
                        <a:rPr sz="1150">
                          <a:solidFill>
                            <a:srgbClr val="1F2328"/>
                          </a:solidFill>
                          <a:latin typeface="Calibri"/>
                        </a:rPr>
                        <a:t>FactSales is kept at transaction/order-line grain (SalesOrderLineKey is the unique row identifier).</a:t>
                      </a:r>
                    </a:p>
                  </a:txBody>
                  <a:tcPr>
                    <a:solidFill>
                      <a:srgbClr val="FFFFFF"/>
                    </a:solidFill>
                  </a:tcPr>
                </a:tc>
                <a:tc>
                  <a:txBody>
                    <a:bodyPr/>
                    <a:lstStyle/>
                    <a:p>
                      <a:r>
                        <a:rPr sz="1150">
                          <a:solidFill>
                            <a:srgbClr val="1F2328"/>
                          </a:solidFill>
                          <a:latin typeface="Calibri"/>
                        </a:rPr>
                        <a:t>Every measure's meaning depends on knowing exactly what one fact row represents.</a:t>
                      </a:r>
                    </a:p>
                  </a:txBody>
                  <a:tcPr>
                    <a:solidFill>
                      <a:srgbClr val="FFFFFF"/>
                    </a:solidFill>
                  </a:tcPr>
                </a:tc>
              </a:tr>
              <a:tr h="777240">
                <a:tc>
                  <a:txBody>
                    <a:bodyPr/>
                    <a:lstStyle/>
                    <a:p>
                      <a:r>
                        <a:rPr sz="1150">
                          <a:solidFill>
                            <a:srgbClr val="1F2328"/>
                          </a:solidFill>
                          <a:latin typeface="Calibri"/>
                        </a:rPr>
                        <a:t>Dimension attributes</a:t>
                      </a:r>
                    </a:p>
                  </a:txBody>
                  <a:tcPr>
                    <a:solidFill>
                      <a:srgbClr val="F6F8FC"/>
                    </a:solidFill>
                  </a:tcPr>
                </a:tc>
                <a:tc>
                  <a:txBody>
                    <a:bodyPr/>
                    <a:lstStyle/>
                    <a:p>
                      <a:r>
                        <a:rPr sz="1150">
                          <a:solidFill>
                            <a:srgbClr val="1F2328"/>
                          </a:solidFill>
                          <a:latin typeface="Calibri"/>
                        </a:rPr>
                        <a:t>DimCustomer, DimProduct, DimTerritory each hold only descriptive attributes plus their key.</a:t>
                      </a:r>
                    </a:p>
                  </a:txBody>
                  <a:tcPr>
                    <a:solidFill>
                      <a:srgbClr val="F6F8FC"/>
                    </a:solidFill>
                  </a:tcPr>
                </a:tc>
                <a:tc>
                  <a:txBody>
                    <a:bodyPr/>
                    <a:lstStyle/>
                    <a:p>
                      <a:r>
                        <a:rPr sz="1150">
                          <a:solidFill>
                            <a:srgbClr val="1F2328"/>
                          </a:solidFill>
                          <a:latin typeface="Calibri"/>
                        </a:rPr>
                        <a:t>Attributes live in exactly one place, so updates and filters are consistent everywhere.</a:t>
                      </a:r>
                    </a:p>
                  </a:txBody>
                  <a:tcPr>
                    <a:solidFill>
                      <a:srgbClr val="F6F8FC"/>
                    </a:solidFill>
                  </a:tcPr>
                </a:tc>
              </a:tr>
              <a:tr h="777240">
                <a:tc>
                  <a:txBody>
                    <a:bodyPr/>
                    <a:lstStyle/>
                    <a:p>
                      <a:r>
                        <a:rPr sz="1150">
                          <a:solidFill>
                            <a:srgbClr val="1F2328"/>
                          </a:solidFill>
                          <a:latin typeface="Calibri"/>
                        </a:rPr>
                        <a:t>Surrogate / business keys</a:t>
                      </a:r>
                    </a:p>
                  </a:txBody>
                  <a:tcPr>
                    <a:solidFill>
                      <a:srgbClr val="FFFFFF"/>
                    </a:solidFill>
                  </a:tcPr>
                </a:tc>
                <a:tc>
                  <a:txBody>
                    <a:bodyPr/>
                    <a:lstStyle/>
                    <a:p>
                      <a:r>
                        <a:rPr sz="1150">
                          <a:solidFill>
                            <a:srgbClr val="1F2328"/>
                          </a:solidFill>
                          <a:latin typeface="Calibri"/>
                        </a:rPr>
                        <a:t>CustomerKey, ProductKey, TerritoryKey act as the join keys between fact and dimension tables.</a:t>
                      </a:r>
                    </a:p>
                  </a:txBody>
                  <a:tcPr>
                    <a:solidFill>
                      <a:srgbClr val="FFFFFF"/>
                    </a:solidFill>
                  </a:tcPr>
                </a:tc>
                <a:tc>
                  <a:txBody>
                    <a:bodyPr/>
                    <a:lstStyle/>
                    <a:p>
                      <a:r>
                        <a:rPr sz="1150">
                          <a:solidFill>
                            <a:srgbClr val="1F2328"/>
                          </a:solidFill>
                          <a:latin typeface="Calibri"/>
                        </a:rPr>
                        <a:t>Stable keys let relationships stay valid even if descriptive text (like a product name) changes.</a:t>
                      </a:r>
                    </a:p>
                  </a:txBody>
                  <a:tcPr>
                    <a:solidFill>
                      <a:srgbClr val="FFFFFF"/>
                    </a:solidFill>
                  </a:tcPr>
                </a:tc>
              </a:tr>
              <a:tr h="777240">
                <a:tc>
                  <a:txBody>
                    <a:bodyPr/>
                    <a:lstStyle/>
                    <a:p>
                      <a:r>
                        <a:rPr sz="1150">
                          <a:solidFill>
                            <a:srgbClr val="1F2328"/>
                          </a:solidFill>
                          <a:latin typeface="Calibri"/>
                        </a:rPr>
                        <a:t>Conformed dimensions</a:t>
                      </a:r>
                    </a:p>
                  </a:txBody>
                  <a:tcPr>
                    <a:solidFill>
                      <a:srgbClr val="F6F8FC"/>
                    </a:solidFill>
                  </a:tcPr>
                </a:tc>
                <a:tc>
                  <a:txBody>
                    <a:bodyPr/>
                    <a:lstStyle/>
                    <a:p>
                      <a:r>
                        <a:rPr sz="1150">
                          <a:solidFill>
                            <a:srgbClr val="1F2328"/>
                          </a:solidFill>
                          <a:latin typeface="Calibri"/>
                        </a:rPr>
                        <a:t>DimTerritory is shared by both FactSales and FactTargets.</a:t>
                      </a:r>
                    </a:p>
                  </a:txBody>
                  <a:tcPr>
                    <a:solidFill>
                      <a:srgbClr val="F6F8FC"/>
                    </a:solidFill>
                  </a:tcPr>
                </a:tc>
                <a:tc>
                  <a:txBody>
                    <a:bodyPr/>
                    <a:lstStyle/>
                    <a:p>
                      <a:r>
                        <a:rPr sz="1150">
                          <a:solidFill>
                            <a:srgbClr val="1F2328"/>
                          </a:solidFill>
                          <a:latin typeface="Calibri"/>
                        </a:rPr>
                        <a:t>One dimension can filter multiple fact tables consistently — actuals and targets slice the same way.</a:t>
                      </a:r>
                    </a:p>
                  </a:txBody>
                  <a:tcPr>
                    <a:solidFill>
                      <a:srgbClr val="F6F8FC"/>
                    </a:solidFill>
                  </a:tcPr>
                </a:tc>
              </a:tr>
              <a:tr h="777240">
                <a:tc>
                  <a:txBody>
                    <a:bodyPr/>
                    <a:lstStyle/>
                    <a:p>
                      <a:r>
                        <a:rPr sz="1150">
                          <a:solidFill>
                            <a:srgbClr val="1F2328"/>
                          </a:solidFill>
                          <a:latin typeface="Calibri"/>
                        </a:rPr>
                        <a:t>Model readability</a:t>
                      </a:r>
                    </a:p>
                  </a:txBody>
                  <a:tcPr>
                    <a:solidFill>
                      <a:srgbClr val="FFFFFF"/>
                    </a:solidFill>
                  </a:tcPr>
                </a:tc>
                <a:tc>
                  <a:txBody>
                    <a:bodyPr/>
                    <a:lstStyle/>
                    <a:p>
                      <a:r>
                        <a:rPr sz="1150">
                          <a:solidFill>
                            <a:srgbClr val="1F2328"/>
                          </a:solidFill>
                          <a:latin typeface="Calibri"/>
                        </a:rPr>
                        <a:t>Keys are hidden from report view; table and column names read like business terms.</a:t>
                      </a:r>
                    </a:p>
                  </a:txBody>
                  <a:tcPr>
                    <a:solidFill>
                      <a:srgbClr val="FFFFFF"/>
                    </a:solidFill>
                  </a:tcPr>
                </a:tc>
                <a:tc>
                  <a:txBody>
                    <a:bodyPr/>
                    <a:lstStyle/>
                    <a:p>
                      <a:r>
                        <a:rPr sz="1150">
                          <a:solidFill>
                            <a:srgbClr val="1F2328"/>
                          </a:solidFill>
                          <a:latin typeface="Calibri"/>
                        </a:rPr>
                        <a:t>A new report author can open the model and understand it without a data dictionary.</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the exact keep/remove column lists for FactSales and each Dim table are spelled out in Exercise 1 of the README — follow them precisely so relationships in Exercise 1-3 resolve without ambiguity.</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04</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Relationship Design</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Default to one-to-many relationships from a dimension (the 'one' side) into a fact or bridge table (the 'many' side).</a:t>
            </a:r>
          </a:p>
          <a:p>
            <a:pPr>
              <a:lnSpc>
                <a:spcPct val="105000"/>
              </a:lnSpc>
              <a:spcAft>
                <a:spcPts val="1000"/>
              </a:spcAft>
              <a:buClr>
                <a:srgbClr val="1E2761"/>
              </a:buClr>
              <a:buFont typeface="Arial"/>
              <a:buChar char="•"/>
            </a:pPr>
            <a:r>
              <a:rPr sz="1450">
                <a:solidFill>
                  <a:srgbClr val="1F2328"/>
                </a:solidFill>
                <a:latin typeface="Calibri"/>
              </a:rPr>
              <a:t>Cardinality should almost always be one-to-many in this workshop's models — many-to-many is a warning sign to re-examine the grain, not a design goal.</a:t>
            </a:r>
          </a:p>
          <a:p>
            <a:pPr>
              <a:lnSpc>
                <a:spcPct val="105000"/>
              </a:lnSpc>
              <a:spcAft>
                <a:spcPts val="1000"/>
              </a:spcAft>
              <a:buClr>
                <a:srgbClr val="1E2761"/>
              </a:buClr>
              <a:buFont typeface="Arial"/>
              <a:buChar char="•"/>
            </a:pPr>
            <a:r>
              <a:rPr sz="1450">
                <a:solidFill>
                  <a:srgbClr val="1F2328"/>
                </a:solidFill>
                <a:latin typeface="Calibri"/>
              </a:rPr>
              <a:t>Cross-filter direction should default to single, flowing from dimension into fact. Bidirectional filtering is a deliberate, documented exception — never a shortcut for unclear design.</a:t>
            </a:r>
          </a:p>
          <a:p>
            <a:pPr>
              <a:lnSpc>
                <a:spcPct val="105000"/>
              </a:lnSpc>
              <a:spcAft>
                <a:spcPts val="1000"/>
              </a:spcAft>
              <a:buClr>
                <a:srgbClr val="1E2761"/>
              </a:buClr>
              <a:buFont typeface="Arial"/>
              <a:buChar char="•"/>
            </a:pPr>
            <a:r>
              <a:rPr sz="1450">
                <a:solidFill>
                  <a:srgbClr val="1F2328"/>
                </a:solidFill>
                <a:latin typeface="Calibri"/>
              </a:rPr>
              <a:t>Watch for ambiguity: if Power BI can't determine a single filter path between two tables (for example DimProduct → DimProductCategory → FactTargets), it will refuse to create the relationship or mark it inactive.</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Single-direction, one-to-many relationships are predictable: a slicer on a dimension always filters the fact table the same way, every time.</a:t>
            </a:r>
          </a:p>
          <a:p>
            <a:pPr>
              <a:lnSpc>
                <a:spcPct val="105000"/>
              </a:lnSpc>
              <a:spcAft>
                <a:spcPts val="1000"/>
              </a:spcAft>
              <a:buClr>
                <a:srgbClr val="E8B44A"/>
              </a:buClr>
              <a:buFont typeface="Arial"/>
              <a:buChar char="•"/>
            </a:pPr>
            <a:r>
              <a:rPr sz="1450">
                <a:solidFill>
                  <a:srgbClr val="1F2328"/>
                </a:solidFill>
                <a:latin typeface="Calibri"/>
              </a:rPr>
              <a:t>Bidirectional and many-to-many relationships can create ambiguous filter paths that silently produce wrong totals — exactly the kind of bug that's painful to trace back.</a:t>
            </a:r>
          </a:p>
          <a:p>
            <a:pPr>
              <a:lnSpc>
                <a:spcPct val="105000"/>
              </a:lnSpc>
              <a:spcAft>
                <a:spcPts val="1000"/>
              </a:spcAft>
              <a:buClr>
                <a:srgbClr val="E8B44A"/>
              </a:buClr>
              <a:buFont typeface="Arial"/>
              <a:buChar char="•"/>
            </a:pPr>
            <a:r>
              <a:rPr sz="1450">
                <a:solidFill>
                  <a:srgbClr val="1F2328"/>
                </a:solidFill>
                <a:latin typeface="Calibri"/>
              </a:rPr>
              <a:t>Getting relationship design right here means Module 2's DAX measures can stay simple instead of compensating for model ambiguity with CALCULATE and TREATAS gymnastics.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Preview: FactTargets is stored at product-category grain while DimProduct is at individual-product grain — relating them directly creates a many-to-many risk, which is exactly why DimProductCategory exists (next topic covers the fix).</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05</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Role-Playing Dimensions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FactSales carries three separate date columns — OrderDate, ShipDate, and InvoiceDate — that all logically relate to 'a date', but represent different business events.</a:t>
            </a:r>
          </a:p>
          <a:p>
            <a:pPr>
              <a:lnSpc>
                <a:spcPct val="105000"/>
              </a:lnSpc>
              <a:spcAft>
                <a:spcPts val="1000"/>
              </a:spcAft>
              <a:buClr>
                <a:srgbClr val="1E2761"/>
              </a:buClr>
              <a:buFont typeface="Arial"/>
              <a:buChar char="•"/>
            </a:pPr>
            <a:r>
              <a:rPr sz="1450">
                <a:solidFill>
                  <a:srgbClr val="1F2328"/>
                </a:solidFill>
                <a:latin typeface="Calibri"/>
              </a:rPr>
              <a:t>Two implementation patterns exist: duplicate the date dimension physically (DimOrderDate, DimShipDate, each with their own relationship), or keep one date table with multiple inactive relationships activated per-measure using USERELATIONSHIP.</a:t>
            </a:r>
          </a:p>
          <a:p>
            <a:pPr>
              <a:lnSpc>
                <a:spcPct val="105000"/>
              </a:lnSpc>
              <a:spcAft>
                <a:spcPts val="1000"/>
              </a:spcAft>
              <a:buClr>
                <a:srgbClr val="1E2761"/>
              </a:buClr>
              <a:buFont typeface="Arial"/>
              <a:buChar char="•"/>
            </a:pPr>
            <a:r>
              <a:rPr sz="1450">
                <a:solidFill>
                  <a:srgbClr val="1F2328"/>
                </a:solidFill>
                <a:latin typeface="Calibri"/>
              </a:rPr>
              <a:t>The lab's required path is the duplicated-table pattern — simpler to reason about for learners, and it avoids needing a USERELATIONSHIP wrapper in every date measure.</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Without separate role-playing tables, Power BI can only relate one FactSales date column to a single shared DimDate at a time — you'd lose the ability to slice by ship date and order date independently in the same visual.</a:t>
            </a:r>
          </a:p>
          <a:p>
            <a:pPr>
              <a:lnSpc>
                <a:spcPct val="105000"/>
              </a:lnSpc>
              <a:spcAft>
                <a:spcPts val="1000"/>
              </a:spcAft>
              <a:buClr>
                <a:srgbClr val="E8B44A"/>
              </a:buClr>
              <a:buFont typeface="Arial"/>
              <a:buChar char="•"/>
            </a:pPr>
            <a:r>
              <a:rPr sz="1450">
                <a:solidFill>
                  <a:srgbClr val="1F2328"/>
                </a:solidFill>
                <a:latin typeface="Calibri"/>
              </a:rPr>
              <a:t>This is a textbook example of why relationship *direction* and *count* decisions from the previous topic have real downstream consequences for what analysis is even possible.</a:t>
            </a:r>
          </a:p>
          <a:p>
            <a:pPr>
              <a:lnSpc>
                <a:spcPct val="105000"/>
              </a:lnSpc>
              <a:spcAft>
                <a:spcPts val="1000"/>
              </a:spcAft>
              <a:buClr>
                <a:srgbClr val="E8B44A"/>
              </a:buClr>
              <a:buFont typeface="Arial"/>
              <a:buChar char="•"/>
            </a:pPr>
            <a:r>
              <a:rPr sz="1450">
                <a:solidFill>
                  <a:srgbClr val="1F2328"/>
                </a:solidFill>
                <a:latin typeface="Calibri"/>
              </a:rPr>
              <a:t>Understanding both patterns (duplicate table vs. USERELATIONSHIP) prepares students for Module 2, where USERELATIONSHIP appears again as a DAX-level technique.</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2 has students build DimOrderDate and DimShipDate from the reusable fn_DimDate Power Query function (or the DAX CALENDAR pattern) and relate each to its matching FactSales date column.</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06</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Bridge Tables</a:t>
            </a:r>
          </a:p>
        </p:txBody>
      </p:sp>
      <p:sp>
        <p:nvSpPr>
          <p:cNvPr id="6" name="Rectangle 5"/>
          <p:cNvSpPr/>
          <p:nvPr/>
        </p:nvSpPr>
        <p:spPr>
          <a:xfrm>
            <a:off x="822960" y="1965960"/>
            <a:ext cx="2743200" cy="1051560"/>
          </a:xfrm>
          <a:prstGeom prst="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65960"/>
            <a:ext cx="2743200" cy="1051560"/>
          </a:xfrm>
          <a:prstGeom prst="rect">
            <a:avLst/>
          </a:prstGeom>
          <a:noFill/>
        </p:spPr>
        <p:txBody>
          <a:bodyPr wrap="square" anchor="ctr" lIns="0" rIns="0" tIns="0" bIns="0">
            <a:spAutoFit/>
          </a:bodyPr>
          <a:lstStyle/>
          <a:p>
            <a:pPr algn="ctr">
              <a:lnSpc>
                <a:spcPct val="100000"/>
              </a:lnSpc>
              <a:spcAft>
                <a:spcPts val="0"/>
              </a:spcAft>
            </a:pPr>
            <a:r>
              <a:rPr sz="1300" b="1" i="0">
                <a:solidFill>
                  <a:srgbClr val="141B45"/>
                </a:solidFill>
                <a:latin typeface="Calibri"/>
              </a:rPr>
              <a:t>DimCustomer</a:t>
            </a:r>
            <a:br/>
            <a:r>
              <a:rPr sz="1300" b="1" i="0">
                <a:solidFill>
                  <a:srgbClr val="141B45"/>
                </a:solidFill>
                <a:latin typeface="Calibri"/>
              </a:rPr>
              <a:t>(one row per customer)</a:t>
            </a:r>
          </a:p>
        </p:txBody>
      </p:sp>
      <p:sp>
        <p:nvSpPr>
          <p:cNvPr id="8" name="Rectangle 7"/>
          <p:cNvSpPr/>
          <p:nvPr/>
        </p:nvSpPr>
        <p:spPr>
          <a:xfrm>
            <a:off x="8595360" y="1965960"/>
            <a:ext cx="2743200" cy="1051560"/>
          </a:xfrm>
          <a:prstGeom prst="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1965960"/>
            <a:ext cx="2743200" cy="1051560"/>
          </a:xfrm>
          <a:prstGeom prst="rect">
            <a:avLst/>
          </a:prstGeom>
          <a:noFill/>
        </p:spPr>
        <p:txBody>
          <a:bodyPr wrap="square" anchor="ctr" lIns="0" rIns="0" tIns="0" bIns="0">
            <a:spAutoFit/>
          </a:bodyPr>
          <a:lstStyle/>
          <a:p>
            <a:pPr algn="ctr">
              <a:lnSpc>
                <a:spcPct val="100000"/>
              </a:lnSpc>
              <a:spcAft>
                <a:spcPts val="0"/>
              </a:spcAft>
            </a:pPr>
            <a:r>
              <a:rPr sz="1300" b="1" i="0">
                <a:solidFill>
                  <a:srgbClr val="141B45"/>
                </a:solidFill>
                <a:latin typeface="Calibri"/>
              </a:rPr>
              <a:t>DimSegment</a:t>
            </a:r>
            <a:br/>
            <a:r>
              <a:rPr sz="1300" b="1" i="0">
                <a:solidFill>
                  <a:srgbClr val="141B45"/>
                </a:solidFill>
                <a:latin typeface="Calibri"/>
              </a:rPr>
              <a:t>(one row per segment)</a:t>
            </a:r>
          </a:p>
        </p:txBody>
      </p:sp>
      <p:sp>
        <p:nvSpPr>
          <p:cNvPr id="10" name="Rectangle 9"/>
          <p:cNvSpPr/>
          <p:nvPr/>
        </p:nvSpPr>
        <p:spPr>
          <a:xfrm>
            <a:off x="4526280" y="1965960"/>
            <a:ext cx="3108960"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965960"/>
            <a:ext cx="3108960" cy="1051560"/>
          </a:xfrm>
          <a:prstGeom prst="rect">
            <a:avLst/>
          </a:prstGeom>
          <a:noFill/>
        </p:spPr>
        <p:txBody>
          <a:bodyPr wrap="square" anchor="ctr" lIns="0" rIns="0" tIns="0" bIns="0">
            <a:spAutoFit/>
          </a:bodyPr>
          <a:lstStyle/>
          <a:p>
            <a:pPr algn="ctr">
              <a:lnSpc>
                <a:spcPct val="100000"/>
              </a:lnSpc>
              <a:spcAft>
                <a:spcPts val="0"/>
              </a:spcAft>
            </a:pPr>
            <a:r>
              <a:rPr sz="1250" b="1" i="0">
                <a:solidFill>
                  <a:srgbClr val="FFFFFF"/>
                </a:solidFill>
                <a:latin typeface="Calibri"/>
              </a:rPr>
              <a:t>BridgeCustomerSegment</a:t>
            </a:r>
            <a:br/>
            <a:r>
              <a:rPr sz="1250" b="1" i="0">
                <a:solidFill>
                  <a:srgbClr val="FFFFFF"/>
                </a:solidFill>
                <a:latin typeface="Calibri"/>
              </a:rPr>
              <a:t>(one row per customer-segment pair)</a:t>
            </a:r>
          </a:p>
        </p:txBody>
      </p:sp>
      <p:cxnSp>
        <p:nvCxnSpPr>
          <p:cNvPr id="12" name="Connector 11"/>
          <p:cNvCxnSpPr/>
          <p:nvPr/>
        </p:nvCxnSpPr>
        <p:spPr>
          <a:xfrm>
            <a:off x="3566160" y="2491740"/>
            <a:ext cx="960120" cy="0"/>
          </a:xfrm>
          <a:prstGeom prst="line">
            <a:avLst/>
          </a:prstGeom>
          <a:ln w="19050">
            <a:solidFill>
              <a:srgbClr val="4B556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635240" y="2491740"/>
            <a:ext cx="960120" cy="0"/>
          </a:xfrm>
          <a:prstGeom prst="line">
            <a:avLst/>
          </a:prstGeom>
          <a:ln w="19050">
            <a:solidFill>
              <a:srgbClr val="4B5563"/>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22960" y="4160520"/>
            <a:ext cx="2743200"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160520"/>
            <a:ext cx="2743200" cy="1051560"/>
          </a:xfrm>
          <a:prstGeom prst="rect">
            <a:avLst/>
          </a:prstGeom>
          <a:noFill/>
        </p:spPr>
        <p:txBody>
          <a:bodyPr wrap="square" anchor="ctr" lIns="0" rIns="0" tIns="0" bIns="0">
            <a:spAutoFit/>
          </a:bodyPr>
          <a:lstStyle/>
          <a:p>
            <a:pPr algn="ctr">
              <a:lnSpc>
                <a:spcPct val="100000"/>
              </a:lnSpc>
              <a:spcAft>
                <a:spcPts val="0"/>
              </a:spcAft>
            </a:pPr>
            <a:r>
              <a:rPr sz="1300" b="1" i="0">
                <a:solidFill>
                  <a:srgbClr val="FFFFFF"/>
                </a:solidFill>
                <a:latin typeface="Calibri"/>
              </a:rPr>
              <a:t>FactSales</a:t>
            </a:r>
            <a:br/>
            <a:r>
              <a:rPr sz="1300" b="1" i="0">
                <a:solidFill>
                  <a:srgbClr val="FFFFFF"/>
                </a:solidFill>
                <a:latin typeface="Calibri"/>
              </a:rPr>
              <a:t>(transaction grain)</a:t>
            </a:r>
          </a:p>
        </p:txBody>
      </p:sp>
      <p:cxnSp>
        <p:nvCxnSpPr>
          <p:cNvPr id="16" name="Connector 15"/>
          <p:cNvCxnSpPr/>
          <p:nvPr/>
        </p:nvCxnSpPr>
        <p:spPr>
          <a:xfrm>
            <a:off x="2194560" y="3017520"/>
            <a:ext cx="0" cy="1143000"/>
          </a:xfrm>
          <a:prstGeom prst="line">
            <a:avLst/>
          </a:prstGeom>
          <a:ln w="28575">
            <a:solidFill>
              <a:srgbClr val="1E2761"/>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8595360" y="4160520"/>
            <a:ext cx="2743200" cy="1051560"/>
          </a:xfrm>
          <a:prstGeom prst="rect">
            <a:avLst/>
          </a:prstGeom>
          <a:solidFill>
            <a:srgbClr val="E8ECF3"/>
          </a:solidFill>
          <a:ln w="9525">
            <a:solidFill>
              <a:srgbClr val="4B5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0" y="4160520"/>
            <a:ext cx="2743200" cy="1051560"/>
          </a:xfrm>
          <a:prstGeom prst="rect">
            <a:avLst/>
          </a:prstGeom>
          <a:noFill/>
        </p:spPr>
        <p:txBody>
          <a:bodyPr wrap="square" anchor="ctr" lIns="0" rIns="0" tIns="0" bIns="0">
            <a:spAutoFit/>
          </a:bodyPr>
          <a:lstStyle/>
          <a:p>
            <a:pPr algn="ctr">
              <a:lnSpc>
                <a:spcPct val="100000"/>
              </a:lnSpc>
              <a:spcAft>
                <a:spcPts val="0"/>
              </a:spcAft>
            </a:pPr>
            <a:r>
              <a:rPr sz="1150" b="0" i="1">
                <a:solidFill>
                  <a:srgbClr val="4B5563"/>
                </a:solidFill>
                <a:latin typeface="Calibri"/>
              </a:rPr>
              <a:t>No direct relationship</a:t>
            </a:r>
            <a:br/>
            <a:r>
              <a:rPr sz="1150" b="0" i="1">
                <a:solidFill>
                  <a:srgbClr val="4B5563"/>
                </a:solidFill>
                <a:latin typeface="Calibri"/>
              </a:rPr>
              <a:t>(bridge → dim → fact only)</a:t>
            </a:r>
          </a:p>
        </p:txBody>
      </p:sp>
      <p:sp>
        <p:nvSpPr>
          <p:cNvPr id="19" name="TextBox 18"/>
          <p:cNvSpPr txBox="1"/>
          <p:nvPr/>
        </p:nvSpPr>
        <p:spPr>
          <a:xfrm>
            <a:off x="2331720" y="3451860"/>
            <a:ext cx="1280160" cy="274320"/>
          </a:xfrm>
          <a:prstGeom prst="rect">
            <a:avLst/>
          </a:prstGeom>
          <a:noFill/>
        </p:spPr>
        <p:txBody>
          <a:bodyPr wrap="square" anchor="t" lIns="0" rIns="0" tIns="0" bIns="0">
            <a:spAutoFit/>
          </a:bodyPr>
          <a:lstStyle/>
          <a:p>
            <a:pPr algn="l">
              <a:lnSpc>
                <a:spcPct val="100000"/>
              </a:lnSpc>
              <a:spcAft>
                <a:spcPts val="0"/>
              </a:spcAft>
            </a:pPr>
            <a:r>
              <a:rPr sz="1100" b="1" i="0">
                <a:solidFill>
                  <a:srgbClr val="1E2761"/>
                </a:solidFill>
                <a:latin typeface="Calibri"/>
              </a:rPr>
              <a:t>filters ↓</a:t>
            </a:r>
          </a:p>
        </p:txBody>
      </p:sp>
      <p:sp>
        <p:nvSpPr>
          <p:cNvPr id="20" name="TextBox 19"/>
          <p:cNvSpPr txBox="1"/>
          <p:nvPr/>
        </p:nvSpPr>
        <p:spPr>
          <a:xfrm>
            <a:off x="640080" y="6080760"/>
            <a:ext cx="10881360" cy="640080"/>
          </a:xfrm>
          <a:prstGeom prst="rect">
            <a:avLst/>
          </a:prstGeom>
          <a:noFill/>
        </p:spPr>
        <p:txBody>
          <a:bodyPr wrap="square" anchor="t" lIns="0" rIns="0" tIns="0" bIns="0">
            <a:spAutoFit/>
          </a:bodyPr>
          <a:lstStyle/>
          <a:p>
            <a:pPr algn="l">
              <a:lnSpc>
                <a:spcPct val="110000"/>
              </a:lnSpc>
              <a:spcAft>
                <a:spcPts val="0"/>
              </a:spcAft>
            </a:pPr>
            <a:r>
              <a:rPr sz="1300" b="0" i="1">
                <a:solidFill>
                  <a:srgbClr val="4B5563"/>
                </a:solidFill>
                <a:latin typeface="Calibri"/>
              </a:rPr>
              <a:t>Customers can belong to multiple segments at once. DimSegment and DimCustomer both relate one-to-many into BridgeCustomerSegment — never relate a bridge table directly into a fact table.</a:t>
            </a:r>
          </a:p>
        </p:txBody>
      </p:sp>
      <p:sp>
        <p:nvSpPr>
          <p:cNvPr id="21" name="TextBox 20"/>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07</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Composite Models and Storage Modes</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011680"/>
                <a:gridCol w="5760720"/>
                <a:gridCol w="3108960"/>
              </a:tblGrid>
              <a:tr h="777240">
                <a:tc>
                  <a:txBody>
                    <a:bodyPr/>
                    <a:lstStyle/>
                    <a:p>
                      <a:pPr algn="l"/>
                      <a:r>
                        <a:rPr b="1" sz="1250">
                          <a:solidFill>
                            <a:srgbClr val="FFFFFF"/>
                          </a:solidFill>
                          <a:latin typeface="Calibri"/>
                        </a:rPr>
                        <a:t>Storage mode</a:t>
                      </a:r>
                    </a:p>
                  </a:txBody>
                  <a:tcPr>
                    <a:solidFill>
                      <a:srgbClr val="1E2761"/>
                    </a:solidFill>
                  </a:tcPr>
                </a:tc>
                <a:tc>
                  <a:txBody>
                    <a:bodyPr/>
                    <a:lstStyle/>
                    <a:p>
                      <a:pPr algn="l"/>
                      <a:r>
                        <a:rPr b="1" sz="1250">
                          <a:solidFill>
                            <a:srgbClr val="FFFFFF"/>
                          </a:solidFill>
                          <a:latin typeface="Calibri"/>
                        </a:rPr>
                        <a:t>Behavior</a:t>
                      </a:r>
                    </a:p>
                  </a:txBody>
                  <a:tcPr>
                    <a:solidFill>
                      <a:srgbClr val="1E2761"/>
                    </a:solidFill>
                  </a:tcPr>
                </a:tc>
                <a:tc>
                  <a:txBody>
                    <a:bodyPr/>
                    <a:lstStyle/>
                    <a:p>
                      <a:pPr algn="l"/>
                      <a:r>
                        <a:rPr b="1" sz="1250">
                          <a:solidFill>
                            <a:srgbClr val="FFFFFF"/>
                          </a:solidFill>
                          <a:latin typeface="Calibri"/>
                        </a:rPr>
                        <a:t>Gov note</a:t>
                      </a:r>
                    </a:p>
                  </a:txBody>
                  <a:tcPr>
                    <a:solidFill>
                      <a:srgbClr val="1E2761"/>
                    </a:solidFill>
                  </a:tcPr>
                </a:tc>
              </a:tr>
              <a:tr h="777240">
                <a:tc>
                  <a:txBody>
                    <a:bodyPr/>
                    <a:lstStyle/>
                    <a:p>
                      <a:r>
                        <a:rPr sz="1150">
                          <a:solidFill>
                            <a:srgbClr val="1F2328"/>
                          </a:solidFill>
                          <a:latin typeface="Calibri"/>
                        </a:rPr>
                        <a:t>Import</a:t>
                      </a:r>
                    </a:p>
                  </a:txBody>
                  <a:tcPr>
                    <a:solidFill>
                      <a:srgbClr val="FFFFFF"/>
                    </a:solidFill>
                  </a:tcPr>
                </a:tc>
                <a:tc>
                  <a:txBody>
                    <a:bodyPr/>
                    <a:lstStyle/>
                    <a:p>
                      <a:r>
                        <a:rPr sz="1150">
                          <a:solidFill>
                            <a:srgbClr val="1F2328"/>
                          </a:solidFill>
                          <a:latin typeface="Calibri"/>
                        </a:rPr>
                        <a:t>Data is loaded and cached in the model; fastest query performance, needs a scheduled refresh.</a:t>
                      </a:r>
                    </a:p>
                  </a:txBody>
                  <a:tcPr>
                    <a:solidFill>
                      <a:srgbClr val="FFFFFF"/>
                    </a:solidFill>
                  </a:tcPr>
                </a:tc>
                <a:tc>
                  <a:txBody>
                    <a:bodyPr/>
                    <a:lstStyle/>
                    <a:p>
                      <a:r>
                        <a:rPr sz="1150">
                          <a:solidFill>
                            <a:srgbClr val="1F2328"/>
                          </a:solidFill>
                          <a:latin typeface="Calibri"/>
                        </a:rPr>
                        <a:t>Gov-ready — this lab's required path.</a:t>
                      </a:r>
                    </a:p>
                  </a:txBody>
                  <a:tcPr>
                    <a:solidFill>
                      <a:srgbClr val="FFFFFF"/>
                    </a:solidFill>
                  </a:tcPr>
                </a:tc>
              </a:tr>
              <a:tr h="777240">
                <a:tc>
                  <a:txBody>
                    <a:bodyPr/>
                    <a:lstStyle/>
                    <a:p>
                      <a:r>
                        <a:rPr sz="1150">
                          <a:solidFill>
                            <a:srgbClr val="1F2328"/>
                          </a:solidFill>
                          <a:latin typeface="Calibri"/>
                        </a:rPr>
                        <a:t>DirectQuery</a:t>
                      </a:r>
                    </a:p>
                  </a:txBody>
                  <a:tcPr>
                    <a:solidFill>
                      <a:srgbClr val="F6F8FC"/>
                    </a:solidFill>
                  </a:tcPr>
                </a:tc>
                <a:tc>
                  <a:txBody>
                    <a:bodyPr/>
                    <a:lstStyle/>
                    <a:p>
                      <a:r>
                        <a:rPr sz="1150">
                          <a:solidFill>
                            <a:srgbClr val="1F2328"/>
                          </a:solidFill>
                          <a:latin typeface="Calibri"/>
                        </a:rPr>
                        <a:t>Queries pass through live to the source at report-view time; no caching, always current, but subject to source/gateway latency.</a:t>
                      </a:r>
                    </a:p>
                  </a:txBody>
                  <a:tcPr>
                    <a:solidFill>
                      <a:srgbClr val="F6F8FC"/>
                    </a:solidFill>
                  </a:tcPr>
                </a:tc>
                <a:tc>
                  <a:txBody>
                    <a:bodyPr/>
                    <a:lstStyle/>
                    <a:p>
                      <a:r>
                        <a:rPr sz="1150">
                          <a:solidFill>
                            <a:srgbClr val="1F2328"/>
                          </a:solidFill>
                          <a:latin typeface="Calibri"/>
                        </a:rPr>
                        <a:t>Verify for Gov — depends on connector, gateway, and network path.</a:t>
                      </a:r>
                    </a:p>
                  </a:txBody>
                  <a:tcPr>
                    <a:solidFill>
                      <a:srgbClr val="F6F8FC"/>
                    </a:solidFill>
                  </a:tcPr>
                </a:tc>
              </a:tr>
              <a:tr h="777240">
                <a:tc>
                  <a:txBody>
                    <a:bodyPr/>
                    <a:lstStyle/>
                    <a:p>
                      <a:r>
                        <a:rPr sz="1150">
                          <a:solidFill>
                            <a:srgbClr val="1F2328"/>
                          </a:solidFill>
                          <a:latin typeface="Calibri"/>
                        </a:rPr>
                        <a:t>Dual</a:t>
                      </a:r>
                    </a:p>
                  </a:txBody>
                  <a:tcPr>
                    <a:solidFill>
                      <a:srgbClr val="FFFFFF"/>
                    </a:solidFill>
                  </a:tcPr>
                </a:tc>
                <a:tc>
                  <a:txBody>
                    <a:bodyPr/>
                    <a:lstStyle/>
                    <a:p>
                      <a:r>
                        <a:rPr sz="1150">
                          <a:solidFill>
                            <a:srgbClr val="1F2328"/>
                          </a:solidFill>
                          <a:latin typeface="Calibri"/>
                        </a:rPr>
                        <a:t>A table can behave as Import or DirectQuery depending on the query context, chosen automatically by the engine.</a:t>
                      </a:r>
                    </a:p>
                  </a:txBody>
                  <a:tcPr>
                    <a:solidFill>
                      <a:srgbClr val="FFFFFF"/>
                    </a:solidFill>
                  </a:tcPr>
                </a:tc>
                <a:tc>
                  <a:txBody>
                    <a:bodyPr/>
                    <a:lstStyle/>
                    <a:p>
                      <a:r>
                        <a:rPr sz="1150">
                          <a:solidFill>
                            <a:srgbClr val="1F2328"/>
                          </a:solidFill>
                          <a:latin typeface="Calibri"/>
                        </a:rPr>
                        <a:t>Verify for Gov — same dependencies as DirectQuery.</a:t>
                      </a:r>
                    </a:p>
                  </a:txBody>
                  <a:tcPr>
                    <a:solidFill>
                      <a:srgbClr val="FFFFFF"/>
                    </a:solidFill>
                  </a:tcPr>
                </a:tc>
              </a:tr>
              <a:tr h="777240">
                <a:tc>
                  <a:txBody>
                    <a:bodyPr/>
                    <a:lstStyle/>
                    <a:p>
                      <a:r>
                        <a:rPr sz="1150">
                          <a:solidFill>
                            <a:srgbClr val="1F2328"/>
                          </a:solidFill>
                          <a:latin typeface="Calibri"/>
                        </a:rPr>
                        <a:t>Composite model</a:t>
                      </a:r>
                    </a:p>
                  </a:txBody>
                  <a:tcPr>
                    <a:solidFill>
                      <a:srgbClr val="F6F8FC"/>
                    </a:solidFill>
                  </a:tcPr>
                </a:tc>
                <a:tc>
                  <a:txBody>
                    <a:bodyPr/>
                    <a:lstStyle/>
                    <a:p>
                      <a:r>
                        <a:rPr sz="1150">
                          <a:solidFill>
                            <a:srgbClr val="1F2328"/>
                          </a:solidFill>
                          <a:latin typeface="Calibri"/>
                        </a:rPr>
                        <a:t>Mixes Import and DirectQuery tables in one model.</a:t>
                      </a:r>
                    </a:p>
                  </a:txBody>
                  <a:tcPr>
                    <a:solidFill>
                      <a:srgbClr val="F6F8FC"/>
                    </a:solidFill>
                  </a:tcPr>
                </a:tc>
                <a:tc>
                  <a:txBody>
                    <a:bodyPr/>
                    <a:lstStyle/>
                    <a:p>
                      <a:r>
                        <a:rPr sz="1150">
                          <a:solidFill>
                            <a:srgbClr val="1F2328"/>
                          </a:solidFill>
                          <a:latin typeface="Calibri"/>
                        </a:rPr>
                        <a:t>Verify for Gov — validate source, gateway, Service, and tenant requirements first.</a:t>
                      </a:r>
                    </a:p>
                  </a:txBody>
                  <a:tcPr>
                    <a:solidFill>
                      <a:srgbClr val="F6F8FC"/>
                    </a:solidFill>
                  </a:tcPr>
                </a:tc>
              </a:tr>
              <a:tr h="777240">
                <a:tc>
                  <a:txBody>
                    <a:bodyPr/>
                    <a:lstStyle/>
                    <a:p>
                      <a:r>
                        <a:rPr sz="1150">
                          <a:solidFill>
                            <a:srgbClr val="1F2328"/>
                          </a:solidFill>
                          <a:latin typeface="Calibri"/>
                        </a:rPr>
                        <a:t>Hybrid table</a:t>
                      </a:r>
                    </a:p>
                  </a:txBody>
                  <a:tcPr>
                    <a:solidFill>
                      <a:srgbClr val="FFFFFF"/>
                    </a:solidFill>
                  </a:tcPr>
                </a:tc>
                <a:tc>
                  <a:txBody>
                    <a:bodyPr/>
                    <a:lstStyle/>
                    <a:p>
                      <a:r>
                        <a:rPr sz="1150">
                          <a:solidFill>
                            <a:srgbClr val="1F2328"/>
                          </a:solidFill>
                          <a:latin typeface="Calibri"/>
                        </a:rPr>
                        <a:t>A single table split into an Import 'hot' partition and a DirectQuery 'cold' partition via incremental refresh policy.</a:t>
                      </a:r>
                    </a:p>
                  </a:txBody>
                  <a:tcPr>
                    <a:solidFill>
                      <a:srgbClr val="FFFFFF"/>
                    </a:solidFill>
                  </a:tcPr>
                </a:tc>
                <a:tc>
                  <a:txBody>
                    <a:bodyPr/>
                    <a:lstStyle/>
                    <a:p>
                      <a:r>
                        <a:rPr sz="1150">
                          <a:solidFill>
                            <a:srgbClr val="1F2328"/>
                          </a:solidFill>
                          <a:latin typeface="Calibri"/>
                        </a:rPr>
                        <a:t>Verify for Gov — validate licensing, capacity, and incremental refresh support.</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Exercise 4 is a conceptual/discussion exercise only — identify Import vs. DirectQuery candidates and document tradeoffs for performance, freshness, source load, and feature support. Confirm tenant settings before treating this as hands-on.</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08</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Large Semantic Model Considerations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Cardinality reduction: split high-cardinality text columns out into smaller lookup dimensions (exactly what DimProductCategory does for ProductCategory).</a:t>
            </a:r>
          </a:p>
          <a:p>
            <a:pPr>
              <a:lnSpc>
                <a:spcPct val="105000"/>
              </a:lnSpc>
              <a:spcAft>
                <a:spcPts val="1000"/>
              </a:spcAft>
              <a:buClr>
                <a:srgbClr val="1E2761"/>
              </a:buClr>
              <a:buFont typeface="Arial"/>
              <a:buChar char="•"/>
            </a:pPr>
            <a:r>
              <a:rPr sz="1450">
                <a:solidFill>
                  <a:srgbClr val="1F2328"/>
                </a:solidFill>
                <a:latin typeface="Calibri"/>
              </a:rPr>
              <a:t>Aggregations: pre-summarized tables that Power BI automatically substitutes for a detailed fact table when a query doesn't need row-level detail, cutting query cost.</a:t>
            </a:r>
          </a:p>
          <a:p>
            <a:pPr>
              <a:lnSpc>
                <a:spcPct val="105000"/>
              </a:lnSpc>
              <a:spcAft>
                <a:spcPts val="1000"/>
              </a:spcAft>
              <a:buClr>
                <a:srgbClr val="1E2761"/>
              </a:buClr>
              <a:buFont typeface="Arial"/>
              <a:buChar char="•"/>
            </a:pPr>
            <a:r>
              <a:rPr sz="1450">
                <a:solidFill>
                  <a:srgbClr val="1F2328"/>
                </a:solidFill>
                <a:latin typeface="Calibri"/>
              </a:rPr>
              <a:t>Incremental refresh: only reprocess the partitions of a large fact table that actually changed, instead of a full reload every time.</a:t>
            </a:r>
          </a:p>
          <a:p>
            <a:pPr>
              <a:lnSpc>
                <a:spcPct val="105000"/>
              </a:lnSpc>
              <a:spcAft>
                <a:spcPts val="1000"/>
              </a:spcAft>
              <a:buClr>
                <a:srgbClr val="1E2761"/>
              </a:buClr>
              <a:buFont typeface="Arial"/>
              <a:buChar char="•"/>
            </a:pPr>
            <a:r>
              <a:rPr sz="1450">
                <a:solidFill>
                  <a:srgbClr val="1F2328"/>
                </a:solidFill>
                <a:latin typeface="Calibri"/>
              </a:rPr>
              <a:t>Capacity and tenant settings: large semantic model storage format and related features require specific Premium/Fabric capacity and tenant-level enablement.</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These techniques exist specifically for scale — they matter once a fact table grows from thousands to hundreds of millions of rows, which this lab's synthetic dataset intentionally does not simulate.</a:t>
            </a:r>
          </a:p>
          <a:p>
            <a:pPr>
              <a:lnSpc>
                <a:spcPct val="105000"/>
              </a:lnSpc>
              <a:spcAft>
                <a:spcPts val="1000"/>
              </a:spcAft>
              <a:buClr>
                <a:srgbClr val="E8B44A"/>
              </a:buClr>
              <a:buFont typeface="Arial"/>
              <a:buChar char="•"/>
            </a:pPr>
            <a:r>
              <a:rPr sz="1450">
                <a:solidFill>
                  <a:srgbClr val="1F2328"/>
                </a:solidFill>
                <a:latin typeface="Calibri"/>
              </a:rPr>
              <a:t>Cardinality reduction is the one technique students already practiced today, without necessarily realizing it, when they built DimProductCategory.</a:t>
            </a:r>
          </a:p>
          <a:p>
            <a:pPr>
              <a:lnSpc>
                <a:spcPct val="105000"/>
              </a:lnSpc>
              <a:spcAft>
                <a:spcPts val="1000"/>
              </a:spcAft>
              <a:buClr>
                <a:srgbClr val="E8B44A"/>
              </a:buClr>
              <a:buFont typeface="Arial"/>
              <a:buChar char="•"/>
            </a:pPr>
            <a:r>
              <a:rPr sz="1450">
                <a:solidFill>
                  <a:srgbClr val="1F2328"/>
                </a:solidFill>
                <a:latin typeface="Calibri"/>
              </a:rPr>
              <a:t>All of this is 'Verify for Gov' — large model features depend on capacity SKU and tenant settings that must be confirmed before committing to them in a government tenant.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Instructor note: this is intentionally a lighter-weight topic in Lab 01 — aggregations and incremental refresh get much deeper, hands-on treatment later in the performance-optimization module.</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09 — WHAT YOU'LL BUILD</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Module Lab Walkthrough</a:t>
            </a:r>
          </a:p>
        </p:txBody>
      </p:sp>
      <p:sp>
        <p:nvSpPr>
          <p:cNvPr id="6" name="Rectangle 5"/>
          <p:cNvSpPr/>
          <p:nvPr/>
        </p:nvSpPr>
        <p:spPr>
          <a:xfrm>
            <a:off x="64008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Data overview: sales-flat.csv, customer-segments.csv, targets.csv (via raw GitHub URL)</a:t>
            </a:r>
          </a:p>
        </p:txBody>
      </p:sp>
      <p:sp>
        <p:nvSpPr>
          <p:cNvPr id="9" name="Rectangle 8"/>
          <p:cNvSpPr/>
          <p:nvPr/>
        </p:nvSpPr>
        <p:spPr>
          <a:xfrm>
            <a:off x="64008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1: Star schema refactor — FactSales + DimCustomer/Product/Territory/ProductCategory</a:t>
            </a:r>
          </a:p>
        </p:txBody>
      </p:sp>
      <p:sp>
        <p:nvSpPr>
          <p:cNvPr id="12" name="Rectangle 11"/>
          <p:cNvSpPr/>
          <p:nvPr/>
        </p:nvSpPr>
        <p:spPr>
          <a:xfrm>
            <a:off x="64008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2: Role-playing dimensions — DimOrderDate and DimShipDate</a:t>
            </a:r>
          </a:p>
        </p:txBody>
      </p:sp>
      <p:sp>
        <p:nvSpPr>
          <p:cNvPr id="15" name="Rectangle 14"/>
          <p:cNvSpPr/>
          <p:nvPr/>
        </p:nvSpPr>
        <p:spPr>
          <a:xfrm>
            <a:off x="64008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3: Bridge table — BridgeCustomerSegment + DimSegment</a:t>
            </a:r>
          </a:p>
        </p:txBody>
      </p:sp>
      <p:sp>
        <p:nvSpPr>
          <p:cNvPr id="18" name="Rectangle 17"/>
          <p:cNvSpPr/>
          <p:nvPr/>
        </p:nvSpPr>
        <p:spPr>
          <a:xfrm>
            <a:off x="630936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4: Composite model / DirectQuery comparison (conceptual, Verify for Gov)</a:t>
            </a:r>
          </a:p>
        </p:txBody>
      </p:sp>
      <p:sp>
        <p:nvSpPr>
          <p:cNvPr id="21" name="Rectangle 20"/>
          <p:cNvSpPr/>
          <p:nvPr/>
        </p:nvSpPr>
        <p:spPr>
          <a:xfrm>
            <a:off x="630936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Target model: one central FactSales, single-direction relationships, hidden keys</a:t>
            </a:r>
          </a:p>
        </p:txBody>
      </p:sp>
      <p:sp>
        <p:nvSpPr>
          <p:cNvPr id="24" name="Rectangle 23"/>
          <p:cNvSpPr/>
          <p:nvPr/>
        </p:nvSpPr>
        <p:spPr>
          <a:xfrm>
            <a:off x="630936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Validation checklist: confirm grain, naming, cardinality, and measure totals</a:t>
            </a:r>
          </a:p>
        </p:txBody>
      </p:sp>
      <p:sp>
        <p:nvSpPr>
          <p:cNvPr id="27" name="Rectangle 26"/>
          <p:cNvSpPr/>
          <p:nvPr/>
        </p:nvSpPr>
        <p:spPr>
          <a:xfrm>
            <a:off x="630936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Optional commercial-enhanced path: composite/hybrid table exploration if tenant allows</a:t>
            </a:r>
          </a:p>
        </p:txBody>
      </p:sp>
      <p:sp>
        <p:nvSpPr>
          <p:cNvPr id="30" name="TextBox 29"/>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10 — WRAP-UP</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Knowledge Check &amp; Discussion</a:t>
            </a:r>
          </a:p>
        </p:txBody>
      </p:sp>
      <p:sp>
        <p:nvSpPr>
          <p:cNvPr id="6" name="Rectangle 5"/>
          <p:cNvSpPr/>
          <p:nvPr/>
        </p:nvSpPr>
        <p:spPr>
          <a:xfrm>
            <a:off x="64008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The model uses a star schema with clear fact/dimension separation.</a:t>
            </a:r>
          </a:p>
        </p:txBody>
      </p:sp>
      <p:sp>
        <p:nvSpPr>
          <p:cNvPr id="9" name="Rectangle 8"/>
          <p:cNvSpPr/>
          <p:nvPr/>
        </p:nvSpPr>
        <p:spPr>
          <a:xfrm>
            <a:off x="64008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Relationships are one-to-many, single-direction, wherever possible.</a:t>
            </a:r>
          </a:p>
        </p:txBody>
      </p:sp>
      <p:sp>
        <p:nvSpPr>
          <p:cNvPr id="12" name="Rectangle 11"/>
          <p:cNvSpPr/>
          <p:nvPr/>
        </p:nvSpPr>
        <p:spPr>
          <a:xfrm>
            <a:off x="64008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Role-playing dates (order/ship) filter independently without ambiguity.</a:t>
            </a:r>
          </a:p>
        </p:txBody>
      </p:sp>
      <p:sp>
        <p:nvSpPr>
          <p:cNvPr id="15" name="Rectangle 14"/>
          <p:cNvSpPr/>
          <p:nvPr/>
        </p:nvSpPr>
        <p:spPr>
          <a:xfrm>
            <a:off x="64008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The bridge table supports multi-segment customer analysis without duplicating rows.</a:t>
            </a:r>
          </a:p>
        </p:txBody>
      </p:sp>
      <p:sp>
        <p:nvSpPr>
          <p:cNvPr id="18" name="Rectangle 17"/>
          <p:cNvSpPr/>
          <p:nvPr/>
        </p:nvSpPr>
        <p:spPr>
          <a:xfrm>
            <a:off x="630936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Design tradeoffs: when would you accept bidirectional filtering, and how would you document that exception?</a:t>
            </a:r>
          </a:p>
        </p:txBody>
      </p:sp>
      <p:sp>
        <p:nvSpPr>
          <p:cNvPr id="21" name="Rectangle 20"/>
          <p:cNvSpPr/>
          <p:nvPr/>
        </p:nvSpPr>
        <p:spPr>
          <a:xfrm>
            <a:off x="630936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Gov readiness: which parts of today's model are Gov-ready vs. Verify for Gov, and why?</a:t>
            </a:r>
          </a:p>
        </p:txBody>
      </p:sp>
      <p:sp>
        <p:nvSpPr>
          <p:cNvPr id="24" name="Rectangle 23"/>
          <p:cNvSpPr/>
          <p:nvPr/>
        </p:nvSpPr>
        <p:spPr>
          <a:xfrm>
            <a:off x="630936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Production review checklist: what would you check before approving this model for a real deployment?</a:t>
            </a:r>
          </a:p>
        </p:txBody>
      </p:sp>
      <p:sp>
        <p:nvSpPr>
          <p:cNvPr id="27" name="TextBox 26"/>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058400" cy="914400"/>
          </a:xfrm>
          <a:prstGeom prst="rect">
            <a:avLst/>
          </a:prstGeom>
          <a:noFill/>
        </p:spPr>
        <p:txBody>
          <a:bodyPr wrap="square" anchor="t" lIns="0" rIns="0" tIns="0" bIns="0">
            <a:spAutoFit/>
          </a:bodyPr>
          <a:lstStyle/>
          <a:p>
            <a:pPr algn="l">
              <a:lnSpc>
                <a:spcPct val="100000"/>
              </a:lnSpc>
              <a:spcAft>
                <a:spcPts val="0"/>
              </a:spcAft>
            </a:pPr>
            <a:r>
              <a:rPr sz="3600" b="1" i="0">
                <a:solidFill>
                  <a:srgbClr val="FFFFFF"/>
                </a:solidFill>
                <a:latin typeface="Cambria"/>
              </a:rPr>
              <a:t>Module 01 Complete</a:t>
            </a:r>
          </a:p>
        </p:txBody>
      </p:sp>
      <p:sp>
        <p:nvSpPr>
          <p:cNvPr id="4" name="TextBox 3"/>
          <p:cNvSpPr txBox="1"/>
          <p:nvPr/>
        </p:nvSpPr>
        <p:spPr>
          <a:xfrm>
            <a:off x="822960" y="3017520"/>
            <a:ext cx="10058400" cy="1280160"/>
          </a:xfrm>
          <a:prstGeom prst="rect">
            <a:avLst/>
          </a:prstGeom>
          <a:noFill/>
        </p:spPr>
        <p:txBody>
          <a:bodyPr wrap="square" anchor="t" lIns="0" rIns="0" tIns="0" bIns="0">
            <a:spAutoFit/>
          </a:bodyPr>
          <a:lstStyle/>
          <a:p>
            <a:pPr algn="l">
              <a:lnSpc>
                <a:spcPct val="115000"/>
              </a:lnSpc>
              <a:spcAft>
                <a:spcPts val="0"/>
              </a:spcAft>
            </a:pPr>
            <a:r>
              <a:rPr sz="1700" b="0" i="1">
                <a:solidFill>
                  <a:srgbClr val="CADCFC"/>
                </a:solidFill>
                <a:latin typeface="Calibri"/>
              </a:rPr>
              <a:t>Learners now have a governed, reusable semantic model foundation to build on.</a:t>
            </a:r>
          </a:p>
        </p:txBody>
      </p:sp>
      <p:sp>
        <p:nvSpPr>
          <p:cNvPr id="5" name="Rectangle 4"/>
          <p:cNvSpPr/>
          <p:nvPr/>
        </p:nvSpPr>
        <p:spPr>
          <a:xfrm>
            <a:off x="822960" y="4023360"/>
            <a:ext cx="10332720" cy="10058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160520"/>
            <a:ext cx="9875520" cy="777240"/>
          </a:xfrm>
          <a:prstGeom prst="rect">
            <a:avLst/>
          </a:prstGeom>
          <a:noFill/>
        </p:spPr>
        <p:txBody>
          <a:bodyPr wrap="square" anchor="ctr" lIns="0" rIns="0" tIns="0" bIns="0">
            <a:spAutoFit/>
          </a:bodyPr>
          <a:lstStyle/>
          <a:p>
            <a:pPr algn="l">
              <a:lnSpc>
                <a:spcPct val="100000"/>
              </a:lnSpc>
              <a:spcAft>
                <a:spcPts val="0"/>
              </a:spcAft>
            </a:pPr>
            <a:r>
              <a:rPr sz="1600" b="1" i="0">
                <a:solidFill>
                  <a:srgbClr val="E8B44A"/>
                </a:solidFill>
                <a:latin typeface="Calibri"/>
              </a:rPr>
              <a:t>Up next: Module 02: Advanced DAX — building governed, reusable measures on top of today's star schema.</a:t>
            </a:r>
          </a:p>
        </p:txBody>
      </p:sp>
      <p:sp>
        <p:nvSpPr>
          <p:cNvPr id="7" name="TextBox 6"/>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CADCFC"/>
                </a:solidFill>
                <a:latin typeface="Calibri"/>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