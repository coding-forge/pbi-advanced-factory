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to Module 5. Frame this as the module where the skills from Modules 1-4 get stress-tested: the star schema, DAX measures, Power Query steps, and report pages they've built now have to stay fast at real data volume and real user load.</a:t>
            </a:r>
          </a:p>
          <a:p>
            <a:r>
              <a:t>Set the core mindset up front: performance work is a diagnostic discipline, not a guessing game. Measure first, identify the actual bottleneck, change one thing, measure again. The whole module reinforces that loop — Performance Analyzer, VertiPaq Analyzer, DAX Studio, and Service capacity metrics are all just tools for steps 1 and 4 of that loop.</a:t>
            </a:r>
          </a:p>
          <a:p>
            <a:r>
              <a:t>Preview the lab: students will run Performance Analyzer against their existing report, identify a slow visual, then apply the appropriate fix — model cardinality, DAX rewrite with VAR, visual reduction, or aggregation/incremental refresh design.</a:t>
            </a:r>
          </a:p>
          <a:p>
            <a:r>
              <a:t>Flag the Azure Government angle now: Performance Analyzer and core modeling/DAX/visual practices are Gov-ready. DAX Studio, VertiPaq Analyzer, incremental refresh in the Service, and capacity metrics are all Verify-for-Gov — they depend on workstation policy, license, tenant, and cloud, so we teach them as conditional required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class quickly through the fourteen topics — don't over-explain any one, just orient them to the shape: mindset and the layered mental model up front (1-2), the primary diagnostic tool (3), then the four main optimization surfaces — model, DAX, visuals, Power Query/refresh (4-7).</a:t>
            </a:r>
          </a:p>
          <a:p>
            <a:r>
              <a:t>Topics 8-10 are the architectural and scale conversations — aggregations, DirectQuery/hybrid, and Service capacity monitoring. Call out that these are the topics most likely to be Verify-for-Gov and most likely to require documentation rather than hands-on work in this classroom.</a:t>
            </a:r>
          </a:p>
          <a:p>
            <a:r>
              <a:t>Topic 11 covers external tools (DAX Studio, VertiPaq Analyzer, Tabular Editor). Topic 12 is the benchmark discipline. Topics 13-14 are the hands-on lab walkthrough and knowledge-check discussion.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anti-pattern most students have lived through: a report is 'slow', someone rewrites five measures, adds an aggregation table, and swaps three visuals — and nobody can say which change (if any) actually helped. This module is the antidote.</a:t>
            </a:r>
          </a:p>
          <a:p>
            <a:r>
              <a:t>Walk through the four-step loop explicitly and slowly: measure, identify, change one thing, measure again. Emphasize that 'measure' means Performance Analyzer numbers — DAX query time, visual display time, other time — not gut feel. A baseline you can quote in seconds is the price of admission for any optimization work.</a:t>
            </a:r>
          </a:p>
          <a:p>
            <a:r>
              <a:t>Give a concrete example: suppose the baseline is DAX query time 3.8s on a Sales by Territory slicer click. You suspect a measure. You rewrite it with VAR, re-record the same slicer click, and see 0.5s. That's a defensible win. If instead you'd also removed two visuals and changed a relationship in the same pass, you'd have no idea which change did the work.</a:t>
            </a:r>
          </a:p>
          <a:p>
            <a:r>
              <a:t>Close on tradeoff documentation: every real optimization costs something — lower granularity in an aggregation table, disabled cross-highlight, or a Verify-for-Gov feature like incremental refresh. Tell students the lab expects them to write the tradeoff next to every before/after number they capture. Then bridge into Topic 2: before you can identify the bottleneck, you need a mental map of the layers where bottlenecks live.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as the mental map of where performance work actually happens. There are seven layers a query passes through, and any given slow report has a bottleneck in one or two of them — rarely all seven. Naming the layers explicitly is how you avoid rewriting DAX when the real problem is Power Query, or tuning the model when the real problem is a 40-visual page.</a:t>
            </a:r>
          </a:p>
          <a:p>
            <a:r>
              <a:t>Walk the pipeline left to right. Source system is your SQL/API/lake — slow there and everything downstream inherits it. Power Query is where folding, staging, and filter/column reduction happen (Topic 7 goes deep here). Semantic model is cardinality, data types, and relationship design (Topic 4). DAX is measure logic — VAR, filter scope, iterator caution (Topic 5). Visual rendering is visual count, cross-highlight, high-cardinality visuals (Topic 6). Service refresh is incremental refresh and refresh windows. Capacity is SKU memory and CU throttling (Topic 10).</a:t>
            </a:r>
          </a:p>
          <a:p>
            <a:r>
              <a:t>Use an analogy: it's like a highway with seven tollbooths. If one tollbooth has a long line, the whole trip is slow — but widening the other six lanes does nothing. Performance Analyzer's job is to tell you which tollbooth has the line, and the DAX-query-time vs. visual-display-time vs. other-time split is exactly that signal.</a:t>
            </a:r>
          </a:p>
          <a:p>
            <a:r>
              <a:t>Transition: 'So how do we actually see which layer is slow? That's Performance Analyzer — the next topic — and it's the single most important tool in this whole module.'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Performance Analyzer as the built-in, Gov-ready tool that turns 'this report feels slow' into concrete numbers. Every learner has this available in Desktop today — no external tool, no tenant setting, no license.</a:t>
            </a:r>
          </a:p>
          <a:p>
            <a:r>
              <a:t>Walk the exact steps: View &gt; Performance Analyzer, Start recording, then perform the interaction you care about. Emphasize that the interaction matters — refreshing visuals measures cold load, but clicking a slicer measures the slicer-triggered recalculation, and those can be very different. Encourage students to record the actual user workflow, not just page open.</a:t>
            </a:r>
          </a:p>
          <a:p>
            <a:r>
              <a:t>Explain the three timings using the layer map from Topic 2. If DAX query time is 80% of the total, the fix lives in the semantic model or a measure. If visual display time dominates, the fix is on the report canvas (Topic 6). If other/render time is high, look at data volume, Power Query folding, or connection type. Give a concrete example: a 4.5s total that splits 4.1s DAX + 0.3s visual + 0.1s other says 'go rewrite the measure', not 'reduce the visual count'.</a:t>
            </a:r>
          </a:p>
          <a:p>
            <a:r>
              <a:t>Introduce the Copy query trick and set expectations honestly: DAX Studio is Verify-for-Gov — great when workstation policy allows it, but the Alternate path in the lab (simpler visuals + Performance Analyzer alone) is what students in policy-restricted environments will use. Transition into Topic 4 by pointing out that when DAX query time is the villain, the fix often starts one layer down, 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the highest-leverage optimization surface: model-level fixes usually give the biggest win per hour of effort, because they benefit every measure and every visual across every report that uses this model.</a:t>
            </a:r>
          </a:p>
          <a:p>
            <a:r>
              <a:t>Walk down the table row by row, tying each to what VertiPaq (the storage engine) actually does. VertiPaq is a columnar, dictionary-encoded store — compression is a function of how many distinct values a column has. A DateTime with 20 million distinct values compresses badly; the same data split into Date (a few thousand distinct values) and Time (86,400 distinct seconds max) compresses beautifully.</a:t>
            </a:r>
          </a:p>
          <a:p>
            <a:r>
              <a:t>Use the unused-columns row as the teaching moment: it is the single most common quick win in the field. Students often 'hide' columns in report view thinking that saves memory — it does not. The column is still loaded and still costs refresh time. The fix is Remove Columns in Power Query, upstream of the model.</a:t>
            </a:r>
          </a:p>
          <a:p>
            <a:r>
              <a:t>Bridge to Topic 5: once the model is lean, the next place bottlenecks hide is in measure logic — which is where DAX optimization comes in. Prompt: 'Which of these seven categories do you think is most common in the reports your team ships? Why?'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DAX optimization as the layer you attack after the model is lean — not before. A slow measure on a bloated model is often the model's fault, not the measure's, and fixing the measure first hides the real bottleneck.</a:t>
            </a:r>
          </a:p>
          <a:p>
            <a:r>
              <a:t>Walk through the four techniques in order of frequency. VAR/RETURN is by far the most common win: it deduplicates work and doubles as documentation. Show a concrete sketch on the board — an inline expression repeated three times in one measure vs. the same expression stored in VAR SalesBase and referenced by name.</a:t>
            </a:r>
          </a:p>
          <a:p>
            <a:r>
              <a:t>Measure branching is the governance win: instead of five measures each redefining 'sales in current filter context', you have one [Total Sales] and every other measure references it. When the business changes what 'sales' means (e.g., excludes returns), you fix it in one place.</a:t>
            </a:r>
          </a:p>
          <a:p>
            <a:r>
              <a:t>Warn about the iterator trap with a real-sounding scenario: SUMX over FILTER over a 200-million-row fact table, nested inside CALCULATE, will crush the engine. Encourage students to ask 'is there a set-based equivalent?' before reaching for an iterator. Transition to Topic 6: even the best DAX can't save a page that's asking the engine to render forty visuals at once.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up front: visual optimization is often the fastest win in the whole module, because it needs no DAX rewrite and no model change — just editorial discipline about what belongs on a page.</a:t>
            </a:r>
          </a:p>
          <a:p>
            <a:r>
              <a:t>Start with the visual-count point. Power BI issues one DAX query per visual, and the page waits for the slowest. Cutting a page from 20 visuals to 8 can halve the perceived load time even if no individual visual got faster. Ask the room: 'What's the visual count on your busiest production page?' — the number is usually higher than people realize.</a:t>
            </a:r>
          </a:p>
          <a:p>
            <a:r>
              <a:t>Use the drillthrough pattern from Module 4 as the design bridge: instead of putting the detail table on the landing page, hide it behind a drillthrough or tooltip page. The DAX only runs when the user asks for it. This is where Modules 4 and 5 reinforce each other.</a:t>
            </a:r>
          </a:p>
          <a:p>
            <a:r>
              <a:t>Close on cross-highlight interactions — the free-win optimization most authors forget. Every visual on a page cross-filters every other visual by default, which means every click triggers N-1 requeries. Turn off the ones that don't add analytic value. Transition to Topic 7: even a lean model and lean page can be slow if data is refreshed the wrong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topic as the 'upstream' side of performance: the model can be perfect, but if Power Query is pulling 400 million rows through non-folding steps every night, refresh will still be slow and fragile.</a:t>
            </a:r>
          </a:p>
          <a:p>
            <a:r>
              <a:t>Explain folding in plain terms: when a step folds, it becomes part of the SQL sent to the source, and the source (which is indexed and tuned) does the work. When folding breaks — usually because of a custom function, a Merge in the wrong place, or an added column that references the whole table — Power Query has to pull the whole table down and do the step locally. The View Native Query indicator is how you check.</a:t>
            </a:r>
          </a:p>
          <a:p>
            <a:r>
              <a:t>Use a concrete story: a fact query with a Filter Rows step at the top folds and sends 'WHERE OrderDate &gt;= '2024-01-01'' to SQL; the same Filter Rows moved after a custom column breaks folding and now the whole 200M-row table comes down first. Same logical result, radically different cost.</a:t>
            </a:r>
          </a:p>
          <a:p>
            <a:r>
              <a:t>For incremental refresh, be precise: the parameter names must be exactly RangeStart and RangeEnd, both DateTime, and the fact query must filter on a Date/DateTime column using them. Remind students this is Verify-for-Gov — policy setup is a conditional required task depending on license and Service availability. Transition into Topic 8: sometimes even a well-folded, incrementally-refreshed model is too big for interactive query — that's where aggregations come 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aggregations as the standard pattern for making very large fact tables feel interactive: keep the detail available for drill-through, but pre-summarize the common queries so 95% of clicks hit a small, fast in-memory copy.</a:t>
            </a:r>
          </a:p>
          <a:p>
            <a:r>
              <a:t>Walk the table row by row. Emphasize the agg-hit / agg-miss mechanic: if the summary grain is Month + Category + Territory, then any query grouping by Month or Category or Territory (or a subset) hits the agg. Any query at Day grain, or by SKU, misses — and falls through to the DirectQuery detail table. So grain choice is everything: too fine and the agg is huge; too coarse and it misses most queries.</a:t>
            </a:r>
          </a:p>
          <a:p>
            <a:r>
              <a:t>Give a concrete example: an 800M-row order-line fact in DirectQuery, plus a 4M-row Month/Category/Territory Import agg. Dashboard tiles that show 'sales by month by category' answer in under a second from the agg. A drill to 'sales by day by SKU' falls through to DirectQuery and takes 8 seconds — acceptable because it's occasional.</a:t>
            </a:r>
          </a:p>
          <a:p>
            <a:r>
              <a:t>Close on the governance angle: aggregations as a pattern are Gov-ready, but the DirectQuery source, gateway, connector, and tenant settings are Verify-for-source and must be documented before production. Transition to Topic 9, which is the broader Import/DirectQuery/Dual/Hybrid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an architecture-decision table, not a hands-on build — in the classroom environment most students won't have a DirectQuery source or Premium capacity available, so the goal is that they can reason about which pattern fits a future scenario.</a:t>
            </a:r>
          </a:p>
          <a:p>
            <a:r>
              <a:t>Anchor on Import as the default: unless there is a specific reason to leave Import, Import wins on query speed, DAX capability, and simplicity. Every other pattern in this table is a considered exception with documented tradeoffs.</a:t>
            </a:r>
          </a:p>
          <a:p>
            <a:r>
              <a:t>Walk through the exceptions in order. DirectQuery for volume or freshness — but you pay per-visual query cost and lose some DAX functions. Dual mode for shared dimensions across Import and DirectQuery fact tables. Hybrid tables for recent-hot / historical-cold partitioning. Large semantic model for datasets that simply don't fit standard memory.</a:t>
            </a:r>
          </a:p>
          <a:p>
            <a:r>
              <a:t>Emphasize the recurring Verify-for-Gov flag: hybrid tables, large models, and much of DirectQuery gateway behavior depend on tenant, cloud, and SKU. The teaching goal is that students leave able to write the tradeoff decision down for a reviewer, not that they've built it end to end today. Transition to Topic 10: once the model is deployed, monitoring is how you know it stays healthy.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this topic as 'performance work after the report ships'. Everything before this was authoring-time optimization; this is operational monitoring so problems get caught before the business notices them.</a:t>
            </a:r>
          </a:p>
          <a:p>
            <a:r>
              <a:t>Walk through the four surfaces in order of accessibility. Refresh history and dataset settings are available on any workspace — Gov-ready, always the first place to look. Capacity metrics and admin monitoring require Premium/Fabric and admin role respectively, and both are Verify-for-Gov depending on tenant.</a:t>
            </a:r>
          </a:p>
          <a:p>
            <a:r>
              <a:t>Use a concrete production story: 'reports slow every morning at 9 AM' turned out to be capacity CU throttling during a large scheduled refresh window overlapping with user login peak. Without the capacity metrics app you would have chased the report authors for months when the real fix was moving the refresh schedule.</a:t>
            </a:r>
          </a:p>
          <a:p>
            <a:r>
              <a:t>Close on the governance framing: this is where 'is this dataset actually being used?' gets answered. Admin monitoring surfaces datasets with heavy refresh cost and zero read activity — candidates to retire, not optimize. Transition into Topic 11: when the built-in tools aren't enough, external tools give deeper diagnostic power — with Gov caveats.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deliberately: Performance Analyzer answers 'which visual is slow?'. These external tools answer 'why is it slow?' at a deeper level — storage engine vs. formula engine, exact column bloat, query plan choice. Powerful, but every one of them is Verify-for-Gov because they depend on workstation policy, tenant settings, and cloud availability.</a:t>
            </a:r>
          </a:p>
          <a:p>
            <a:r>
              <a:t>DAX Studio is the deep-diagnostics companion. Server Timings tells you whether a measure is bottlenecked in the storage engine (usually a model/cardinality problem) or the formula engine (usually a measure logic problem). That split is often the difference between rewriting a measure and reshaping the model.</a:t>
            </a:r>
          </a:p>
          <a:p>
            <a:r>
              <a:t>VertiPaq Analyzer answers the model-bloat question with numbers: 'This one Notes column is 38% of your entire model's memory footprint.' That's the level of evidence that unblocks a hard 'we don't need that column' conversation with a business owner.</a:t>
            </a:r>
          </a:p>
          <a:p>
            <a:r>
              <a:t>Emphasize the alternate path: in a policy-restricted classroom or a customer where external tools aren't approved, students still get real optimization work done with just Performance Analyzer and disciplined single-variable changes. Transition to Topic 12: however you measured, the discipline is documenting before/after benchmark numbers.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topic to consolidate the discipline before the hands-on walkthrough. Performance optimization is not just a set of techniques — it is a documentation practice. If the before/after numbers, the change, and the tradeoff aren't written down, the work doesn't compound.</a:t>
            </a:r>
          </a:p>
          <a:p>
            <a:r>
              <a:t>Walk through what a good benchmark entry looks like out loud: 'Baseline: Sales by Territory slicer click, DAX query time 4.2s, visual display 0.3s. Change: rewrote [Sales YTD] with VAR. After: DAX query time 0.6s, visual display 0.3s. Tradeoff: none.' That format — interaction, before, change, after, tradeoff — is the instructor's target.</a:t>
            </a:r>
          </a:p>
          <a:p>
            <a:r>
              <a:t>Tie the production-readiness list back to real deployments. In a governance review, the reviewer is not going to re-run Performance Analyzer for you — they will look at your documented numbers, your one-thing-per-change discipline, and your Verify-for-Gov labeling, and decide whether to approve.</a:t>
            </a:r>
          </a:p>
          <a:p>
            <a:r>
              <a:t>Transition into the lab walkthrough: 'You now have the mindset (Topic 1), the layer map (Topic 2), the tools (Topics 3, 11), the surface techniques (Topics 4-7), the scale patterns (Topics 8-9), the monitoring loop (Topic 10), and the documentation discipline (this one). Time to run the loop on the actual report.'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the literal running order for the hands-on portion of the module. Read it top to bottom and confirm students know which exercise maps to which topic you just taught — Exercise 1 to Topic 3, Exercise 2 to Topic 4, and so on.</a:t>
            </a:r>
          </a:p>
          <a:p>
            <a:r>
              <a:t>Emphasize the sequencing: Exercise 1 must come first because every subsequent exercise needs a baseline to compare against. Skipping the baseline turns the rest of the lab into guesswork.</a:t>
            </a:r>
          </a:p>
          <a:p>
            <a:r>
              <a:t>Call out the Verify-for-Gov exercises (3, 5 partial, 6) and set expectations for the two paths: if the environment supports it, do the full exercise; if not, do the alternate path (documentation and reasoning) and mark the artifact Verify-for-Gov. Both paths count as complete.</a:t>
            </a:r>
          </a:p>
          <a:p>
            <a:r>
              <a:t>Remind them of the deliverable format from Topic 12 — interaction, before number, change, after number, tradeoff — and that this is what will be reviewed, not the raw PBIP alone. Then release them to the lab.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discussion-driven wrap-up, not a quiz. Pick two or three items and ask specific students to walk the room through their own answer — especially the before/after documentation item, since that is where undisciplined teams fail governance review.</a:t>
            </a:r>
          </a:p>
          <a:p>
            <a:r>
              <a:t>For the DAX rewrite item, push on the 'matches the original result' clause. Ask: 'How did you prove the rewrite is semantically identical, not just faster?' The expected answer is side-by-side comparison against the original measure on the same visual and slicer state.</a:t>
            </a:r>
          </a:p>
          <a:p>
            <a:r>
              <a:t>For the aggregation item, ask a student to describe when their aggregation table would miss and what happens then. If they can explain the fall-through to the detail source and the resulting cost, they've internalized the pattern; if they can't, review Topic 8 briefly.</a:t>
            </a:r>
          </a:p>
          <a:p>
            <a:r>
              <a:t>Close by connecting forward: the reports that leave this module are measured, documented, and defensible. Module 6 (Advanced Analytics and AI-Assisted Insights) adds AI visuals and analytical features on top — many of which are Verify-for-Gov and require the same measure-and-document discipline you just practiced today.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Congratulate the class on completing the performance module — this is the module that turns 'it worked in dev' into 'it stays fast in production', and the measure-first discipline they practiced today is the single most transferable skill in the whole workshop.</a:t>
            </a:r>
          </a:p>
          <a:p>
            <a:r>
              <a:t>Remind students to keep their before/after benchmark notes with the PBIP artifact — Module 6 will add analytical and AI visuals on top of the same model, and any regression will be easier to spot because they now have baseline numbers.</a:t>
            </a:r>
          </a:p>
          <a:p>
            <a:r>
              <a:t>Take final questions, especially on the Verify-for-Gov topics — DAX Studio, VertiPaq Analyzer, incremental refresh in the Service, capacity metrics — since those are where students are most likely to hit environment-specific blockers back at their own desks.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0644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5486400" cy="457200"/>
          </a:xfrm>
          <a:prstGeom prst="rect">
            <a:avLst/>
          </a:prstGeom>
          <a:noFill/>
        </p:spPr>
        <p:txBody>
          <a:bodyPr wrap="square" anchor="t" lIns="0" rIns="0" tIns="0" bIns="0">
            <a:spAutoFit/>
          </a:bodyPr>
          <a:lstStyle/>
          <a:p>
            <a:pPr algn="l">
              <a:lnSpc>
                <a:spcPct val="100000"/>
              </a:lnSpc>
              <a:spcAft>
                <a:spcPts val="0"/>
              </a:spcAft>
            </a:pPr>
            <a:r>
              <a:rPr sz="1600" b="1" i="0">
                <a:solidFill>
                  <a:srgbClr val="E8B44A"/>
                </a:solidFill>
                <a:latin typeface="Calibri"/>
              </a:rPr>
              <a:t>MODULE 05</a:t>
            </a:r>
          </a:p>
        </p:txBody>
      </p:sp>
      <p:sp>
        <p:nvSpPr>
          <p:cNvPr id="5" name="TextBox 4"/>
          <p:cNvSpPr txBox="1"/>
          <p:nvPr/>
        </p:nvSpPr>
        <p:spPr>
          <a:xfrm>
            <a:off x="822960" y="1874519"/>
            <a:ext cx="9601200" cy="1920240"/>
          </a:xfrm>
          <a:prstGeom prst="rect">
            <a:avLst/>
          </a:prstGeom>
          <a:noFill/>
        </p:spPr>
        <p:txBody>
          <a:bodyPr wrap="square" anchor="t" lIns="0" rIns="0" tIns="0" bIns="0">
            <a:spAutoFit/>
          </a:bodyPr>
          <a:lstStyle/>
          <a:p>
            <a:pPr algn="l">
              <a:lnSpc>
                <a:spcPct val="105000"/>
              </a:lnSpc>
              <a:spcAft>
                <a:spcPts val="0"/>
              </a:spcAft>
            </a:pPr>
            <a:r>
              <a:rPr sz="4400" b="1" i="0">
                <a:solidFill>
                  <a:srgbClr val="FFFFFF"/>
                </a:solidFill>
                <a:latin typeface="Cambria"/>
              </a:rPr>
              <a:t>Performance Optimization</a:t>
            </a:r>
          </a:p>
        </p:txBody>
      </p:sp>
      <p:sp>
        <p:nvSpPr>
          <p:cNvPr id="6" name="TextBox 5"/>
          <p:cNvSpPr txBox="1"/>
          <p:nvPr/>
        </p:nvSpPr>
        <p:spPr>
          <a:xfrm>
            <a:off x="822960" y="3703320"/>
            <a:ext cx="9601200" cy="914400"/>
          </a:xfrm>
          <a:prstGeom prst="rect">
            <a:avLst/>
          </a:prstGeom>
          <a:noFill/>
        </p:spPr>
        <p:txBody>
          <a:bodyPr wrap="square" anchor="t" lIns="0" rIns="0" tIns="0" bIns="0">
            <a:spAutoFit/>
          </a:bodyPr>
          <a:lstStyle/>
          <a:p>
            <a:pPr algn="l">
              <a:lnSpc>
                <a:spcPct val="100000"/>
              </a:lnSpc>
              <a:spcAft>
                <a:spcPts val="0"/>
              </a:spcAft>
            </a:pPr>
            <a:r>
              <a:rPr sz="2000" b="0" i="1">
                <a:solidFill>
                  <a:srgbClr val="CADCFC"/>
                </a:solidFill>
                <a:latin typeface="Calibri"/>
              </a:rPr>
              <a:t>A repeatable measure-diagnose-tune process across the model, DAX, Power Query, visuals, refresh, and capacity layers</a:t>
            </a:r>
          </a:p>
        </p:txBody>
      </p:sp>
      <p:sp>
        <p:nvSpPr>
          <p:cNvPr id="7" name="TextBox 6"/>
          <p:cNvSpPr txBox="1"/>
          <p:nvPr/>
        </p:nvSpPr>
        <p:spPr>
          <a:xfrm>
            <a:off x="822960" y="6035040"/>
            <a:ext cx="9144000" cy="548640"/>
          </a:xfrm>
          <a:prstGeom prst="rect">
            <a:avLst/>
          </a:prstGeom>
          <a:noFill/>
        </p:spPr>
        <p:txBody>
          <a:bodyPr wrap="square" anchor="t" lIns="0" rIns="0" tIns="0" bIns="0">
            <a:spAutoFit/>
          </a:bodyPr>
          <a:lstStyle/>
          <a:p>
            <a:pPr algn="l">
              <a:lnSpc>
                <a:spcPct val="100000"/>
              </a:lnSpc>
              <a:spcAft>
                <a:spcPts val="0"/>
              </a:spcAft>
            </a:pPr>
            <a:r>
              <a:rPr sz="1300" b="0" i="0">
                <a:solidFill>
                  <a:srgbClr val="CADCFC"/>
                </a:solidFill>
                <a:latin typeface="Calibri"/>
              </a:rPr>
              <a:t>Advanced Power BI Training — Instructor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MODULE 05 AGENDA</a:t>
            </a:r>
          </a:p>
        </p:txBody>
      </p:sp>
      <p:sp>
        <p:nvSpPr>
          <p:cNvPr id="5" name="TextBox 4"/>
          <p:cNvSpPr txBox="1"/>
          <p:nvPr/>
        </p:nvSpPr>
        <p:spPr>
          <a:xfrm>
            <a:off x="640080" y="868680"/>
            <a:ext cx="8229600" cy="640080"/>
          </a:xfrm>
          <a:prstGeom prst="rect">
            <a:avLst/>
          </a:prstGeom>
          <a:noFill/>
        </p:spPr>
        <p:txBody>
          <a:bodyPr wrap="square" anchor="t" lIns="0" rIns="0" tIns="0" bIns="0">
            <a:spAutoFit/>
          </a:bodyPr>
          <a:lstStyle/>
          <a:p>
            <a:pPr algn="l">
              <a:lnSpc>
                <a:spcPct val="100000"/>
              </a:lnSpc>
              <a:spcAft>
                <a:spcPts val="0"/>
              </a:spcAft>
            </a:pPr>
            <a:r>
              <a:rPr sz="3200" b="1" i="0">
                <a:solidFill>
                  <a:srgbClr val="141B45"/>
                </a:solidFill>
                <a:latin typeface="Cambria"/>
              </a:rPr>
              <a:t>What We'll Cover</a:t>
            </a:r>
          </a:p>
        </p:txBody>
      </p:sp>
      <p:sp>
        <p:nvSpPr>
          <p:cNvPr id="6" name="Rectangle 5"/>
          <p:cNvSpPr/>
          <p:nvPr/>
        </p:nvSpPr>
        <p:spPr>
          <a:xfrm>
            <a:off x="64008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a:t>
            </a:r>
          </a:p>
        </p:txBody>
      </p:sp>
      <p:sp>
        <p:nvSpPr>
          <p:cNvPr id="8" name="TextBox 7"/>
          <p:cNvSpPr txBox="1"/>
          <p:nvPr/>
        </p:nvSpPr>
        <p:spPr>
          <a:xfrm>
            <a:off x="117043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Performance optimization mindset</a:t>
            </a:r>
          </a:p>
        </p:txBody>
      </p:sp>
      <p:sp>
        <p:nvSpPr>
          <p:cNvPr id="9" name="Rectangle 8"/>
          <p:cNvSpPr/>
          <p:nvPr/>
        </p:nvSpPr>
        <p:spPr>
          <a:xfrm>
            <a:off x="64008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2</a:t>
            </a:r>
          </a:p>
        </p:txBody>
      </p:sp>
      <p:sp>
        <p:nvSpPr>
          <p:cNvPr id="11" name="TextBox 10"/>
          <p:cNvSpPr txBox="1"/>
          <p:nvPr/>
        </p:nvSpPr>
        <p:spPr>
          <a:xfrm>
            <a:off x="117043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Performance layers</a:t>
            </a:r>
          </a:p>
        </p:txBody>
      </p:sp>
      <p:sp>
        <p:nvSpPr>
          <p:cNvPr id="12" name="Rectangle 11"/>
          <p:cNvSpPr/>
          <p:nvPr/>
        </p:nvSpPr>
        <p:spPr>
          <a:xfrm>
            <a:off x="64008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3</a:t>
            </a:r>
          </a:p>
        </p:txBody>
      </p:sp>
      <p:sp>
        <p:nvSpPr>
          <p:cNvPr id="14" name="TextBox 13"/>
          <p:cNvSpPr txBox="1"/>
          <p:nvPr/>
        </p:nvSpPr>
        <p:spPr>
          <a:xfrm>
            <a:off x="117043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Performance Analyzer</a:t>
            </a:r>
          </a:p>
        </p:txBody>
      </p:sp>
      <p:sp>
        <p:nvSpPr>
          <p:cNvPr id="15" name="Rectangle 14"/>
          <p:cNvSpPr/>
          <p:nvPr/>
        </p:nvSpPr>
        <p:spPr>
          <a:xfrm>
            <a:off x="64008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4</a:t>
            </a:r>
          </a:p>
        </p:txBody>
      </p:sp>
      <p:sp>
        <p:nvSpPr>
          <p:cNvPr id="17" name="TextBox 16"/>
          <p:cNvSpPr txBox="1"/>
          <p:nvPr/>
        </p:nvSpPr>
        <p:spPr>
          <a:xfrm>
            <a:off x="117043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Model size and cardinality</a:t>
            </a:r>
          </a:p>
        </p:txBody>
      </p:sp>
      <p:sp>
        <p:nvSpPr>
          <p:cNvPr id="18" name="Rectangle 17"/>
          <p:cNvSpPr/>
          <p:nvPr/>
        </p:nvSpPr>
        <p:spPr>
          <a:xfrm>
            <a:off x="64008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5</a:t>
            </a:r>
          </a:p>
        </p:txBody>
      </p:sp>
      <p:sp>
        <p:nvSpPr>
          <p:cNvPr id="20" name="TextBox 19"/>
          <p:cNvSpPr txBox="1"/>
          <p:nvPr/>
        </p:nvSpPr>
        <p:spPr>
          <a:xfrm>
            <a:off x="117043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DAX optimization</a:t>
            </a:r>
          </a:p>
        </p:txBody>
      </p:sp>
      <p:sp>
        <p:nvSpPr>
          <p:cNvPr id="21" name="Rectangle 20"/>
          <p:cNvSpPr/>
          <p:nvPr/>
        </p:nvSpPr>
        <p:spPr>
          <a:xfrm>
            <a:off x="64008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6</a:t>
            </a:r>
          </a:p>
        </p:txBody>
      </p:sp>
      <p:sp>
        <p:nvSpPr>
          <p:cNvPr id="23" name="TextBox 22"/>
          <p:cNvSpPr txBox="1"/>
          <p:nvPr/>
        </p:nvSpPr>
        <p:spPr>
          <a:xfrm>
            <a:off x="117043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Visual optimization</a:t>
            </a:r>
          </a:p>
        </p:txBody>
      </p:sp>
      <p:sp>
        <p:nvSpPr>
          <p:cNvPr id="24" name="Rectangle 23"/>
          <p:cNvSpPr/>
          <p:nvPr/>
        </p:nvSpPr>
        <p:spPr>
          <a:xfrm>
            <a:off x="640080" y="574112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74112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7</a:t>
            </a:r>
          </a:p>
        </p:txBody>
      </p:sp>
      <p:sp>
        <p:nvSpPr>
          <p:cNvPr id="26" name="TextBox 25"/>
          <p:cNvSpPr txBox="1"/>
          <p:nvPr/>
        </p:nvSpPr>
        <p:spPr>
          <a:xfrm>
            <a:off x="1170432" y="575941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Power Query and refresh optimization</a:t>
            </a:r>
          </a:p>
        </p:txBody>
      </p:sp>
      <p:sp>
        <p:nvSpPr>
          <p:cNvPr id="27" name="Rectangle 26"/>
          <p:cNvSpPr/>
          <p:nvPr/>
        </p:nvSpPr>
        <p:spPr>
          <a:xfrm>
            <a:off x="630936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8</a:t>
            </a:r>
          </a:p>
        </p:txBody>
      </p:sp>
      <p:sp>
        <p:nvSpPr>
          <p:cNvPr id="29" name="TextBox 28"/>
          <p:cNvSpPr txBox="1"/>
          <p:nvPr/>
        </p:nvSpPr>
        <p:spPr>
          <a:xfrm>
            <a:off x="683971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Aggregations</a:t>
            </a:r>
          </a:p>
        </p:txBody>
      </p:sp>
      <p:sp>
        <p:nvSpPr>
          <p:cNvPr id="30" name="Rectangle 29"/>
          <p:cNvSpPr/>
          <p:nvPr/>
        </p:nvSpPr>
        <p:spPr>
          <a:xfrm>
            <a:off x="630936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9</a:t>
            </a:r>
          </a:p>
        </p:txBody>
      </p:sp>
      <p:sp>
        <p:nvSpPr>
          <p:cNvPr id="32" name="TextBox 31"/>
          <p:cNvSpPr txBox="1"/>
          <p:nvPr/>
        </p:nvSpPr>
        <p:spPr>
          <a:xfrm>
            <a:off x="683971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DirectQuery and hybrid patterns</a:t>
            </a:r>
          </a:p>
        </p:txBody>
      </p:sp>
      <p:sp>
        <p:nvSpPr>
          <p:cNvPr id="33" name="Rectangle 32"/>
          <p:cNvSpPr/>
          <p:nvPr/>
        </p:nvSpPr>
        <p:spPr>
          <a:xfrm>
            <a:off x="630936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10</a:t>
            </a:r>
          </a:p>
        </p:txBody>
      </p:sp>
      <p:sp>
        <p:nvSpPr>
          <p:cNvPr id="35" name="TextBox 34"/>
          <p:cNvSpPr txBox="1"/>
          <p:nvPr/>
        </p:nvSpPr>
        <p:spPr>
          <a:xfrm>
            <a:off x="683971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Service and capacity monitoring</a:t>
            </a:r>
          </a:p>
        </p:txBody>
      </p:sp>
      <p:sp>
        <p:nvSpPr>
          <p:cNvPr id="36" name="Rectangle 35"/>
          <p:cNvSpPr/>
          <p:nvPr/>
        </p:nvSpPr>
        <p:spPr>
          <a:xfrm>
            <a:off x="630936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11</a:t>
            </a:r>
          </a:p>
        </p:txBody>
      </p:sp>
      <p:sp>
        <p:nvSpPr>
          <p:cNvPr id="38" name="TextBox 37"/>
          <p:cNvSpPr txBox="1"/>
          <p:nvPr/>
        </p:nvSpPr>
        <p:spPr>
          <a:xfrm>
            <a:off x="683971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External tools</a:t>
            </a:r>
          </a:p>
        </p:txBody>
      </p:sp>
      <p:sp>
        <p:nvSpPr>
          <p:cNvPr id="39" name="Rectangle 38"/>
          <p:cNvSpPr/>
          <p:nvPr/>
        </p:nvSpPr>
        <p:spPr>
          <a:xfrm>
            <a:off x="630936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12</a:t>
            </a:r>
          </a:p>
        </p:txBody>
      </p:sp>
      <p:sp>
        <p:nvSpPr>
          <p:cNvPr id="41" name="TextBox 40"/>
          <p:cNvSpPr txBox="1"/>
          <p:nvPr/>
        </p:nvSpPr>
        <p:spPr>
          <a:xfrm>
            <a:off x="683971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Lab review and benchmark targets</a:t>
            </a:r>
          </a:p>
        </p:txBody>
      </p:sp>
      <p:sp>
        <p:nvSpPr>
          <p:cNvPr id="42" name="Rectangle 41"/>
          <p:cNvSpPr/>
          <p:nvPr/>
        </p:nvSpPr>
        <p:spPr>
          <a:xfrm>
            <a:off x="630936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13</a:t>
            </a:r>
          </a:p>
        </p:txBody>
      </p:sp>
      <p:sp>
        <p:nvSpPr>
          <p:cNvPr id="44" name="TextBox 43"/>
          <p:cNvSpPr txBox="1"/>
          <p:nvPr/>
        </p:nvSpPr>
        <p:spPr>
          <a:xfrm>
            <a:off x="683971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Module lab walkthrough</a:t>
            </a:r>
          </a:p>
        </p:txBody>
      </p:sp>
      <p:sp>
        <p:nvSpPr>
          <p:cNvPr id="45" name="Rectangle 44"/>
          <p:cNvSpPr/>
          <p:nvPr/>
        </p:nvSpPr>
        <p:spPr>
          <a:xfrm>
            <a:off x="6309360" y="574112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0" y="574112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14</a:t>
            </a:r>
          </a:p>
        </p:txBody>
      </p:sp>
      <p:sp>
        <p:nvSpPr>
          <p:cNvPr id="47" name="TextBox 46"/>
          <p:cNvSpPr txBox="1"/>
          <p:nvPr/>
        </p:nvSpPr>
        <p:spPr>
          <a:xfrm>
            <a:off x="6839712" y="575941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Knowledge check and discussion</a:t>
            </a:r>
          </a:p>
        </p:txBody>
      </p:sp>
      <p:sp>
        <p:nvSpPr>
          <p:cNvPr id="48" name="TextBox 4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01</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Performance Optimization Mindset</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Follow a four-step loop every time: measure first, identify the bottleneck, change one thing, then measure again with the same interaction.</a:t>
            </a:r>
          </a:p>
          <a:p>
            <a:pPr>
              <a:lnSpc>
                <a:spcPct val="105000"/>
              </a:lnSpc>
              <a:spcAft>
                <a:spcPts val="1000"/>
              </a:spcAft>
              <a:buClr>
                <a:srgbClr val="1E2761"/>
              </a:buClr>
              <a:buFont typeface="Arial"/>
              <a:buChar char="•"/>
            </a:pPr>
            <a:r>
              <a:rPr sz="1450">
                <a:solidFill>
                  <a:srgbClr val="1F2328"/>
                </a:solidFill>
                <a:latin typeface="Calibri"/>
              </a:rPr>
              <a:t>Capture a baseline timing before touching anything — without a baseline, you can't prove any fix actually improved the report.</a:t>
            </a:r>
          </a:p>
          <a:p>
            <a:pPr>
              <a:lnSpc>
                <a:spcPct val="105000"/>
              </a:lnSpc>
              <a:spcAft>
                <a:spcPts val="1000"/>
              </a:spcAft>
              <a:buClr>
                <a:srgbClr val="1E2761"/>
              </a:buClr>
              <a:buFont typeface="Arial"/>
              <a:buChar char="•"/>
            </a:pPr>
            <a:r>
              <a:rPr sz="1450">
                <a:solidFill>
                  <a:srgbClr val="1F2328"/>
                </a:solidFill>
                <a:latin typeface="Calibri"/>
              </a:rPr>
              <a:t>Change exactly one variable per iteration: one measure rewrite, one column removal, one visual reduction. Bundling changes hides which one helped.</a:t>
            </a:r>
          </a:p>
          <a:p>
            <a:pPr>
              <a:lnSpc>
                <a:spcPct val="105000"/>
              </a:lnSpc>
              <a:spcAft>
                <a:spcPts val="1000"/>
              </a:spcAft>
              <a:buClr>
                <a:srgbClr val="1E2761"/>
              </a:buClr>
              <a:buFont typeface="Arial"/>
              <a:buChar char="•"/>
            </a:pPr>
            <a:r>
              <a:rPr sz="1450">
                <a:solidFill>
                  <a:srgbClr val="1F2328"/>
                </a:solidFill>
                <a:latin typeface="Calibri"/>
              </a:rPr>
              <a:t>Every change carries a tradeoff — less detail, less interactivity, or a tenant-dependent feature — and the tradeoff must be documented alongside the win.</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Guessing at fixes wastes hours and often makes reports slower (e.g., adding a CALCULATE around already-optimized logic, or splitting a fast visual into three).</a:t>
            </a:r>
          </a:p>
          <a:p>
            <a:pPr>
              <a:lnSpc>
                <a:spcPct val="105000"/>
              </a:lnSpc>
              <a:spcAft>
                <a:spcPts val="1000"/>
              </a:spcAft>
              <a:buClr>
                <a:srgbClr val="E8B44A"/>
              </a:buClr>
              <a:buFont typeface="Arial"/>
              <a:buChar char="•"/>
            </a:pPr>
            <a:r>
              <a:rPr sz="1450">
                <a:solidFill>
                  <a:srgbClr val="1F2328"/>
                </a:solidFill>
                <a:latin typeface="Calibri"/>
              </a:rPr>
              <a:t>A documented baseline is what turns 'I think it feels faster' into 'DAX query time dropped from 4.2s to 0.6s on the same slicer interaction'.</a:t>
            </a:r>
          </a:p>
          <a:p>
            <a:pPr>
              <a:lnSpc>
                <a:spcPct val="105000"/>
              </a:lnSpc>
              <a:spcAft>
                <a:spcPts val="1000"/>
              </a:spcAft>
              <a:buClr>
                <a:srgbClr val="E8B44A"/>
              </a:buClr>
              <a:buFont typeface="Arial"/>
              <a:buChar char="•"/>
            </a:pPr>
            <a:r>
              <a:rPr sz="1450">
                <a:solidFill>
                  <a:srgbClr val="1F2328"/>
                </a:solidFill>
                <a:latin typeface="Calibri"/>
              </a:rPr>
              <a:t>Changing one thing at a time is how you build a repeatable playbook the rest of the team can follow — not a hero-fix nobody can reproduce.</a:t>
            </a:r>
          </a:p>
          <a:p>
            <a:pPr>
              <a:lnSpc>
                <a:spcPct val="105000"/>
              </a:lnSpc>
              <a:spcAft>
                <a:spcPts val="1000"/>
              </a:spcAft>
              <a:buClr>
                <a:srgbClr val="E8B44A"/>
              </a:buClr>
              <a:buFont typeface="Arial"/>
              <a:buChar char="•"/>
            </a:pPr>
            <a:r>
              <a:rPr sz="1450">
                <a:solidFill>
                  <a:srgbClr val="1F2328"/>
                </a:solidFill>
                <a:latin typeface="Calibri"/>
              </a:rPr>
              <a:t>Documenting tradeoffs is what makes a fix acceptable to governance: reviewers need to see that lower detail or a Verify-for-Gov feature was a conscious decision.</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1 forces the measure-first discipline — you can't propose a fix until you've captured Performance Analyzer numbers for the slow visual.</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02</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Performance Layers</a:t>
            </a:r>
          </a:p>
        </p:txBody>
      </p:sp>
      <p:sp>
        <p:nvSpPr>
          <p:cNvPr id="6" name="Rectangle 5"/>
          <p:cNvSpPr/>
          <p:nvPr/>
        </p:nvSpPr>
        <p:spPr>
          <a:xfrm>
            <a:off x="502920" y="1965960"/>
            <a:ext cx="1499616"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965960"/>
            <a:ext cx="1499616" cy="50292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Calibri"/>
              </a:rPr>
              <a:t>Source system</a:t>
            </a:r>
          </a:p>
        </p:txBody>
      </p:sp>
      <p:sp>
        <p:nvSpPr>
          <p:cNvPr id="8" name="Rectangle 7"/>
          <p:cNvSpPr/>
          <p:nvPr/>
        </p:nvSpPr>
        <p:spPr>
          <a:xfrm>
            <a:off x="502920" y="2468880"/>
            <a:ext cx="1499616" cy="1325880"/>
          </a:xfrm>
          <a:prstGeom prst="rect">
            <a:avLst/>
          </a:prstGeom>
          <a:solidFill>
            <a:srgbClr val="CADC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514600"/>
            <a:ext cx="1408176" cy="1280160"/>
          </a:xfrm>
          <a:prstGeom prst="rect">
            <a:avLst/>
          </a:prstGeom>
          <a:noFill/>
        </p:spPr>
        <p:txBody>
          <a:bodyPr wrap="square" anchor="ctr" lIns="0" rIns="0" tIns="0" bIns="0">
            <a:spAutoFit/>
          </a:bodyPr>
          <a:lstStyle/>
          <a:p>
            <a:pPr algn="ctr">
              <a:lnSpc>
                <a:spcPct val="110000"/>
              </a:lnSpc>
              <a:spcAft>
                <a:spcPts val="0"/>
              </a:spcAft>
            </a:pPr>
            <a:r>
              <a:rPr sz="1050" b="0" i="0">
                <a:solidFill>
                  <a:srgbClr val="141B45"/>
                </a:solidFill>
                <a:latin typeface="Calibri"/>
              </a:rPr>
              <a:t>SQL / API / lake</a:t>
            </a:r>
            <a:br/>
            <a:r>
              <a:rPr sz="1050" b="0" i="0">
                <a:solidFill>
                  <a:srgbClr val="141B45"/>
                </a:solidFill>
                <a:latin typeface="Calibri"/>
              </a:rPr>
              <a:t>query cost, indexes</a:t>
            </a:r>
          </a:p>
        </p:txBody>
      </p:sp>
      <p:cxnSp>
        <p:nvCxnSpPr>
          <p:cNvPr id="10" name="Connector 9"/>
          <p:cNvCxnSpPr/>
          <p:nvPr/>
        </p:nvCxnSpPr>
        <p:spPr>
          <a:xfrm>
            <a:off x="2002536" y="2880360"/>
            <a:ext cx="109728"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112264" y="1965960"/>
            <a:ext cx="1499616"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12264" y="1965960"/>
            <a:ext cx="1499616" cy="50292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Calibri"/>
              </a:rPr>
              <a:t>Power Query</a:t>
            </a:r>
          </a:p>
        </p:txBody>
      </p:sp>
      <p:sp>
        <p:nvSpPr>
          <p:cNvPr id="13" name="Rectangle 12"/>
          <p:cNvSpPr/>
          <p:nvPr/>
        </p:nvSpPr>
        <p:spPr>
          <a:xfrm>
            <a:off x="2112264" y="2468880"/>
            <a:ext cx="1499616" cy="1325880"/>
          </a:xfrm>
          <a:prstGeom prst="rect">
            <a:avLst/>
          </a:prstGeom>
          <a:solidFill>
            <a:srgbClr val="CADC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57984" y="2514600"/>
            <a:ext cx="1408176" cy="1280160"/>
          </a:xfrm>
          <a:prstGeom prst="rect">
            <a:avLst/>
          </a:prstGeom>
          <a:noFill/>
        </p:spPr>
        <p:txBody>
          <a:bodyPr wrap="square" anchor="ctr" lIns="0" rIns="0" tIns="0" bIns="0">
            <a:spAutoFit/>
          </a:bodyPr>
          <a:lstStyle/>
          <a:p>
            <a:pPr algn="ctr">
              <a:lnSpc>
                <a:spcPct val="110000"/>
              </a:lnSpc>
              <a:spcAft>
                <a:spcPts val="0"/>
              </a:spcAft>
            </a:pPr>
            <a:r>
              <a:rPr sz="1050" b="0" i="0">
                <a:solidFill>
                  <a:srgbClr val="141B45"/>
                </a:solidFill>
                <a:latin typeface="Calibri"/>
              </a:rPr>
              <a:t>folding, staging,</a:t>
            </a:r>
            <a:br/>
            <a:r>
              <a:rPr sz="1050" b="0" i="0">
                <a:solidFill>
                  <a:srgbClr val="141B45"/>
                </a:solidFill>
                <a:latin typeface="Calibri"/>
              </a:rPr>
              <a:t>filter/reduce early</a:t>
            </a:r>
          </a:p>
        </p:txBody>
      </p:sp>
      <p:cxnSp>
        <p:nvCxnSpPr>
          <p:cNvPr id="15" name="Connector 14"/>
          <p:cNvCxnSpPr/>
          <p:nvPr/>
        </p:nvCxnSpPr>
        <p:spPr>
          <a:xfrm>
            <a:off x="3611880" y="2880360"/>
            <a:ext cx="109728"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721608" y="1965960"/>
            <a:ext cx="1499616"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21608" y="1965960"/>
            <a:ext cx="1499616" cy="50292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Calibri"/>
              </a:rPr>
              <a:t>Semantic model</a:t>
            </a:r>
          </a:p>
        </p:txBody>
      </p:sp>
      <p:sp>
        <p:nvSpPr>
          <p:cNvPr id="18" name="Rectangle 17"/>
          <p:cNvSpPr/>
          <p:nvPr/>
        </p:nvSpPr>
        <p:spPr>
          <a:xfrm>
            <a:off x="3721608" y="2468880"/>
            <a:ext cx="1499616" cy="1325880"/>
          </a:xfrm>
          <a:prstGeom prst="rect">
            <a:avLst/>
          </a:prstGeom>
          <a:solidFill>
            <a:srgbClr val="CADC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7328" y="2514600"/>
            <a:ext cx="1408176" cy="1280160"/>
          </a:xfrm>
          <a:prstGeom prst="rect">
            <a:avLst/>
          </a:prstGeom>
          <a:noFill/>
        </p:spPr>
        <p:txBody>
          <a:bodyPr wrap="square" anchor="ctr" lIns="0" rIns="0" tIns="0" bIns="0">
            <a:spAutoFit/>
          </a:bodyPr>
          <a:lstStyle/>
          <a:p>
            <a:pPr algn="ctr">
              <a:lnSpc>
                <a:spcPct val="110000"/>
              </a:lnSpc>
              <a:spcAft>
                <a:spcPts val="0"/>
              </a:spcAft>
            </a:pPr>
            <a:r>
              <a:rPr sz="1050" b="0" i="0">
                <a:solidFill>
                  <a:srgbClr val="141B45"/>
                </a:solidFill>
                <a:latin typeface="Calibri"/>
              </a:rPr>
              <a:t>cardinality,</a:t>
            </a:r>
            <a:br/>
            <a:r>
              <a:rPr sz="1050" b="0" i="0">
                <a:solidFill>
                  <a:srgbClr val="141B45"/>
                </a:solidFill>
                <a:latin typeface="Calibri"/>
              </a:rPr>
              <a:t>types, relations</a:t>
            </a:r>
          </a:p>
        </p:txBody>
      </p:sp>
      <p:cxnSp>
        <p:nvCxnSpPr>
          <p:cNvPr id="20" name="Connector 19"/>
          <p:cNvCxnSpPr/>
          <p:nvPr/>
        </p:nvCxnSpPr>
        <p:spPr>
          <a:xfrm>
            <a:off x="5221224" y="2880360"/>
            <a:ext cx="109728"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0952" y="1965960"/>
            <a:ext cx="1499616"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30952" y="1965960"/>
            <a:ext cx="1499616" cy="50292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Calibri"/>
              </a:rPr>
              <a:t>DAX</a:t>
            </a:r>
          </a:p>
        </p:txBody>
      </p:sp>
      <p:sp>
        <p:nvSpPr>
          <p:cNvPr id="23" name="Rectangle 22"/>
          <p:cNvSpPr/>
          <p:nvPr/>
        </p:nvSpPr>
        <p:spPr>
          <a:xfrm>
            <a:off x="5330952" y="2468880"/>
            <a:ext cx="1499616" cy="1325880"/>
          </a:xfrm>
          <a:prstGeom prst="rect">
            <a:avLst/>
          </a:prstGeom>
          <a:solidFill>
            <a:srgbClr val="CADC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76672" y="2514600"/>
            <a:ext cx="1408176" cy="1280160"/>
          </a:xfrm>
          <a:prstGeom prst="rect">
            <a:avLst/>
          </a:prstGeom>
          <a:noFill/>
        </p:spPr>
        <p:txBody>
          <a:bodyPr wrap="square" anchor="ctr" lIns="0" rIns="0" tIns="0" bIns="0">
            <a:spAutoFit/>
          </a:bodyPr>
          <a:lstStyle/>
          <a:p>
            <a:pPr algn="ctr">
              <a:lnSpc>
                <a:spcPct val="110000"/>
              </a:lnSpc>
              <a:spcAft>
                <a:spcPts val="0"/>
              </a:spcAft>
            </a:pPr>
            <a:r>
              <a:rPr sz="1050" b="0" i="0">
                <a:solidFill>
                  <a:srgbClr val="141B45"/>
                </a:solidFill>
                <a:latin typeface="Calibri"/>
              </a:rPr>
              <a:t>measures, VAR,</a:t>
            </a:r>
            <a:br/>
            <a:r>
              <a:rPr sz="1050" b="0" i="0">
                <a:solidFill>
                  <a:srgbClr val="141B45"/>
                </a:solidFill>
                <a:latin typeface="Calibri"/>
              </a:rPr>
              <a:t>filter scope</a:t>
            </a:r>
          </a:p>
        </p:txBody>
      </p:sp>
      <p:cxnSp>
        <p:nvCxnSpPr>
          <p:cNvPr id="25" name="Connector 24"/>
          <p:cNvCxnSpPr/>
          <p:nvPr/>
        </p:nvCxnSpPr>
        <p:spPr>
          <a:xfrm>
            <a:off x="6830568" y="2880360"/>
            <a:ext cx="109728"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940296" y="1965960"/>
            <a:ext cx="1499616"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0296" y="1965960"/>
            <a:ext cx="1499616" cy="50292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Calibri"/>
              </a:rPr>
              <a:t>Visual rendering</a:t>
            </a:r>
          </a:p>
        </p:txBody>
      </p:sp>
      <p:sp>
        <p:nvSpPr>
          <p:cNvPr id="28" name="Rectangle 27"/>
          <p:cNvSpPr/>
          <p:nvPr/>
        </p:nvSpPr>
        <p:spPr>
          <a:xfrm>
            <a:off x="6940296" y="2468880"/>
            <a:ext cx="1499616" cy="1325880"/>
          </a:xfrm>
          <a:prstGeom prst="rect">
            <a:avLst/>
          </a:prstGeom>
          <a:solidFill>
            <a:srgbClr val="CADC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6016" y="2514600"/>
            <a:ext cx="1408176" cy="1280160"/>
          </a:xfrm>
          <a:prstGeom prst="rect">
            <a:avLst/>
          </a:prstGeom>
          <a:noFill/>
        </p:spPr>
        <p:txBody>
          <a:bodyPr wrap="square" anchor="ctr" lIns="0" rIns="0" tIns="0" bIns="0">
            <a:spAutoFit/>
          </a:bodyPr>
          <a:lstStyle/>
          <a:p>
            <a:pPr algn="ctr">
              <a:lnSpc>
                <a:spcPct val="110000"/>
              </a:lnSpc>
              <a:spcAft>
                <a:spcPts val="0"/>
              </a:spcAft>
            </a:pPr>
            <a:r>
              <a:rPr sz="1050" b="0" i="0">
                <a:solidFill>
                  <a:srgbClr val="141B45"/>
                </a:solidFill>
                <a:latin typeface="Calibri"/>
              </a:rPr>
              <a:t>visual count,</a:t>
            </a:r>
            <a:br/>
            <a:r>
              <a:rPr sz="1050" b="0" i="0">
                <a:solidFill>
                  <a:srgbClr val="141B45"/>
                </a:solidFill>
                <a:latin typeface="Calibri"/>
              </a:rPr>
              <a:t>cross-highlight</a:t>
            </a:r>
          </a:p>
        </p:txBody>
      </p:sp>
      <p:cxnSp>
        <p:nvCxnSpPr>
          <p:cNvPr id="30" name="Connector 29"/>
          <p:cNvCxnSpPr/>
          <p:nvPr/>
        </p:nvCxnSpPr>
        <p:spPr>
          <a:xfrm>
            <a:off x="8439912" y="2880360"/>
            <a:ext cx="109728"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549640" y="1965960"/>
            <a:ext cx="1499616"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49640" y="1965960"/>
            <a:ext cx="1499616" cy="50292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Calibri"/>
              </a:rPr>
              <a:t>Service refresh</a:t>
            </a:r>
          </a:p>
        </p:txBody>
      </p:sp>
      <p:sp>
        <p:nvSpPr>
          <p:cNvPr id="33" name="Rectangle 32"/>
          <p:cNvSpPr/>
          <p:nvPr/>
        </p:nvSpPr>
        <p:spPr>
          <a:xfrm>
            <a:off x="8549640" y="2468880"/>
            <a:ext cx="1499616" cy="1325880"/>
          </a:xfrm>
          <a:prstGeom prst="rect">
            <a:avLst/>
          </a:prstGeom>
          <a:solidFill>
            <a:srgbClr val="CADC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0" y="2514600"/>
            <a:ext cx="1408176" cy="1280160"/>
          </a:xfrm>
          <a:prstGeom prst="rect">
            <a:avLst/>
          </a:prstGeom>
          <a:noFill/>
        </p:spPr>
        <p:txBody>
          <a:bodyPr wrap="square" anchor="ctr" lIns="0" rIns="0" tIns="0" bIns="0">
            <a:spAutoFit/>
          </a:bodyPr>
          <a:lstStyle/>
          <a:p>
            <a:pPr algn="ctr">
              <a:lnSpc>
                <a:spcPct val="110000"/>
              </a:lnSpc>
              <a:spcAft>
                <a:spcPts val="0"/>
              </a:spcAft>
            </a:pPr>
            <a:r>
              <a:rPr sz="1050" b="0" i="0">
                <a:solidFill>
                  <a:srgbClr val="141B45"/>
                </a:solidFill>
                <a:latin typeface="Calibri"/>
              </a:rPr>
              <a:t>incremental,</a:t>
            </a:r>
            <a:br/>
            <a:r>
              <a:rPr sz="1050" b="0" i="0">
                <a:solidFill>
                  <a:srgbClr val="141B45"/>
                </a:solidFill>
                <a:latin typeface="Calibri"/>
              </a:rPr>
              <a:t>refresh windows</a:t>
            </a:r>
          </a:p>
        </p:txBody>
      </p:sp>
      <p:cxnSp>
        <p:nvCxnSpPr>
          <p:cNvPr id="35" name="Connector 34"/>
          <p:cNvCxnSpPr/>
          <p:nvPr/>
        </p:nvCxnSpPr>
        <p:spPr>
          <a:xfrm>
            <a:off x="10049256" y="2880360"/>
            <a:ext cx="109728"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0158984" y="1965960"/>
            <a:ext cx="1499616"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58984" y="1965960"/>
            <a:ext cx="1499616" cy="50292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Calibri"/>
              </a:rPr>
              <a:t>Capacity</a:t>
            </a:r>
          </a:p>
        </p:txBody>
      </p:sp>
      <p:sp>
        <p:nvSpPr>
          <p:cNvPr id="38" name="Rectangle 37"/>
          <p:cNvSpPr/>
          <p:nvPr/>
        </p:nvSpPr>
        <p:spPr>
          <a:xfrm>
            <a:off x="10158984" y="2468880"/>
            <a:ext cx="1499616" cy="1325880"/>
          </a:xfrm>
          <a:prstGeom prst="rect">
            <a:avLst/>
          </a:prstGeom>
          <a:solidFill>
            <a:srgbClr val="CADC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4704" y="2514600"/>
            <a:ext cx="1408176" cy="1280160"/>
          </a:xfrm>
          <a:prstGeom prst="rect">
            <a:avLst/>
          </a:prstGeom>
          <a:noFill/>
        </p:spPr>
        <p:txBody>
          <a:bodyPr wrap="square" anchor="ctr" lIns="0" rIns="0" tIns="0" bIns="0">
            <a:spAutoFit/>
          </a:bodyPr>
          <a:lstStyle/>
          <a:p>
            <a:pPr algn="ctr">
              <a:lnSpc>
                <a:spcPct val="110000"/>
              </a:lnSpc>
              <a:spcAft>
                <a:spcPts val="0"/>
              </a:spcAft>
            </a:pPr>
            <a:r>
              <a:rPr sz="1050" b="0" i="0">
                <a:solidFill>
                  <a:srgbClr val="141B45"/>
                </a:solidFill>
                <a:latin typeface="Calibri"/>
              </a:rPr>
              <a:t>SKU, memory,</a:t>
            </a:r>
            <a:br/>
            <a:r>
              <a:rPr sz="1050" b="0" i="0">
                <a:solidFill>
                  <a:srgbClr val="141B45"/>
                </a:solidFill>
                <a:latin typeface="Calibri"/>
              </a:rPr>
              <a:t>CU throttling</a:t>
            </a:r>
          </a:p>
        </p:txBody>
      </p:sp>
      <p:sp>
        <p:nvSpPr>
          <p:cNvPr id="40" name="Rectangle 39"/>
          <p:cNvSpPr/>
          <p:nvPr/>
        </p:nvSpPr>
        <p:spPr>
          <a:xfrm>
            <a:off x="502920" y="4160520"/>
            <a:ext cx="11155680" cy="50292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4160520"/>
            <a:ext cx="11155680" cy="502920"/>
          </a:xfrm>
          <a:prstGeom prst="rect">
            <a:avLst/>
          </a:prstGeom>
          <a:noFill/>
        </p:spPr>
        <p:txBody>
          <a:bodyPr wrap="square" anchor="ctr" lIns="0" rIns="0" tIns="0" bIns="0">
            <a:spAutoFit/>
          </a:bodyPr>
          <a:lstStyle/>
          <a:p>
            <a:pPr algn="ctr">
              <a:lnSpc>
                <a:spcPct val="100000"/>
              </a:lnSpc>
              <a:spcAft>
                <a:spcPts val="0"/>
              </a:spcAft>
            </a:pPr>
            <a:r>
              <a:rPr sz="1300" b="1" i="0">
                <a:solidFill>
                  <a:srgbClr val="141B45"/>
                </a:solidFill>
                <a:latin typeface="Calibri"/>
              </a:rPr>
              <a:t>←  Measure first: the bottleneck is usually one layer, not everywhere at once  →</a:t>
            </a:r>
          </a:p>
        </p:txBody>
      </p:sp>
      <p:sp>
        <p:nvSpPr>
          <p:cNvPr id="42" name="Rectangle 41"/>
          <p:cNvSpPr/>
          <p:nvPr/>
        </p:nvSpPr>
        <p:spPr>
          <a:xfrm>
            <a:off x="502920" y="4892040"/>
            <a:ext cx="11155680" cy="1143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4983480"/>
            <a:ext cx="10789920" cy="1005840"/>
          </a:xfrm>
          <a:prstGeom prst="rect">
            <a:avLst/>
          </a:prstGeom>
          <a:noFill/>
        </p:spPr>
        <p:txBody>
          <a:bodyPr wrap="square" anchor="t" lIns="0" rIns="0" tIns="0" bIns="0">
            <a:spAutoFit/>
          </a:bodyPr>
          <a:lstStyle/>
          <a:p>
            <a:pPr algn="l">
              <a:lnSpc>
                <a:spcPct val="120000"/>
              </a:lnSpc>
              <a:spcAft>
                <a:spcPts val="0"/>
              </a:spcAft>
            </a:pPr>
            <a:r>
              <a:rPr sz="1300" b="0" i="0">
                <a:solidFill>
                  <a:srgbClr val="1F2328"/>
                </a:solidFill>
                <a:latin typeface="Calibri"/>
              </a:rPr>
              <a:t>Performance Analyzer separates DAX query time (semantic model + DAX layers) from visual display time (rendering layer) from other/render time. That split tells you which layer to open next — don't rewrite DAX if the real cost is a 40-visual page or a non-folding Power Query step.</a:t>
            </a:r>
          </a:p>
        </p:txBody>
      </p:sp>
      <p:sp>
        <p:nvSpPr>
          <p:cNvPr id="44" name="TextBox 43"/>
          <p:cNvSpPr txBox="1"/>
          <p:nvPr/>
        </p:nvSpPr>
        <p:spPr>
          <a:xfrm>
            <a:off x="640080" y="6217920"/>
            <a:ext cx="10881360" cy="54864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Performance Analyzer's DAX query time vs. visual display time vs. other time maps directly onto these layers — use the split to decide which layer to open.</a:t>
            </a:r>
          </a:p>
        </p:txBody>
      </p:sp>
      <p:sp>
        <p:nvSpPr>
          <p:cNvPr id="45" name="TextBox 44"/>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03</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Performance Analyzer</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Open View &gt; Performance Analyzer, then Start recording, then Refresh visuals (or click slicers / drill) to capture a real interaction — not just page load.</a:t>
            </a:r>
          </a:p>
          <a:p>
            <a:pPr>
              <a:lnSpc>
                <a:spcPct val="105000"/>
              </a:lnSpc>
              <a:spcAft>
                <a:spcPts val="1000"/>
              </a:spcAft>
              <a:buClr>
                <a:srgbClr val="1E2761"/>
              </a:buClr>
              <a:buFont typeface="Arial"/>
              <a:buChar char="•"/>
            </a:pPr>
            <a:r>
              <a:rPr sz="1450">
                <a:solidFill>
                  <a:srgbClr val="1F2328"/>
                </a:solidFill>
                <a:latin typeface="Calibri"/>
              </a:rPr>
              <a:t>Expand each visual result to see the three timings: DAX query time (engine work), visual display time (rendering), and other/render time (data transfer + wait).</a:t>
            </a:r>
          </a:p>
          <a:p>
            <a:pPr>
              <a:lnSpc>
                <a:spcPct val="105000"/>
              </a:lnSpc>
              <a:spcAft>
                <a:spcPts val="1000"/>
              </a:spcAft>
              <a:buClr>
                <a:srgbClr val="1E2761"/>
              </a:buClr>
              <a:buFont typeface="Arial"/>
              <a:buChar char="•"/>
            </a:pPr>
            <a:r>
              <a:rPr sz="1450">
                <a:solidFill>
                  <a:srgbClr val="1F2328"/>
                </a:solidFill>
                <a:latin typeface="Calibri"/>
              </a:rPr>
              <a:t>Sort visuals by total time and pick the slowest as the first optimization candidate.</a:t>
            </a:r>
          </a:p>
          <a:p>
            <a:pPr>
              <a:lnSpc>
                <a:spcPct val="105000"/>
              </a:lnSpc>
              <a:spcAft>
                <a:spcPts val="1000"/>
              </a:spcAft>
              <a:buClr>
                <a:srgbClr val="1E2761"/>
              </a:buClr>
              <a:buFont typeface="Arial"/>
              <a:buChar char="•"/>
            </a:pPr>
            <a:r>
              <a:rPr sz="1450">
                <a:solidFill>
                  <a:srgbClr val="1F2328"/>
                </a:solidFill>
                <a:latin typeface="Calibri"/>
              </a:rPr>
              <a:t>Right-click a visual's DAX query and choose Copy query — paste into DAX Studio (Verify for Gov) for Server Timings and query plan analysis when available.</a:t>
            </a:r>
          </a:p>
          <a:p>
            <a:pPr>
              <a:lnSpc>
                <a:spcPct val="105000"/>
              </a:lnSpc>
              <a:spcAft>
                <a:spcPts val="1000"/>
              </a:spcAft>
              <a:buClr>
                <a:srgbClr val="1E2761"/>
              </a:buClr>
              <a:buFont typeface="Arial"/>
              <a:buChar char="•"/>
            </a:pPr>
            <a:r>
              <a:rPr sz="1450">
                <a:solidFill>
                  <a:srgbClr val="1F2328"/>
                </a:solidFill>
                <a:latin typeface="Calibri"/>
              </a:rPr>
              <a:t>Export the log or screenshot the panel so the before/after numbers are documented against the exact interaction that produced them.</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Recording a real interaction (slicer click, drill, cross-filter) is the only way to measure what a user actually feels — page load alone can hide slicer-triggered recalculations.</a:t>
            </a:r>
          </a:p>
          <a:p>
            <a:pPr>
              <a:lnSpc>
                <a:spcPct val="105000"/>
              </a:lnSpc>
              <a:spcAft>
                <a:spcPts val="1000"/>
              </a:spcAft>
              <a:buClr>
                <a:srgbClr val="E8B44A"/>
              </a:buClr>
              <a:buFont typeface="Arial"/>
              <a:buChar char="•"/>
            </a:pPr>
            <a:r>
              <a:rPr sz="1450">
                <a:solidFill>
                  <a:srgbClr val="1F2328"/>
                </a:solidFill>
                <a:latin typeface="Calibri"/>
              </a:rPr>
              <a:t>The three-timing split is the layer diagnosis from Topic 2 in numeric form: high DAX query time → model or measure work; high visual display time → rendering or visual count; high other time → data transfer or non-folding Power Query.</a:t>
            </a:r>
          </a:p>
          <a:p>
            <a:pPr>
              <a:lnSpc>
                <a:spcPct val="105000"/>
              </a:lnSpc>
              <a:spcAft>
                <a:spcPts val="1000"/>
              </a:spcAft>
              <a:buClr>
                <a:srgbClr val="E8B44A"/>
              </a:buClr>
              <a:buFont typeface="Arial"/>
              <a:buChar char="•"/>
            </a:pPr>
            <a:r>
              <a:rPr sz="1450">
                <a:solidFill>
                  <a:srgbClr val="1F2328"/>
                </a:solidFill>
                <a:latin typeface="Calibri"/>
              </a:rPr>
              <a:t>Copying the DAX query out means the fix can be validated in isolation, not against the whole cluttered page.</a:t>
            </a:r>
          </a:p>
          <a:p>
            <a:pPr>
              <a:lnSpc>
                <a:spcPct val="105000"/>
              </a:lnSpc>
              <a:spcAft>
                <a:spcPts val="1000"/>
              </a:spcAft>
              <a:buClr>
                <a:srgbClr val="E8B44A"/>
              </a:buClr>
              <a:buFont typeface="Arial"/>
              <a:buChar char="•"/>
            </a:pPr>
            <a:r>
              <a:rPr sz="1450">
                <a:solidFill>
                  <a:srgbClr val="1F2328"/>
                </a:solidFill>
                <a:latin typeface="Calibri"/>
              </a:rPr>
              <a:t>Documented before/after numbers on the same interaction are what convert 'I made changes' into a defensible optimization record for governance review.</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1 requires learners to capture a Performance Analyzer baseline and identify at least one candidate visual before proposing any change.</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04</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Model Size and Cardinality</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743200"/>
                <a:gridCol w="4480560"/>
                <a:gridCol w="3657600"/>
              </a:tblGrid>
              <a:tr h="582930">
                <a:tc>
                  <a:txBody>
                    <a:bodyPr/>
                    <a:lstStyle/>
                    <a:p>
                      <a:pPr algn="l"/>
                      <a:r>
                        <a:rPr b="1" sz="1250">
                          <a:solidFill>
                            <a:srgbClr val="FFFFFF"/>
                          </a:solidFill>
                          <a:latin typeface="Calibri"/>
                        </a:rPr>
                        <a:t>Model characteristic</a:t>
                      </a:r>
                    </a:p>
                  </a:txBody>
                  <a:tcPr>
                    <a:solidFill>
                      <a:srgbClr val="1E2761"/>
                    </a:solidFill>
                  </a:tcPr>
                </a:tc>
                <a:tc>
                  <a:txBody>
                    <a:bodyPr/>
                    <a:lstStyle/>
                    <a:p>
                      <a:pPr algn="l"/>
                      <a:r>
                        <a:rPr b="1" sz="1250">
                          <a:solidFill>
                            <a:srgbClr val="FFFFFF"/>
                          </a:solidFill>
                          <a:latin typeface="Calibri"/>
                        </a:rPr>
                        <a:t>Why it inflates size / slows queries</a:t>
                      </a:r>
                    </a:p>
                  </a:txBody>
                  <a:tcPr>
                    <a:solidFill>
                      <a:srgbClr val="1E2761"/>
                    </a:solidFill>
                  </a:tcPr>
                </a:tc>
                <a:tc>
                  <a:txBody>
                    <a:bodyPr/>
                    <a:lstStyle/>
                    <a:p>
                      <a:pPr algn="l"/>
                      <a:r>
                        <a:rPr b="1" sz="1250">
                          <a:solidFill>
                            <a:srgbClr val="FFFFFF"/>
                          </a:solidFill>
                          <a:latin typeface="Calibri"/>
                        </a:rPr>
                        <a:t>Concrete fix in this lab</a:t>
                      </a:r>
                    </a:p>
                  </a:txBody>
                  <a:tcPr>
                    <a:solidFill>
                      <a:srgbClr val="1E2761"/>
                    </a:solidFill>
                  </a:tcPr>
                </a:tc>
              </a:tr>
              <a:tr h="582930">
                <a:tc>
                  <a:txBody>
                    <a:bodyPr/>
                    <a:lstStyle/>
                    <a:p>
                      <a:r>
                        <a:rPr sz="1150">
                          <a:solidFill>
                            <a:srgbClr val="1F2328"/>
                          </a:solidFill>
                          <a:latin typeface="Calibri"/>
                        </a:rPr>
                        <a:t>High-cardinality text column</a:t>
                      </a:r>
                    </a:p>
                  </a:txBody>
                  <a:tcPr>
                    <a:solidFill>
                      <a:srgbClr val="FFFFFF"/>
                    </a:solidFill>
                  </a:tcPr>
                </a:tc>
                <a:tc>
                  <a:txBody>
                    <a:bodyPr/>
                    <a:lstStyle/>
                    <a:p>
                      <a:r>
                        <a:rPr sz="1150">
                          <a:solidFill>
                            <a:srgbClr val="1F2328"/>
                          </a:solidFill>
                          <a:latin typeface="Calibri"/>
                        </a:rPr>
                        <a:t>VertiPaq stores each distinct value; free-text fields (Notes, GUIDs, full timestamps) compress poorly.</a:t>
                      </a:r>
                    </a:p>
                  </a:txBody>
                  <a:tcPr>
                    <a:solidFill>
                      <a:srgbClr val="FFFFFF"/>
                    </a:solidFill>
                  </a:tcPr>
                </a:tc>
                <a:tc>
                  <a:txBody>
                    <a:bodyPr/>
                    <a:lstStyle/>
                    <a:p>
                      <a:r>
                        <a:rPr sz="1150">
                          <a:solidFill>
                            <a:srgbClr val="1F2328"/>
                          </a:solidFill>
                          <a:latin typeface="Calibri"/>
                        </a:rPr>
                        <a:t>Remove the column, hash it, or split into lower-cardinality parts.</a:t>
                      </a:r>
                    </a:p>
                  </a:txBody>
                  <a:tcPr>
                    <a:solidFill>
                      <a:srgbClr val="FFFFFF"/>
                    </a:solidFill>
                  </a:tcPr>
                </a:tc>
              </a:tr>
              <a:tr h="582930">
                <a:tc>
                  <a:txBody>
                    <a:bodyPr/>
                    <a:lstStyle/>
                    <a:p>
                      <a:r>
                        <a:rPr sz="1150">
                          <a:solidFill>
                            <a:srgbClr val="1F2328"/>
                          </a:solidFill>
                          <a:latin typeface="Calibri"/>
                        </a:rPr>
                        <a:t>Full DateTime column</a:t>
                      </a:r>
                    </a:p>
                  </a:txBody>
                  <a:tcPr>
                    <a:solidFill>
                      <a:srgbClr val="F6F8FC"/>
                    </a:solidFill>
                  </a:tcPr>
                </a:tc>
                <a:tc>
                  <a:txBody>
                    <a:bodyPr/>
                    <a:lstStyle/>
                    <a:p>
                      <a:r>
                        <a:rPr sz="1150">
                          <a:solidFill>
                            <a:srgbClr val="1F2328"/>
                          </a:solidFill>
                          <a:latin typeface="Calibri"/>
                        </a:rPr>
                        <a:t>Second/millisecond precision creates millions of distinct values in one column.</a:t>
                      </a:r>
                    </a:p>
                  </a:txBody>
                  <a:tcPr>
                    <a:solidFill>
                      <a:srgbClr val="F6F8FC"/>
                    </a:solidFill>
                  </a:tcPr>
                </a:tc>
                <a:tc>
                  <a:txBody>
                    <a:bodyPr/>
                    <a:lstStyle/>
                    <a:p>
                      <a:r>
                        <a:rPr sz="1150">
                          <a:solidFill>
                            <a:srgbClr val="1F2328"/>
                          </a:solidFill>
                          <a:latin typeface="Calibri"/>
                        </a:rPr>
                        <a:t>Split into a Date column (joins DimDate) and a separate Time column.</a:t>
                      </a:r>
                    </a:p>
                  </a:txBody>
                  <a:tcPr>
                    <a:solidFill>
                      <a:srgbClr val="F6F8FC"/>
                    </a:solidFill>
                  </a:tcPr>
                </a:tc>
              </a:tr>
              <a:tr h="582930">
                <a:tc>
                  <a:txBody>
                    <a:bodyPr/>
                    <a:lstStyle/>
                    <a:p>
                      <a:r>
                        <a:rPr sz="1150">
                          <a:solidFill>
                            <a:srgbClr val="1F2328"/>
                          </a:solidFill>
                          <a:latin typeface="Calibri"/>
                        </a:rPr>
                        <a:t>Excess numeric precision</a:t>
                      </a:r>
                    </a:p>
                  </a:txBody>
                  <a:tcPr>
                    <a:solidFill>
                      <a:srgbClr val="FFFFFF"/>
                    </a:solidFill>
                  </a:tcPr>
                </a:tc>
                <a:tc>
                  <a:txBody>
                    <a:bodyPr/>
                    <a:lstStyle/>
                    <a:p>
                      <a:r>
                        <a:rPr sz="1150">
                          <a:solidFill>
                            <a:srgbClr val="1F2328"/>
                          </a:solidFill>
                          <a:latin typeface="Calibri"/>
                        </a:rPr>
                        <a:t>Decimal Number (double) is larger and less compressible than Fixed Decimal or Whole Number.</a:t>
                      </a:r>
                    </a:p>
                  </a:txBody>
                  <a:tcPr>
                    <a:solidFill>
                      <a:srgbClr val="FFFFFF"/>
                    </a:solidFill>
                  </a:tcPr>
                </a:tc>
                <a:tc>
                  <a:txBody>
                    <a:bodyPr/>
                    <a:lstStyle/>
                    <a:p>
                      <a:r>
                        <a:rPr sz="1150">
                          <a:solidFill>
                            <a:srgbClr val="1F2328"/>
                          </a:solidFill>
                          <a:latin typeface="Calibri"/>
                        </a:rPr>
                        <a:t>Downgrade to Fixed Decimal or Whole Number where business precision allows.</a:t>
                      </a:r>
                    </a:p>
                  </a:txBody>
                  <a:tcPr>
                    <a:solidFill>
                      <a:srgbClr val="FFFFFF"/>
                    </a:solidFill>
                  </a:tcPr>
                </a:tc>
              </a:tr>
              <a:tr h="582930">
                <a:tc>
                  <a:txBody>
                    <a:bodyPr/>
                    <a:lstStyle/>
                    <a:p>
                      <a:r>
                        <a:rPr sz="1150">
                          <a:solidFill>
                            <a:srgbClr val="1F2328"/>
                          </a:solidFill>
                          <a:latin typeface="Calibri"/>
                        </a:rPr>
                        <a:t>Unused columns kept in the model</a:t>
                      </a:r>
                    </a:p>
                  </a:txBody>
                  <a:tcPr>
                    <a:solidFill>
                      <a:srgbClr val="F6F8FC"/>
                    </a:solidFill>
                  </a:tcPr>
                </a:tc>
                <a:tc>
                  <a:txBody>
                    <a:bodyPr/>
                    <a:lstStyle/>
                    <a:p>
                      <a:r>
                        <a:rPr sz="1150">
                          <a:solidFill>
                            <a:srgbClr val="1F2328"/>
                          </a:solidFill>
                          <a:latin typeface="Calibri"/>
                        </a:rPr>
                        <a:t>Every loaded column costs memory and refresh time even if no visual uses it.</a:t>
                      </a:r>
                    </a:p>
                  </a:txBody>
                  <a:tcPr>
                    <a:solidFill>
                      <a:srgbClr val="F6F8FC"/>
                    </a:solidFill>
                  </a:tcPr>
                </a:tc>
                <a:tc>
                  <a:txBody>
                    <a:bodyPr/>
                    <a:lstStyle/>
                    <a:p>
                      <a:r>
                        <a:rPr sz="1150">
                          <a:solidFill>
                            <a:srgbClr val="1F2328"/>
                          </a:solidFill>
                          <a:latin typeface="Calibri"/>
                        </a:rPr>
                        <a:t>Remove in Power Query (Remove Columns step) — not just hide in report view.</a:t>
                      </a:r>
                    </a:p>
                  </a:txBody>
                  <a:tcPr>
                    <a:solidFill>
                      <a:srgbClr val="F6F8FC"/>
                    </a:solidFill>
                  </a:tcPr>
                </a:tc>
              </a:tr>
              <a:tr h="582930">
                <a:tc>
                  <a:txBody>
                    <a:bodyPr/>
                    <a:lstStyle/>
                    <a:p>
                      <a:r>
                        <a:rPr sz="1150">
                          <a:solidFill>
                            <a:srgbClr val="1F2328"/>
                          </a:solidFill>
                          <a:latin typeface="Calibri"/>
                        </a:rPr>
                        <a:t>Wrong data type</a:t>
                      </a:r>
                    </a:p>
                  </a:txBody>
                  <a:tcPr>
                    <a:solidFill>
                      <a:srgbClr val="FFFFFF"/>
                    </a:solidFill>
                  </a:tcPr>
                </a:tc>
                <a:tc>
                  <a:txBody>
                    <a:bodyPr/>
                    <a:lstStyle/>
                    <a:p>
                      <a:r>
                        <a:rPr sz="1150">
                          <a:solidFill>
                            <a:srgbClr val="1F2328"/>
                          </a:solidFill>
                          <a:latin typeface="Calibri"/>
                        </a:rPr>
                        <a:t>A number stored as Text disables aggregation compression and forces string joins.</a:t>
                      </a:r>
                    </a:p>
                  </a:txBody>
                  <a:tcPr>
                    <a:solidFill>
                      <a:srgbClr val="FFFFFF"/>
                    </a:solidFill>
                  </a:tcPr>
                </a:tc>
                <a:tc>
                  <a:txBody>
                    <a:bodyPr/>
                    <a:lstStyle/>
                    <a:p>
                      <a:r>
                        <a:rPr sz="1150">
                          <a:solidFill>
                            <a:srgbClr val="1F2328"/>
                          </a:solidFill>
                          <a:latin typeface="Calibri"/>
                        </a:rPr>
                        <a:t>Fix the type in Power Query, not with a DAX conversion at query time.</a:t>
                      </a:r>
                    </a:p>
                  </a:txBody>
                  <a:tcPr>
                    <a:solidFill>
                      <a:srgbClr val="FFFFFF"/>
                    </a:solidFill>
                  </a:tcPr>
                </a:tc>
              </a:tr>
              <a:tr h="582930">
                <a:tc>
                  <a:txBody>
                    <a:bodyPr/>
                    <a:lstStyle/>
                    <a:p>
                      <a:r>
                        <a:rPr sz="1150">
                          <a:solidFill>
                            <a:srgbClr val="1F2328"/>
                          </a:solidFill>
                          <a:latin typeface="Calibri"/>
                        </a:rPr>
                        <a:t>Bidirectional or many-to-many relationships</a:t>
                      </a:r>
                    </a:p>
                  </a:txBody>
                  <a:tcPr>
                    <a:solidFill>
                      <a:srgbClr val="F6F8FC"/>
                    </a:solidFill>
                  </a:tcPr>
                </a:tc>
                <a:tc>
                  <a:txBody>
                    <a:bodyPr/>
                    <a:lstStyle/>
                    <a:p>
                      <a:r>
                        <a:rPr sz="1150">
                          <a:solidFill>
                            <a:srgbClr val="1F2328"/>
                          </a:solidFill>
                          <a:latin typeface="Calibri"/>
                        </a:rPr>
                        <a:t>Force the engine to evaluate filter propagation in both directions on every query.</a:t>
                      </a:r>
                    </a:p>
                  </a:txBody>
                  <a:tcPr>
                    <a:solidFill>
                      <a:srgbClr val="F6F8FC"/>
                    </a:solidFill>
                  </a:tcPr>
                </a:tc>
                <a:tc>
                  <a:txBody>
                    <a:bodyPr/>
                    <a:lstStyle/>
                    <a:p>
                      <a:r>
                        <a:rPr sz="1150">
                          <a:solidFill>
                            <a:srgbClr val="1F2328"/>
                          </a:solidFill>
                          <a:latin typeface="Calibri"/>
                        </a:rPr>
                        <a:t>Use single-direction one-to-many; document any exception.</a:t>
                      </a:r>
                    </a:p>
                  </a:txBody>
                  <a:tcPr>
                    <a:solidFill>
                      <a:srgbClr val="F6F8FC"/>
                    </a:solidFill>
                  </a:tcPr>
                </a:tc>
              </a:tr>
              <a:tr h="582930">
                <a:tc>
                  <a:txBody>
                    <a:bodyPr/>
                    <a:lstStyle/>
                    <a:p>
                      <a:r>
                        <a:rPr sz="1150">
                          <a:solidFill>
                            <a:srgbClr val="1F2328"/>
                          </a:solidFill>
                          <a:latin typeface="Calibri"/>
                        </a:rPr>
                        <a:t>Duplicate business logic across tables</a:t>
                      </a:r>
                    </a:p>
                  </a:txBody>
                  <a:tcPr>
                    <a:solidFill>
                      <a:srgbClr val="FFFFFF"/>
                    </a:solidFill>
                  </a:tcPr>
                </a:tc>
                <a:tc>
                  <a:txBody>
                    <a:bodyPr/>
                    <a:lstStyle/>
                    <a:p>
                      <a:r>
                        <a:rPr sz="1150">
                          <a:solidFill>
                            <a:srgbClr val="1F2328"/>
                          </a:solidFill>
                          <a:latin typeface="Calibri"/>
                        </a:rPr>
                        <a:t>Same measure re-implemented per table forces redundant scans.</a:t>
                      </a:r>
                    </a:p>
                  </a:txBody>
                  <a:tcPr>
                    <a:solidFill>
                      <a:srgbClr val="FFFFFF"/>
                    </a:solidFill>
                  </a:tcPr>
                </a:tc>
                <a:tc>
                  <a:txBody>
                    <a:bodyPr/>
                    <a:lstStyle/>
                    <a:p>
                      <a:r>
                        <a:rPr sz="1150">
                          <a:solidFill>
                            <a:srgbClr val="1F2328"/>
                          </a:solidFill>
                          <a:latin typeface="Calibri"/>
                        </a:rPr>
                        <a:t>Consolidate into one measure on the fact table; reuse via measure branching.</a:t>
                      </a:r>
                    </a:p>
                  </a:txBody>
                  <a:tcPr>
                    <a:solidFill>
                      <a:srgbClr val="FFFFFF"/>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2 asks learners to produce a model reduction plan documenting exactly these categories — unused columns, high-cardinality fields, precision, and date/time splits — before making any change.</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05</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DAX Optimization</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Wrap repeated expressions in VAR / RETURN — the engine evaluates the VAR once, instead of every time the expression appears in the measure.</a:t>
            </a:r>
          </a:p>
          <a:p>
            <a:pPr>
              <a:lnSpc>
                <a:spcPct val="105000"/>
              </a:lnSpc>
              <a:spcAft>
                <a:spcPts val="1000"/>
              </a:spcAft>
              <a:buClr>
                <a:srgbClr val="1E2761"/>
              </a:buClr>
              <a:buFont typeface="Arial"/>
              <a:buChar char="•"/>
            </a:pPr>
            <a:r>
              <a:rPr sz="1450">
                <a:solidFill>
                  <a:srgbClr val="1F2328"/>
                </a:solidFill>
                <a:latin typeface="Calibri"/>
              </a:rPr>
              <a:t>Use measure branching: build small measures that other measures reference (e.g., [Total Sales] → [Sales YTD] → [Sales YTD vs LY]) instead of copying filter logic.</a:t>
            </a:r>
          </a:p>
          <a:p>
            <a:pPr>
              <a:lnSpc>
                <a:spcPct val="105000"/>
              </a:lnSpc>
              <a:spcAft>
                <a:spcPts val="1000"/>
              </a:spcAft>
              <a:buClr>
                <a:srgbClr val="1E2761"/>
              </a:buClr>
              <a:buFont typeface="Arial"/>
              <a:buChar char="•"/>
            </a:pPr>
            <a:r>
              <a:rPr sz="1450">
                <a:solidFill>
                  <a:srgbClr val="1F2328"/>
                </a:solidFill>
                <a:latin typeface="Calibri"/>
              </a:rPr>
              <a:t>Narrow filter scope with KEEPFILTERS or explicit column filters rather than over-broad table filters that force full scans.</a:t>
            </a:r>
          </a:p>
          <a:p>
            <a:pPr>
              <a:lnSpc>
                <a:spcPct val="105000"/>
              </a:lnSpc>
              <a:spcAft>
                <a:spcPts val="1000"/>
              </a:spcAft>
              <a:buClr>
                <a:srgbClr val="1E2761"/>
              </a:buClr>
              <a:buFont typeface="Arial"/>
              <a:buChar char="•"/>
            </a:pPr>
            <a:r>
              <a:rPr sz="1450">
                <a:solidFill>
                  <a:srgbClr val="1F2328"/>
                </a:solidFill>
                <a:latin typeface="Calibri"/>
              </a:rPr>
              <a:t>Be cautious with iterators (SUMX, FILTER, ADDCOLUMNS) over large tables — they run row by row and can multiply cost dramatically when nested.</a:t>
            </a:r>
          </a:p>
          <a:p>
            <a:pPr>
              <a:lnSpc>
                <a:spcPct val="105000"/>
              </a:lnSpc>
              <a:spcAft>
                <a:spcPts val="1000"/>
              </a:spcAft>
              <a:buClr>
                <a:srgbClr val="1E2761"/>
              </a:buClr>
              <a:buFont typeface="Arial"/>
              <a:buChar char="•"/>
            </a:pPr>
            <a:r>
              <a:rPr sz="1450">
                <a:solidFill>
                  <a:srgbClr val="1F2328"/>
                </a:solidFill>
                <a:latin typeface="Calibri"/>
              </a:rPr>
              <a:t>Copy the original measure text before editing, and test the rewrite side by side with the original to confirm the result is identical.</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VAR eliminates duplicated engine work: a common expression evaluated three times in one measure now runs once, and the intent of the measure becomes readable.</a:t>
            </a:r>
          </a:p>
          <a:p>
            <a:pPr>
              <a:lnSpc>
                <a:spcPct val="105000"/>
              </a:lnSpc>
              <a:spcAft>
                <a:spcPts val="1000"/>
              </a:spcAft>
              <a:buClr>
                <a:srgbClr val="E8B44A"/>
              </a:buClr>
              <a:buFont typeface="Arial"/>
              <a:buChar char="•"/>
            </a:pPr>
            <a:r>
              <a:rPr sz="1450">
                <a:solidFill>
                  <a:srgbClr val="1F2328"/>
                </a:solidFill>
                <a:latin typeface="Calibri"/>
              </a:rPr>
              <a:t>Measure branching means the filter logic lives in exactly one place. Fix a bug in [Total Sales] and every YTD, MoM, and vs-LY measure downstream is fixed too.</a:t>
            </a:r>
          </a:p>
          <a:p>
            <a:pPr>
              <a:lnSpc>
                <a:spcPct val="105000"/>
              </a:lnSpc>
              <a:spcAft>
                <a:spcPts val="1000"/>
              </a:spcAft>
              <a:buClr>
                <a:srgbClr val="E8B44A"/>
              </a:buClr>
              <a:buFont typeface="Arial"/>
              <a:buChar char="•"/>
            </a:pPr>
            <a:r>
              <a:rPr sz="1450">
                <a:solidFill>
                  <a:srgbClr val="1F2328"/>
                </a:solidFill>
                <a:latin typeface="Calibri"/>
              </a:rPr>
              <a:t>Narrow filter scope keeps the storage engine in fast, cache-friendly paths and avoids expensive filter-context expansions.</a:t>
            </a:r>
          </a:p>
          <a:p>
            <a:pPr>
              <a:lnSpc>
                <a:spcPct val="105000"/>
              </a:lnSpc>
              <a:spcAft>
                <a:spcPts val="1000"/>
              </a:spcAft>
              <a:buClr>
                <a:srgbClr val="E8B44A"/>
              </a:buClr>
              <a:buFont typeface="Arial"/>
              <a:buChar char="•"/>
            </a:pPr>
            <a:r>
              <a:rPr sz="1450">
                <a:solidFill>
                  <a:srgbClr val="1F2328"/>
                </a:solidFill>
                <a:latin typeface="Calibri"/>
              </a:rPr>
              <a:t>Iterator caution prevents the classic 'measure worked in dev, timed out in prod' surprise when the fact table grew from 100k to 100M rows.</a:t>
            </a:r>
          </a:p>
          <a:p>
            <a:pPr>
              <a:lnSpc>
                <a:spcPct val="105000"/>
              </a:lnSpc>
              <a:spcAft>
                <a:spcPts val="1000"/>
              </a:spcAft>
              <a:buClr>
                <a:srgbClr val="E8B44A"/>
              </a:buClr>
              <a:buFont typeface="Arial"/>
              <a:buChar char="•"/>
            </a:pPr>
            <a:r>
              <a:rPr sz="1450">
                <a:solidFill>
                  <a:srgbClr val="1F2328"/>
                </a:solidFill>
                <a:latin typeface="Calibri"/>
              </a:rPr>
              <a:t>Side-by-side validation is what catches subtle semantic drift — an 'optimized' measure that returns a slightly different number is not an optimization, it's a bug.</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2 (measure rewrite with VAR/RETURN) explicitly requires keeping the original alongside the rewrite until the numbers reconcile.</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06</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Visual Optimization</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Count visuals per page — every visual issues its own DAX query, and page load is gated by the slowest one on the page.</a:t>
            </a:r>
          </a:p>
          <a:p>
            <a:pPr>
              <a:lnSpc>
                <a:spcPct val="105000"/>
              </a:lnSpc>
              <a:spcAft>
                <a:spcPts val="1000"/>
              </a:spcAft>
              <a:buClr>
                <a:srgbClr val="1E2761"/>
              </a:buClr>
              <a:buFont typeface="Arial"/>
              <a:buChar char="•"/>
            </a:pPr>
            <a:r>
              <a:rPr sz="1450">
                <a:solidFill>
                  <a:srgbClr val="1F2328"/>
                </a:solidFill>
                <a:latin typeface="Calibri"/>
              </a:rPr>
              <a:t>Replace dense table/matrix visuals with summary visuals (cards, bars) where learners don't actually need row-level detail on the landing page.</a:t>
            </a:r>
          </a:p>
          <a:p>
            <a:pPr>
              <a:lnSpc>
                <a:spcPct val="105000"/>
              </a:lnSpc>
              <a:spcAft>
                <a:spcPts val="1000"/>
              </a:spcAft>
              <a:buClr>
                <a:srgbClr val="1E2761"/>
              </a:buClr>
              <a:buFont typeface="Arial"/>
              <a:buChar char="•"/>
            </a:pPr>
            <a:r>
              <a:rPr sz="1450">
                <a:solidFill>
                  <a:srgbClr val="1F2328"/>
                </a:solidFill>
                <a:latin typeface="Calibri"/>
              </a:rPr>
              <a:t>Be cautious with high-cardinality visuals (tables with 50k rows, slicers over 10k distinct values) — they force large result sets across the wire.</a:t>
            </a:r>
          </a:p>
          <a:p>
            <a:pPr>
              <a:lnSpc>
                <a:spcPct val="105000"/>
              </a:lnSpc>
              <a:spcAft>
                <a:spcPts val="1000"/>
              </a:spcAft>
              <a:buClr>
                <a:srgbClr val="1E2761"/>
              </a:buClr>
              <a:buFont typeface="Arial"/>
              <a:buChar char="•"/>
            </a:pPr>
            <a:r>
              <a:rPr sz="1450">
                <a:solidFill>
                  <a:srgbClr val="1F2328"/>
                </a:solidFill>
                <a:latin typeface="Calibri"/>
              </a:rPr>
              <a:t>Disable cross-highlight interactions between visuals that don't need to filter each other (Format &gt; Edit interactions &gt; None).</a:t>
            </a:r>
          </a:p>
          <a:p>
            <a:pPr>
              <a:lnSpc>
                <a:spcPct val="105000"/>
              </a:lnSpc>
              <a:spcAft>
                <a:spcPts val="1000"/>
              </a:spcAft>
              <a:buClr>
                <a:srgbClr val="1E2761"/>
              </a:buClr>
              <a:buFont typeface="Arial"/>
              <a:buChar char="•"/>
            </a:pPr>
            <a:r>
              <a:rPr sz="1450">
                <a:solidFill>
                  <a:srgbClr val="1F2328"/>
                </a:solidFill>
                <a:latin typeface="Calibri"/>
              </a:rPr>
              <a:t>Rethink page complexity: a 40-visual 'dashboard of dashboards' is almost always slower and less useful than three focused pages linked by drillthrough.</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Fewer visuals means fewer parallel DAX queries competing for the engine, and a faster feel for the same underlying data.</a:t>
            </a:r>
          </a:p>
          <a:p>
            <a:pPr>
              <a:lnSpc>
                <a:spcPct val="105000"/>
              </a:lnSpc>
              <a:spcAft>
                <a:spcPts val="1000"/>
              </a:spcAft>
              <a:buClr>
                <a:srgbClr val="E8B44A"/>
              </a:buClr>
              <a:buFont typeface="Arial"/>
              <a:buChar char="•"/>
            </a:pPr>
            <a:r>
              <a:rPr sz="1450">
                <a:solidFill>
                  <a:srgbClr val="1F2328"/>
                </a:solidFill>
                <a:latin typeface="Calibri"/>
              </a:rPr>
              <a:t>Summary visuals also cost less DAX — SUM over a whole column is cheaper than returning 5,000 detail rows the user will never scroll through.</a:t>
            </a:r>
          </a:p>
          <a:p>
            <a:pPr>
              <a:lnSpc>
                <a:spcPct val="105000"/>
              </a:lnSpc>
              <a:spcAft>
                <a:spcPts val="1000"/>
              </a:spcAft>
              <a:buClr>
                <a:srgbClr val="E8B44A"/>
              </a:buClr>
              <a:buFont typeface="Arial"/>
              <a:buChar char="•"/>
            </a:pPr>
            <a:r>
              <a:rPr sz="1450">
                <a:solidFill>
                  <a:srgbClr val="1F2328"/>
                </a:solidFill>
                <a:latin typeface="Calibri"/>
              </a:rPr>
              <a:t>High-cardinality visuals are the most common cause of 'other/render time' spikes in Performance Analyzer — the engine is fast, but the payload is huge.</a:t>
            </a:r>
          </a:p>
          <a:p>
            <a:pPr>
              <a:lnSpc>
                <a:spcPct val="105000"/>
              </a:lnSpc>
              <a:spcAft>
                <a:spcPts val="1000"/>
              </a:spcAft>
              <a:buClr>
                <a:srgbClr val="E8B44A"/>
              </a:buClr>
              <a:buFont typeface="Arial"/>
              <a:buChar char="•"/>
            </a:pPr>
            <a:r>
              <a:rPr sz="1450">
                <a:solidFill>
                  <a:srgbClr val="1F2328"/>
                </a:solidFill>
                <a:latin typeface="Calibri"/>
              </a:rPr>
              <a:t>Turning off unnecessary cross-highlight is a free win: no data change, no measure change, just fewer queries triggered on every click.</a:t>
            </a:r>
          </a:p>
          <a:p>
            <a:pPr>
              <a:lnSpc>
                <a:spcPct val="105000"/>
              </a:lnSpc>
              <a:spcAft>
                <a:spcPts val="1000"/>
              </a:spcAft>
              <a:buClr>
                <a:srgbClr val="E8B44A"/>
              </a:buClr>
              <a:buFont typeface="Arial"/>
              <a:buChar char="•"/>
            </a:pPr>
            <a:r>
              <a:rPr sz="1450">
                <a:solidFill>
                  <a:srgbClr val="1F2328"/>
                </a:solidFill>
                <a:latin typeface="Calibri"/>
              </a:rPr>
              <a:t>Focused pages linked by drillthrough (Module 4) both perform better and match how users actually consume reports — headline first, detail on demand.</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4 walks learners through counting visuals, consolidating, disabling unnecessary interactions, and re-measuring page performance.</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07</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Power Query and Refresh Optimization</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Preserve query folding: keep source-native steps (Filter Rows, Remove Columns, Group By) at the top so they push down to the source; check 'View Native Query' to confirm folding is still intact.</a:t>
            </a:r>
          </a:p>
          <a:p>
            <a:pPr>
              <a:lnSpc>
                <a:spcPct val="105000"/>
              </a:lnSpc>
              <a:spcAft>
                <a:spcPts val="1000"/>
              </a:spcAft>
              <a:buClr>
                <a:srgbClr val="1E2761"/>
              </a:buClr>
              <a:buFont typeface="Arial"/>
              <a:buChar char="•"/>
            </a:pPr>
            <a:r>
              <a:rPr sz="1450">
                <a:solidFill>
                  <a:srgbClr val="1F2328"/>
                </a:solidFill>
                <a:latin typeface="Calibri"/>
              </a:rPr>
              <a:t>Filter early and remove columns early — every row and column dropped upstream is one less thing the model has to load, compress, and refresh.</a:t>
            </a:r>
          </a:p>
          <a:p>
            <a:pPr>
              <a:lnSpc>
                <a:spcPct val="105000"/>
              </a:lnSpc>
              <a:spcAft>
                <a:spcPts val="1000"/>
              </a:spcAft>
              <a:buClr>
                <a:srgbClr val="1E2761"/>
              </a:buClr>
              <a:buFont typeface="Arial"/>
              <a:buChar char="•"/>
            </a:pPr>
            <a:r>
              <a:rPr sz="1450">
                <a:solidFill>
                  <a:srgbClr val="1F2328"/>
                </a:solidFill>
                <a:latin typeface="Calibri"/>
              </a:rPr>
              <a:t>Use staging queries (referenced, not duplicated) for shared cleanup logic so it runs once per refresh, not once per downstream query.</a:t>
            </a:r>
          </a:p>
          <a:p>
            <a:pPr>
              <a:lnSpc>
                <a:spcPct val="105000"/>
              </a:lnSpc>
              <a:spcAft>
                <a:spcPts val="1000"/>
              </a:spcAft>
              <a:buClr>
                <a:srgbClr val="1E2761"/>
              </a:buClr>
              <a:buFont typeface="Arial"/>
              <a:buChar char="•"/>
            </a:pPr>
            <a:r>
              <a:rPr sz="1450">
                <a:solidFill>
                  <a:srgbClr val="1F2328"/>
                </a:solidFill>
                <a:latin typeface="Calibri"/>
              </a:rPr>
              <a:t>Prepare for incremental refresh: fact query must filter on a Date/DateTime column using the RangeStart and RangeEnd DateTime parameters exactly as named.</a:t>
            </a:r>
          </a:p>
          <a:p>
            <a:pPr>
              <a:lnSpc>
                <a:spcPct val="105000"/>
              </a:lnSpc>
              <a:spcAft>
                <a:spcPts val="1000"/>
              </a:spcAft>
              <a:buClr>
                <a:srgbClr val="1E2761"/>
              </a:buClr>
              <a:buFont typeface="Arial"/>
              <a:buChar char="•"/>
            </a:pPr>
            <a:r>
              <a:rPr sz="1450">
                <a:solidFill>
                  <a:srgbClr val="1F2328"/>
                </a:solidFill>
                <a:latin typeface="Calibri"/>
              </a:rPr>
              <a:t>Define archive and refresh windows (e.g., archive 5 years, incrementally refresh 10 days) and discuss Detect data changes when the source supports it.</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Query folding is the difference between the source doing the work (fast, indexed) and Power Query pulling everything down and doing it locally (slow, memory-heavy).</a:t>
            </a:r>
          </a:p>
          <a:p>
            <a:pPr>
              <a:lnSpc>
                <a:spcPct val="105000"/>
              </a:lnSpc>
              <a:spcAft>
                <a:spcPts val="1000"/>
              </a:spcAft>
              <a:buClr>
                <a:srgbClr val="E8B44A"/>
              </a:buClr>
              <a:buFont typeface="Arial"/>
              <a:buChar char="•"/>
            </a:pPr>
            <a:r>
              <a:rPr sz="1450">
                <a:solidFill>
                  <a:srgbClr val="1F2328"/>
                </a:solidFill>
                <a:latin typeface="Calibri"/>
              </a:rPr>
              <a:t>Filtering and column removal upstream compound: every downstream step, every model refresh, and every VertiPaq compression pass benefits.</a:t>
            </a:r>
          </a:p>
          <a:p>
            <a:pPr>
              <a:lnSpc>
                <a:spcPct val="105000"/>
              </a:lnSpc>
              <a:spcAft>
                <a:spcPts val="1000"/>
              </a:spcAft>
              <a:buClr>
                <a:srgbClr val="E8B44A"/>
              </a:buClr>
              <a:buFont typeface="Arial"/>
              <a:buChar char="•"/>
            </a:pPr>
            <a:r>
              <a:rPr sz="1450">
                <a:solidFill>
                  <a:srgbClr val="1F2328"/>
                </a:solidFill>
                <a:latin typeface="Calibri"/>
              </a:rPr>
              <a:t>Staging prevents the same expensive transformation from running three times because three tables reference the same source.</a:t>
            </a:r>
          </a:p>
          <a:p>
            <a:pPr>
              <a:lnSpc>
                <a:spcPct val="105000"/>
              </a:lnSpc>
              <a:spcAft>
                <a:spcPts val="1000"/>
              </a:spcAft>
              <a:buClr>
                <a:srgbClr val="E8B44A"/>
              </a:buClr>
              <a:buFont typeface="Arial"/>
              <a:buChar char="•"/>
            </a:pPr>
            <a:r>
              <a:rPr sz="1450">
                <a:solidFill>
                  <a:srgbClr val="1F2328"/>
                </a:solidFill>
                <a:latin typeface="Calibri"/>
              </a:rPr>
              <a:t>The RangeStart/RangeEnd naming is not optional — the Service uses those exact parameter names to inject the incremental filter, so a typo silently disables incremental refresh.</a:t>
            </a:r>
          </a:p>
          <a:p>
            <a:pPr>
              <a:lnSpc>
                <a:spcPct val="105000"/>
              </a:lnSpc>
              <a:spcAft>
                <a:spcPts val="1000"/>
              </a:spcAft>
              <a:buClr>
                <a:srgbClr val="E8B44A"/>
              </a:buClr>
              <a:buFont typeface="Arial"/>
              <a:buChar char="•"/>
            </a:pPr>
            <a:r>
              <a:rPr sz="1450">
                <a:solidFill>
                  <a:srgbClr val="1F2328"/>
                </a:solidFill>
                <a:latin typeface="Calibri"/>
              </a:rPr>
              <a:t>Well-defined archive/refresh windows are what convert a 45-minute nightly full refresh into a 90-second incremental one — and are required for Service publishing of large models.</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6 walks learners through validating RangeStart/RangeEnd, the fact date filter, and archive/refresh windows before enabling the policy. Incremental refresh in the Service is Verify-for-Gov.</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08</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Aggregations</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377440"/>
                <a:gridCol w="4206240"/>
                <a:gridCol w="4297680"/>
              </a:tblGrid>
              <a:tr h="666205">
                <a:tc>
                  <a:txBody>
                    <a:bodyPr/>
                    <a:lstStyle/>
                    <a:p>
                      <a:pPr algn="l"/>
                      <a:r>
                        <a:rPr b="1" sz="1250">
                          <a:solidFill>
                            <a:srgbClr val="FFFFFF"/>
                          </a:solidFill>
                          <a:latin typeface="Calibri"/>
                        </a:rPr>
                        <a:t>Piece</a:t>
                      </a:r>
                    </a:p>
                  </a:txBody>
                  <a:tcPr>
                    <a:solidFill>
                      <a:srgbClr val="1E2761"/>
                    </a:solidFill>
                  </a:tcPr>
                </a:tc>
                <a:tc>
                  <a:txBody>
                    <a:bodyPr/>
                    <a:lstStyle/>
                    <a:p>
                      <a:pPr algn="l"/>
                      <a:r>
                        <a:rPr b="1" sz="1250">
                          <a:solidFill>
                            <a:srgbClr val="FFFFFF"/>
                          </a:solidFill>
                          <a:latin typeface="Calibri"/>
                        </a:rPr>
                        <a:t>What it is</a:t>
                      </a:r>
                    </a:p>
                  </a:txBody>
                  <a:tcPr>
                    <a:solidFill>
                      <a:srgbClr val="1E2761"/>
                    </a:solidFill>
                  </a:tcPr>
                </a:tc>
                <a:tc>
                  <a:txBody>
                    <a:bodyPr/>
                    <a:lstStyle/>
                    <a:p>
                      <a:pPr algn="l"/>
                      <a:r>
                        <a:rPr b="1" sz="1250">
                          <a:solidFill>
                            <a:srgbClr val="FFFFFF"/>
                          </a:solidFill>
                          <a:latin typeface="Calibri"/>
                        </a:rPr>
                        <a:t>Design rule / gotcha</a:t>
                      </a:r>
                    </a:p>
                  </a:txBody>
                  <a:tcPr>
                    <a:solidFill>
                      <a:srgbClr val="1E2761"/>
                    </a:solidFill>
                  </a:tcPr>
                </a:tc>
              </a:tr>
              <a:tr h="666205">
                <a:tc>
                  <a:txBody>
                    <a:bodyPr/>
                    <a:lstStyle/>
                    <a:p>
                      <a:r>
                        <a:rPr sz="1150">
                          <a:solidFill>
                            <a:srgbClr val="1F2328"/>
                          </a:solidFill>
                          <a:latin typeface="Calibri"/>
                        </a:rPr>
                        <a:t>Import aggregation table</a:t>
                      </a:r>
                    </a:p>
                  </a:txBody>
                  <a:tcPr>
                    <a:solidFill>
                      <a:srgbClr val="FFFFFF"/>
                    </a:solidFill>
                  </a:tcPr>
                </a:tc>
                <a:tc>
                  <a:txBody>
                    <a:bodyPr/>
                    <a:lstStyle/>
                    <a:p>
                      <a:r>
                        <a:rPr sz="1150">
                          <a:solidFill>
                            <a:srgbClr val="1F2328"/>
                          </a:solidFill>
                          <a:latin typeface="Calibri"/>
                        </a:rPr>
                        <a:t>Pre-summarized copy of the fact at a coarser grain (e.g., Month + Category + Territory).</a:t>
                      </a:r>
                    </a:p>
                  </a:txBody>
                  <a:tcPr>
                    <a:solidFill>
                      <a:srgbClr val="FFFFFF"/>
                    </a:solidFill>
                  </a:tcPr>
                </a:tc>
                <a:tc>
                  <a:txBody>
                    <a:bodyPr/>
                    <a:lstStyle/>
                    <a:p>
                      <a:r>
                        <a:rPr sz="1150">
                          <a:solidFill>
                            <a:srgbClr val="1F2328"/>
                          </a:solidFill>
                          <a:latin typeface="Calibri"/>
                        </a:rPr>
                        <a:t>Store as Import mode so summary queries hit fast in-memory data.</a:t>
                      </a:r>
                    </a:p>
                  </a:txBody>
                  <a:tcPr>
                    <a:solidFill>
                      <a:srgbClr val="FFFFFF"/>
                    </a:solidFill>
                  </a:tcPr>
                </a:tc>
              </a:tr>
              <a:tr h="666205">
                <a:tc>
                  <a:txBody>
                    <a:bodyPr/>
                    <a:lstStyle/>
                    <a:p>
                      <a:r>
                        <a:rPr sz="1150">
                          <a:solidFill>
                            <a:srgbClr val="1F2328"/>
                          </a:solidFill>
                          <a:latin typeface="Calibri"/>
                        </a:rPr>
                        <a:t>DirectQuery detail table</a:t>
                      </a:r>
                    </a:p>
                  </a:txBody>
                  <a:tcPr>
                    <a:solidFill>
                      <a:srgbClr val="F6F8FC"/>
                    </a:solidFill>
                  </a:tcPr>
                </a:tc>
                <a:tc>
                  <a:txBody>
                    <a:bodyPr/>
                    <a:lstStyle/>
                    <a:p>
                      <a:r>
                        <a:rPr sz="1150">
                          <a:solidFill>
                            <a:srgbClr val="1F2328"/>
                          </a:solidFill>
                          <a:latin typeface="Calibri"/>
                        </a:rPr>
                        <a:t>The original fact table stays in DirectQuery mode for row-level detail and drill-through.</a:t>
                      </a:r>
                    </a:p>
                  </a:txBody>
                  <a:tcPr>
                    <a:solidFill>
                      <a:srgbClr val="F6F8FC"/>
                    </a:solidFill>
                  </a:tcPr>
                </a:tc>
                <a:tc>
                  <a:txBody>
                    <a:bodyPr/>
                    <a:lstStyle/>
                    <a:p>
                      <a:r>
                        <a:rPr sz="1150">
                          <a:solidFill>
                            <a:srgbClr val="1F2328"/>
                          </a:solidFill>
                          <a:latin typeface="Calibri"/>
                        </a:rPr>
                        <a:t>Detail queries fall through to the source when the agg doesn't match.</a:t>
                      </a:r>
                    </a:p>
                  </a:txBody>
                  <a:tcPr>
                    <a:solidFill>
                      <a:srgbClr val="F6F8FC"/>
                    </a:solidFill>
                  </a:tcPr>
                </a:tc>
              </a:tr>
              <a:tr h="666205">
                <a:tc>
                  <a:txBody>
                    <a:bodyPr/>
                    <a:lstStyle/>
                    <a:p>
                      <a:r>
                        <a:rPr sz="1150">
                          <a:solidFill>
                            <a:srgbClr val="1F2328"/>
                          </a:solidFill>
                          <a:latin typeface="Calibri"/>
                        </a:rPr>
                        <a:t>Group-by columns</a:t>
                      </a:r>
                    </a:p>
                  </a:txBody>
                  <a:tcPr>
                    <a:solidFill>
                      <a:srgbClr val="FFFFFF"/>
                    </a:solidFill>
                  </a:tcPr>
                </a:tc>
                <a:tc>
                  <a:txBody>
                    <a:bodyPr/>
                    <a:lstStyle/>
                    <a:p>
                      <a:r>
                        <a:rPr sz="1150">
                          <a:solidFill>
                            <a:srgbClr val="1F2328"/>
                          </a:solidFill>
                          <a:latin typeface="Calibri"/>
                        </a:rPr>
                        <a:t>The dimension columns that define the aggregation grain (Month, Category, Territory).</a:t>
                      </a:r>
                    </a:p>
                  </a:txBody>
                  <a:tcPr>
                    <a:solidFill>
                      <a:srgbClr val="FFFFFF"/>
                    </a:solidFill>
                  </a:tcPr>
                </a:tc>
                <a:tc>
                  <a:txBody>
                    <a:bodyPr/>
                    <a:lstStyle/>
                    <a:p>
                      <a:r>
                        <a:rPr sz="1150">
                          <a:solidFill>
                            <a:srgbClr val="1F2328"/>
                          </a:solidFill>
                          <a:latin typeface="Calibri"/>
                        </a:rPr>
                        <a:t>Every group-by column in the agg must map to the corresponding detail column.</a:t>
                      </a:r>
                    </a:p>
                  </a:txBody>
                  <a:tcPr>
                    <a:solidFill>
                      <a:srgbClr val="FFFFFF"/>
                    </a:solidFill>
                  </a:tcPr>
                </a:tc>
              </a:tr>
              <a:tr h="666205">
                <a:tc>
                  <a:txBody>
                    <a:bodyPr/>
                    <a:lstStyle/>
                    <a:p>
                      <a:r>
                        <a:rPr sz="1150">
                          <a:solidFill>
                            <a:srgbClr val="1F2328"/>
                          </a:solidFill>
                          <a:latin typeface="Calibri"/>
                        </a:rPr>
                        <a:t>Manage aggregations dialog</a:t>
                      </a:r>
                    </a:p>
                  </a:txBody>
                  <a:tcPr>
                    <a:solidFill>
                      <a:srgbClr val="F6F8FC"/>
                    </a:solidFill>
                  </a:tcPr>
                </a:tc>
                <a:tc>
                  <a:txBody>
                    <a:bodyPr/>
                    <a:lstStyle/>
                    <a:p>
                      <a:r>
                        <a:rPr sz="1150">
                          <a:solidFill>
                            <a:srgbClr val="1F2328"/>
                          </a:solidFill>
                          <a:latin typeface="Calibri"/>
                        </a:rPr>
                        <a:t>Where you declare each agg column's Summarization (Sum, Count, GroupBy) and its detail-column mapping.</a:t>
                      </a:r>
                    </a:p>
                  </a:txBody>
                  <a:tcPr>
                    <a:solidFill>
                      <a:srgbClr val="F6F8FC"/>
                    </a:solidFill>
                  </a:tcPr>
                </a:tc>
                <a:tc>
                  <a:txBody>
                    <a:bodyPr/>
                    <a:lstStyle/>
                    <a:p>
                      <a:r>
                        <a:rPr sz="1150">
                          <a:solidFill>
                            <a:srgbClr val="1F2328"/>
                          </a:solidFill>
                          <a:latin typeface="Calibri"/>
                        </a:rPr>
                        <a:t>Precedence controls which agg is tried first when multiple aggs exist.</a:t>
                      </a:r>
                    </a:p>
                  </a:txBody>
                  <a:tcPr>
                    <a:solidFill>
                      <a:srgbClr val="F6F8FC"/>
                    </a:solidFill>
                  </a:tcPr>
                </a:tc>
              </a:tr>
              <a:tr h="666205">
                <a:tc>
                  <a:txBody>
                    <a:bodyPr/>
                    <a:lstStyle/>
                    <a:p>
                      <a:r>
                        <a:rPr sz="1150">
                          <a:solidFill>
                            <a:srgbClr val="1F2328"/>
                          </a:solidFill>
                          <a:latin typeface="Calibri"/>
                        </a:rPr>
                        <a:t>Agg hit vs. agg miss</a:t>
                      </a:r>
                    </a:p>
                  </a:txBody>
                  <a:tcPr>
                    <a:solidFill>
                      <a:srgbClr val="FFFFFF"/>
                    </a:solidFill>
                  </a:tcPr>
                </a:tc>
                <a:tc>
                  <a:txBody>
                    <a:bodyPr/>
                    <a:lstStyle/>
                    <a:p>
                      <a:r>
                        <a:rPr sz="1150">
                          <a:solidFill>
                            <a:srgbClr val="1F2328"/>
                          </a:solidFill>
                          <a:latin typeface="Calibri"/>
                        </a:rPr>
                        <a:t>Hit: query is answered from the agg (fast). Miss: query falls through to the detail table (slow).</a:t>
                      </a:r>
                    </a:p>
                  </a:txBody>
                  <a:tcPr>
                    <a:solidFill>
                      <a:srgbClr val="FFFFFF"/>
                    </a:solidFill>
                  </a:tcPr>
                </a:tc>
                <a:tc>
                  <a:txBody>
                    <a:bodyPr/>
                    <a:lstStyle/>
                    <a:p>
                      <a:r>
                        <a:rPr sz="1150">
                          <a:solidFill>
                            <a:srgbClr val="1F2328"/>
                          </a:solidFill>
                          <a:latin typeface="Calibri"/>
                        </a:rPr>
                        <a:t>Test with Performance Analyzer + DAX Studio (Verify for Gov) to confirm hits.</a:t>
                      </a:r>
                    </a:p>
                  </a:txBody>
                  <a:tcPr>
                    <a:solidFill>
                      <a:srgbClr val="FFFFFF"/>
                    </a:solidFill>
                  </a:tcPr>
                </a:tc>
              </a:tr>
              <a:tr h="666210">
                <a:tc>
                  <a:txBody>
                    <a:bodyPr/>
                    <a:lstStyle/>
                    <a:p>
                      <a:r>
                        <a:rPr sz="1150">
                          <a:solidFill>
                            <a:srgbClr val="1F2328"/>
                          </a:solidFill>
                          <a:latin typeface="Calibri"/>
                        </a:rPr>
                        <a:t>Source validation</a:t>
                      </a:r>
                    </a:p>
                  </a:txBody>
                  <a:tcPr>
                    <a:solidFill>
                      <a:srgbClr val="F6F8FC"/>
                    </a:solidFill>
                  </a:tcPr>
                </a:tc>
                <a:tc>
                  <a:txBody>
                    <a:bodyPr/>
                    <a:lstStyle/>
                    <a:p>
                      <a:r>
                        <a:rPr sz="1150">
                          <a:solidFill>
                            <a:srgbClr val="1F2328"/>
                          </a:solidFill>
                          <a:latin typeface="Calibri"/>
                        </a:rPr>
                        <a:t>DirectQuery source support, gateway readiness, connector, and tenant settings.</a:t>
                      </a:r>
                    </a:p>
                  </a:txBody>
                  <a:tcPr>
                    <a:solidFill>
                      <a:srgbClr val="F6F8FC"/>
                    </a:solidFill>
                  </a:tcPr>
                </a:tc>
                <a:tc>
                  <a:txBody>
                    <a:bodyPr/>
                    <a:lstStyle/>
                    <a:p>
                      <a:r>
                        <a:rPr sz="1150">
                          <a:solidFill>
                            <a:srgbClr val="1F2328"/>
                          </a:solidFill>
                          <a:latin typeface="Calibri"/>
                        </a:rPr>
                        <a:t>Aggregations are Gov-ready as a pattern, but the DirectQuery half is Verify-for-source.</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5 asks learners to design (and where available, build) an aggregation table — identifying the fact, choosing a summary grain, and mapping columns — before discussing when it will and won't hit.</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09</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DirectQuery and Hybrid Patterns</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560320"/>
                <a:gridCol w="4389120"/>
                <a:gridCol w="3931920"/>
              </a:tblGrid>
              <a:tr h="666205">
                <a:tc>
                  <a:txBody>
                    <a:bodyPr/>
                    <a:lstStyle/>
                    <a:p>
                      <a:pPr algn="l"/>
                      <a:r>
                        <a:rPr b="1" sz="1250">
                          <a:solidFill>
                            <a:srgbClr val="FFFFFF"/>
                          </a:solidFill>
                          <a:latin typeface="Calibri"/>
                        </a:rPr>
                        <a:t>Storage pattern</a:t>
                      </a:r>
                    </a:p>
                  </a:txBody>
                  <a:tcPr>
                    <a:solidFill>
                      <a:srgbClr val="1E2761"/>
                    </a:solidFill>
                  </a:tcPr>
                </a:tc>
                <a:tc>
                  <a:txBody>
                    <a:bodyPr/>
                    <a:lstStyle/>
                    <a:p>
                      <a:pPr algn="l"/>
                      <a:r>
                        <a:rPr b="1" sz="1250">
                          <a:solidFill>
                            <a:srgbClr val="FFFFFF"/>
                          </a:solidFill>
                          <a:latin typeface="Calibri"/>
                        </a:rPr>
                        <a:t>When to use it</a:t>
                      </a:r>
                    </a:p>
                  </a:txBody>
                  <a:tcPr>
                    <a:solidFill>
                      <a:srgbClr val="1E2761"/>
                    </a:solidFill>
                  </a:tcPr>
                </a:tc>
                <a:tc>
                  <a:txBody>
                    <a:bodyPr/>
                    <a:lstStyle/>
                    <a:p>
                      <a:pPr algn="l"/>
                      <a:r>
                        <a:rPr b="1" sz="1250">
                          <a:solidFill>
                            <a:srgbClr val="FFFFFF"/>
                          </a:solidFill>
                          <a:latin typeface="Calibri"/>
                        </a:rPr>
                        <a:t>Tradeoff to document</a:t>
                      </a:r>
                    </a:p>
                  </a:txBody>
                  <a:tcPr>
                    <a:solidFill>
                      <a:srgbClr val="1E2761"/>
                    </a:solidFill>
                  </a:tcPr>
                </a:tc>
              </a:tr>
              <a:tr h="666205">
                <a:tc>
                  <a:txBody>
                    <a:bodyPr/>
                    <a:lstStyle/>
                    <a:p>
                      <a:r>
                        <a:rPr sz="1150">
                          <a:solidFill>
                            <a:srgbClr val="1F2328"/>
                          </a:solidFill>
                          <a:latin typeface="Calibri"/>
                        </a:rPr>
                        <a:t>Import (default)</a:t>
                      </a:r>
                    </a:p>
                  </a:txBody>
                  <a:tcPr>
                    <a:solidFill>
                      <a:srgbClr val="FFFFFF"/>
                    </a:solidFill>
                  </a:tcPr>
                </a:tc>
                <a:tc>
                  <a:txBody>
                    <a:bodyPr/>
                    <a:lstStyle/>
                    <a:p>
                      <a:r>
                        <a:rPr sz="1150">
                          <a:solidFill>
                            <a:srgbClr val="1F2328"/>
                          </a:solidFill>
                          <a:latin typeface="Calibri"/>
                        </a:rPr>
                        <a:t>Fits in memory; refresh cadence matches business needs (nightly, hourly).</a:t>
                      </a:r>
                    </a:p>
                  </a:txBody>
                  <a:tcPr>
                    <a:solidFill>
                      <a:srgbClr val="FFFFFF"/>
                    </a:solidFill>
                  </a:tcPr>
                </a:tc>
                <a:tc>
                  <a:txBody>
                    <a:bodyPr/>
                    <a:lstStyle/>
                    <a:p>
                      <a:r>
                        <a:rPr sz="1150">
                          <a:solidFill>
                            <a:srgbClr val="1F2328"/>
                          </a:solidFill>
                          <a:latin typeface="Calibri"/>
                        </a:rPr>
                        <a:t>Fastest queries, but data is only as fresh as the last refresh.</a:t>
                      </a:r>
                    </a:p>
                  </a:txBody>
                  <a:tcPr>
                    <a:solidFill>
                      <a:srgbClr val="FFFFFF"/>
                    </a:solidFill>
                  </a:tcPr>
                </a:tc>
              </a:tr>
              <a:tr h="666205">
                <a:tc>
                  <a:txBody>
                    <a:bodyPr/>
                    <a:lstStyle/>
                    <a:p>
                      <a:r>
                        <a:rPr sz="1150">
                          <a:solidFill>
                            <a:srgbClr val="1F2328"/>
                          </a:solidFill>
                          <a:latin typeface="Calibri"/>
                        </a:rPr>
                        <a:t>DirectQuery</a:t>
                      </a:r>
                    </a:p>
                  </a:txBody>
                  <a:tcPr>
                    <a:solidFill>
                      <a:srgbClr val="F6F8FC"/>
                    </a:solidFill>
                  </a:tcPr>
                </a:tc>
                <a:tc>
                  <a:txBody>
                    <a:bodyPr/>
                    <a:lstStyle/>
                    <a:p>
                      <a:r>
                        <a:rPr sz="1150">
                          <a:solidFill>
                            <a:srgbClr val="1F2328"/>
                          </a:solidFill>
                          <a:latin typeface="Calibri"/>
                        </a:rPr>
                        <a:t>Data too large to import, or near-real-time freshness is required.</a:t>
                      </a:r>
                    </a:p>
                  </a:txBody>
                  <a:tcPr>
                    <a:solidFill>
                      <a:srgbClr val="F6F8FC"/>
                    </a:solidFill>
                  </a:tcPr>
                </a:tc>
                <a:tc>
                  <a:txBody>
                    <a:bodyPr/>
                    <a:lstStyle/>
                    <a:p>
                      <a:r>
                        <a:rPr sz="1150">
                          <a:solidFill>
                            <a:srgbClr val="1F2328"/>
                          </a:solidFill>
                          <a:latin typeface="Calibri"/>
                        </a:rPr>
                        <a:t>Every visual triggers a source query; only source-supported DAX runs; slower.</a:t>
                      </a:r>
                    </a:p>
                  </a:txBody>
                  <a:tcPr>
                    <a:solidFill>
                      <a:srgbClr val="F6F8FC"/>
                    </a:solidFill>
                  </a:tcPr>
                </a:tc>
              </a:tr>
              <a:tr h="666205">
                <a:tc>
                  <a:txBody>
                    <a:bodyPr/>
                    <a:lstStyle/>
                    <a:p>
                      <a:r>
                        <a:rPr sz="1150">
                          <a:solidFill>
                            <a:srgbClr val="1F2328"/>
                          </a:solidFill>
                          <a:latin typeface="Calibri"/>
                        </a:rPr>
                        <a:t>Dual mode (per table)</a:t>
                      </a:r>
                    </a:p>
                  </a:txBody>
                  <a:tcPr>
                    <a:solidFill>
                      <a:srgbClr val="FFFFFF"/>
                    </a:solidFill>
                  </a:tcPr>
                </a:tc>
                <a:tc>
                  <a:txBody>
                    <a:bodyPr/>
                    <a:lstStyle/>
                    <a:p>
                      <a:r>
                        <a:rPr sz="1150">
                          <a:solidFill>
                            <a:srgbClr val="1F2328"/>
                          </a:solidFill>
                          <a:latin typeface="Calibri"/>
                        </a:rPr>
                        <a:t>Small dimensions used with both Import fact and DirectQuery fact tables.</a:t>
                      </a:r>
                    </a:p>
                  </a:txBody>
                  <a:tcPr>
                    <a:solidFill>
                      <a:srgbClr val="FFFFFF"/>
                    </a:solidFill>
                  </a:tcPr>
                </a:tc>
                <a:tc>
                  <a:txBody>
                    <a:bodyPr/>
                    <a:lstStyle/>
                    <a:p>
                      <a:r>
                        <a:rPr sz="1150">
                          <a:solidFill>
                            <a:srgbClr val="1F2328"/>
                          </a:solidFill>
                          <a:latin typeface="Calibri"/>
                        </a:rPr>
                        <a:t>Engine chooses per query — requires disciplined relationship design.</a:t>
                      </a:r>
                    </a:p>
                  </a:txBody>
                  <a:tcPr>
                    <a:solidFill>
                      <a:srgbClr val="FFFFFF"/>
                    </a:solidFill>
                  </a:tcPr>
                </a:tc>
              </a:tr>
              <a:tr h="666205">
                <a:tc>
                  <a:txBody>
                    <a:bodyPr/>
                    <a:lstStyle/>
                    <a:p>
                      <a:r>
                        <a:rPr sz="1150">
                          <a:solidFill>
                            <a:srgbClr val="1F2328"/>
                          </a:solidFill>
                          <a:latin typeface="Calibri"/>
                        </a:rPr>
                        <a:t>Hybrid table (partitions)</a:t>
                      </a:r>
                    </a:p>
                  </a:txBody>
                  <a:tcPr>
                    <a:solidFill>
                      <a:srgbClr val="F6F8FC"/>
                    </a:solidFill>
                  </a:tcPr>
                </a:tc>
                <a:tc>
                  <a:txBody>
                    <a:bodyPr/>
                    <a:lstStyle/>
                    <a:p>
                      <a:r>
                        <a:rPr sz="1150">
                          <a:solidFill>
                            <a:srgbClr val="1F2328"/>
                          </a:solidFill>
                          <a:latin typeface="Calibri"/>
                        </a:rPr>
                        <a:t>Recent partitions in DirectQuery for freshness; historical in Import for speed.</a:t>
                      </a:r>
                    </a:p>
                  </a:txBody>
                  <a:tcPr>
                    <a:solidFill>
                      <a:srgbClr val="F6F8FC"/>
                    </a:solidFill>
                  </a:tcPr>
                </a:tc>
                <a:tc>
                  <a:txBody>
                    <a:bodyPr/>
                    <a:lstStyle/>
                    <a:p>
                      <a:r>
                        <a:rPr sz="1150">
                          <a:solidFill>
                            <a:srgbClr val="1F2328"/>
                          </a:solidFill>
                          <a:latin typeface="Calibri"/>
                        </a:rPr>
                        <a:t>Verify-for-Gov: license, workspace, and Service capabilities gate this.</a:t>
                      </a:r>
                    </a:p>
                  </a:txBody>
                  <a:tcPr>
                    <a:solidFill>
                      <a:srgbClr val="F6F8FC"/>
                    </a:solidFill>
                  </a:tcPr>
                </a:tc>
              </a:tr>
              <a:tr h="666205">
                <a:tc>
                  <a:txBody>
                    <a:bodyPr/>
                    <a:lstStyle/>
                    <a:p>
                      <a:r>
                        <a:rPr sz="1150">
                          <a:solidFill>
                            <a:srgbClr val="1F2328"/>
                          </a:solidFill>
                          <a:latin typeface="Calibri"/>
                        </a:rPr>
                        <a:t>Import agg + DQ detail</a:t>
                      </a:r>
                    </a:p>
                  </a:txBody>
                  <a:tcPr>
                    <a:solidFill>
                      <a:srgbClr val="FFFFFF"/>
                    </a:solidFill>
                  </a:tcPr>
                </a:tc>
                <a:tc>
                  <a:txBody>
                    <a:bodyPr/>
                    <a:lstStyle/>
                    <a:p>
                      <a:r>
                        <a:rPr sz="1150">
                          <a:solidFill>
                            <a:srgbClr val="1F2328"/>
                          </a:solidFill>
                          <a:latin typeface="Calibri"/>
                        </a:rPr>
                        <a:t>Standard scale pattern: summary in-memory, detail on demand (Topic 8).</a:t>
                      </a:r>
                    </a:p>
                  </a:txBody>
                  <a:tcPr>
                    <a:solidFill>
                      <a:srgbClr val="FFFFFF"/>
                    </a:solidFill>
                  </a:tcPr>
                </a:tc>
                <a:tc>
                  <a:txBody>
                    <a:bodyPr/>
                    <a:lstStyle/>
                    <a:p>
                      <a:r>
                        <a:rPr sz="1150">
                          <a:solidFill>
                            <a:srgbClr val="1F2328"/>
                          </a:solidFill>
                          <a:latin typeface="Calibri"/>
                        </a:rPr>
                        <a:t>Agg-miss falls through to DQ; grain choice determines hit rate.</a:t>
                      </a:r>
                    </a:p>
                  </a:txBody>
                  <a:tcPr>
                    <a:solidFill>
                      <a:srgbClr val="FFFFFF"/>
                    </a:solidFill>
                  </a:tcPr>
                </a:tc>
              </a:tr>
              <a:tr h="666210">
                <a:tc>
                  <a:txBody>
                    <a:bodyPr/>
                    <a:lstStyle/>
                    <a:p>
                      <a:r>
                        <a:rPr sz="1150">
                          <a:solidFill>
                            <a:srgbClr val="1F2328"/>
                          </a:solidFill>
                          <a:latin typeface="Calibri"/>
                        </a:rPr>
                        <a:t>Large semantic model</a:t>
                      </a:r>
                    </a:p>
                  </a:txBody>
                  <a:tcPr>
                    <a:solidFill>
                      <a:srgbClr val="F6F8FC"/>
                    </a:solidFill>
                  </a:tcPr>
                </a:tc>
                <a:tc>
                  <a:txBody>
                    <a:bodyPr/>
                    <a:lstStyle/>
                    <a:p>
                      <a:r>
                        <a:rPr sz="1150">
                          <a:solidFill>
                            <a:srgbClr val="1F2328"/>
                          </a:solidFill>
                          <a:latin typeface="Calibri"/>
                        </a:rPr>
                        <a:t>Model exceeds standard memory limits; requires Premium/Fabric capacity.</a:t>
                      </a:r>
                    </a:p>
                  </a:txBody>
                  <a:tcPr>
                    <a:solidFill>
                      <a:srgbClr val="F6F8FC"/>
                    </a:solidFill>
                  </a:tcPr>
                </a:tc>
                <a:tc>
                  <a:txBody>
                    <a:bodyPr/>
                    <a:lstStyle/>
                    <a:p>
                      <a:r>
                        <a:rPr sz="1150">
                          <a:solidFill>
                            <a:srgbClr val="1F2328"/>
                          </a:solidFill>
                          <a:latin typeface="Calibri"/>
                        </a:rPr>
                        <a:t>Verify-for-Gov: SKU, tenant settings, and format (Large model storage) required.</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5 (Concept note) frames these tradeoffs explicitly — source support, relationship behavior, cache-hit rules, gateway, and Gov validation must be documented before production use.</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10</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Service and Capacity Monitoring</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Refresh history (dataset settings): confirms refresh success, duration, and error detail per run — the first place to look when a scheduled refresh fails.</a:t>
            </a:r>
          </a:p>
          <a:p>
            <a:pPr>
              <a:lnSpc>
                <a:spcPct val="105000"/>
              </a:lnSpc>
              <a:spcAft>
                <a:spcPts val="1000"/>
              </a:spcAft>
              <a:buClr>
                <a:srgbClr val="1E2761"/>
              </a:buClr>
              <a:buFont typeface="Arial"/>
              <a:buChar char="•"/>
            </a:pPr>
            <a:r>
              <a:rPr sz="1450">
                <a:solidFill>
                  <a:srgbClr val="1F2328"/>
                </a:solidFill>
                <a:latin typeface="Calibri"/>
              </a:rPr>
              <a:t>Dataset settings: gateway binding, scheduled refresh cadence, incremental refresh policy status, and query caching options.</a:t>
            </a:r>
          </a:p>
          <a:p>
            <a:pPr>
              <a:lnSpc>
                <a:spcPct val="105000"/>
              </a:lnSpc>
              <a:spcAft>
                <a:spcPts val="1000"/>
              </a:spcAft>
              <a:buClr>
                <a:srgbClr val="1E2761"/>
              </a:buClr>
              <a:buFont typeface="Arial"/>
              <a:buChar char="•"/>
            </a:pPr>
            <a:r>
              <a:rPr sz="1450">
                <a:solidFill>
                  <a:srgbClr val="1F2328"/>
                </a:solidFill>
                <a:latin typeface="Calibri"/>
              </a:rPr>
              <a:t>Capacity metrics app (Premium/Fabric): CPU (CU) utilization, memory pressure, and throttling / autoscale events per workload.</a:t>
            </a:r>
          </a:p>
          <a:p>
            <a:pPr>
              <a:lnSpc>
                <a:spcPct val="105000"/>
              </a:lnSpc>
              <a:spcAft>
                <a:spcPts val="1000"/>
              </a:spcAft>
              <a:buClr>
                <a:srgbClr val="1E2761"/>
              </a:buClr>
              <a:buFont typeface="Arial"/>
              <a:buChar char="•"/>
            </a:pPr>
            <a:r>
              <a:rPr sz="1450">
                <a:solidFill>
                  <a:srgbClr val="1F2328"/>
                </a:solidFill>
                <a:latin typeface="Calibri"/>
              </a:rPr>
              <a:t>Admin monitoring: tenant-level usage of datasets, refresh volume, and largest datasets by memory — signals which models to optimize next.</a:t>
            </a:r>
          </a:p>
          <a:p>
            <a:pPr>
              <a:lnSpc>
                <a:spcPct val="105000"/>
              </a:lnSpc>
              <a:spcAft>
                <a:spcPts val="1000"/>
              </a:spcAft>
              <a:buClr>
                <a:srgbClr val="1E2761"/>
              </a:buClr>
              <a:buFont typeface="Arial"/>
              <a:buChar char="•"/>
            </a:pPr>
            <a:r>
              <a:rPr sz="1450">
                <a:solidFill>
                  <a:srgbClr val="1F2328"/>
                </a:solidFill>
                <a:latin typeface="Calibri"/>
              </a:rPr>
              <a:t>Gov validation: capacity metrics app, incremental refresh in Service, and some admin views are Verify-for-Gov and depend on cloud/tenant availability.</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Refresh history is what turns 'the report is stale' from a user complaint into a specific error message and timestamp you can act on.</a:t>
            </a:r>
          </a:p>
          <a:p>
            <a:pPr>
              <a:lnSpc>
                <a:spcPct val="105000"/>
              </a:lnSpc>
              <a:spcAft>
                <a:spcPts val="1000"/>
              </a:spcAft>
              <a:buClr>
                <a:srgbClr val="E8B44A"/>
              </a:buClr>
              <a:buFont typeface="Arial"/>
              <a:buChar char="•"/>
            </a:pPr>
            <a:r>
              <a:rPr sz="1450">
                <a:solidFill>
                  <a:srgbClr val="1F2328"/>
                </a:solidFill>
                <a:latin typeface="Calibri"/>
              </a:rPr>
              <a:t>Dataset settings surface silent misconfigurations — e.g., an incremental refresh policy that reports 'success' but is actually doing a full refresh because a parameter is wrong.</a:t>
            </a:r>
          </a:p>
          <a:p>
            <a:pPr>
              <a:lnSpc>
                <a:spcPct val="105000"/>
              </a:lnSpc>
              <a:spcAft>
                <a:spcPts val="1000"/>
              </a:spcAft>
              <a:buClr>
                <a:srgbClr val="E8B44A"/>
              </a:buClr>
              <a:buFont typeface="Arial"/>
              <a:buChar char="•"/>
            </a:pPr>
            <a:r>
              <a:rPr sz="1450">
                <a:solidFill>
                  <a:srgbClr val="1F2328"/>
                </a:solidFill>
                <a:latin typeface="Calibri"/>
              </a:rPr>
              <a:t>Capacity CU throttling is the production explanation for 'reports slow at 9 AM but fast at 3 PM' — without capacity metrics you're guessing.</a:t>
            </a:r>
          </a:p>
          <a:p>
            <a:pPr>
              <a:lnSpc>
                <a:spcPct val="105000"/>
              </a:lnSpc>
              <a:spcAft>
                <a:spcPts val="1000"/>
              </a:spcAft>
              <a:buClr>
                <a:srgbClr val="E8B44A"/>
              </a:buClr>
              <a:buFont typeface="Arial"/>
              <a:buChar char="•"/>
            </a:pPr>
            <a:r>
              <a:rPr sz="1450">
                <a:solidFill>
                  <a:srgbClr val="1F2328"/>
                </a:solidFill>
                <a:latin typeface="Calibri"/>
              </a:rPr>
              <a:t>Admin monitoring is how a governance team decides which of 300 workspace models is worth spending an optimization sprint on — usually the top 5 by memory + refresh cost.</a:t>
            </a:r>
          </a:p>
          <a:p>
            <a:pPr>
              <a:lnSpc>
                <a:spcPct val="105000"/>
              </a:lnSpc>
              <a:spcAft>
                <a:spcPts val="1000"/>
              </a:spcAft>
              <a:buClr>
                <a:srgbClr val="E8B44A"/>
              </a:buClr>
              <a:buFont typeface="Arial"/>
              <a:buChar char="•"/>
            </a:pPr>
            <a:r>
              <a:rPr sz="1450">
                <a:solidFill>
                  <a:srgbClr val="1F2328"/>
                </a:solidFill>
                <a:latin typeface="Calibri"/>
              </a:rPr>
              <a:t>Explicit Gov labeling prevents accidentally promising a monitoring capability the target tenant doesn't yet expose.</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the Validation checklist requires capacity metrics and incremental refresh both to be marked Verify-for-Gov in learner documentation.</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11</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External Tools</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194560"/>
                <a:gridCol w="5120640"/>
                <a:gridCol w="3566160"/>
              </a:tblGrid>
              <a:tr h="777240">
                <a:tc>
                  <a:txBody>
                    <a:bodyPr/>
                    <a:lstStyle/>
                    <a:p>
                      <a:pPr algn="l"/>
                      <a:r>
                        <a:rPr b="1" sz="1250">
                          <a:solidFill>
                            <a:srgbClr val="FFFFFF"/>
                          </a:solidFill>
                          <a:latin typeface="Calibri"/>
                        </a:rPr>
                        <a:t>Tool</a:t>
                      </a:r>
                    </a:p>
                  </a:txBody>
                  <a:tcPr>
                    <a:solidFill>
                      <a:srgbClr val="1E2761"/>
                    </a:solidFill>
                  </a:tcPr>
                </a:tc>
                <a:tc>
                  <a:txBody>
                    <a:bodyPr/>
                    <a:lstStyle/>
                    <a:p>
                      <a:pPr algn="l"/>
                      <a:r>
                        <a:rPr b="1" sz="1250">
                          <a:solidFill>
                            <a:srgbClr val="FFFFFF"/>
                          </a:solidFill>
                          <a:latin typeface="Calibri"/>
                        </a:rPr>
                        <a:t>What it adds beyond Performance Analyzer</a:t>
                      </a:r>
                    </a:p>
                  </a:txBody>
                  <a:tcPr>
                    <a:solidFill>
                      <a:srgbClr val="1E2761"/>
                    </a:solidFill>
                  </a:tcPr>
                </a:tc>
                <a:tc>
                  <a:txBody>
                    <a:bodyPr/>
                    <a:lstStyle/>
                    <a:p>
                      <a:pPr algn="l"/>
                      <a:r>
                        <a:rPr b="1" sz="1250">
                          <a:solidFill>
                            <a:srgbClr val="FFFFFF"/>
                          </a:solidFill>
                          <a:latin typeface="Calibri"/>
                        </a:rPr>
                        <a:t>Gov / policy note</a:t>
                      </a:r>
                    </a:p>
                  </a:txBody>
                  <a:tcPr>
                    <a:solidFill>
                      <a:srgbClr val="1E2761"/>
                    </a:solidFill>
                  </a:tcPr>
                </a:tc>
              </a:tr>
              <a:tr h="777240">
                <a:tc>
                  <a:txBody>
                    <a:bodyPr/>
                    <a:lstStyle/>
                    <a:p>
                      <a:r>
                        <a:rPr sz="1150">
                          <a:solidFill>
                            <a:srgbClr val="1F2328"/>
                          </a:solidFill>
                          <a:latin typeface="Calibri"/>
                        </a:rPr>
                        <a:t>DAX Studio</a:t>
                      </a:r>
                    </a:p>
                  </a:txBody>
                  <a:tcPr>
                    <a:solidFill>
                      <a:srgbClr val="FFFFFF"/>
                    </a:solidFill>
                  </a:tcPr>
                </a:tc>
                <a:tc>
                  <a:txBody>
                    <a:bodyPr/>
                    <a:lstStyle/>
                    <a:p>
                      <a:r>
                        <a:rPr sz="1150">
                          <a:solidFill>
                            <a:srgbClr val="1F2328"/>
                          </a:solidFill>
                          <a:latin typeface="Calibri"/>
                        </a:rPr>
                        <a:t>Runs copied Performance Analyzer DAX queries with Server Timings, storage engine vs. formula engine split, and query plan indicators.</a:t>
                      </a:r>
                    </a:p>
                  </a:txBody>
                  <a:tcPr>
                    <a:solidFill>
                      <a:srgbClr val="FFFFFF"/>
                    </a:solidFill>
                  </a:tcPr>
                </a:tc>
                <a:tc>
                  <a:txBody>
                    <a:bodyPr/>
                    <a:lstStyle/>
                    <a:p>
                      <a:r>
                        <a:rPr sz="1150">
                          <a:solidFill>
                            <a:srgbClr val="1F2328"/>
                          </a:solidFill>
                          <a:latin typeface="Calibri"/>
                        </a:rPr>
                        <a:t>Verify-for-Gov: workstation policy for external tools; XMLA endpoint access.</a:t>
                      </a:r>
                    </a:p>
                  </a:txBody>
                  <a:tcPr>
                    <a:solidFill>
                      <a:srgbClr val="FFFFFF"/>
                    </a:solidFill>
                  </a:tcPr>
                </a:tc>
              </a:tr>
              <a:tr h="777240">
                <a:tc>
                  <a:txBody>
                    <a:bodyPr/>
                    <a:lstStyle/>
                    <a:p>
                      <a:r>
                        <a:rPr sz="1150">
                          <a:solidFill>
                            <a:srgbClr val="1F2328"/>
                          </a:solidFill>
                          <a:latin typeface="Calibri"/>
                        </a:rPr>
                        <a:t>VertiPaq Analyzer</a:t>
                      </a:r>
                    </a:p>
                  </a:txBody>
                  <a:tcPr>
                    <a:solidFill>
                      <a:srgbClr val="F6F8FC"/>
                    </a:solidFill>
                  </a:tcPr>
                </a:tc>
                <a:tc>
                  <a:txBody>
                    <a:bodyPr/>
                    <a:lstStyle/>
                    <a:p>
                      <a:r>
                        <a:rPr sz="1150">
                          <a:solidFill>
                            <a:srgbClr val="1F2328"/>
                          </a:solidFill>
                          <a:latin typeface="Calibri"/>
                        </a:rPr>
                        <a:t>Reports column-level cardinality, table size, dictionary size, and encoding — shows exactly which columns bloat the model.</a:t>
                      </a:r>
                    </a:p>
                  </a:txBody>
                  <a:tcPr>
                    <a:solidFill>
                      <a:srgbClr val="F6F8FC"/>
                    </a:solidFill>
                  </a:tcPr>
                </a:tc>
                <a:tc>
                  <a:txBody>
                    <a:bodyPr/>
                    <a:lstStyle/>
                    <a:p>
                      <a:r>
                        <a:rPr sz="1150">
                          <a:solidFill>
                            <a:srgbClr val="1F2328"/>
                          </a:solidFill>
                          <a:latin typeface="Calibri"/>
                        </a:rPr>
                        <a:t>Verify-for-Gov: usually loaded inside DAX Studio or Tabular Editor.</a:t>
                      </a:r>
                    </a:p>
                  </a:txBody>
                  <a:tcPr>
                    <a:solidFill>
                      <a:srgbClr val="F6F8FC"/>
                    </a:solidFill>
                  </a:tcPr>
                </a:tc>
              </a:tr>
              <a:tr h="777240">
                <a:tc>
                  <a:txBody>
                    <a:bodyPr/>
                    <a:lstStyle/>
                    <a:p>
                      <a:r>
                        <a:rPr sz="1150">
                          <a:solidFill>
                            <a:srgbClr val="1F2328"/>
                          </a:solidFill>
                          <a:latin typeface="Calibri"/>
                        </a:rPr>
                        <a:t>Tabular Editor</a:t>
                      </a:r>
                    </a:p>
                  </a:txBody>
                  <a:tcPr>
                    <a:solidFill>
                      <a:srgbClr val="FFFFFF"/>
                    </a:solidFill>
                  </a:tcPr>
                </a:tc>
                <a:tc>
                  <a:txBody>
                    <a:bodyPr/>
                    <a:lstStyle/>
                    <a:p>
                      <a:r>
                        <a:rPr sz="1150">
                          <a:solidFill>
                            <a:srgbClr val="1F2328"/>
                          </a:solidFill>
                          <a:latin typeface="Calibri"/>
                        </a:rPr>
                        <a:t>Bulk metadata edits, best-practice analyzer rules, and scripted model changes beyond what Desktop UI supports.</a:t>
                      </a:r>
                    </a:p>
                  </a:txBody>
                  <a:tcPr>
                    <a:solidFill>
                      <a:srgbClr val="FFFFFF"/>
                    </a:solidFill>
                  </a:tcPr>
                </a:tc>
                <a:tc>
                  <a:txBody>
                    <a:bodyPr/>
                    <a:lstStyle/>
                    <a:p>
                      <a:r>
                        <a:rPr sz="1150">
                          <a:solidFill>
                            <a:srgbClr val="1F2328"/>
                          </a:solidFill>
                          <a:latin typeface="Calibri"/>
                        </a:rPr>
                        <a:t>Verify-for-Gov: workstation policy; version 2 free, version 3 licensed.</a:t>
                      </a:r>
                    </a:p>
                  </a:txBody>
                  <a:tcPr>
                    <a:solidFill>
                      <a:srgbClr val="FFFFFF"/>
                    </a:solidFill>
                  </a:tcPr>
                </a:tc>
              </a:tr>
              <a:tr h="777240">
                <a:tc>
                  <a:txBody>
                    <a:bodyPr/>
                    <a:lstStyle/>
                    <a:p>
                      <a:r>
                        <a:rPr sz="1150">
                          <a:solidFill>
                            <a:srgbClr val="1F2328"/>
                          </a:solidFill>
                          <a:latin typeface="Calibri"/>
                        </a:rPr>
                        <a:t>Customer workstation policy</a:t>
                      </a:r>
                    </a:p>
                  </a:txBody>
                  <a:tcPr>
                    <a:solidFill>
                      <a:srgbClr val="F6F8FC"/>
                    </a:solidFill>
                  </a:tcPr>
                </a:tc>
                <a:tc>
                  <a:txBody>
                    <a:bodyPr/>
                    <a:lstStyle/>
                    <a:p>
                      <a:r>
                        <a:rPr sz="1150">
                          <a:solidFill>
                            <a:srgbClr val="1F2328"/>
                          </a:solidFill>
                          <a:latin typeface="Calibri"/>
                        </a:rPr>
                        <a:t>Enterprise IT often restricts unsigned or external tools on managed devices — must be validated per environment.</a:t>
                      </a:r>
                    </a:p>
                  </a:txBody>
                  <a:tcPr>
                    <a:solidFill>
                      <a:srgbClr val="F6F8FC"/>
                    </a:solidFill>
                  </a:tcPr>
                </a:tc>
                <a:tc>
                  <a:txBody>
                    <a:bodyPr/>
                    <a:lstStyle/>
                    <a:p>
                      <a:r>
                        <a:rPr sz="1150">
                          <a:solidFill>
                            <a:srgbClr val="1F2328"/>
                          </a:solidFill>
                          <a:latin typeface="Calibri"/>
                        </a:rPr>
                        <a:t>Verify before making any of the above tools required in a curriculum.</a:t>
                      </a:r>
                    </a:p>
                  </a:txBody>
                  <a:tcPr>
                    <a:solidFill>
                      <a:srgbClr val="F6F8FC"/>
                    </a:solidFill>
                  </a:tcPr>
                </a:tc>
              </a:tr>
              <a:tr h="777240">
                <a:tc>
                  <a:txBody>
                    <a:bodyPr/>
                    <a:lstStyle/>
                    <a:p>
                      <a:r>
                        <a:rPr sz="1150">
                          <a:solidFill>
                            <a:srgbClr val="1F2328"/>
                          </a:solidFill>
                          <a:latin typeface="Calibri"/>
                        </a:rPr>
                        <a:t>Tenant / XMLA policy</a:t>
                      </a:r>
                    </a:p>
                  </a:txBody>
                  <a:tcPr>
                    <a:solidFill>
                      <a:srgbClr val="FFFFFF"/>
                    </a:solidFill>
                  </a:tcPr>
                </a:tc>
                <a:tc>
                  <a:txBody>
                    <a:bodyPr/>
                    <a:lstStyle/>
                    <a:p>
                      <a:r>
                        <a:rPr sz="1150">
                          <a:solidFill>
                            <a:srgbClr val="1F2328"/>
                          </a:solidFill>
                          <a:latin typeface="Calibri"/>
                        </a:rPr>
                        <a:t>Read-write XMLA endpoints, external tools setting, and workspace roles gate what these tools can actually do against the Service.</a:t>
                      </a:r>
                    </a:p>
                  </a:txBody>
                  <a:tcPr>
                    <a:solidFill>
                      <a:srgbClr val="FFFFFF"/>
                    </a:solidFill>
                  </a:tcPr>
                </a:tc>
                <a:tc>
                  <a:txBody>
                    <a:bodyPr/>
                    <a:lstStyle/>
                    <a:p>
                      <a:r>
                        <a:rPr sz="1150">
                          <a:solidFill>
                            <a:srgbClr val="1F2328"/>
                          </a:solidFill>
                          <a:latin typeface="Calibri"/>
                        </a:rPr>
                        <a:t>Tenant admin scope — confirm before promising Service-side diagnostics.</a:t>
                      </a:r>
                    </a:p>
                  </a:txBody>
                  <a:tcPr>
                    <a:solidFill>
                      <a:srgbClr val="FFFFFF"/>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3 offers a DAX Studio path AND an alternate path (Performance Analyzer + simpler visuals) so learners in policy-restricted environments still complete the exercise.</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12</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Lab Review and Benchmark Targets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Every optimization gets a before number, an after number, and the exact interaction used to produce both — captured from Performance Analyzer.</a:t>
            </a:r>
          </a:p>
          <a:p>
            <a:pPr>
              <a:lnSpc>
                <a:spcPct val="105000"/>
              </a:lnSpc>
              <a:spcAft>
                <a:spcPts val="1000"/>
              </a:spcAft>
              <a:buClr>
                <a:srgbClr val="1E2761"/>
              </a:buClr>
              <a:buFont typeface="Arial"/>
              <a:buChar char="•"/>
            </a:pPr>
            <a:r>
              <a:rPr sz="1450">
                <a:solidFill>
                  <a:srgbClr val="1F2328"/>
                </a:solidFill>
                <a:latin typeface="Calibri"/>
              </a:rPr>
              <a:t>Document what was changed (one thing per iteration) and what the tradeoff was: lower detail, disabled interaction, or a Verify-for-Gov feature.</a:t>
            </a:r>
          </a:p>
          <a:p>
            <a:pPr>
              <a:lnSpc>
                <a:spcPct val="105000"/>
              </a:lnSpc>
              <a:spcAft>
                <a:spcPts val="1000"/>
              </a:spcAft>
              <a:buClr>
                <a:srgbClr val="1E2761"/>
              </a:buClr>
              <a:buFont typeface="Arial"/>
              <a:buChar char="•"/>
            </a:pPr>
            <a:r>
              <a:rPr sz="1450">
                <a:solidFill>
                  <a:srgbClr val="1F2328"/>
                </a:solidFill>
                <a:latin typeface="Calibri"/>
              </a:rPr>
              <a:t>Production readiness signals: baseline captured, at least one visual optimization applied, model reduction plan documented, DAX rewrite uses VAR / measure branching, aggregation grain defined, incremental refresh parameters documented.</a:t>
            </a:r>
          </a:p>
          <a:p>
            <a:pPr>
              <a:lnSpc>
                <a:spcPct val="105000"/>
              </a:lnSpc>
              <a:spcAft>
                <a:spcPts val="1000"/>
              </a:spcAft>
              <a:buClr>
                <a:srgbClr val="1E2761"/>
              </a:buClr>
              <a:buFont typeface="Arial"/>
              <a:buChar char="•"/>
            </a:pPr>
            <a:r>
              <a:rPr sz="1450">
                <a:solidFill>
                  <a:srgbClr val="1F2328"/>
                </a:solidFill>
                <a:latin typeface="Calibri"/>
              </a:rPr>
              <a:t>Documentation expectations: reviewers see the before/after numbers, the change, the tradeoff, and the Gov status of any Verify-for-Gov feature used.</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Undocumented optimization is indistinguishable from luck — the next author can't reproduce it and the next report can't benefit from the lesson.</a:t>
            </a:r>
          </a:p>
          <a:p>
            <a:pPr>
              <a:lnSpc>
                <a:spcPct val="105000"/>
              </a:lnSpc>
              <a:spcAft>
                <a:spcPts val="1000"/>
              </a:spcAft>
              <a:buClr>
                <a:srgbClr val="E8B44A"/>
              </a:buClr>
              <a:buFont typeface="Arial"/>
              <a:buChar char="•"/>
            </a:pPr>
            <a:r>
              <a:rPr sz="1450">
                <a:solidFill>
                  <a:srgbClr val="1F2328"/>
                </a:solidFill>
                <a:latin typeface="Calibri"/>
              </a:rPr>
              <a:t>Explicit tradeoff notes are what makes an optimization acceptable to a governance reviewer instead of 'why did you disable cross-highlighting on that visual?'.</a:t>
            </a:r>
          </a:p>
          <a:p>
            <a:pPr>
              <a:lnSpc>
                <a:spcPct val="105000"/>
              </a:lnSpc>
              <a:spcAft>
                <a:spcPts val="1000"/>
              </a:spcAft>
              <a:buClr>
                <a:srgbClr val="E8B44A"/>
              </a:buClr>
              <a:buFont typeface="Arial"/>
              <a:buChar char="•"/>
            </a:pPr>
            <a:r>
              <a:rPr sz="1450">
                <a:solidFill>
                  <a:srgbClr val="1F2328"/>
                </a:solidFill>
                <a:latin typeface="Calibri"/>
              </a:rPr>
              <a:t>The production-readiness list doubles as the definition of 'done' for this module — and it maps directly to the lab's validation checklist.</a:t>
            </a:r>
          </a:p>
          <a:p>
            <a:pPr>
              <a:lnSpc>
                <a:spcPct val="105000"/>
              </a:lnSpc>
              <a:spcAft>
                <a:spcPts val="1000"/>
              </a:spcAft>
              <a:buClr>
                <a:srgbClr val="E8B44A"/>
              </a:buClr>
              <a:buFont typeface="Arial"/>
              <a:buChar char="•"/>
            </a:pPr>
            <a:r>
              <a:rPr sz="1450">
                <a:solidFill>
                  <a:srgbClr val="1F2328"/>
                </a:solidFill>
                <a:latin typeface="Calibri"/>
              </a:rPr>
              <a:t>Gov labeling on Verify-for-Gov features prevents promising something in a customer environment where the tenant doesn't yet support it.</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the lab's own Validation checklist enumerates exactly these before/after, tradeoff, and Gov-status expectations — revisit it as the module wraps.</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13 — WHAT YOU'LL BUILD</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Module Lab Walkthrough</a:t>
            </a:r>
          </a:p>
        </p:txBody>
      </p:sp>
      <p:sp>
        <p:nvSpPr>
          <p:cNvPr id="6" name="Rectangle 5"/>
          <p:cNvSpPr/>
          <p:nvPr/>
        </p:nvSpPr>
        <p:spPr>
          <a:xfrm>
            <a:off x="64008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1: Performance Analyzer — record baseline, capture DAX / visual / other time per visual, identify slowest candidate.</a:t>
            </a:r>
          </a:p>
        </p:txBody>
      </p:sp>
      <p:sp>
        <p:nvSpPr>
          <p:cNvPr id="9" name="Rectangle 8"/>
          <p:cNvSpPr/>
          <p:nvPr/>
        </p:nvSpPr>
        <p:spPr>
          <a:xfrm>
            <a:off x="64008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2: Model size and cardinality — flag unused columns, high-cardinality text, precision, date/time splits; produce a written reduction plan.</a:t>
            </a:r>
          </a:p>
        </p:txBody>
      </p:sp>
      <p:sp>
        <p:nvSpPr>
          <p:cNvPr id="12" name="Rectangle 11"/>
          <p:cNvSpPr/>
          <p:nvPr/>
        </p:nvSpPr>
        <p:spPr>
          <a:xfrm>
            <a:off x="64008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3: DAX Studio query timings (Verify for Gov) — Server Timings on a copied PA query. Alternate: simpler visuals + PA comparison.</a:t>
            </a:r>
          </a:p>
        </p:txBody>
      </p:sp>
      <p:sp>
        <p:nvSpPr>
          <p:cNvPr id="15" name="Rectangle 14"/>
          <p:cNvSpPr/>
          <p:nvPr/>
        </p:nvSpPr>
        <p:spPr>
          <a:xfrm>
            <a:off x="64008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4: Visual optimization — count visuals, consolidate, disable unneeded cross-highlight, re-measure page performance.</a:t>
            </a:r>
          </a:p>
        </p:txBody>
      </p:sp>
      <p:sp>
        <p:nvSpPr>
          <p:cNvPr id="18" name="Rectangle 17"/>
          <p:cNvSpPr/>
          <p:nvPr/>
        </p:nvSpPr>
        <p:spPr>
          <a:xfrm>
            <a:off x="630936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5: Aggregation table (Gov-ready / Verify for source) — pick fact, define Month/Category/Territory grain, map columns, discuss hit/miss.</a:t>
            </a:r>
          </a:p>
        </p:txBody>
      </p:sp>
      <p:sp>
        <p:nvSpPr>
          <p:cNvPr id="21" name="Rectangle 20"/>
          <p:cNvSpPr/>
          <p:nvPr/>
        </p:nvSpPr>
        <p:spPr>
          <a:xfrm>
            <a:off x="630936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6: Incremental refresh policy (Verify for Gov) — confirm RangeStart/RangeEnd DateTime params, archive/refresh windows, Service prerequisites.</a:t>
            </a:r>
          </a:p>
        </p:txBody>
      </p:sp>
      <p:sp>
        <p:nvSpPr>
          <p:cNvPr id="24" name="Rectangle 23"/>
          <p:cNvSpPr/>
          <p:nvPr/>
        </p:nvSpPr>
        <p:spPr>
          <a:xfrm>
            <a:off x="630936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Deliverable: before/after Performance Analyzer numbers plus tradeoff notes for every change made.</a:t>
            </a:r>
          </a:p>
        </p:txBody>
      </p:sp>
      <p:sp>
        <p:nvSpPr>
          <p:cNvPr id="27" name="Rectangle 26"/>
          <p:cNvSpPr/>
          <p:nvPr/>
        </p:nvSpPr>
        <p:spPr>
          <a:xfrm>
            <a:off x="630936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Optional: DAX Studio + VertiPaq Analyzer path for deeper column bloat and query-plan analysis where workstation policy allows.</a:t>
            </a:r>
          </a:p>
        </p:txBody>
      </p:sp>
      <p:sp>
        <p:nvSpPr>
          <p:cNvPr id="30" name="TextBox 29"/>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14 — WRAP-UP</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Knowledge Check &amp; Discussion</a:t>
            </a:r>
          </a:p>
        </p:txBody>
      </p:sp>
      <p:sp>
        <p:nvSpPr>
          <p:cNvPr id="6" name="Rectangle 5"/>
          <p:cNvSpPr/>
          <p:nvPr/>
        </p:nvSpPr>
        <p:spPr>
          <a:xfrm>
            <a:off x="64008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Performance Analyzer baseline was captured with a specific interaction, not just page load.</a:t>
            </a:r>
          </a:p>
        </p:txBody>
      </p:sp>
      <p:sp>
        <p:nvSpPr>
          <p:cNvPr id="9" name="Rectangle 8"/>
          <p:cNvSpPr/>
          <p:nvPr/>
        </p:nvSpPr>
        <p:spPr>
          <a:xfrm>
            <a:off x="64008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At least one visual optimization is documented with before/after numbers.</a:t>
            </a:r>
          </a:p>
        </p:txBody>
      </p:sp>
      <p:sp>
        <p:nvSpPr>
          <p:cNvPr id="12" name="Rectangle 11"/>
          <p:cNvSpPr/>
          <p:nvPr/>
        </p:nvSpPr>
        <p:spPr>
          <a:xfrm>
            <a:off x="64008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Model size / cardinality recommendations are written down (unused columns, high-cardinality fields, precision, date/time splits).</a:t>
            </a:r>
          </a:p>
        </p:txBody>
      </p:sp>
      <p:sp>
        <p:nvSpPr>
          <p:cNvPr id="15" name="Rectangle 14"/>
          <p:cNvSpPr/>
          <p:nvPr/>
        </p:nvSpPr>
        <p:spPr>
          <a:xfrm>
            <a:off x="64008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DAX optimization uses VAR / RETURN or measure branching — and the rewrite matches the original result.</a:t>
            </a:r>
          </a:p>
        </p:txBody>
      </p:sp>
      <p:sp>
        <p:nvSpPr>
          <p:cNvPr id="18" name="Rectangle 17"/>
          <p:cNvSpPr/>
          <p:nvPr/>
        </p:nvSpPr>
        <p:spPr>
          <a:xfrm>
            <a:off x="630936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Aggregation table grain is defined and mapped to detail columns; hit/miss behavior is understood.</a:t>
            </a:r>
          </a:p>
        </p:txBody>
      </p:sp>
      <p:sp>
        <p:nvSpPr>
          <p:cNvPr id="21" name="Rectangle 20"/>
          <p:cNvSpPr/>
          <p:nvPr/>
        </p:nvSpPr>
        <p:spPr>
          <a:xfrm>
            <a:off x="630936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Incremental refresh parameters (RangeStart, RangeEnd) and archive/refresh windows are documented.</a:t>
            </a:r>
          </a:p>
        </p:txBody>
      </p:sp>
      <p:sp>
        <p:nvSpPr>
          <p:cNvPr id="24" name="Rectangle 23"/>
          <p:cNvSpPr/>
          <p:nvPr/>
        </p:nvSpPr>
        <p:spPr>
          <a:xfrm>
            <a:off x="630936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DAX Studio, VertiPaq Analyzer, capacity metrics, and Service-side incremental refresh are all labeled Verify-for-Gov.</a:t>
            </a:r>
          </a:p>
        </p:txBody>
      </p:sp>
      <p:sp>
        <p:nvSpPr>
          <p:cNvPr id="27" name="Rectangle 26"/>
          <p:cNvSpPr/>
          <p:nvPr/>
        </p:nvSpPr>
        <p:spPr>
          <a:xfrm>
            <a:off x="630936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Before/after observations follow the interaction / before / change / after / tradeoff format and are ready for governance review.</a:t>
            </a:r>
          </a:p>
        </p:txBody>
      </p:sp>
      <p:sp>
        <p:nvSpPr>
          <p:cNvPr id="30" name="TextBox 29"/>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058400" cy="914400"/>
          </a:xfrm>
          <a:prstGeom prst="rect">
            <a:avLst/>
          </a:prstGeom>
          <a:noFill/>
        </p:spPr>
        <p:txBody>
          <a:bodyPr wrap="square" anchor="t" lIns="0" rIns="0" tIns="0" bIns="0">
            <a:spAutoFit/>
          </a:bodyPr>
          <a:lstStyle/>
          <a:p>
            <a:pPr algn="l">
              <a:lnSpc>
                <a:spcPct val="100000"/>
              </a:lnSpc>
              <a:spcAft>
                <a:spcPts val="0"/>
              </a:spcAft>
            </a:pPr>
            <a:r>
              <a:rPr sz="3600" b="1" i="0">
                <a:solidFill>
                  <a:srgbClr val="FFFFFF"/>
                </a:solidFill>
                <a:latin typeface="Cambria"/>
              </a:rPr>
              <a:t>Module 05 Complete</a:t>
            </a:r>
          </a:p>
        </p:txBody>
      </p:sp>
      <p:sp>
        <p:nvSpPr>
          <p:cNvPr id="4" name="TextBox 3"/>
          <p:cNvSpPr txBox="1"/>
          <p:nvPr/>
        </p:nvSpPr>
        <p:spPr>
          <a:xfrm>
            <a:off x="822960" y="3017520"/>
            <a:ext cx="10058400" cy="1280160"/>
          </a:xfrm>
          <a:prstGeom prst="rect">
            <a:avLst/>
          </a:prstGeom>
          <a:noFill/>
        </p:spPr>
        <p:txBody>
          <a:bodyPr wrap="square" anchor="t" lIns="0" rIns="0" tIns="0" bIns="0">
            <a:spAutoFit/>
          </a:bodyPr>
          <a:lstStyle/>
          <a:p>
            <a:pPr algn="l">
              <a:lnSpc>
                <a:spcPct val="115000"/>
              </a:lnSpc>
              <a:spcAft>
                <a:spcPts val="0"/>
              </a:spcAft>
            </a:pPr>
            <a:r>
              <a:rPr sz="1700" b="0" i="1">
                <a:solidFill>
                  <a:srgbClr val="CADCFC"/>
                </a:solidFill>
                <a:latin typeface="Calibri"/>
              </a:rPr>
              <a:t>Learners now have a repeatable measure-diagnose-tune loop and documented before/after evidence across the model, DAX, visual, refresh, and capacity layers.</a:t>
            </a:r>
          </a:p>
        </p:txBody>
      </p:sp>
      <p:sp>
        <p:nvSpPr>
          <p:cNvPr id="5" name="Rectangle 4"/>
          <p:cNvSpPr/>
          <p:nvPr/>
        </p:nvSpPr>
        <p:spPr>
          <a:xfrm>
            <a:off x="822960" y="4023360"/>
            <a:ext cx="10332720" cy="10058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160520"/>
            <a:ext cx="9875520" cy="777240"/>
          </a:xfrm>
          <a:prstGeom prst="rect">
            <a:avLst/>
          </a:prstGeom>
          <a:noFill/>
        </p:spPr>
        <p:txBody>
          <a:bodyPr wrap="square" anchor="ctr" lIns="0" rIns="0" tIns="0" bIns="0">
            <a:spAutoFit/>
          </a:bodyPr>
          <a:lstStyle/>
          <a:p>
            <a:pPr algn="l">
              <a:lnSpc>
                <a:spcPct val="100000"/>
              </a:lnSpc>
              <a:spcAft>
                <a:spcPts val="0"/>
              </a:spcAft>
            </a:pPr>
            <a:r>
              <a:rPr sz="1600" b="1" i="0">
                <a:solidFill>
                  <a:srgbClr val="E8B44A"/>
                </a:solidFill>
                <a:latin typeface="Calibri"/>
              </a:rPr>
              <a:t>Up next: Module 06: Advanced Analytics and AI-Assisted Insights — applying analytical visuals and AI features on the fast, well-tuned models you just built.</a:t>
            </a:r>
          </a:p>
        </p:txBody>
      </p:sp>
      <p:sp>
        <p:nvSpPr>
          <p:cNvPr id="7" name="TextBox 6"/>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CADCFC"/>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