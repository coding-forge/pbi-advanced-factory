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talk track: Welcome students to this module and explain that the goal is not to memorize features. The goal is to understand when a pattern helps authors build more trustworthy, maintainable, user-friendly Power BI solutions.</a:t>
            </a:r>
          </a:p>
          <a:p>
            <a:r>
              <a:t>Module framing: Frame this module as evidence-based optimization. Learners should measure before changing and document before/after results.</a:t>
            </a:r>
          </a:p>
          <a:p>
            <a:r>
              <a:t>Set expectations: presentation will introduce the theme, then the lab will let learners build or evaluate the pattern hands-on. Encourage questions about tradeoffs, not just button clicks.</a:t>
            </a:r>
          </a:p>
          <a:p>
            <a:r>
              <a:t>Further learning: Performance Analyzer: https://learn.microsoft.com/power-bi/create-reports/desktop-performance-analyzer | Optimization guidance: https://learn.microsoft.com/power-bi/guidance/power-bi-optimization | Aggregations: https://learn.microsoft.com/power-bi/transform-model/aggregations-advanced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Emphasize sequence and dependency. Explain what students should already know from prior modules and what this module adds on top.</a:t>
            </a:r>
          </a:p>
          <a:p>
            <a:r>
              <a:t>Module framing: Frame this module as evidence-based optimization. Learners should measure before changing and document before/after results.</a:t>
            </a:r>
          </a:p>
          <a:p>
            <a:r>
              <a:t>Transition: After this slide, move from the concept map into the specific pattern or lab activity.</a:t>
            </a:r>
          </a:p>
          <a:p>
            <a:r>
              <a:t>Further learning: Performance Analyzer: https://learn.microsoft.com/power-bi/create-reports/desktop-performance-analyzer | Optimization guidance: https://learn.microsoft.com/power-bi/guidance/power-bi-optimization | Aggregations: https://learn.microsoft.com/power-bi/transform-model/aggregations-advanced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1. Performance optimization mindset.</a:t>
            </a:r>
          </a:p>
          <a:p>
            <a:r>
              <a:t>Talking points to expand: Talking points, learner value, and lab connection Talking points • Measure first. • Identify the bottleneck. Why it helps • Change one thing. • Measure again. Lab connection Coverage: Covered. Use the lab README to demonstrate or discuss this topic. Review terms: again, bottleneck, mindset, thing. 03</a:t>
            </a:r>
          </a:p>
          <a:p>
            <a:r>
              <a:t>Why it matters: Frame this module as evidence-based optimization. Learners should measure before changing and document before/after results.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Performance Analyzer: https://learn.microsoft.com/power-bi/create-reports/desktop-performance-analyzer | Optimization guidance: https://learn.microsoft.com/power-bi/guidance/power-bi-optimization | Aggregations: https://learn.microsoft.com/power-bi/transform-model/aggregations-advanced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2. Performance layers.</a:t>
            </a:r>
          </a:p>
          <a:p>
            <a:r>
              <a:t>Talking points to expand: Talking points, learner value, and lab connection Talking points • Source system • Power Query • Semantic model Why it helps • DAX • Visual rendering Lab connection Coverage: Covered. Use the lab README to demonstrate or discuss this topic. Review terms: layers, rendering, system. 04</a:t>
            </a:r>
          </a:p>
          <a:p>
            <a:r>
              <a:t>Why it matters: Frame this module as evidence-based optimization. Learners should measure before changing and document before/after results.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Performance Analyzer: https://learn.microsoft.com/power-bi/create-reports/desktop-performance-analyzer | Optimization guidance: https://learn.microsoft.com/power-bi/guidance/power-bi-optimization | Aggregations: https://learn.microsoft.com/power-bi/transform-model/aggregations-advanced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3. Performance Analyzer.</a:t>
            </a:r>
          </a:p>
          <a:p>
            <a:r>
              <a:t>Talking points to expand: Talking points, learner value, and lab connection Talking points • Recording interactions • Visual display time • DAX query time Why it helps • Other/render time • Copying queries for deeper analysis Lab connection Coverage: Covered. Use the lab README to demonstrate or discuss this topic. Review terms: analysis, copying. 05</a:t>
            </a:r>
          </a:p>
          <a:p>
            <a:r>
              <a:t>Why it matters: Frame this module as evidence-based optimization. Learners should measure before changing and document before/after results.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Performance Analyzer: https://learn.microsoft.com/power-bi/create-reports/desktop-performance-analyzer | Optimization guidance: https://learn.microsoft.com/power-bi/guidance/power-bi-optimization | Aggregations: https://learn.microsoft.com/power-bi/transform-model/aggregations-advanced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4. Model size and cardinality.</a:t>
            </a:r>
          </a:p>
          <a:p>
            <a:r>
              <a:t>Talking points to expand: Talking points, learner value, and lab connection Talking points • Column cardinality • Data types • Precision Why it helps • Date/time splits • Unused columns Lab connection Coverage: Covered. Use the lab README to demonstrate or discuss this topic. Review terms: relationship, splits, types. 06</a:t>
            </a:r>
          </a:p>
          <a:p>
            <a:r>
              <a:t>Why it matters: Frame this module as evidence-based optimization. Learners should measure before changing and document before/after results.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Performance Analyzer: https://learn.microsoft.com/power-bi/create-reports/desktop-performance-analyzer | Optimization guidance: https://learn.microsoft.com/power-bi/guidance/power-bi-optimization | Aggregations: https://learn.microsoft.com/power-bi/transform-model/aggregations-advanced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5. DAX optimization.</a:t>
            </a:r>
          </a:p>
          <a:p>
            <a:r>
              <a:t>Talking points to expand: Talking points, learner value, and lab connection Talking points • Variables • Measure branching • Avoiding repeated logic Why it helps • Filter scope • Iterator caution Lab connection Coverage: Covered. Use the lab README to demonstrate or discuss this topic. Review terms: avoiding, caution, iterator, scope. 07</a:t>
            </a:r>
          </a:p>
          <a:p>
            <a:r>
              <a:t>Why it matters: Frame this module as evidence-based optimization. Learners should measure before changing and document before/after results.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Performance Analyzer: https://learn.microsoft.com/power-bi/create-reports/desktop-performance-analyzer | Optimization guidance: https://learn.microsoft.com/power-bi/guidance/power-bi-optimization | Aggregations: https://learn.microsoft.com/power-bi/transform-model/aggregations-advanced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6. Visual optimization.</a:t>
            </a:r>
          </a:p>
          <a:p>
            <a:r>
              <a:t>Talking points to expand: Talking points, learner value, and lab connection Talking points • Visual count • High-cardinality visuals • Tables and matrices Why it helps • Cross-highlighting • Custom visuals Lab connection Coverage: Covered. Use the lab README to demonstrate or discuss this topic. Review terms: complexity, custom, highlighting, matrices. 08</a:t>
            </a:r>
          </a:p>
          <a:p>
            <a:r>
              <a:t>Why it matters: Frame this module as evidence-based optimization. Learners should measure before changing and document before/after results.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Performance Analyzer: https://learn.microsoft.com/power-bi/create-reports/desktop-performance-analyzer | Optimization guidance: https://learn.microsoft.com/power-bi/guidance/power-bi-optimization | Aggregations: https://learn.microsoft.com/power-bi/transform-model/aggregations-advanced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7. Power Query and refresh optimization.</a:t>
            </a:r>
          </a:p>
          <a:p>
            <a:r>
              <a:t>Talking points to expand: Talking points, learner value, and lab connection Talking points • Query folding • Staging • Filtering early Why it helps • Removing columns early • Incremental refresh preparation Lab connection Coverage: Partial. Use the lab README to demonstrate or discuss this topic. Review terms: early, filtering, folding, preparation, removing. 09</a:t>
            </a:r>
          </a:p>
          <a:p>
            <a:r>
              <a:t>Why it matters: Frame this module as evidence-based optimization. Learners should measure before changing and document before/after results.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Performance Analyzer: https://learn.microsoft.com/power-bi/create-reports/desktop-performance-analyzer | Optimization guidance: https://learn.microsoft.com/power-bi/guidance/power-bi-optimization | Aggregations: https://learn.microsoft.com/power-bi/transform-model/aggregations-advanced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8. Aggregations.</a:t>
            </a:r>
          </a:p>
          <a:p>
            <a:r>
              <a:t>Talking points to expand: Talking points, learner value, and lab connection Talking points • Import aggregation tables • DirectQuery detail tables • Group-by columns Why it helps • Manage aggregations • Source validation Lab connection Coverage: Covered. Use the lab README to demonstrate or discuss this topic. Review terms: group, import, manage. 10</a:t>
            </a:r>
          </a:p>
          <a:p>
            <a:r>
              <a:t>Why it matters: Frame this module as evidence-based optimization. Learners should measure before changing and document before/after results.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Performance Analyzer: https://learn.microsoft.com/power-bi/create-reports/desktop-performance-analyzer | Optimization guidance: https://learn.microsoft.com/power-bi/guidance/power-bi-optimization | Aggregations: https://learn.microsoft.com/power-bi/transform-model/aggregations-advanced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9. DirectQuery and hybrid patterns.</a:t>
            </a:r>
          </a:p>
          <a:p>
            <a:r>
              <a:t>Talking points to expand: Talking points, learner value, and lab connection Talking points • Import vs. DirectQuery • Dual mode • Hybrid tables Why it helps • Large models • Tradeoffs Lab connection Coverage: Partial. Use the lab README to demonstrate or discuss this topic. Review terms: hybrid, import, large, tradeoffs. 11</a:t>
            </a:r>
          </a:p>
          <a:p>
            <a:r>
              <a:t>Why it matters: Frame this module as evidence-based optimization. Learners should measure before changing and document before/after results.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Performance Analyzer: https://learn.microsoft.com/power-bi/create-reports/desktop-performance-analyzer | Optimization guidance: https://learn.microsoft.com/power-bi/guidance/power-bi-optimization | Aggregations: https://learn.microsoft.com/power-bi/transform-model/aggregations-advanced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10. Service and capacity monitoring.</a:t>
            </a:r>
          </a:p>
          <a:p>
            <a:r>
              <a:t>Talking points to expand: Talking points, learner value, and lab connection Talking points • Refresh history • Dataset settings • Capacity metrics Why it helps • Admin monitoring • Gov validation requirements Lab connection Coverage: Covered. Use the lab README to demonstrate or discuss this topic. Review terms: admin, dataset, history, monitoring. 12</a:t>
            </a:r>
          </a:p>
          <a:p>
            <a:r>
              <a:t>Why it matters: Frame this module as evidence-based optimization. Learners should measure before changing and document before/after results.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Performance Analyzer: https://learn.microsoft.com/power-bi/create-reports/desktop-performance-analyzer | Optimization guidance: https://learn.microsoft.com/power-bi/guidance/power-bi-optimization | Aggregations: https://learn.microsoft.com/power-bi/transform-model/aggregations-advanced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11. External tools.</a:t>
            </a:r>
          </a:p>
          <a:p>
            <a:r>
              <a:t>Talking points to expand: Talking points, learner value, and lab connection Talking points • DAX Studio • VertiPaq Analyzer Why it helps • Tabular Editor • Customer workstation and tenant policy Lab connection Coverage: Covered. Use the lab README to demonstrate or discuss this topic. Review terms: customer, editor, tabular, tools. 13</a:t>
            </a:r>
          </a:p>
          <a:p>
            <a:r>
              <a:t>Why it matters: Frame this module as evidence-based optimization. Learners should measure before changing and document before/after results.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Performance Analyzer: https://learn.microsoft.com/power-bi/create-reports/desktop-performance-analyzer | Optimization guidance: https://learn.microsoft.com/power-bi/guidance/power-bi-optimization | Aggregations: https://learn.microsoft.com/power-bi/transform-model/aggregations-advanced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Treat this as a checkpoint. Ask learners to explain the pattern in their own words and identify where they would use it in a real report.</a:t>
            </a:r>
          </a:p>
          <a:p>
            <a:r>
              <a:t>Validation prompt: What would prove this worked? Look for a simple visual, expected filter behavior, or a documented before/after result.</a:t>
            </a:r>
          </a:p>
          <a:p>
            <a:r>
              <a:t>Further learning: Performance Analyzer: https://learn.microsoft.com/power-bi/create-reports/desktop-performance-analyzer | Optimization guidance: https://learn.microsoft.com/power-bi/guidance/power-bi-optimization | Aggregations: https://learn.microsoft.com/power-bi/transform-model/aggregations-advanced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Use this slide as the handoff for self-study. Do not read every link aloud. Point out which source is most relevant to the lab just completed and which source helps learners go deeper after class.</a:t>
            </a:r>
          </a:p>
          <a:p>
            <a:r>
              <a:t>Suggested prompt: Ask learners to bookmark the source that best matches the skill they want to improve next.</a:t>
            </a:r>
          </a:p>
          <a:p>
            <a:r>
              <a:t>Further learning: Performance Analyzer: https://learn.microsoft.com/power-bi/create-reports/desktop-performance-analyzer | Optimization guidance: https://learn.microsoft.com/power-bi/guidance/power-bi-optimization | Aggregations: https://learn.microsoft.com/power-bi/transform-model/aggregations-advanced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FFFFFF"/>
                </a:solidFill>
                <a:latin typeface="Aptos Display"/>
              </a:defRPr>
            </a:pPr>
            <a:r>
              <a:t>Performance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2C39A"/>
                </a:solidFill>
                <a:latin typeface="Aptos"/>
              </a:defRPr>
            </a:pPr>
            <a:r>
              <a:t>Power BI Advanced Factory teaching deck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91440" cy="12344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What students learn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Key concepts and talking points from the module outline.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828800"/>
            <a:ext cx="91440" cy="123444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How the topic helps authors and report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91440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How labs connect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Where learners apply the theme hands-on.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Module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this to introduce the section before hands-on labs.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143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1. Performance optimization mindset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Measure first.; Identify the bottleneck.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2. Performance layers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Source system; Power Query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286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3. Performance Analyzer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Recording interactions; Visual display 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286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4. Model size and cardinality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Column cardinality; Data types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429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5. DAX optimization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Variables; Measure branching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429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6. Visual optimization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Visual count; High-cardinality visuals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4572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7. Power Query and refresh optimization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Query folding; Staging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572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8. Aggregations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Import aggregation tables; DirectQuery detail tables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1. Performance optimization mindset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Measure first.</a:t>
            </a:r>
            <a:br/>
            <a:r>
              <a:t>• Identify the bottleneck.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Change one thing.</a:t>
            </a:r>
            <a:br/>
            <a:r>
              <a:t>• Measure again.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again, bottleneck, mindset, thing.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2. Performance layers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Source system</a:t>
            </a:r>
            <a:br/>
            <a:r>
              <a:t>• Power Query</a:t>
            </a:r>
            <a:br/>
            <a:r>
              <a:t>• Semantic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DAX</a:t>
            </a:r>
            <a:br/>
            <a:r>
              <a:t>• Visual rendering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layers, rendering, system.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3. Performance Analyzer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Recording interactions</a:t>
            </a:r>
            <a:br/>
            <a:r>
              <a:t>• Visual display time</a:t>
            </a:r>
            <a:br/>
            <a:r>
              <a:t>• DAX query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Other/render time</a:t>
            </a:r>
            <a:br/>
            <a:r>
              <a:t>• Copying queries for deeper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analysis, copying.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4. Model size and cardinality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Column cardinality</a:t>
            </a:r>
            <a:br/>
            <a:r>
              <a:t>• Data types</a:t>
            </a:r>
            <a:br/>
            <a:r>
              <a:t>• Precision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Date/time splits</a:t>
            </a:r>
            <a:br/>
            <a:r>
              <a:t>• Unused columns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relationship, splits, types.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5. DAX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Variables</a:t>
            </a:r>
            <a:br/>
            <a:r>
              <a:t>• Measure branching</a:t>
            </a:r>
            <a:br/>
            <a:r>
              <a:t>• Avoiding repeated logic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Filter scope</a:t>
            </a:r>
            <a:br/>
            <a:r>
              <a:t>• Iterator caution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avoiding, caution, iterator, scope.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6. Visual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Visual count</a:t>
            </a:r>
            <a:br/>
            <a:r>
              <a:t>• High-cardinality visuals</a:t>
            </a:r>
            <a:br/>
            <a:r>
              <a:t>• Tables and matrices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Cross-highlighting</a:t>
            </a:r>
            <a:br/>
            <a:r>
              <a:t>• Custom visuals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complexity, custom, highlighting, matrices.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7. Power Query and refresh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Query folding</a:t>
            </a:r>
            <a:br/>
            <a:r>
              <a:t>• Staging</a:t>
            </a:r>
            <a:br/>
            <a:r>
              <a:t>• Filtering early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Removing columns early</a:t>
            </a:r>
            <a:br/>
            <a:r>
              <a:t>• Incremental refresh preparation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early, filtering, folding, preparation, removing.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8. Aggregations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Import aggregation tables</a:t>
            </a:r>
            <a:br/>
            <a:r>
              <a:t>• DirectQuery detail tables</a:t>
            </a:r>
            <a:br/>
            <a:r>
              <a:t>• Group-by columns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Manage aggregations</a:t>
            </a:r>
            <a:br/>
            <a:r>
              <a:t>• Source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group, import, manage.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9. DirectQuery and hybrid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Import vs. DirectQuery</a:t>
            </a:r>
            <a:br/>
            <a:r>
              <a:t>• Dual mode</a:t>
            </a:r>
            <a:br/>
            <a:r>
              <a:t>• Hybrid tables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Large models</a:t>
            </a:r>
            <a:br/>
            <a:r>
              <a:t>• Tradeoffs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hybrid, import, large, tradeoffs.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10. Service and capacity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Refresh history</a:t>
            </a:r>
            <a:br/>
            <a:r>
              <a:t>• Dataset settings</a:t>
            </a:r>
            <a:br/>
            <a:r>
              <a:t>• Capacity metrics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Admin monitoring</a:t>
            </a:r>
            <a:br/>
            <a:r>
              <a:t>• Gov validation requirements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admin, dataset, history, monitoring.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11. External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DAX Studio</a:t>
            </a:r>
            <a:br/>
            <a:r>
              <a:t>• VertiPaq Analyzer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Tabular Editor</a:t>
            </a:r>
            <a:br/>
            <a:r>
              <a:t>• Customer workstation and tenant policy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customer, editor, tabular, tools.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12. Lab review and benchmark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Before/after observations</a:t>
            </a:r>
            <a:br/>
            <a:r>
              <a:t>• Production readiness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Documentation expectations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benchmark, documentation, expectations, production, targets.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Sources and further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these official Microsoft docs for deeper study.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43000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52728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guidance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https://learn.microsoft.com/power-bi/guidance/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92807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92807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02536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Desktop docs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https://learn.microsoft.com/power-bi/fundamentals/desktop-getting-started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42615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42615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52344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Query M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https://learn.microsoft.com/powerquery-m/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92423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392423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502151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DAX reference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https://learn.microsoft.com/dax/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42231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142231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59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Project files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https://learn.microsoft.com/power-bi/developer/projects/projects-overview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