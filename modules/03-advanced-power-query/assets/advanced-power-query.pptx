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talk track: Welcome students to this module and explain that the goal is not to memorize features. The goal is to understand when a pattern helps authors build more trustworthy, maintainable, user-friendly Power BI solutions.</a:t>
            </a:r>
          </a:p>
          <a:p>
            <a:r>
              <a:t>Module framing: Frame this module as repeatable data preparation. Emphasize staging, parameters, source lineage, reusable functions, and visible error review.</a:t>
            </a:r>
          </a:p>
          <a:p>
            <a:r>
              <a:t>Set expectations: presentation will introduce the theme, then the lab will let learners build or evaluate the pattern hands-on. Encourage questions about tradeoffs, not just button clicks.</a:t>
            </a:r>
          </a:p>
          <a:p>
            <a:r>
              <a:t>Further learning: Power Query M language: https://learn.microsoft.com/powerquery-m/ | Query parameters: https://learn.microsoft.com/power-query/power-query-query-parameters | Error handling: https://learn.microsoft.com/power-query/dealing-with-errors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guidance: Emphasize sequence and dependency. Explain what students should already know from prior modules and what this module adds on top.</a:t>
            </a:r>
          </a:p>
          <a:p>
            <a:r>
              <a:t>Module framing: Frame this module as repeatable data preparation. Emphasize staging, parameters, source lineage, reusable functions, and visible error review.</a:t>
            </a:r>
          </a:p>
          <a:p>
            <a:r>
              <a:t>Transition: After this slide, move from the concept map into the specific pattern or lab activity.</a:t>
            </a:r>
          </a:p>
          <a:p>
            <a:r>
              <a:t>Further learning: Power Query M language: https://learn.microsoft.com/powerquery-m/ | Query parameters: https://learn.microsoft.com/power-query/power-query-query-parameters | Error handling: https://learn.microsoft.com/power-query/dealing-with-errors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1. Why Power Query architecture matters.</a:t>
            </a:r>
          </a:p>
          <a:p>
            <a:r>
              <a:t>Talking points to expand: Talking points, learner value, and lab connection Talking points • Transformation logic is part of the solution. • One long query is hard to test and maintain. Why it helps • Staging makes intent visible. Lab connection Coverage: Covered. Use the lab README to demonstrate or discuss this topic. Review terms: intent, makes, matters, solution, visible. 03</a:t>
            </a:r>
          </a:p>
          <a:p>
            <a:r>
              <a:t>Why it matters: Frame this module as repeatable data preparation. Emphasize staging, parameters, source lineage, reusable functions, and visible error review.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Query M language: https://learn.microsoft.com/powerquery-m/ | Query parameters: https://learn.microsoft.com/power-query/power-query-query-parameters | Error handling: https://learn.microsoft.com/power-query/dealing-with-errors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2. Staging query pattern.</a:t>
            </a:r>
          </a:p>
          <a:p>
            <a:r>
              <a:t>Talking points to expand: Talking points, learner value, and lab connection Talking points • Raw source queries • Staging queries Why it helps • Final model queries • Load-enabled vs. load-disabled queries Lab connection Coverage: Covered. Use the lab README to demonstrate or discuss this topic. Review terms: none. 04</a:t>
            </a:r>
          </a:p>
          <a:p>
            <a:r>
              <a:t>Why it matters: Frame this module as repeatable data preparation. Emphasize staging, parameters, source lineage, reusable functions, and visible error review.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Query M language: https://learn.microsoft.com/powerquery-m/ | Query parameters: https://learn.microsoft.com/power-query/power-query-query-parameters | Error handling: https://learn.microsoft.com/power-query/dealing-with-errors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3. Folder-combine pattern.</a:t>
            </a:r>
          </a:p>
          <a:p>
            <a:r>
              <a:t>Talking points to expand: Talking points, learner value, and lab connection Talking points • File filters • Sample file transformation • Schema consistency Why it helps • Hidden/temp file handling • Future monthly files Lab connection Coverage: Covered. Use the lab README to demonstrate or discuss this topic. Review terms: consistency, future, hidden. 05</a:t>
            </a:r>
          </a:p>
          <a:p>
            <a:r>
              <a:t>Why it matters: Frame this module as repeatable data preparation. Emphasize staging, parameters, source lineage, reusable functions, and visible error review.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Query M language: https://learn.microsoft.com/powerquery-m/ | Query parameters: https://learn.microsoft.com/power-query/power-query-query-parameters | Error handling: https://learn.microsoft.com/power-query/dealing-with-errors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4. M language fundamentals.</a:t>
            </a:r>
          </a:p>
          <a:p>
            <a:r>
              <a:t>Talking points to expand: Talking points, learner value, and lab connection Talking points • Applied steps • Step references Why it helps • Lists, records, and tables • Generated M vs. handwritten M Lab connection Coverage: Partial. Use the lab README to demonstrate or discuss this topic. Review terms: fundamentals, handwritten, language, lists, records. 06</a:t>
            </a:r>
          </a:p>
          <a:p>
            <a:r>
              <a:t>Why it matters: Frame this module as repeatable data preparation. Emphasize staging, parameters, source lineage, reusable functions, and visible error review.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Query M language: https://learn.microsoft.com/powerquery-m/ | Query parameters: https://learn.microsoft.com/power-query/power-query-query-parameters | Error handling: https://learn.microsoft.com/power-query/dealing-with-errors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5. Parameters.</a:t>
            </a:r>
          </a:p>
          <a:p>
            <a:r>
              <a:t>Talking points to expand: Talking points, learner value, and lab connection Talking points • Source path parameters • Environment switching Why it helps • RangeStart and RangeEnd • Parameter governance Lab connection Coverage: Covered. Use the lab README to demonstrate or discuss this topic. Review terms: governance. 07</a:t>
            </a:r>
          </a:p>
          <a:p>
            <a:r>
              <a:t>Why it matters: Frame this module as repeatable data preparation. Emphasize staging, parameters, source lineage, reusable functions, and visible error review.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Query M language: https://learn.microsoft.com/powerquery-m/ | Query parameters: https://learn.microsoft.com/power-query/power-query-query-parameters | Error handling: https://learn.microsoft.com/power-query/dealing-with-errors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6. Custom functions.</a:t>
            </a:r>
          </a:p>
          <a:p>
            <a:r>
              <a:t>Talking points to expand: Talking points, learner value, and lab connection Talking points • Function inputs • Reusable cleanup logic Why it helps • Invoking functions • Testing functions Lab connection Coverage: Covered. Use the lab README to demonstrate or discuss this topic. Review terms: inputs, invoking, testing. 08</a:t>
            </a:r>
          </a:p>
          <a:p>
            <a:r>
              <a:t>Why it matters: Frame this module as repeatable data preparation. Emphasize staging, parameters, source lineage, reusable functions, and visible error review.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Query M language: https://learn.microsoft.com/powerquery-m/ | Query parameters: https://learn.microsoft.com/power-query/power-query-query-parameters | Error handling: https://learn.microsoft.com/power-query/dealing-with-errors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7. Query folding.</a:t>
            </a:r>
          </a:p>
          <a:p>
            <a:r>
              <a:t>Talking points to expand: Talking points, learner value, and lab connection Talking points • What folds • Why folding matters • View Native Query Why it helps • Folding blockers • Connector dependency Lab connection Coverage: Partial. Use the lab README to demonstrate or discuss this topic. Review terms: blockers, dependency, folds, matters. 09</a:t>
            </a:r>
          </a:p>
          <a:p>
            <a:r>
              <a:t>Why it matters: Frame this module as repeatable data preparation. Emphasize staging, parameters, source lineage, reusable functions, and visible error review.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Query M language: https://learn.microsoft.com/powerquery-m/ | Query parameters: https://learn.microsoft.com/power-query/power-query-query-parameters | Error handling: https://learn.microsoft.com/power-query/dealing-with-errors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8. Native queries and source systems.</a:t>
            </a:r>
          </a:p>
          <a:p>
            <a:r>
              <a:t>Talking points to expand: Talking points, learner value, and lab connection Talking points • When native queries help • When native queries hurt maintainability Why it helps • Security and gateway considerations Lab connection Coverage: Partial. Use the lab README to demonstrate or discuss this topic. Review terms: considerations, maintainability, security, systems. 10</a:t>
            </a:r>
          </a:p>
          <a:p>
            <a:r>
              <a:t>Why it matters: Frame this module as repeatable data preparation. Emphasize staging, parameters, source lineage, reusable functions, and visible error review.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Query M language: https://learn.microsoft.com/powerquery-m/ | Query parameters: https://learn.microsoft.com/power-query/power-query-query-parameters | Error handling: https://learn.microsoft.com/power-query/dealing-with-errors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9. Data quality and errors.</a:t>
            </a:r>
          </a:p>
          <a:p>
            <a:r>
              <a:t>Talking points to expand: Talking points, learner value, and lab connection Talking points • Explicit types • Replacing errors Why it helps • Keeping error rows for review • Business-rule checks Lab connection Coverage: Partial. Use the lab README to demonstrate or discuss this topic. Review terms: business, checks, errors, keeping, replacing. 11</a:t>
            </a:r>
          </a:p>
          <a:p>
            <a:r>
              <a:t>Why it matters: Frame this module as repeatable data preparation. Emphasize staging, parameters, source lineage, reusable functions, and visible error review.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Query M language: https://learn.microsoft.com/powerquery-m/ | Query parameters: https://learn.microsoft.com/power-query/power-query-query-parameters | Error handling: https://learn.microsoft.com/power-query/dealing-with-errors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10. Incremental refresh preparation.</a:t>
            </a:r>
          </a:p>
          <a:p>
            <a:r>
              <a:t>Talking points to expand: Talking points, learner value, and lab connection Talking points • DateTime requirements • RangeStart and RangeEnd Why it helps • Filtering fact data • Service policy validation Lab connection Coverage: Covered. Use the lab README to demonstrate or discuss this topic. Review terms: none. 12</a:t>
            </a:r>
          </a:p>
          <a:p>
            <a:r>
              <a:t>Why it matters: Frame this module as repeatable data preparation. Emphasize staging, parameters, source lineage, reusable functions, and visible error review.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Query M language: https://learn.microsoft.com/powerquery-m/ | Query parameters: https://learn.microsoft.com/power-query/power-query-query-parameters | Error handling: https://learn.microsoft.com/power-query/dealing-with-errors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11. Azure Government considerations.</a:t>
            </a:r>
          </a:p>
          <a:p>
            <a:r>
              <a:t>Talking points to expand: Talking points, learner value, and lab connection Talking points • Core Desktop transformations are Gov-ready. • Connectors and dataflows require validation. Why it helps • Dataflows Gen2 is commercial-focused unless confirmed. Lab connection Coverage: Covered. Use the lab README to demonstrate or discuss this topic. Review terms: confirmed, considerations. 13</a:t>
            </a:r>
          </a:p>
          <a:p>
            <a:r>
              <a:t>Why it matters: Frame this module as repeatable data preparation. Emphasize staging, parameters, source lineage, reusable functions, and visible error review.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Query M language: https://learn.microsoft.com/powerquery-m/ | Query parameters: https://learn.microsoft.com/power-query/power-query-query-parameters | Error handling: https://learn.microsoft.com/power-query/dealing-with-errors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guidance: Treat this as a checkpoint. Ask learners to explain the pattern in their own words and identify where they would use it in a real report.</a:t>
            </a:r>
          </a:p>
          <a:p>
            <a:r>
              <a:t>Validation prompt: What would prove this worked? Look for a simple visual, expected filter behavior, or a documented before/after result.</a:t>
            </a:r>
          </a:p>
          <a:p>
            <a:r>
              <a:t>Further learning: Power Query M language: https://learn.microsoft.com/powerquery-m/ | Query parameters: https://learn.microsoft.com/power-query/power-query-query-parameters | Error handling: https://learn.microsoft.com/power-query/dealing-with-errors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guidance: Use this slide as the handoff for self-study. Do not read every link aloud. Point out which source is most relevant to the lab just completed and which source helps learners go deeper after class.</a:t>
            </a:r>
          </a:p>
          <a:p>
            <a:r>
              <a:t>Suggested prompt: Ask learners to bookmark the source that best matches the skill they want to improve next.</a:t>
            </a:r>
          </a:p>
          <a:p>
            <a:r>
              <a:t>Further learning: Power Query M language: https://learn.microsoft.com/powerquery-m/ | Query parameters: https://learn.microsoft.com/power-query/power-query-query-parameters | Error handling: https://learn.microsoft.com/power-query/dealing-with-errors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Aptos Display"/>
              </a:defRPr>
            </a:pPr>
            <a:r>
              <a:t>Advanced Power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2C39A"/>
                </a:solidFill>
                <a:latin typeface="Aptos"/>
              </a:defRPr>
            </a:pPr>
            <a:r>
              <a:t>Power BI Advanced Factory teaching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91440" cy="1234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What students learn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Key concepts and talking points from the module outline.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91440" cy="123444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matters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How the topic helps authors and report consumers.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828800"/>
            <a:ext cx="91440" cy="1234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How labs connect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Where learners apply the theme hands-on.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Module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this to introduce the section before hands-on labs.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1. Why Power Query architecture matters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Transformation logic is part of the solution.; One long query is hard to test and maintain.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2. Staging query pattern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Raw source queries; Staging queries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86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3. Folder-combine pattern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File filters; Sample file transformation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286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4. M language fundamentals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Applied steps; Step references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429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5. Parameters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Source path parameters; Environment switching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429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6. Custom functions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Function inputs; Reusable cleanup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572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7. Query folding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What folds; Why folding matters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572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8. Native queries and source systems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When native queries help; When native queries hurt maintainability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1. Why Power Query architecture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Transformation logic is part of the solution.</a:t>
            </a:r>
            <a:br/>
            <a:r>
              <a:t>• One long query is hard to test and maintain.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Staging makes intent visible.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intent, makes, matters, solution, visible.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2. Staging query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Raw source queries</a:t>
            </a:r>
            <a:br/>
            <a:r>
              <a:t>• Staging queries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Final model queries</a:t>
            </a:r>
            <a:br/>
            <a:r>
              <a:t>• Load-enabled vs. load-disabled queries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none.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3. Folder-combine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File filters</a:t>
            </a:r>
            <a:br/>
            <a:r>
              <a:t>• Sample file transformation</a:t>
            </a:r>
            <a:br/>
            <a:r>
              <a:t>• Schema consistency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Hidden/temp file handling</a:t>
            </a:r>
            <a:br/>
            <a:r>
              <a:t>• Future monthly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consistency, future, hidden.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4. M language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Applied steps</a:t>
            </a:r>
            <a:br/>
            <a:r>
              <a:t>• Step references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Lists, records, and tables</a:t>
            </a:r>
            <a:br/>
            <a:r>
              <a:t>• Generated M vs. handwritten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Partial. Use the lab README to demonstrate or discuss this topic. Review terms: fundamentals, handwritten, language, lists,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5.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Source path parameters</a:t>
            </a:r>
            <a:br/>
            <a:r>
              <a:t>• Environment switching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RangeStart and RangeEnd</a:t>
            </a:r>
            <a:br/>
            <a:r>
              <a:t>• Parameter 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governance.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6. Custom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Function inputs</a:t>
            </a:r>
            <a:br/>
            <a:r>
              <a:t>• Reusable cleanup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Invoking functions</a:t>
            </a:r>
            <a:br/>
            <a:r>
              <a:t>• Testing functions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inputs, invoking, testing.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7. Query folding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What folds</a:t>
            </a:r>
            <a:br/>
            <a:r>
              <a:t>• Why folding matters</a:t>
            </a:r>
            <a:br/>
            <a:r>
              <a:t>• View Native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Folding blockers</a:t>
            </a:r>
            <a:br/>
            <a:r>
              <a:t>• Connector dependency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Partial. Use the lab README to demonstrate or discuss this topic. Review terms: blockers, dependency, folds, matters.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8. Native queries and source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When native queries help</a:t>
            </a:r>
            <a:br/>
            <a:r>
              <a:t>• When native queries hurt maintainability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Security and gateway considerations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Partial. Use the lab README to demonstrate or discuss this topic. Review terms: considerations, maintainability, security,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9. Data quality and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Explicit types</a:t>
            </a:r>
            <a:br/>
            <a:r>
              <a:t>• Replacing errors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Keeping error rows for review</a:t>
            </a:r>
            <a:br/>
            <a:r>
              <a:t>• Business-rule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Partial. Use the lab README to demonstrate or discuss this topic. Review terms: business, checks, errors, keeping, replacing.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10. Incremental refresh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DateTime requirements</a:t>
            </a:r>
            <a:br/>
            <a:r>
              <a:t>• RangeStart and RangeEnd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Filtering fact data</a:t>
            </a:r>
            <a:br/>
            <a:r>
              <a:t>• Service policy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none.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11. Azure Government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Core Desktop transformations are Gov-ready.</a:t>
            </a:r>
            <a:br/>
            <a:r>
              <a:t>• Connectors and dataflows require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Dataflows Gen2 is commercial-focused unless confirmed.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confirmed, considerations.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12. Lab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Staged solution</a:t>
            </a:r>
            <a:br/>
            <a:r>
              <a:t>• Folder combine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Parameters and functions</a:t>
            </a:r>
            <a:br/>
            <a:r>
              <a:t>• Validation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Sources and further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these official Microsoft docs for deeper 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52728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guidance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https://learn.microsoft.com/power-bi/guidance/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92807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92807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02536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Desktop docs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https://learn.microsoft.com/power-bi/fundamentals/desktop-getting-started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42615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42615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52344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Query M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https://learn.microsoft.com/powerquery-m/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92423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92423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1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DAX reference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https://learn.microsoft.com/dax/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42231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42231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59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Project files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https://learn.microsoft.com/power-bi/developer/projects/projects-overview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