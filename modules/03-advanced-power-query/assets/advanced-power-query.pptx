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to Module 3. Frame this module as the 'how the data actually gets in' half of the semantic-model story: Module 1 designed the shape of the model, Module 2 wrote measures on top of it, and Module 3 is about the transformation layer that feeds it — the M queries that turn raw monthly CSV extracts into clean, governed, model-ready tables.</a:t>
            </a:r>
          </a:p>
          <a:p>
            <a:r>
              <a:t>Set the stakes: in real projects, the vast majority of pain — slow refreshes, unexplained totals, broken relationships — traces back to Power Query, not to DAX or the report canvas. Today is about the patterns that prevent that: staging, parameters, custom functions, folding, and data quality checks.</a:t>
            </a:r>
          </a:p>
          <a:p>
            <a:r>
              <a:t>Preview the lab context: students work with three synthetic monthly order files (orders-2026-01/02/03.csv) plus a product-category reference, all pulled from raw GitHub URLs via the Web connector, and they build a staged pipeline that ends in a single FactOrders query.</a:t>
            </a:r>
          </a:p>
          <a:p>
            <a:r>
              <a:t>Call out the Azure Government angle up front: core Desktop authoring (staging, parameters, custom functions, folder-combine on local files) is Gov-ready. Query folding depends on the source, incremental refresh in the Service is Verify for Gov, and Dataflows Gen2 is commercial-focused. We'll flag each one as it comes up rather than saving it for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through the fourteen items quickly, grouping them into three arcs: architecture and mechanics (topics 1-4), reusability (parameters and functions, topics 5-6), and production concerns (folding, native queries, data quality, incremental refresh, Gov, topics 7-11), followed by the lab review and wrap-up.</a:t>
            </a:r>
          </a:p>
          <a:p>
            <a:r>
              <a:t>Flag which topics are hands-on versus conceptual: staging, folder-combine, parameters, custom functions, data quality, and incremental refresh preparation are all hands-on in the lab. Query folding and native queries are largely conceptual here because our source is a Web-hosted CSV, which doesn't fold.</a:t>
            </a:r>
          </a:p>
          <a:p>
            <a:r>
              <a:t>Tell students the lab walkthrough slide near the end (topic 13) is the literal table of contents for their keyboard time — they don't need to memorize the agenda now, we'll re-anchor to the seven lab exercises before they start.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mindset shift: Power Query is code. It lives in source control (PBIP format), it gets reviewed, and it deserves the same architectural care you'd give a SQL view stack or a Python pipeline. Treating it as 'a one-off cleanup wizard' is the root cause of most Power Query pain in real projects.</a:t>
            </a:r>
          </a:p>
          <a:p>
            <a:r>
              <a:t>Explain the monolithic-query failure mode concretely: when everything lives in a single query with 40+ generated steps, testing means running the whole thing end to end, and 'what changed?' in a code review becomes almost impossible to answer. Splitting the same logic into raw / staging / final layers is not more code — it's the same code, organized so its intent is visible in the object names.</a:t>
            </a:r>
          </a:p>
          <a:p>
            <a:r>
              <a:t>Anchor the pattern to the exact names students will use in Lab 03: raw queries are named with a 'raw_' prefix (raw_Orders_2026_01), staging queries with 'stg_' (stg_OrdersCombined), and the final model-loaded query gets the business name (FactOrders). Tell them the naming isn't cosmetic — it's the primary review signal.</a:t>
            </a:r>
          </a:p>
          <a:p>
            <a:r>
              <a:t>End with the load-enabled rule: only FactOrders gets loaded into the model. Every raw and staging query has Enable load unchecked. Ask the room why that matters, and steer them toward the answer: report authors should only see the tables they're meant to build visuals from, not the plumbing.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row by row — this is the architectural blueprint for the entire lab, so it earns real airtime.</a:t>
            </a:r>
          </a:p>
          <a:p>
            <a:r>
              <a:t>For the raw layer, stress 'minimal transformation': the only things a raw_ query should do are connect to the source, promote headers if needed, and add a source file name column for lineage. Anything more (typing, cleanup, filtering) belongs downstream so raw stays a faithful mirror of the source.</a:t>
            </a:r>
          </a:p>
          <a:p>
            <a:r>
              <a:t>For the staging layer, call out the specific menu path from the lab: Home &gt; Append Queries &gt; Append Queries as New, then choose 'Three or more tables' and add all three raw queries in order. The 'as New' matters — it creates a new query (stg_OrdersCombined) instead of destructively modifying one of the raw queries.</a:t>
            </a:r>
          </a:p>
          <a:p>
            <a:r>
              <a:t>For the final model layer, this is where explicit types, fn_CleanText invocation, and the ValidRows filter (rows where DataQualityIssue = "") all live — it's the one query that ships into the semantic model.</a:t>
            </a:r>
          </a:p>
          <a:p>
            <a:r>
              <a:t>Draw the Reference-vs-Duplicate distinction explicitly for err_OrdersReview: Reference means it shares stg_OrdersCombined's logic upstream, so if you fix a bug in staging both queries benefit. Duplicate would copy the M and silently drift over time. This is a common Power Query anti-pattern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up front why the lab uses Web URLs instead of a Folder connector: the raw GitHub URLs are a classroom-friendly source that everyone can reach without shared storage, but the pattern — raw per file, add lineage, append, then type — is identical to production folder combine.</a:t>
            </a:r>
          </a:p>
          <a:p>
            <a:r>
              <a:t>Talk about the hidden-file trap concretely: in real projects, someone opens the shared folder in Excel, Excel creates a lock file called ~$orders-2026-04.csv, and the next Power Query refresh fails because it tries to parse that lock file as CSV. The fix is always to filter file names explicitly rather than 'combine everything'.</a:t>
            </a:r>
          </a:p>
          <a:p>
            <a:r>
              <a:t>Explain the sample-file transformation model: when you use Combine Files from a folder, Power Query creates a hidden 'Transform Sample File' query. Any change you make there is applied to every file. If you edit the combined query directly to fix a per-file issue, next month's file won't get the fix. Teach students to always go back to the sample file query for per-file logic.</a:t>
            </a:r>
          </a:p>
          <a:p>
            <a:r>
              <a:t>Close with the lineage point from Exercise 2: adding a SourceFile column before appending costs almost nothing and pays back the first time someone asks 'which month did this bad OrderID come from?' — it's a one-step troubleshooting win.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'you need to be able to read M' checkpoint before the parameters and custom-functions topics. Don't try to teach M syntax exhaustively — focus on the four value types (table, list, record, function) and how applied steps chain.</a:t>
            </a:r>
          </a:p>
          <a:p>
            <a:r>
              <a:t>For applied steps, show the let/in structure on the board or in Advanced Editor: each step is just a named let-binding, and the query returns whatever the 'in' clause names. Renaming a step in the Applied Steps pane rewrites every reference to it in the M source — that's why renaming is safe and highly recommended.</a:t>
            </a:r>
          </a:p>
          <a:p>
            <a:r>
              <a:t>For lists and records, use the Exercise 5 example directly: the Issues expression builds a list ({...}) of issue strings, List.RemoveNulls trims the nulls, Text.Combine joins them with '; '. Meanwhile, [OrderDate] and [Quantity] are record field accesses — same syntax as records everywhere else in M.</a:t>
            </a:r>
          </a:p>
          <a:p>
            <a:r>
              <a:t>Wrap up with the generated-vs-handwritten distinction. Generated M is the safe default; it's what the UI produces, and it's fine to ship. Handwritten M is for cases where the UI can't express what you need (like Exercise 5's multi-issue check). Teach students that handwritten M lives in Advanced Editor, and they should rename the step first so its intent survives the round-trip.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parameters as the anti-hard-coding tool. Every hard-coded string in a Power Query script is a future migration problem — the base URL, environment name, and incremental-refresh window all belong in named parameters that a reviewer can find in one place.</a:t>
            </a:r>
          </a:p>
          <a:p>
            <a:r>
              <a:t>Walk the five required parameters using the table. RawDataBaseUrl is the only one that's structurally required for the Web-source path to work in the lab; every raw_Orders query builds its URL by concatenating RawDataBaseUrl with the monthly file name.</a:t>
            </a:r>
          </a:p>
          <a:p>
            <a:r>
              <a:t>Explain SourceFolderPath and EnvironmentName honestly: they are documentation parameters in this lab — SourceFolderPath is a placeholder for a Folder-connector delivery model, and EnvironmentName lets students see the shape of Dev/Test/Prod switching without actually building three source pipelines. Both are governance hygiene, not runtime dependencies.</a:t>
            </a:r>
          </a:p>
          <a:p>
            <a:r>
              <a:t>For RangeStart and RangeEnd, stress the exact type: Date/Time (not Date, not Text). Incremental refresh in the Service only recognizes these two parameter names, with these exact types, on a Date/Time column filter. Getting the type wrong is a very common Exercise 7 mistake.</a:t>
            </a:r>
          </a:p>
          <a:p>
            <a:r>
              <a:t>Transition into custom functions by noting that parameters and functions are the two reusability primitives in Power Query — parameters for values, functions for logic — and both live at the top of a well-organized query list.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custom functions as the DRY (don't repeat yourself) tool for M. Anywhere you find yourself copying the same three or four steps into multiple queries, that's a candidate for a function.</a:t>
            </a:r>
          </a:p>
          <a:p>
            <a:r>
              <a:t>Walk fn_CleanText line by line on the slide. The signature (inputText as nullable text) as nullable text is doing real work: it documents the contract, and Power Query's function-invocation UI will honor it — you can't accidentally pass a number.</a:t>
            </a:r>
          </a:p>
          <a:p>
            <a:r>
              <a:t>Explain the null branch explicitly: Text.Trim, Text.Clean, and Text.Proper all throw on null input. The if inputText = null then null else ... pattern makes the function null-safe, which matters because real source data has nulls in text columns all the time.</a:t>
            </a:r>
          </a:p>
          <a:p>
            <a:r>
              <a:t>Show both invocation styles from the lab. The Invoke Custom Function UI is great for a one-column demo. Table.TransformColumns is what you actually ship: one step, a list of {column, transform, type} triples, cleans every text column at once. Point students at the CleanedOrderText and CleanedProductText examples in the README as the concrete templates they'll use.</a:t>
            </a:r>
          </a:p>
          <a:p>
            <a:r>
              <a:t>Close by connecting forward: fn_CleanText is the pattern; students will meet other reusable-logic functions (fn_DimDate, error-wrapping helpers) in later modules, and they'll all follow this same signature/null-safety recipe.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honestly: Lab 03's source is a Web-hosted CSV, which does not fold. So this topic is conceptual today. But it is one of the most important concepts in the entire Power Query surface area for real projects, so we treat it seriously even without hands-on time.</a:t>
            </a:r>
          </a:p>
          <a:p>
            <a:r>
              <a:t>Define folding in one sentence: Power Query translates as many of your M steps as it can into the source's native query — usually SQL — so the work happens at the source. Then walk what folds versus what doesn't using the bullets on the slide.</a:t>
            </a:r>
          </a:p>
          <a:p>
            <a:r>
              <a:t>Give the concrete performance intuition: a billion-row SQL fact table filtered down to a month of data via a folded WHERE clause returns in seconds. The same filter after a fold-breaking step (say, an Index Column) streams all billion rows into Desktop first, then filters client-side. Same query, thousand-fold difference in runtime.</a:t>
            </a:r>
          </a:p>
          <a:p>
            <a:r>
              <a:t>Teach the View Native Query check: right-click any step, and if View Native Query is available, folding is still intact at that point. The moment it grays out, you know exactly which step broke folding — and you can often reorder steps to fix it.</a:t>
            </a:r>
          </a:p>
          <a:p>
            <a:r>
              <a:t>Close with the ordering rule of thumb: filter and select columns first, do expensive per-row transformations (like fn_CleanText) last. That way even on a partially-folding source, the fold covers the biggest data reduction.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native queries as a power tool with a real safety catch. They're not evil, but they're not the default choice either.</a:t>
            </a:r>
          </a:p>
          <a:p>
            <a:r>
              <a:t>Give the concrete example: if the source is SQL Server and you need a window function that Power Query M can't generate cleanly, dropping a Value.NativeQuery call with a hand-written T-SQL statement is a perfectly legitimate solution — provided it's documented and reviewed.</a:t>
            </a:r>
          </a:p>
          <a:p>
            <a:r>
              <a:t>Talk through the governance concerns explicitly. A native query means the M reviewer now also needs to review SQL for injection risk, security, and source impact. Some organizations disable Value.NativeQuery through tenant settings for exactly this reason. Ask the room whether they know if their tenant allows it.</a:t>
            </a:r>
          </a:p>
          <a:p>
            <a:r>
              <a:t>Close with the Gov flag: in Azure Government tenants, native queries fall under Verify for Gov — the connector, gateway, credentials, and any tenant policy on Value.NativeQuery all have to line up before a native-query pattern ships. It's not a decision to make in a lab; it's a project-level architecture decision.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two failure modes data quality handling has to distinguish. Technical failures are things Power Query can't parse (a date column with the value 'unknown', a numeric column with a stray letter). Business failures are things that parse fine but violate business rules (a Quantity of -3, a UnitPrice of 0, a blank ProductCode).</a:t>
            </a:r>
          </a:p>
          <a:p>
            <a:r>
              <a:t>Walk the AddedDataQualityIssue pattern from Exercise 5 carefully. The try / otherwise wrappers convert per-value parse failures into nulls, so the row survives long enough to be labeled. The Issues list then checks each business rule separately and collects the failing ones into a semicolon-delimited DataQualityIssue string. Rows where DataQualityIssue = "" passed everything.</a:t>
            </a:r>
          </a:p>
          <a:p>
            <a:r>
              <a:t>Emphasize that err_OrdersReview is a Reference of stg_OrdersCombined, not a Duplicate. Both err_OrdersReview and FactOrders read the same AddedDataQualityIssue step — they just filter it differently. If you fix a rule in staging, both queries benefit automatically. Duplicate would silently drift.</a:t>
            </a:r>
          </a:p>
          <a:p>
            <a:r>
              <a:t>Talk about the governance value: 'we silently threw away 47 rows' is a data quality problem waiting to be discovered by a business user. 'We excluded 47 rows and here is the reviewable list with reasons' is a data quality control. err_OrdersReview is the audit artifact.</a:t>
            </a:r>
          </a:p>
          <a:p>
            <a:r>
              <a:t>Close by tying to the earlier layering point: err_OrdersReview has load disabled by default (unless the instructor enables it to show in the model), because the audit artifact does not belong in the report surface — it belongs in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hands-on topic before the Gov summary. Stress that Exercise 7 prepares the model for incremental refresh — it does not enable the policy. The policy is a Service-side configuration.</a:t>
            </a:r>
          </a:p>
          <a:p>
            <a:r>
              <a:t>Walk the required names and types once more, out loud, because they trip students up every cohort: RangeStart, RangeEnd, both Date/Time. Not Date. Not Text. The Service literally looks for those exact names.</a:t>
            </a:r>
          </a:p>
          <a:p>
            <a:r>
              <a:t>Show the filter expression on the slide. Emphasize the half-open interval: [OrderDate] &gt;= RangeStart AND [OrderDate] &lt; RangeEnd. If a student writes &lt;= instead of &lt;, midnight-boundary rows will show up in two partitions, and totals will silently inflate.</a:t>
            </a:r>
          </a:p>
          <a:p>
            <a:r>
              <a:t>Explain the Desktop/Service split concretely: in Desktop, you set RangeStart and RangeEnd to a short preview window (say, one month) so you can develop and test against a small slice. In the Service, the incremental refresh policy overrides these per partition automatically — you never edit the parameter values there.</a:t>
            </a:r>
          </a:p>
          <a:p>
            <a:r>
              <a:t>Close with the Gov note and forward-look: refresh policy application in the Service is Verify for Gov, and refresh policy tuning is covered in more depth in the later Performance Optimization module.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consolidated Gov reference for the whole module. Don't try to re-teach each topic — use it as a quick sweep so students leave with a mental model of which techniques they can use freely and which need a tenant check.</a:t>
            </a:r>
          </a:p>
          <a:p>
            <a:r>
              <a:t>Point out the pattern: authoring capabilities inside Desktop are Gov-ready almost across the board, because Desktop itself is a client-side app operating on data the user already has access to. The Verify-for-Gov items are always the ones that cross into the Service (incremental refresh policy, cloud dataflows) or that depend on external systems (connectors, query folding on a specific source).</a:t>
            </a:r>
          </a:p>
          <a:p>
            <a:r>
              <a:t>Call out Dataflows Gen2 specifically as the outlier: it's Fabric-related, and Fabric feature availability in Gov clouds is on its own release cadence. Treat it as 'not required in this module' unless the local tenant has been explicitly validated.</a:t>
            </a:r>
          </a:p>
          <a:p>
            <a:r>
              <a:t>Encourage students to keep a version of this table for their own project work — not just for this lab. It's the same shape they should build for any new Power BI feature they want to adopt in a Gov tenant.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recap before the lab walkthrough. Everything they're about to build has already been introduced — this is the one-slide summary of the end state.</a:t>
            </a:r>
          </a:p>
          <a:p>
            <a:r>
              <a:t>Walk the four bullets in order, and for each one, ask the room to name which exercise built that piece. Staged solution = Exercise 1. Folder combine + lineage = Exercise 2. Parameters + functions = Exercises 3, 4, and 7. Validation and Gov = Exercise 5 plus the module-wide Gov table.</a:t>
            </a:r>
          </a:p>
          <a:p>
            <a:r>
              <a:t>Emphasize the reviewer-narration test in the footer: if a student can open the query pane and, without opening Advanced Editor, tell you what each query does and why it's load-enabled or not, they've internalized the architecture. That's the bar we're aiming for.</a:t>
            </a:r>
          </a:p>
          <a:p>
            <a:r>
              <a:t>Bridge to the lab walkthrough: 'Here's the checklist of what you'll actually do at the keyboard.'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from lecture to keyboard. Read it as a literal table of contents for the next block of hands-on time.</a:t>
            </a:r>
          </a:p>
          <a:p>
            <a:r>
              <a:t>Point out the two data-source groups: three monthly order files (which drive Exercises 1, 2, and 5) plus one product-category reference file (which becomes dim_ProductCategory and gets fn_CleanText applied in Exercise 4).</a:t>
            </a:r>
          </a:p>
          <a:p>
            <a:r>
              <a:t>Set expectations on Exercise 6 upfront: it's a conceptual/discussion exercise because our Web/CSV source doesn't fold. Students should not spend keyboard time trying to make View Native Query appear; they should discuss what would fold on a SQL source and move on.</a:t>
            </a:r>
          </a:p>
          <a:p>
            <a:r>
              <a:t>Remind students of the load-enabled rule one more time before they start: after Exercise 1, only FactOrders and dim_ProductCategory should be load-enabled. If their final query pane has more than that, something is not quite right — fix it before moving on to the later exercises.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as a discussion-driven wrap-up rather than a quiz. The goal is to have students verbalize the reasoning behind each item, not just tick boxes.</a:t>
            </a:r>
          </a:p>
          <a:p>
            <a:r>
              <a:t>Pick three or four items and call on specific students. Good candidates for a discussion answer: the fn_CleanText null-handling rationale, the err_OrdersReview vs. silent-drop distinction, and the RangeStart/RangeEnd half-open filter detail. Each of those is a common mistake that benefits from being said out loud.</a:t>
            </a:r>
          </a:p>
          <a:p>
            <a:r>
              <a:t>For the native-query discussion question, use it to reinforce the governance message: a native query is not wrong, but it needs to be documented and reviewed with the same care as any other source-side artifact.</a:t>
            </a:r>
          </a:p>
          <a:p>
            <a:r>
              <a:t>Close by connecting forward: the query architecture built today is the foundation Module 4 (Report Design UX) sees as 'the field list', and later modules (Performance Optimization, Enterprise Deployment) will assume this staged, parameterized, load-disciplined pattern is already in place.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Congratulate the class on completing Module 3. This is one of the highest-value modules in the workshop because the patterns — staging, parameters, functions, data quality — apply to essentially every real Power BI project.</a:t>
            </a:r>
          </a:p>
          <a:p>
            <a:r>
              <a:t>Remind students to keep their completed PBIP handy; the FactOrders / dim_ProductCategory model from today is what the report-design examples in Module 4 will visualize.</a:t>
            </a:r>
          </a:p>
          <a:p>
            <a:r>
              <a:t>Take final questions before moving on, especially anything about the Verify-for-Gov items (incremental refresh policy in the Service, cloud dataflows, Dataflows Gen2, native queries) since those are the most common sources of lingering confusion.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80644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417320"/>
            <a:ext cx="5486400" cy="457200"/>
          </a:xfrm>
          <a:prstGeom prst="rect">
            <a:avLst/>
          </a:prstGeom>
          <a:noFill/>
        </p:spPr>
        <p:txBody>
          <a:bodyPr wrap="square" anchor="t" lIns="0" rIns="0" tIns="0" bIns="0">
            <a:spAutoFit/>
          </a:bodyPr>
          <a:lstStyle/>
          <a:p>
            <a:pPr algn="l">
              <a:lnSpc>
                <a:spcPct val="100000"/>
              </a:lnSpc>
              <a:spcAft>
                <a:spcPts val="0"/>
              </a:spcAft>
            </a:pPr>
            <a:r>
              <a:rPr sz="1600" b="1" i="0">
                <a:solidFill>
                  <a:srgbClr val="E8B44A"/>
                </a:solidFill>
                <a:latin typeface="Calibri"/>
              </a:rPr>
              <a:t>MODULE 03</a:t>
            </a:r>
          </a:p>
        </p:txBody>
      </p:sp>
      <p:sp>
        <p:nvSpPr>
          <p:cNvPr id="5" name="TextBox 4"/>
          <p:cNvSpPr txBox="1"/>
          <p:nvPr/>
        </p:nvSpPr>
        <p:spPr>
          <a:xfrm>
            <a:off x="822960" y="1874519"/>
            <a:ext cx="9601200" cy="1920240"/>
          </a:xfrm>
          <a:prstGeom prst="rect">
            <a:avLst/>
          </a:prstGeom>
          <a:noFill/>
        </p:spPr>
        <p:txBody>
          <a:bodyPr wrap="square" anchor="t" lIns="0" rIns="0" tIns="0" bIns="0">
            <a:spAutoFit/>
          </a:bodyPr>
          <a:lstStyle/>
          <a:p>
            <a:pPr algn="l">
              <a:lnSpc>
                <a:spcPct val="105000"/>
              </a:lnSpc>
              <a:spcAft>
                <a:spcPts val="0"/>
              </a:spcAft>
            </a:pPr>
            <a:r>
              <a:rPr sz="4400" b="1" i="0">
                <a:solidFill>
                  <a:srgbClr val="FFFFFF"/>
                </a:solidFill>
                <a:latin typeface="Cambria"/>
              </a:rPr>
              <a:t>Advanced Power Query</a:t>
            </a:r>
          </a:p>
        </p:txBody>
      </p:sp>
      <p:sp>
        <p:nvSpPr>
          <p:cNvPr id="6" name="TextBox 5"/>
          <p:cNvSpPr txBox="1"/>
          <p:nvPr/>
        </p:nvSpPr>
        <p:spPr>
          <a:xfrm>
            <a:off x="822960" y="3703320"/>
            <a:ext cx="9601200" cy="914400"/>
          </a:xfrm>
          <a:prstGeom prst="rect">
            <a:avLst/>
          </a:prstGeom>
          <a:noFill/>
        </p:spPr>
        <p:txBody>
          <a:bodyPr wrap="square" anchor="t" lIns="0" rIns="0" tIns="0" bIns="0">
            <a:spAutoFit/>
          </a:bodyPr>
          <a:lstStyle/>
          <a:p>
            <a:pPr algn="l">
              <a:lnSpc>
                <a:spcPct val="100000"/>
              </a:lnSpc>
              <a:spcAft>
                <a:spcPts val="0"/>
              </a:spcAft>
            </a:pPr>
            <a:r>
              <a:rPr sz="2000" b="0" i="1">
                <a:solidFill>
                  <a:srgbClr val="CADCFC"/>
                </a:solidFill>
                <a:latin typeface="Calibri"/>
              </a:rPr>
              <a:t>Staged, parameterized, reusable transformation patterns for the Contoso monthly orders pipeline</a:t>
            </a:r>
          </a:p>
        </p:txBody>
      </p:sp>
      <p:sp>
        <p:nvSpPr>
          <p:cNvPr id="7" name="TextBox 6"/>
          <p:cNvSpPr txBox="1"/>
          <p:nvPr/>
        </p:nvSpPr>
        <p:spPr>
          <a:xfrm>
            <a:off x="822960" y="6035040"/>
            <a:ext cx="9144000" cy="548640"/>
          </a:xfrm>
          <a:prstGeom prst="rect">
            <a:avLst/>
          </a:prstGeom>
          <a:noFill/>
        </p:spPr>
        <p:txBody>
          <a:bodyPr wrap="square" anchor="t" lIns="0" rIns="0" tIns="0" bIns="0">
            <a:spAutoFit/>
          </a:bodyPr>
          <a:lstStyle/>
          <a:p>
            <a:pPr algn="l">
              <a:lnSpc>
                <a:spcPct val="100000"/>
              </a:lnSpc>
              <a:spcAft>
                <a:spcPts val="0"/>
              </a:spcAft>
            </a:pPr>
            <a:r>
              <a:rPr sz="1300" b="0" i="0">
                <a:solidFill>
                  <a:srgbClr val="CADCFC"/>
                </a:solidFill>
                <a:latin typeface="Calibri"/>
              </a:rPr>
              <a:t>Advanced Power BI Training — Instructor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MODULE 03 AGENDA</a:t>
            </a:r>
          </a:p>
        </p:txBody>
      </p:sp>
      <p:sp>
        <p:nvSpPr>
          <p:cNvPr id="5" name="TextBox 4"/>
          <p:cNvSpPr txBox="1"/>
          <p:nvPr/>
        </p:nvSpPr>
        <p:spPr>
          <a:xfrm>
            <a:off x="640080" y="868680"/>
            <a:ext cx="8229600" cy="640080"/>
          </a:xfrm>
          <a:prstGeom prst="rect">
            <a:avLst/>
          </a:prstGeom>
          <a:noFill/>
        </p:spPr>
        <p:txBody>
          <a:bodyPr wrap="square" anchor="t" lIns="0" rIns="0" tIns="0" bIns="0">
            <a:spAutoFit/>
          </a:bodyPr>
          <a:lstStyle/>
          <a:p>
            <a:pPr algn="l">
              <a:lnSpc>
                <a:spcPct val="100000"/>
              </a:lnSpc>
              <a:spcAft>
                <a:spcPts val="0"/>
              </a:spcAft>
            </a:pPr>
            <a:r>
              <a:rPr sz="3200" b="1" i="0">
                <a:solidFill>
                  <a:srgbClr val="141B45"/>
                </a:solidFill>
                <a:latin typeface="Cambria"/>
              </a:rPr>
              <a:t>What We'll Cover</a:t>
            </a:r>
          </a:p>
        </p:txBody>
      </p:sp>
      <p:sp>
        <p:nvSpPr>
          <p:cNvPr id="6" name="Rectangle 5"/>
          <p:cNvSpPr/>
          <p:nvPr/>
        </p:nvSpPr>
        <p:spPr>
          <a:xfrm>
            <a:off x="64008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a:t>
            </a:r>
          </a:p>
        </p:txBody>
      </p:sp>
      <p:sp>
        <p:nvSpPr>
          <p:cNvPr id="8" name="TextBox 7"/>
          <p:cNvSpPr txBox="1"/>
          <p:nvPr/>
        </p:nvSpPr>
        <p:spPr>
          <a:xfrm>
            <a:off x="117043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Why Power Query architecture matters</a:t>
            </a:r>
          </a:p>
        </p:txBody>
      </p:sp>
      <p:sp>
        <p:nvSpPr>
          <p:cNvPr id="9" name="Rectangle 8"/>
          <p:cNvSpPr/>
          <p:nvPr/>
        </p:nvSpPr>
        <p:spPr>
          <a:xfrm>
            <a:off x="640080" y="244275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4275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2</a:t>
            </a:r>
          </a:p>
        </p:txBody>
      </p:sp>
      <p:sp>
        <p:nvSpPr>
          <p:cNvPr id="11" name="TextBox 10"/>
          <p:cNvSpPr txBox="1"/>
          <p:nvPr/>
        </p:nvSpPr>
        <p:spPr>
          <a:xfrm>
            <a:off x="1170432" y="246104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Staging query pattern</a:t>
            </a:r>
          </a:p>
        </p:txBody>
      </p:sp>
      <p:sp>
        <p:nvSpPr>
          <p:cNvPr id="12" name="Rectangle 11"/>
          <p:cNvSpPr/>
          <p:nvPr/>
        </p:nvSpPr>
        <p:spPr>
          <a:xfrm>
            <a:off x="640080" y="3102428"/>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102428"/>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3</a:t>
            </a:r>
          </a:p>
        </p:txBody>
      </p:sp>
      <p:sp>
        <p:nvSpPr>
          <p:cNvPr id="14" name="TextBox 13"/>
          <p:cNvSpPr txBox="1"/>
          <p:nvPr/>
        </p:nvSpPr>
        <p:spPr>
          <a:xfrm>
            <a:off x="1170432" y="3120716"/>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Folder-combine pattern</a:t>
            </a:r>
          </a:p>
        </p:txBody>
      </p:sp>
      <p:sp>
        <p:nvSpPr>
          <p:cNvPr id="15" name="Rectangle 14"/>
          <p:cNvSpPr/>
          <p:nvPr/>
        </p:nvSpPr>
        <p:spPr>
          <a:xfrm>
            <a:off x="640080" y="3762102"/>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762102"/>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4</a:t>
            </a:r>
          </a:p>
        </p:txBody>
      </p:sp>
      <p:sp>
        <p:nvSpPr>
          <p:cNvPr id="17" name="TextBox 16"/>
          <p:cNvSpPr txBox="1"/>
          <p:nvPr/>
        </p:nvSpPr>
        <p:spPr>
          <a:xfrm>
            <a:off x="1170432" y="3780390"/>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M language fundamentals</a:t>
            </a:r>
          </a:p>
        </p:txBody>
      </p:sp>
      <p:sp>
        <p:nvSpPr>
          <p:cNvPr id="18" name="Rectangle 17"/>
          <p:cNvSpPr/>
          <p:nvPr/>
        </p:nvSpPr>
        <p:spPr>
          <a:xfrm>
            <a:off x="640080" y="4421776"/>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421776"/>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5</a:t>
            </a:r>
          </a:p>
        </p:txBody>
      </p:sp>
      <p:sp>
        <p:nvSpPr>
          <p:cNvPr id="20" name="TextBox 19"/>
          <p:cNvSpPr txBox="1"/>
          <p:nvPr/>
        </p:nvSpPr>
        <p:spPr>
          <a:xfrm>
            <a:off x="1170432" y="4440064"/>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Parameters</a:t>
            </a:r>
          </a:p>
        </p:txBody>
      </p:sp>
      <p:sp>
        <p:nvSpPr>
          <p:cNvPr id="21" name="Rectangle 20"/>
          <p:cNvSpPr/>
          <p:nvPr/>
        </p:nvSpPr>
        <p:spPr>
          <a:xfrm>
            <a:off x="640080" y="508145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508145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6</a:t>
            </a:r>
          </a:p>
        </p:txBody>
      </p:sp>
      <p:sp>
        <p:nvSpPr>
          <p:cNvPr id="23" name="TextBox 22"/>
          <p:cNvSpPr txBox="1"/>
          <p:nvPr/>
        </p:nvSpPr>
        <p:spPr>
          <a:xfrm>
            <a:off x="1170432" y="509973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Custom functions</a:t>
            </a:r>
          </a:p>
        </p:txBody>
      </p:sp>
      <p:sp>
        <p:nvSpPr>
          <p:cNvPr id="24" name="Rectangle 23"/>
          <p:cNvSpPr/>
          <p:nvPr/>
        </p:nvSpPr>
        <p:spPr>
          <a:xfrm>
            <a:off x="640080" y="574112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74112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7</a:t>
            </a:r>
          </a:p>
        </p:txBody>
      </p:sp>
      <p:sp>
        <p:nvSpPr>
          <p:cNvPr id="26" name="TextBox 25"/>
          <p:cNvSpPr txBox="1"/>
          <p:nvPr/>
        </p:nvSpPr>
        <p:spPr>
          <a:xfrm>
            <a:off x="1170432" y="575941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Query folding</a:t>
            </a:r>
          </a:p>
        </p:txBody>
      </p:sp>
      <p:sp>
        <p:nvSpPr>
          <p:cNvPr id="27" name="Rectangle 26"/>
          <p:cNvSpPr/>
          <p:nvPr/>
        </p:nvSpPr>
        <p:spPr>
          <a:xfrm>
            <a:off x="6309360" y="178308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178308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8</a:t>
            </a:r>
          </a:p>
        </p:txBody>
      </p:sp>
      <p:sp>
        <p:nvSpPr>
          <p:cNvPr id="29" name="TextBox 28"/>
          <p:cNvSpPr txBox="1"/>
          <p:nvPr/>
        </p:nvSpPr>
        <p:spPr>
          <a:xfrm>
            <a:off x="6839712" y="180136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Native queries and source systems</a:t>
            </a:r>
          </a:p>
        </p:txBody>
      </p:sp>
      <p:sp>
        <p:nvSpPr>
          <p:cNvPr id="30" name="Rectangle 29"/>
          <p:cNvSpPr/>
          <p:nvPr/>
        </p:nvSpPr>
        <p:spPr>
          <a:xfrm>
            <a:off x="6309360" y="244275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244275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9</a:t>
            </a:r>
          </a:p>
        </p:txBody>
      </p:sp>
      <p:sp>
        <p:nvSpPr>
          <p:cNvPr id="32" name="TextBox 31"/>
          <p:cNvSpPr txBox="1"/>
          <p:nvPr/>
        </p:nvSpPr>
        <p:spPr>
          <a:xfrm>
            <a:off x="6839712" y="246104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Data quality and errors</a:t>
            </a:r>
          </a:p>
        </p:txBody>
      </p:sp>
      <p:sp>
        <p:nvSpPr>
          <p:cNvPr id="33" name="Rectangle 32"/>
          <p:cNvSpPr/>
          <p:nvPr/>
        </p:nvSpPr>
        <p:spPr>
          <a:xfrm>
            <a:off x="6309360" y="3102428"/>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3102428"/>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10</a:t>
            </a:r>
          </a:p>
        </p:txBody>
      </p:sp>
      <p:sp>
        <p:nvSpPr>
          <p:cNvPr id="35" name="TextBox 34"/>
          <p:cNvSpPr txBox="1"/>
          <p:nvPr/>
        </p:nvSpPr>
        <p:spPr>
          <a:xfrm>
            <a:off x="6839712" y="3120716"/>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Incremental refresh preparation</a:t>
            </a:r>
          </a:p>
        </p:txBody>
      </p:sp>
      <p:sp>
        <p:nvSpPr>
          <p:cNvPr id="36" name="Rectangle 35"/>
          <p:cNvSpPr/>
          <p:nvPr/>
        </p:nvSpPr>
        <p:spPr>
          <a:xfrm>
            <a:off x="6309360" y="3762102"/>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0" y="3762102"/>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11</a:t>
            </a:r>
          </a:p>
        </p:txBody>
      </p:sp>
      <p:sp>
        <p:nvSpPr>
          <p:cNvPr id="38" name="TextBox 37"/>
          <p:cNvSpPr txBox="1"/>
          <p:nvPr/>
        </p:nvSpPr>
        <p:spPr>
          <a:xfrm>
            <a:off x="6839712" y="3780390"/>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Azure Government considerations</a:t>
            </a:r>
          </a:p>
        </p:txBody>
      </p:sp>
      <p:sp>
        <p:nvSpPr>
          <p:cNvPr id="39" name="Rectangle 38"/>
          <p:cNvSpPr/>
          <p:nvPr/>
        </p:nvSpPr>
        <p:spPr>
          <a:xfrm>
            <a:off x="6309360" y="4421776"/>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9360" y="4421776"/>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12</a:t>
            </a:r>
          </a:p>
        </p:txBody>
      </p:sp>
      <p:sp>
        <p:nvSpPr>
          <p:cNvPr id="41" name="TextBox 40"/>
          <p:cNvSpPr txBox="1"/>
          <p:nvPr/>
        </p:nvSpPr>
        <p:spPr>
          <a:xfrm>
            <a:off x="6839712" y="4440064"/>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Lab review</a:t>
            </a:r>
          </a:p>
        </p:txBody>
      </p:sp>
      <p:sp>
        <p:nvSpPr>
          <p:cNvPr id="42" name="Rectangle 41"/>
          <p:cNvSpPr/>
          <p:nvPr/>
        </p:nvSpPr>
        <p:spPr>
          <a:xfrm>
            <a:off x="6309360" y="5081450"/>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5081450"/>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13</a:t>
            </a:r>
          </a:p>
        </p:txBody>
      </p:sp>
      <p:sp>
        <p:nvSpPr>
          <p:cNvPr id="44" name="TextBox 43"/>
          <p:cNvSpPr txBox="1"/>
          <p:nvPr/>
        </p:nvSpPr>
        <p:spPr>
          <a:xfrm>
            <a:off x="6839712" y="5099738"/>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Module lab walkthrough</a:t>
            </a:r>
          </a:p>
        </p:txBody>
      </p:sp>
      <p:sp>
        <p:nvSpPr>
          <p:cNvPr id="45" name="Rectangle 44"/>
          <p:cNvSpPr/>
          <p:nvPr/>
        </p:nvSpPr>
        <p:spPr>
          <a:xfrm>
            <a:off x="6309360" y="5741124"/>
            <a:ext cx="384048" cy="38404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0" y="5741124"/>
            <a:ext cx="384048" cy="384048"/>
          </a:xfrm>
          <a:prstGeom prst="rect">
            <a:avLst/>
          </a:prstGeom>
          <a:noFill/>
        </p:spPr>
        <p:txBody>
          <a:bodyPr wrap="square" anchor="ctr" lIns="0" rIns="0" tIns="0" bIns="0">
            <a:spAutoFit/>
          </a:bodyPr>
          <a:lstStyle/>
          <a:p>
            <a:pPr algn="ctr">
              <a:lnSpc>
                <a:spcPct val="100000"/>
              </a:lnSpc>
              <a:spcAft>
                <a:spcPts val="0"/>
              </a:spcAft>
            </a:pPr>
            <a:r>
              <a:rPr sz="1600" b="1" i="0">
                <a:solidFill>
                  <a:srgbClr val="FFFFFF"/>
                </a:solidFill>
                <a:latin typeface="Cambria"/>
              </a:rPr>
              <a:t>14</a:t>
            </a:r>
          </a:p>
        </p:txBody>
      </p:sp>
      <p:sp>
        <p:nvSpPr>
          <p:cNvPr id="47" name="TextBox 46"/>
          <p:cNvSpPr txBox="1"/>
          <p:nvPr/>
        </p:nvSpPr>
        <p:spPr>
          <a:xfrm>
            <a:off x="6839712" y="5759412"/>
            <a:ext cx="4572000" cy="640080"/>
          </a:xfrm>
          <a:prstGeom prst="rect">
            <a:avLst/>
          </a:prstGeom>
          <a:noFill/>
        </p:spPr>
        <p:txBody>
          <a:bodyPr wrap="square" anchor="ctr" lIns="0" rIns="0" tIns="0" bIns="0">
            <a:spAutoFit/>
          </a:bodyPr>
          <a:lstStyle/>
          <a:p>
            <a:pPr algn="l">
              <a:lnSpc>
                <a:spcPct val="100000"/>
              </a:lnSpc>
              <a:spcAft>
                <a:spcPts val="0"/>
              </a:spcAft>
            </a:pPr>
            <a:r>
              <a:rPr sz="1450" b="0" i="0">
                <a:solidFill>
                  <a:srgbClr val="1F2328"/>
                </a:solidFill>
                <a:latin typeface="Calibri"/>
              </a:rPr>
              <a:t>Knowledge check and discussion</a:t>
            </a:r>
          </a:p>
        </p:txBody>
      </p:sp>
      <p:sp>
        <p:nvSpPr>
          <p:cNvPr id="48" name="TextBox 4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01</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Why Power Query Architecture Matters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Transformation logic is a first-class part of the solution — not a one-time cleanup you do once and forget about.</a:t>
            </a:r>
          </a:p>
          <a:p>
            <a:pPr>
              <a:lnSpc>
                <a:spcPct val="105000"/>
              </a:lnSpc>
              <a:spcAft>
                <a:spcPts val="1000"/>
              </a:spcAft>
              <a:buClr>
                <a:srgbClr val="1E2761"/>
              </a:buClr>
              <a:buFont typeface="Arial"/>
              <a:buChar char="•"/>
            </a:pPr>
            <a:r>
              <a:rPr sz="1450">
                <a:solidFill>
                  <a:srgbClr val="1F2328"/>
                </a:solidFill>
                <a:latin typeface="Calibri"/>
              </a:rPr>
              <a:t>One monolithic query with 40 applied steps is technically valid M, but it is very hard to test, diff in source control, or hand off to another author.</a:t>
            </a:r>
          </a:p>
          <a:p>
            <a:pPr>
              <a:lnSpc>
                <a:spcPct val="105000"/>
              </a:lnSpc>
              <a:spcAft>
                <a:spcPts val="1000"/>
              </a:spcAft>
              <a:buClr>
                <a:srgbClr val="1E2761"/>
              </a:buClr>
              <a:buFont typeface="Arial"/>
              <a:buChar char="•"/>
            </a:pPr>
            <a:r>
              <a:rPr sz="1450">
                <a:solidFill>
                  <a:srgbClr val="1F2328"/>
                </a:solidFill>
                <a:latin typeface="Calibri"/>
              </a:rPr>
              <a:t>The fix is architectural: split the pipeline into raw / staging / final layers so each step's intent is visible in the query name itself (raw_Orders_2026_01, stg_OrdersCombined, FactOrders).</a:t>
            </a:r>
          </a:p>
          <a:p>
            <a:pPr>
              <a:lnSpc>
                <a:spcPct val="105000"/>
              </a:lnSpc>
              <a:spcAft>
                <a:spcPts val="1000"/>
              </a:spcAft>
              <a:buClr>
                <a:srgbClr val="1E2761"/>
              </a:buClr>
              <a:buFont typeface="Arial"/>
              <a:buChar char="•"/>
            </a:pPr>
            <a:r>
              <a:rPr sz="1450">
                <a:solidFill>
                  <a:srgbClr val="1F2328"/>
                </a:solidFill>
                <a:latin typeface="Calibri"/>
              </a:rPr>
              <a:t>Loaded queries are a governance decision: only the final model-ready queries should be load-enabled; raw and staging queries stay available for troubleshooting but do not ship into the model.</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Named layers make intent reviewable — an instructor or reviewer can tell at a glance what each query is for without opening Advanced Editor.</a:t>
            </a:r>
          </a:p>
          <a:p>
            <a:pPr>
              <a:lnSpc>
                <a:spcPct val="105000"/>
              </a:lnSpc>
              <a:spcAft>
                <a:spcPts val="1000"/>
              </a:spcAft>
              <a:buClr>
                <a:srgbClr val="E8B44A"/>
              </a:buClr>
              <a:buFont typeface="Arial"/>
              <a:buChar char="•"/>
            </a:pPr>
            <a:r>
              <a:rPr sz="1450">
                <a:solidFill>
                  <a:srgbClr val="1F2328"/>
                </a:solidFill>
                <a:latin typeface="Calibri"/>
              </a:rPr>
              <a:t>Disabling load on intermediate queries keeps the semantic model surface area small: only the tables that reports actually need are visible in the field list.</a:t>
            </a:r>
          </a:p>
          <a:p>
            <a:pPr>
              <a:lnSpc>
                <a:spcPct val="105000"/>
              </a:lnSpc>
              <a:spcAft>
                <a:spcPts val="1000"/>
              </a:spcAft>
              <a:buClr>
                <a:srgbClr val="E8B44A"/>
              </a:buClr>
              <a:buFont typeface="Arial"/>
              <a:buChar char="•"/>
            </a:pPr>
            <a:r>
              <a:rPr sz="1450">
                <a:solidFill>
                  <a:srgbClr val="1F2328"/>
                </a:solidFill>
                <a:latin typeface="Calibri"/>
              </a:rPr>
              <a:t>Every later topic in this module — parameters, custom functions, folding, incremental refresh — assumes this raw / staging / final layering is already in place. Skip it and the later patterns get much messier.</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1 (Staged query architecture) creates exactly this layering — raw_Orders_2026_01/02/03 → stg_OrdersCombined → FactOrders — with load disabled on everything except FactOrders.</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02</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Staging Query Pattern</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194560"/>
                <a:gridCol w="6858000"/>
                <a:gridCol w="1828800"/>
              </a:tblGrid>
              <a:tr h="777240">
                <a:tc>
                  <a:txBody>
                    <a:bodyPr/>
                    <a:lstStyle/>
                    <a:p>
                      <a:pPr algn="l"/>
                      <a:r>
                        <a:rPr b="1" sz="1250">
                          <a:solidFill>
                            <a:srgbClr val="FFFFFF"/>
                          </a:solidFill>
                          <a:latin typeface="Calibri"/>
                        </a:rPr>
                        <a:t>Layer</a:t>
                      </a:r>
                    </a:p>
                  </a:txBody>
                  <a:tcPr>
                    <a:solidFill>
                      <a:srgbClr val="1E2761"/>
                    </a:solidFill>
                  </a:tcPr>
                </a:tc>
                <a:tc>
                  <a:txBody>
                    <a:bodyPr/>
                    <a:lstStyle/>
                    <a:p>
                      <a:pPr algn="l"/>
                      <a:r>
                        <a:rPr b="1" sz="1250">
                          <a:solidFill>
                            <a:srgbClr val="FFFFFF"/>
                          </a:solidFill>
                          <a:latin typeface="Calibri"/>
                        </a:rPr>
                        <a:t>Naming and role in this lab</a:t>
                      </a:r>
                    </a:p>
                  </a:txBody>
                  <a:tcPr>
                    <a:solidFill>
                      <a:srgbClr val="1E2761"/>
                    </a:solidFill>
                  </a:tcPr>
                </a:tc>
                <a:tc>
                  <a:txBody>
                    <a:bodyPr/>
                    <a:lstStyle/>
                    <a:p>
                      <a:pPr algn="l"/>
                      <a:r>
                        <a:rPr b="1" sz="1250">
                          <a:solidFill>
                            <a:srgbClr val="FFFFFF"/>
                          </a:solidFill>
                          <a:latin typeface="Calibri"/>
                        </a:rPr>
                        <a:t>Load enabled?</a:t>
                      </a:r>
                    </a:p>
                  </a:txBody>
                  <a:tcPr>
                    <a:solidFill>
                      <a:srgbClr val="1E2761"/>
                    </a:solidFill>
                  </a:tcPr>
                </a:tc>
              </a:tr>
              <a:tr h="777240">
                <a:tc>
                  <a:txBody>
                    <a:bodyPr/>
                    <a:lstStyle/>
                    <a:p>
                      <a:r>
                        <a:rPr sz="1150">
                          <a:solidFill>
                            <a:srgbClr val="1F2328"/>
                          </a:solidFill>
                          <a:latin typeface="Calibri"/>
                        </a:rPr>
                        <a:t>Raw source</a:t>
                      </a:r>
                    </a:p>
                  </a:txBody>
                  <a:tcPr>
                    <a:solidFill>
                      <a:srgbClr val="FFFFFF"/>
                    </a:solidFill>
                  </a:tcPr>
                </a:tc>
                <a:tc>
                  <a:txBody>
                    <a:bodyPr/>
                    <a:lstStyle/>
                    <a:p>
                      <a:r>
                        <a:rPr sz="1150">
                          <a:solidFill>
                            <a:srgbClr val="1F2328"/>
                          </a:solidFill>
                          <a:latin typeface="Calibri"/>
                        </a:rPr>
                        <a:t>raw_Orders_2026_01, raw_Orders_2026_02, raw_Orders_2026_03 — one Web query per monthly file, minimal transformation, source lineage column added.</a:t>
                      </a:r>
                    </a:p>
                  </a:txBody>
                  <a:tcPr>
                    <a:solidFill>
                      <a:srgbClr val="FFFFFF"/>
                    </a:solidFill>
                  </a:tcPr>
                </a:tc>
                <a:tc>
                  <a:txBody>
                    <a:bodyPr/>
                    <a:lstStyle/>
                    <a:p>
                      <a:r>
                        <a:rPr sz="1150">
                          <a:solidFill>
                            <a:srgbClr val="1F2328"/>
                          </a:solidFill>
                          <a:latin typeface="Calibri"/>
                        </a:rPr>
                        <a:t>No</a:t>
                      </a:r>
                    </a:p>
                  </a:txBody>
                  <a:tcPr>
                    <a:solidFill>
                      <a:srgbClr val="FFFFFF"/>
                    </a:solidFill>
                  </a:tcPr>
                </a:tc>
              </a:tr>
              <a:tr h="777240">
                <a:tc>
                  <a:txBody>
                    <a:bodyPr/>
                    <a:lstStyle/>
                    <a:p>
                      <a:r>
                        <a:rPr sz="1150">
                          <a:solidFill>
                            <a:srgbClr val="1F2328"/>
                          </a:solidFill>
                          <a:latin typeface="Calibri"/>
                        </a:rPr>
                        <a:t>Staging</a:t>
                      </a:r>
                    </a:p>
                  </a:txBody>
                  <a:tcPr>
                    <a:solidFill>
                      <a:srgbClr val="F6F8FC"/>
                    </a:solidFill>
                  </a:tcPr>
                </a:tc>
                <a:tc>
                  <a:txBody>
                    <a:bodyPr/>
                    <a:lstStyle/>
                    <a:p>
                      <a:r>
                        <a:rPr sz="1150">
                          <a:solidFill>
                            <a:srgbClr val="1F2328"/>
                          </a:solidFill>
                          <a:latin typeface="Calibri"/>
                        </a:rPr>
                        <a:t>stg_OrdersCombined — appends the three raw queries with Home &gt; Append Queries as New, chosen with Three or more tables, before any typing or business logic.</a:t>
                      </a:r>
                    </a:p>
                  </a:txBody>
                  <a:tcPr>
                    <a:solidFill>
                      <a:srgbClr val="F6F8FC"/>
                    </a:solidFill>
                  </a:tcPr>
                </a:tc>
                <a:tc>
                  <a:txBody>
                    <a:bodyPr/>
                    <a:lstStyle/>
                    <a:p>
                      <a:r>
                        <a:rPr sz="1150">
                          <a:solidFill>
                            <a:srgbClr val="1F2328"/>
                          </a:solidFill>
                          <a:latin typeface="Calibri"/>
                        </a:rPr>
                        <a:t>No</a:t>
                      </a:r>
                    </a:p>
                  </a:txBody>
                  <a:tcPr>
                    <a:solidFill>
                      <a:srgbClr val="F6F8FC"/>
                    </a:solidFill>
                  </a:tcPr>
                </a:tc>
              </a:tr>
              <a:tr h="777240">
                <a:tc>
                  <a:txBody>
                    <a:bodyPr/>
                    <a:lstStyle/>
                    <a:p>
                      <a:r>
                        <a:rPr sz="1150">
                          <a:solidFill>
                            <a:srgbClr val="1F2328"/>
                          </a:solidFill>
                          <a:latin typeface="Calibri"/>
                        </a:rPr>
                        <a:t>Final model</a:t>
                      </a:r>
                    </a:p>
                  </a:txBody>
                  <a:tcPr>
                    <a:solidFill>
                      <a:srgbClr val="FFFFFF"/>
                    </a:solidFill>
                  </a:tcPr>
                </a:tc>
                <a:tc>
                  <a:txBody>
                    <a:bodyPr/>
                    <a:lstStyle/>
                    <a:p>
                      <a:r>
                        <a:rPr sz="1150">
                          <a:solidFill>
                            <a:srgbClr val="1F2328"/>
                          </a:solidFill>
                          <a:latin typeface="Calibri"/>
                        </a:rPr>
                        <a:t>FactOrders — references stg_OrdersCombined, applies explicit data types, invokes fn_CleanText on text columns, filters out data-quality issues, and is the only table loaded to the semantic model.</a:t>
                      </a:r>
                    </a:p>
                  </a:txBody>
                  <a:tcPr>
                    <a:solidFill>
                      <a:srgbClr val="FFFFFF"/>
                    </a:solidFill>
                  </a:tcPr>
                </a:tc>
                <a:tc>
                  <a:txBody>
                    <a:bodyPr/>
                    <a:lstStyle/>
                    <a:p>
                      <a:r>
                        <a:rPr sz="1150">
                          <a:solidFill>
                            <a:srgbClr val="1F2328"/>
                          </a:solidFill>
                          <a:latin typeface="Calibri"/>
                        </a:rPr>
                        <a:t>Yes</a:t>
                      </a:r>
                    </a:p>
                  </a:txBody>
                  <a:tcPr>
                    <a:solidFill>
                      <a:srgbClr val="FFFFFF"/>
                    </a:solidFill>
                  </a:tcPr>
                </a:tc>
              </a:tr>
              <a:tr h="777240">
                <a:tc>
                  <a:txBody>
                    <a:bodyPr/>
                    <a:lstStyle/>
                    <a:p>
                      <a:r>
                        <a:rPr sz="1150">
                          <a:solidFill>
                            <a:srgbClr val="1F2328"/>
                          </a:solidFill>
                          <a:latin typeface="Calibri"/>
                        </a:rPr>
                        <a:t>Error review</a:t>
                      </a:r>
                    </a:p>
                  </a:txBody>
                  <a:tcPr>
                    <a:solidFill>
                      <a:srgbClr val="F6F8FC"/>
                    </a:solidFill>
                  </a:tcPr>
                </a:tc>
                <a:tc>
                  <a:txBody>
                    <a:bodyPr/>
                    <a:lstStyle/>
                    <a:p>
                      <a:r>
                        <a:rPr sz="1150">
                          <a:solidFill>
                            <a:srgbClr val="1F2328"/>
                          </a:solidFill>
                          <a:latin typeface="Calibri"/>
                        </a:rPr>
                        <a:t>err_OrdersReview — a Reference (not Duplicate) of stg_OrdersCombined that keeps only rows with a non-empty DataQualityIssue column for reviewer follow-up.</a:t>
                      </a:r>
                    </a:p>
                  </a:txBody>
                  <a:tcPr>
                    <a:solidFill>
                      <a:srgbClr val="F6F8FC"/>
                    </a:solidFill>
                  </a:tcPr>
                </a:tc>
                <a:tc>
                  <a:txBody>
                    <a:bodyPr/>
                    <a:lstStyle/>
                    <a:p>
                      <a:r>
                        <a:rPr sz="1150">
                          <a:solidFill>
                            <a:srgbClr val="1F2328"/>
                          </a:solidFill>
                          <a:latin typeface="Calibri"/>
                        </a:rPr>
                        <a:t>No (unless demoing)</a:t>
                      </a:r>
                    </a:p>
                  </a:txBody>
                  <a:tcPr>
                    <a:solidFill>
                      <a:srgbClr val="F6F8FC"/>
                    </a:solidFill>
                  </a:tcPr>
                </a:tc>
              </a:tr>
              <a:tr h="777240">
                <a:tc>
                  <a:txBody>
                    <a:bodyPr/>
                    <a:lstStyle/>
                    <a:p>
                      <a:r>
                        <a:rPr sz="1150">
                          <a:solidFill>
                            <a:srgbClr val="1F2328"/>
                          </a:solidFill>
                          <a:latin typeface="Calibri"/>
                        </a:rPr>
                        <a:t>Reference table</a:t>
                      </a:r>
                    </a:p>
                  </a:txBody>
                  <a:tcPr>
                    <a:solidFill>
                      <a:srgbClr val="FFFFFF"/>
                    </a:solidFill>
                  </a:tcPr>
                </a:tc>
                <a:tc>
                  <a:txBody>
                    <a:bodyPr/>
                    <a:lstStyle/>
                    <a:p>
                      <a:r>
                        <a:rPr sz="1150">
                          <a:solidFill>
                            <a:srgbClr val="1F2328"/>
                          </a:solidFill>
                          <a:latin typeface="Calibri"/>
                        </a:rPr>
                        <a:t>dim_ProductCategory — loads product-category-map.csv from the reference folder; text cleanup applied via fn_CleanText, load enabled so it can join to FactOrders in the model.</a:t>
                      </a:r>
                    </a:p>
                  </a:txBody>
                  <a:tcPr>
                    <a:solidFill>
                      <a:srgbClr val="FFFFFF"/>
                    </a:solidFill>
                  </a:tcPr>
                </a:tc>
                <a:tc>
                  <a:txBody>
                    <a:bodyPr/>
                    <a:lstStyle/>
                    <a:p>
                      <a:r>
                        <a:rPr sz="1150">
                          <a:solidFill>
                            <a:srgbClr val="1F2328"/>
                          </a:solidFill>
                          <a:latin typeface="Calibri"/>
                        </a:rPr>
                        <a:t>Yes</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1 builds the raw → staging → final layering and disables load on the raw and staging queries; Exercise 5 adds err_OrdersReview as a Reference (not a Duplicate) so both queries share one validated logic stack.</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03</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Folder-Combine Pattern</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Lab 03 uses the Web connector against three raw GitHub CSV URLs, but the same pattern applies to Folder connectors in production: point at a folder, filter to the expected file set, transform a single sample file, and let Power Query apply it to every file that matches.</a:t>
            </a:r>
          </a:p>
          <a:p>
            <a:pPr>
              <a:lnSpc>
                <a:spcPct val="105000"/>
              </a:lnSpc>
              <a:spcAft>
                <a:spcPts val="1000"/>
              </a:spcAft>
              <a:buClr>
                <a:srgbClr val="1E2761"/>
              </a:buClr>
              <a:buFont typeface="Arial"/>
              <a:buChar char="•"/>
            </a:pPr>
            <a:r>
              <a:rPr sz="1450">
                <a:solidFill>
                  <a:srgbClr val="1F2328"/>
                </a:solidFill>
                <a:latin typeface="Calibri"/>
              </a:rPr>
              <a:t>Always filter by file name or extension explicitly (e.g., orders-*.csv) to exclude hidden files, temp files (~$*.csv, *.tmp), and unrelated documents that end up in shared folders.</a:t>
            </a:r>
          </a:p>
          <a:p>
            <a:pPr>
              <a:lnSpc>
                <a:spcPct val="105000"/>
              </a:lnSpc>
              <a:spcAft>
                <a:spcPts val="1000"/>
              </a:spcAft>
              <a:buClr>
                <a:srgbClr val="1E2761"/>
              </a:buClr>
              <a:buFont typeface="Arial"/>
              <a:buChar char="•"/>
            </a:pPr>
            <a:r>
              <a:rPr sz="1450">
                <a:solidFill>
                  <a:srgbClr val="1F2328"/>
                </a:solidFill>
                <a:latin typeface="Calibri"/>
              </a:rPr>
              <a:t>The sample-file transformation runs once and is applied to every matching file, so any per-file cleanup goes there — not in the combined query.</a:t>
            </a:r>
          </a:p>
          <a:p>
            <a:pPr>
              <a:lnSpc>
                <a:spcPct val="105000"/>
              </a:lnSpc>
              <a:spcAft>
                <a:spcPts val="1000"/>
              </a:spcAft>
              <a:buClr>
                <a:srgbClr val="1E2761"/>
              </a:buClr>
              <a:buFont typeface="Arial"/>
              <a:buChar char="•"/>
            </a:pPr>
            <a:r>
              <a:rPr sz="1450">
                <a:solidFill>
                  <a:srgbClr val="1F2328"/>
                </a:solidFill>
                <a:latin typeface="Calibri"/>
              </a:rPr>
              <a:t>Schema consistency across files is not automatic. Add a source file name column before appending so lineage is preserved, and validate that column names and types match before applying final types downstream.</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New monthly files should 'just appear' in the model at next refresh without editing queries — that is the entire promise of the folder-combine pattern, and it only works if the filter and sample-file transformation are correct.</a:t>
            </a:r>
          </a:p>
          <a:p>
            <a:pPr>
              <a:lnSpc>
                <a:spcPct val="105000"/>
              </a:lnSpc>
              <a:spcAft>
                <a:spcPts val="1000"/>
              </a:spcAft>
              <a:buClr>
                <a:srgbClr val="E8B44A"/>
              </a:buClr>
              <a:buFont typeface="Arial"/>
              <a:buChar char="•"/>
            </a:pPr>
            <a:r>
              <a:rPr sz="1450">
                <a:solidFill>
                  <a:srgbClr val="1F2328"/>
                </a:solidFill>
                <a:latin typeface="Calibri"/>
              </a:rPr>
              <a:t>Filtering out hidden and temp files prevents refresh failures like 'the file ~$orders-2026-04.csv could not be opened' that happen the first time a colleague opens the folder in Excel on a shared drive.</a:t>
            </a:r>
          </a:p>
          <a:p>
            <a:pPr>
              <a:lnSpc>
                <a:spcPct val="105000"/>
              </a:lnSpc>
              <a:spcAft>
                <a:spcPts val="1000"/>
              </a:spcAft>
              <a:buClr>
                <a:srgbClr val="E8B44A"/>
              </a:buClr>
              <a:buFont typeface="Arial"/>
              <a:buChar char="•"/>
            </a:pPr>
            <a:r>
              <a:rPr sz="1450">
                <a:solidFill>
                  <a:srgbClr val="1F2328"/>
                </a:solidFill>
                <a:latin typeface="Calibri"/>
              </a:rPr>
              <a:t>Preserving source file lineage is critical for triage: when a data-quality issue surfaces in FactOrders, the reviewer needs to know which monthly file the bad row came from.</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2 has students add a SourceFile column to each raw query, append them into stg_OrdersCombined, and confirm schema consistency before applying explicit data types.</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04</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M Language Fundamentals</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085594"/>
                <a:gridCol w="4533900"/>
                <a:gridCol w="4261866"/>
              </a:tblGrid>
              <a:tr h="666205">
                <a:tc>
                  <a:txBody>
                    <a:bodyPr/>
                    <a:lstStyle/>
                    <a:p>
                      <a:pPr algn="l"/>
                      <a:r>
                        <a:rPr b="1" sz="1250">
                          <a:solidFill>
                            <a:srgbClr val="FFFFFF"/>
                          </a:solidFill>
                          <a:latin typeface="Calibri"/>
                        </a:rPr>
                        <a:t>Concept</a:t>
                      </a:r>
                    </a:p>
                  </a:txBody>
                  <a:tcPr>
                    <a:solidFill>
                      <a:srgbClr val="1E2761"/>
                    </a:solidFill>
                  </a:tcPr>
                </a:tc>
                <a:tc>
                  <a:txBody>
                    <a:bodyPr/>
                    <a:lstStyle/>
                    <a:p>
                      <a:pPr algn="l"/>
                      <a:r>
                        <a:rPr b="1" sz="1250">
                          <a:solidFill>
                            <a:srgbClr val="FFFFFF"/>
                          </a:solidFill>
                          <a:latin typeface="Calibri"/>
                        </a:rPr>
                        <a:t>What it is</a:t>
                      </a:r>
                    </a:p>
                  </a:txBody>
                  <a:tcPr>
                    <a:solidFill>
                      <a:srgbClr val="1E2761"/>
                    </a:solidFill>
                  </a:tcPr>
                </a:tc>
                <a:tc>
                  <a:txBody>
                    <a:bodyPr/>
                    <a:lstStyle/>
                    <a:p>
                      <a:pPr algn="l"/>
                      <a:r>
                        <a:rPr b="1" sz="1250">
                          <a:solidFill>
                            <a:srgbClr val="FFFFFF"/>
                          </a:solidFill>
                          <a:latin typeface="Calibri"/>
                        </a:rPr>
                        <a:t>Where you meet it in this lab</a:t>
                      </a:r>
                    </a:p>
                  </a:txBody>
                  <a:tcPr>
                    <a:solidFill>
                      <a:srgbClr val="1E2761"/>
                    </a:solidFill>
                  </a:tcPr>
                </a:tc>
              </a:tr>
              <a:tr h="666205">
                <a:tc>
                  <a:txBody>
                    <a:bodyPr/>
                    <a:lstStyle/>
                    <a:p>
                      <a:r>
                        <a:rPr sz="1150">
                          <a:solidFill>
                            <a:srgbClr val="1F2328"/>
                          </a:solidFill>
                          <a:latin typeface="Calibri"/>
                        </a:rPr>
                        <a:t>Applied steps</a:t>
                      </a:r>
                    </a:p>
                  </a:txBody>
                  <a:tcPr>
                    <a:solidFill>
                      <a:srgbClr val="FFFFFF"/>
                    </a:solidFill>
                  </a:tcPr>
                </a:tc>
                <a:tc>
                  <a:txBody>
                    <a:bodyPr/>
                    <a:lstStyle/>
                    <a:p>
                      <a:r>
                        <a:rPr sz="1150">
                          <a:solidFill>
                            <a:srgbClr val="1F2328"/>
                          </a:solidFill>
                          <a:latin typeface="Calibri"/>
                        </a:rPr>
                        <a:t>Ordered named expressions in a let/in block; each step is a variable the next step can reference by name.</a:t>
                      </a:r>
                    </a:p>
                  </a:txBody>
                  <a:tcPr>
                    <a:solidFill>
                      <a:srgbClr val="FFFFFF"/>
                    </a:solidFill>
                  </a:tcPr>
                </a:tc>
                <a:tc>
                  <a:txBody>
                    <a:bodyPr/>
                    <a:lstStyle/>
                    <a:p>
                      <a:r>
                        <a:rPr sz="1150">
                          <a:solidFill>
                            <a:srgbClr val="1F2328"/>
                          </a:solidFill>
                          <a:latin typeface="Calibri"/>
                        </a:rPr>
                        <a:t>Every raw and staging query — rename cryptic step names like #"Changed Type1" to readable names before hand-editing.</a:t>
                      </a:r>
                    </a:p>
                  </a:txBody>
                  <a:tcPr>
                    <a:solidFill>
                      <a:srgbClr val="FFFFFF"/>
                    </a:solidFill>
                  </a:tcPr>
                </a:tc>
              </a:tr>
              <a:tr h="666205">
                <a:tc>
                  <a:txBody>
                    <a:bodyPr/>
                    <a:lstStyle/>
                    <a:p>
                      <a:r>
                        <a:rPr sz="1150">
                          <a:solidFill>
                            <a:srgbClr val="1F2328"/>
                          </a:solidFill>
                          <a:latin typeface="Calibri"/>
                        </a:rPr>
                        <a:t>Step references</a:t>
                      </a:r>
                    </a:p>
                  </a:txBody>
                  <a:tcPr>
                    <a:solidFill>
                      <a:srgbClr val="F6F8FC"/>
                    </a:solidFill>
                  </a:tcPr>
                </a:tc>
                <a:tc>
                  <a:txBody>
                    <a:bodyPr/>
                    <a:lstStyle/>
                    <a:p>
                      <a:r>
                        <a:rPr sz="1150">
                          <a:solidFill>
                            <a:srgbClr val="1F2328"/>
                          </a:solidFill>
                          <a:latin typeface="Calibri"/>
                        </a:rPr>
                        <a:t>A step references the previous one by its exact name; renaming a step updates every reference automatically.</a:t>
                      </a:r>
                    </a:p>
                  </a:txBody>
                  <a:tcPr>
                    <a:solidFill>
                      <a:srgbClr val="F6F8FC"/>
                    </a:solidFill>
                  </a:tcPr>
                </a:tc>
                <a:tc>
                  <a:txBody>
                    <a:bodyPr/>
                    <a:lstStyle/>
                    <a:p>
                      <a:r>
                        <a:rPr sz="1150">
                          <a:solidFill>
                            <a:srgbClr val="1F2328"/>
                          </a:solidFill>
                          <a:latin typeface="Calibri"/>
                        </a:rPr>
                        <a:t>Exercise 5 uses AddedDataQualityIssue as a named step that both FactOrders and err_OrdersReview downstream steps read from.</a:t>
                      </a:r>
                    </a:p>
                  </a:txBody>
                  <a:tcPr>
                    <a:solidFill>
                      <a:srgbClr val="F6F8FC"/>
                    </a:solidFill>
                  </a:tcPr>
                </a:tc>
              </a:tr>
              <a:tr h="666205">
                <a:tc>
                  <a:txBody>
                    <a:bodyPr/>
                    <a:lstStyle/>
                    <a:p>
                      <a:r>
                        <a:rPr sz="1150">
                          <a:solidFill>
                            <a:srgbClr val="1F2328"/>
                          </a:solidFill>
                          <a:latin typeface="Calibri"/>
                        </a:rPr>
                        <a:t>Tables</a:t>
                      </a:r>
                    </a:p>
                  </a:txBody>
                  <a:tcPr>
                    <a:solidFill>
                      <a:srgbClr val="FFFFFF"/>
                    </a:solidFill>
                  </a:tcPr>
                </a:tc>
                <a:tc>
                  <a:txBody>
                    <a:bodyPr/>
                    <a:lstStyle/>
                    <a:p>
                      <a:r>
                        <a:rPr sz="1150">
                          <a:solidFill>
                            <a:srgbClr val="1F2328"/>
                          </a:solidFill>
                          <a:latin typeface="Calibri"/>
                        </a:rPr>
                        <a:t>The main tabular value type — what most Power Query UI actions produce.</a:t>
                      </a:r>
                    </a:p>
                  </a:txBody>
                  <a:tcPr>
                    <a:solidFill>
                      <a:srgbClr val="FFFFFF"/>
                    </a:solidFill>
                  </a:tcPr>
                </a:tc>
                <a:tc>
                  <a:txBody>
                    <a:bodyPr/>
                    <a:lstStyle/>
                    <a:p>
                      <a:r>
                        <a:rPr sz="1150">
                          <a:solidFill>
                            <a:srgbClr val="1F2328"/>
                          </a:solidFill>
                          <a:latin typeface="Calibri"/>
                        </a:rPr>
                        <a:t>stg_OrdersCombined and FactOrders are both table values; Table.SelectRows and Table.TransformColumns operate on them.</a:t>
                      </a:r>
                    </a:p>
                  </a:txBody>
                  <a:tcPr>
                    <a:solidFill>
                      <a:srgbClr val="FFFFFF"/>
                    </a:solidFill>
                  </a:tcPr>
                </a:tc>
              </a:tr>
              <a:tr h="666205">
                <a:tc>
                  <a:txBody>
                    <a:bodyPr/>
                    <a:lstStyle/>
                    <a:p>
                      <a:r>
                        <a:rPr sz="1150">
                          <a:solidFill>
                            <a:srgbClr val="1F2328"/>
                          </a:solidFill>
                          <a:latin typeface="Calibri"/>
                        </a:rPr>
                        <a:t>Lists</a:t>
                      </a:r>
                    </a:p>
                  </a:txBody>
                  <a:tcPr>
                    <a:solidFill>
                      <a:srgbClr val="F6F8FC"/>
                    </a:solidFill>
                  </a:tcPr>
                </a:tc>
                <a:tc>
                  <a:txBody>
                    <a:bodyPr/>
                    <a:lstStyle/>
                    <a:p>
                      <a:r>
                        <a:rPr sz="1150">
                          <a:solidFill>
                            <a:srgbClr val="1F2328"/>
                          </a:solidFill>
                          <a:latin typeface="Calibri"/>
                        </a:rPr>
                        <a:t>Ordered sequences in { } braces — used for column lists, file lists, and the issues collection built in Exercise 5.</a:t>
                      </a:r>
                    </a:p>
                  </a:txBody>
                  <a:tcPr>
                    <a:solidFill>
                      <a:srgbClr val="F6F8FC"/>
                    </a:solidFill>
                  </a:tcPr>
                </a:tc>
                <a:tc>
                  <a:txBody>
                    <a:bodyPr/>
                    <a:lstStyle/>
                    <a:p>
                      <a:r>
                        <a:rPr sz="1150">
                          <a:solidFill>
                            <a:srgbClr val="1F2328"/>
                          </a:solidFill>
                          <a:latin typeface="Calibri"/>
                        </a:rPr>
                        <a:t>List.RemoveNulls({...}) inside AddedDataQualityIssue collects only the data-quality issues that actually applied to a row.</a:t>
                      </a:r>
                    </a:p>
                  </a:txBody>
                  <a:tcPr>
                    <a:solidFill>
                      <a:srgbClr val="F6F8FC"/>
                    </a:solidFill>
                  </a:tcPr>
                </a:tc>
              </a:tr>
              <a:tr h="666205">
                <a:tc>
                  <a:txBody>
                    <a:bodyPr/>
                    <a:lstStyle/>
                    <a:p>
                      <a:r>
                        <a:rPr sz="1150">
                          <a:solidFill>
                            <a:srgbClr val="1F2328"/>
                          </a:solidFill>
                          <a:latin typeface="Calibri"/>
                        </a:rPr>
                        <a:t>Records</a:t>
                      </a:r>
                    </a:p>
                  </a:txBody>
                  <a:tcPr>
                    <a:solidFill>
                      <a:srgbClr val="FFFFFF"/>
                    </a:solidFill>
                  </a:tcPr>
                </a:tc>
                <a:tc>
                  <a:txBody>
                    <a:bodyPr/>
                    <a:lstStyle/>
                    <a:p>
                      <a:r>
                        <a:rPr sz="1150">
                          <a:solidFill>
                            <a:srgbClr val="1F2328"/>
                          </a:solidFill>
                          <a:latin typeface="Calibri"/>
                        </a:rPr>
                        <a:t>Named field bags in [ ] brackets — used for options passed to functions like Csv.Document and for row-level access.</a:t>
                      </a:r>
                    </a:p>
                  </a:txBody>
                  <a:tcPr>
                    <a:solidFill>
                      <a:srgbClr val="FFFFFF"/>
                    </a:solidFill>
                  </a:tcPr>
                </a:tc>
                <a:tc>
                  <a:txBody>
                    <a:bodyPr/>
                    <a:lstStyle/>
                    <a:p>
                      <a:r>
                        <a:rPr sz="1150">
                          <a:solidFill>
                            <a:srgbClr val="1F2328"/>
                          </a:solidFill>
                          <a:latin typeface="Calibri"/>
                        </a:rPr>
                        <a:t>Each row in Table.AddColumn's each expression is a record; [OrderDate], [Quantity], [UnitPrice] read fields from it.</a:t>
                      </a:r>
                    </a:p>
                  </a:txBody>
                  <a:tcPr>
                    <a:solidFill>
                      <a:srgbClr val="FFFFFF"/>
                    </a:solidFill>
                  </a:tcPr>
                </a:tc>
              </a:tr>
              <a:tr h="666210">
                <a:tc>
                  <a:txBody>
                    <a:bodyPr/>
                    <a:lstStyle/>
                    <a:p>
                      <a:r>
                        <a:rPr sz="1150">
                          <a:solidFill>
                            <a:srgbClr val="1F2328"/>
                          </a:solidFill>
                          <a:latin typeface="Calibri"/>
                        </a:rPr>
                        <a:t>Generated vs handwritten M</a:t>
                      </a:r>
                    </a:p>
                  </a:txBody>
                  <a:tcPr>
                    <a:solidFill>
                      <a:srgbClr val="F6F8FC"/>
                    </a:solidFill>
                  </a:tcPr>
                </a:tc>
                <a:tc>
                  <a:txBody>
                    <a:bodyPr/>
                    <a:lstStyle/>
                    <a:p>
                      <a:r>
                        <a:rPr sz="1150">
                          <a:solidFill>
                            <a:srgbClr val="1F2328"/>
                          </a:solidFill>
                          <a:latin typeface="Calibri"/>
                        </a:rPr>
                        <a:t>UI-generated M is verbose and correct; handwritten M in Advanced Editor is more concise but must be maintained by humans.</a:t>
                      </a:r>
                    </a:p>
                  </a:txBody>
                  <a:tcPr>
                    <a:solidFill>
                      <a:srgbClr val="F6F8FC"/>
                    </a:solidFill>
                  </a:tcPr>
                </a:tc>
                <a:tc>
                  <a:txBody>
                    <a:bodyPr/>
                    <a:lstStyle/>
                    <a:p>
                      <a:r>
                        <a:rPr sz="1150">
                          <a:solidFill>
                            <a:srgbClr val="1F2328"/>
                          </a:solidFill>
                          <a:latin typeface="Calibri"/>
                        </a:rPr>
                        <a:t>Exercise 5's DataQualityIssue expression is intentionally handwritten — the UI cannot generate this pattern.</a:t>
                      </a:r>
                    </a:p>
                  </a:txBody>
                  <a:tcPr>
                    <a:solidFill>
                      <a:srgbClr val="F6F8FC"/>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Instructor tip: encourage students to rename cryptic auto-generated step names (#"Changed Type1", #"Filtered Rows") to intent-based names before writing custom M — the resulting queries are dramatically easier to review.</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05</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Parameters</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538984"/>
                <a:gridCol w="1360170"/>
                <a:gridCol w="4261866"/>
                <a:gridCol w="2720340"/>
              </a:tblGrid>
              <a:tr h="777240">
                <a:tc>
                  <a:txBody>
                    <a:bodyPr/>
                    <a:lstStyle/>
                    <a:p>
                      <a:pPr algn="l"/>
                      <a:r>
                        <a:rPr b="1" sz="1250">
                          <a:solidFill>
                            <a:srgbClr val="FFFFFF"/>
                          </a:solidFill>
                          <a:latin typeface="Calibri"/>
                        </a:rPr>
                        <a:t>Parameter</a:t>
                      </a:r>
                    </a:p>
                  </a:txBody>
                  <a:tcPr>
                    <a:solidFill>
                      <a:srgbClr val="1E2761"/>
                    </a:solidFill>
                  </a:tcPr>
                </a:tc>
                <a:tc>
                  <a:txBody>
                    <a:bodyPr/>
                    <a:lstStyle/>
                    <a:p>
                      <a:pPr algn="l"/>
                      <a:r>
                        <a:rPr b="1" sz="1250">
                          <a:solidFill>
                            <a:srgbClr val="FFFFFF"/>
                          </a:solidFill>
                          <a:latin typeface="Calibri"/>
                        </a:rPr>
                        <a:t>Type</a:t>
                      </a:r>
                    </a:p>
                  </a:txBody>
                  <a:tcPr>
                    <a:solidFill>
                      <a:srgbClr val="1E2761"/>
                    </a:solidFill>
                  </a:tcPr>
                </a:tc>
                <a:tc>
                  <a:txBody>
                    <a:bodyPr/>
                    <a:lstStyle/>
                    <a:p>
                      <a:pPr algn="l"/>
                      <a:r>
                        <a:rPr b="1" sz="1250">
                          <a:solidFill>
                            <a:srgbClr val="FFFFFF"/>
                          </a:solidFill>
                          <a:latin typeface="Calibri"/>
                        </a:rPr>
                        <a:t>Suggested value</a:t>
                      </a:r>
                    </a:p>
                  </a:txBody>
                  <a:tcPr>
                    <a:solidFill>
                      <a:srgbClr val="1E2761"/>
                    </a:solidFill>
                  </a:tcPr>
                </a:tc>
                <a:tc>
                  <a:txBody>
                    <a:bodyPr/>
                    <a:lstStyle/>
                    <a:p>
                      <a:pPr algn="l"/>
                      <a:r>
                        <a:rPr b="1" sz="1250">
                          <a:solidFill>
                            <a:srgbClr val="FFFFFF"/>
                          </a:solidFill>
                          <a:latin typeface="Calibri"/>
                        </a:rPr>
                        <a:t>Purpose</a:t>
                      </a:r>
                    </a:p>
                  </a:txBody>
                  <a:tcPr>
                    <a:solidFill>
                      <a:srgbClr val="1E2761"/>
                    </a:solidFill>
                  </a:tcPr>
                </a:tc>
              </a:tr>
              <a:tr h="777240">
                <a:tc>
                  <a:txBody>
                    <a:bodyPr/>
                    <a:lstStyle/>
                    <a:p>
                      <a:r>
                        <a:rPr sz="1150">
                          <a:solidFill>
                            <a:srgbClr val="1F2328"/>
                          </a:solidFill>
                          <a:latin typeface="Calibri"/>
                        </a:rPr>
                        <a:t>RawDataBaseUrl</a:t>
                      </a:r>
                    </a:p>
                  </a:txBody>
                  <a:tcPr>
                    <a:solidFill>
                      <a:srgbClr val="FFFFFF"/>
                    </a:solidFill>
                  </a:tcPr>
                </a:tc>
                <a:tc>
                  <a:txBody>
                    <a:bodyPr/>
                    <a:lstStyle/>
                    <a:p>
                      <a:r>
                        <a:rPr sz="1150">
                          <a:solidFill>
                            <a:srgbClr val="1F2328"/>
                          </a:solidFill>
                          <a:latin typeface="Calibri"/>
                        </a:rPr>
                        <a:t>Text</a:t>
                      </a:r>
                    </a:p>
                  </a:txBody>
                  <a:tcPr>
                    <a:solidFill>
                      <a:srgbClr val="FFFFFF"/>
                    </a:solidFill>
                  </a:tcPr>
                </a:tc>
                <a:tc>
                  <a:txBody>
                    <a:bodyPr/>
                    <a:lstStyle/>
                    <a:p>
                      <a:r>
                        <a:rPr sz="1150">
                          <a:solidFill>
                            <a:srgbClr val="1F2328"/>
                          </a:solidFill>
                          <a:latin typeface="Calibri"/>
                        </a:rPr>
                        <a:t>https://raw.githubusercontent.com/Coding-Forge/PBI-Advanced-Factory/main/data/</a:t>
                      </a:r>
                    </a:p>
                  </a:txBody>
                  <a:tcPr>
                    <a:solidFill>
                      <a:srgbClr val="FFFFFF"/>
                    </a:solidFill>
                  </a:tcPr>
                </a:tc>
                <a:tc>
                  <a:txBody>
                    <a:bodyPr/>
                    <a:lstStyle/>
                    <a:p>
                      <a:r>
                        <a:rPr sz="1150">
                          <a:solidFill>
                            <a:srgbClr val="1F2328"/>
                          </a:solidFill>
                          <a:latin typeface="Calibri"/>
                        </a:rPr>
                        <a:t>Base URL for all Web-source CSVs; used in every raw_ query.</a:t>
                      </a:r>
                    </a:p>
                  </a:txBody>
                  <a:tcPr>
                    <a:solidFill>
                      <a:srgbClr val="FFFFFF"/>
                    </a:solidFill>
                  </a:tcPr>
                </a:tc>
              </a:tr>
              <a:tr h="777240">
                <a:tc>
                  <a:txBody>
                    <a:bodyPr/>
                    <a:lstStyle/>
                    <a:p>
                      <a:r>
                        <a:rPr sz="1150">
                          <a:solidFill>
                            <a:srgbClr val="1F2328"/>
                          </a:solidFill>
                          <a:latin typeface="Calibri"/>
                        </a:rPr>
                        <a:t>SourceFolderPath</a:t>
                      </a:r>
                    </a:p>
                  </a:txBody>
                  <a:tcPr>
                    <a:solidFill>
                      <a:srgbClr val="F6F8FC"/>
                    </a:solidFill>
                  </a:tcPr>
                </a:tc>
                <a:tc>
                  <a:txBody>
                    <a:bodyPr/>
                    <a:lstStyle/>
                    <a:p>
                      <a:r>
                        <a:rPr sz="1150">
                          <a:solidFill>
                            <a:srgbClr val="1F2328"/>
                          </a:solidFill>
                          <a:latin typeface="Calibri"/>
                        </a:rPr>
                        <a:t>Text</a:t>
                      </a:r>
                    </a:p>
                  </a:txBody>
                  <a:tcPr>
                    <a:solidFill>
                      <a:srgbClr val="F6F8FC"/>
                    </a:solidFill>
                  </a:tcPr>
                </a:tc>
                <a:tc>
                  <a:txBody>
                    <a:bodyPr/>
                    <a:lstStyle/>
                    <a:p>
                      <a:r>
                        <a:rPr sz="1150">
                          <a:solidFill>
                            <a:srgbClr val="1F2328"/>
                          </a:solidFill>
                          <a:latin typeface="Calibri"/>
                        </a:rPr>
                        <a:t>Blank, or a local folder path for offline delivery</a:t>
                      </a:r>
                    </a:p>
                  </a:txBody>
                  <a:tcPr>
                    <a:solidFill>
                      <a:srgbClr val="F6F8FC"/>
                    </a:solidFill>
                  </a:tcPr>
                </a:tc>
                <a:tc>
                  <a:txBody>
                    <a:bodyPr/>
                    <a:lstStyle/>
                    <a:p>
                      <a:r>
                        <a:rPr sz="1150">
                          <a:solidFill>
                            <a:srgbClr val="1F2328"/>
                          </a:solidFill>
                          <a:latin typeface="Calibri"/>
                        </a:rPr>
                        <a:t>Optional placeholder for a Folder-connector delivery path.</a:t>
                      </a:r>
                    </a:p>
                  </a:txBody>
                  <a:tcPr>
                    <a:solidFill>
                      <a:srgbClr val="F6F8FC"/>
                    </a:solidFill>
                  </a:tcPr>
                </a:tc>
              </a:tr>
              <a:tr h="777240">
                <a:tc>
                  <a:txBody>
                    <a:bodyPr/>
                    <a:lstStyle/>
                    <a:p>
                      <a:r>
                        <a:rPr sz="1150">
                          <a:solidFill>
                            <a:srgbClr val="1F2328"/>
                          </a:solidFill>
                          <a:latin typeface="Calibri"/>
                        </a:rPr>
                        <a:t>EnvironmentName</a:t>
                      </a:r>
                    </a:p>
                  </a:txBody>
                  <a:tcPr>
                    <a:solidFill>
                      <a:srgbClr val="FFFFFF"/>
                    </a:solidFill>
                  </a:tcPr>
                </a:tc>
                <a:tc>
                  <a:txBody>
                    <a:bodyPr/>
                    <a:lstStyle/>
                    <a:p>
                      <a:r>
                        <a:rPr sz="1150">
                          <a:solidFill>
                            <a:srgbClr val="1F2328"/>
                          </a:solidFill>
                          <a:latin typeface="Calibri"/>
                        </a:rPr>
                        <a:t>Text or List</a:t>
                      </a:r>
                    </a:p>
                  </a:txBody>
                  <a:tcPr>
                    <a:solidFill>
                      <a:srgbClr val="FFFFFF"/>
                    </a:solidFill>
                  </a:tcPr>
                </a:tc>
                <a:tc>
                  <a:txBody>
                    <a:bodyPr/>
                    <a:lstStyle/>
                    <a:p>
                      <a:r>
                        <a:rPr sz="1150">
                          <a:solidFill>
                            <a:srgbClr val="1F2328"/>
                          </a:solidFill>
                          <a:latin typeface="Calibri"/>
                        </a:rPr>
                        <a:t>Dev (with Test, Prod as list values)</a:t>
                      </a:r>
                    </a:p>
                  </a:txBody>
                  <a:tcPr>
                    <a:solidFill>
                      <a:srgbClr val="FFFFFF"/>
                    </a:solidFill>
                  </a:tcPr>
                </a:tc>
                <a:tc>
                  <a:txBody>
                    <a:bodyPr/>
                    <a:lstStyle/>
                    <a:p>
                      <a:r>
                        <a:rPr sz="1150">
                          <a:solidFill>
                            <a:srgbClr val="1F2328"/>
                          </a:solidFill>
                          <a:latin typeface="Calibri"/>
                        </a:rPr>
                        <a:t>Documents Dev/Test/Prod source switching without changing the Web-source path.</a:t>
                      </a:r>
                    </a:p>
                  </a:txBody>
                  <a:tcPr>
                    <a:solidFill>
                      <a:srgbClr val="FFFFFF"/>
                    </a:solidFill>
                  </a:tcPr>
                </a:tc>
              </a:tr>
              <a:tr h="777240">
                <a:tc>
                  <a:txBody>
                    <a:bodyPr/>
                    <a:lstStyle/>
                    <a:p>
                      <a:r>
                        <a:rPr sz="1150">
                          <a:solidFill>
                            <a:srgbClr val="1F2328"/>
                          </a:solidFill>
                          <a:latin typeface="Calibri"/>
                        </a:rPr>
                        <a:t>RangeStart</a:t>
                      </a:r>
                    </a:p>
                  </a:txBody>
                  <a:tcPr>
                    <a:solidFill>
                      <a:srgbClr val="F6F8FC"/>
                    </a:solidFill>
                  </a:tcPr>
                </a:tc>
                <a:tc>
                  <a:txBody>
                    <a:bodyPr/>
                    <a:lstStyle/>
                    <a:p>
                      <a:r>
                        <a:rPr sz="1150">
                          <a:solidFill>
                            <a:srgbClr val="1F2328"/>
                          </a:solidFill>
                          <a:latin typeface="Calibri"/>
                        </a:rPr>
                        <a:t>Date/Time</a:t>
                      </a:r>
                    </a:p>
                  </a:txBody>
                  <a:tcPr>
                    <a:solidFill>
                      <a:srgbClr val="F6F8FC"/>
                    </a:solidFill>
                  </a:tcPr>
                </a:tc>
                <a:tc>
                  <a:txBody>
                    <a:bodyPr/>
                    <a:lstStyle/>
                    <a:p>
                      <a:r>
                        <a:rPr sz="1150">
                          <a:solidFill>
                            <a:srgbClr val="1F2328"/>
                          </a:solidFill>
                          <a:latin typeface="Calibri"/>
                        </a:rPr>
                        <a:t>2026-01-01 00:00:00</a:t>
                      </a:r>
                    </a:p>
                  </a:txBody>
                  <a:tcPr>
                    <a:solidFill>
                      <a:srgbClr val="F6F8FC"/>
                    </a:solidFill>
                  </a:tcPr>
                </a:tc>
                <a:tc>
                  <a:txBody>
                    <a:bodyPr/>
                    <a:lstStyle/>
                    <a:p>
                      <a:r>
                        <a:rPr sz="1150">
                          <a:solidFill>
                            <a:srgbClr val="1F2328"/>
                          </a:solidFill>
                          <a:latin typeface="Calibri"/>
                        </a:rPr>
                        <a:t>Lower bound for incremental-refresh filtering on FactOrders[OrderDate].</a:t>
                      </a:r>
                    </a:p>
                  </a:txBody>
                  <a:tcPr>
                    <a:solidFill>
                      <a:srgbClr val="F6F8FC"/>
                    </a:solidFill>
                  </a:tcPr>
                </a:tc>
              </a:tr>
              <a:tr h="777240">
                <a:tc>
                  <a:txBody>
                    <a:bodyPr/>
                    <a:lstStyle/>
                    <a:p>
                      <a:r>
                        <a:rPr sz="1150">
                          <a:solidFill>
                            <a:srgbClr val="1F2328"/>
                          </a:solidFill>
                          <a:latin typeface="Calibri"/>
                        </a:rPr>
                        <a:t>RangeEnd</a:t>
                      </a:r>
                    </a:p>
                  </a:txBody>
                  <a:tcPr>
                    <a:solidFill>
                      <a:srgbClr val="FFFFFF"/>
                    </a:solidFill>
                  </a:tcPr>
                </a:tc>
                <a:tc>
                  <a:txBody>
                    <a:bodyPr/>
                    <a:lstStyle/>
                    <a:p>
                      <a:r>
                        <a:rPr sz="1150">
                          <a:solidFill>
                            <a:srgbClr val="1F2328"/>
                          </a:solidFill>
                          <a:latin typeface="Calibri"/>
                        </a:rPr>
                        <a:t>Date/Time</a:t>
                      </a:r>
                    </a:p>
                  </a:txBody>
                  <a:tcPr>
                    <a:solidFill>
                      <a:srgbClr val="FFFFFF"/>
                    </a:solidFill>
                  </a:tcPr>
                </a:tc>
                <a:tc>
                  <a:txBody>
                    <a:bodyPr/>
                    <a:lstStyle/>
                    <a:p>
                      <a:r>
                        <a:rPr sz="1150">
                          <a:solidFill>
                            <a:srgbClr val="1F2328"/>
                          </a:solidFill>
                          <a:latin typeface="Calibri"/>
                        </a:rPr>
                        <a:t>2026-04-01 00:00:00</a:t>
                      </a:r>
                    </a:p>
                  </a:txBody>
                  <a:tcPr>
                    <a:solidFill>
                      <a:srgbClr val="FFFFFF"/>
                    </a:solidFill>
                  </a:tcPr>
                </a:tc>
                <a:tc>
                  <a:txBody>
                    <a:bodyPr/>
                    <a:lstStyle/>
                    <a:p>
                      <a:r>
                        <a:rPr sz="1150">
                          <a:solidFill>
                            <a:srgbClr val="1F2328"/>
                          </a:solidFill>
                          <a:latin typeface="Calibri"/>
                        </a:rPr>
                        <a:t>Upper bound for incremental-refresh filtering on FactOrders[OrderDate].</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3 creates RawDataBaseUrl, SourceFolderPath, and EnvironmentName; Exercise 7 adds the RangeStart / RangeEnd DateTime pair used to filter FactOrders for incremental refresh preparation.</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06</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Custom Functions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fn_CleanText is a nullable-text-in, nullable-text-out function that trims whitespace, cleans non-printable characters, and applies Text.Proper, returning null safely when input is null.</a:t>
            </a:r>
          </a:p>
          <a:p>
            <a:pPr>
              <a:lnSpc>
                <a:spcPct val="105000"/>
              </a:lnSpc>
              <a:spcAft>
                <a:spcPts val="1000"/>
              </a:spcAft>
              <a:buClr>
                <a:srgbClr val="1E2761"/>
              </a:buClr>
              <a:buFont typeface="Arial"/>
              <a:buChar char="•"/>
            </a:pPr>
            <a:r>
              <a:rPr sz="1450">
                <a:solidFill>
                  <a:srgbClr val="1F2328"/>
                </a:solidFill>
                <a:latin typeface="Calibri"/>
              </a:rPr>
              <a:t>The pattern: (inputText as nullable text) as nullable text =&gt; let Result = if inputText = null then null else Text.Proper(Text.Trim(Text.Clean(inputText))) in Result.</a:t>
            </a:r>
          </a:p>
          <a:p>
            <a:pPr>
              <a:lnSpc>
                <a:spcPct val="105000"/>
              </a:lnSpc>
              <a:spcAft>
                <a:spcPts val="1000"/>
              </a:spcAft>
              <a:buClr>
                <a:srgbClr val="1E2761"/>
              </a:buClr>
              <a:buFont typeface="Arial"/>
              <a:buChar char="•"/>
            </a:pPr>
            <a:r>
              <a:rPr sz="1450">
                <a:solidFill>
                  <a:srgbClr val="1F2328"/>
                </a:solidFill>
                <a:latin typeface="Calibri"/>
              </a:rPr>
              <a:t>Invoke it two ways — Transform &gt; Invoke Custom Function for a single column, or Table.TransformColumns in Advanced Editor to clean several columns in one step (CustomerName, SalesChannel, ProductName, ProductCategory, ProductSubcategory).</a:t>
            </a:r>
          </a:p>
          <a:p>
            <a:pPr>
              <a:lnSpc>
                <a:spcPct val="105000"/>
              </a:lnSpc>
              <a:spcAft>
                <a:spcPts val="1000"/>
              </a:spcAft>
              <a:buClr>
                <a:srgbClr val="1E2761"/>
              </a:buClr>
              <a:buFont typeface="Arial"/>
              <a:buChar char="•"/>
            </a:pPr>
            <a:r>
              <a:rPr sz="1450">
                <a:solidFill>
                  <a:srgbClr val="1F2328"/>
                </a:solidFill>
                <a:latin typeface="Calibri"/>
              </a:rPr>
              <a:t>Test the function against known edge cases (null, empty string, leading/trailing whitespace, mixed case) before invoking it across the model.</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One cleanup function applied consistently everywhere beats five copies of the same trim/proper/clean logic scattered across five queries — fewer places to fix bugs and no risk of drift.</a:t>
            </a:r>
          </a:p>
          <a:p>
            <a:pPr>
              <a:lnSpc>
                <a:spcPct val="105000"/>
              </a:lnSpc>
              <a:spcAft>
                <a:spcPts val="1000"/>
              </a:spcAft>
              <a:buClr>
                <a:srgbClr val="E8B44A"/>
              </a:buClr>
              <a:buFont typeface="Arial"/>
              <a:buChar char="•"/>
            </a:pPr>
            <a:r>
              <a:rPr sz="1450">
                <a:solidFill>
                  <a:srgbClr val="1F2328"/>
                </a:solidFill>
                <a:latin typeface="Calibri"/>
              </a:rPr>
              <a:t>Explicit null handling matters: without the if inputText = null branch, Text.Trim(null) throws and breaks refresh on the first row with a missing customer name.</a:t>
            </a:r>
          </a:p>
          <a:p>
            <a:pPr>
              <a:lnSpc>
                <a:spcPct val="105000"/>
              </a:lnSpc>
              <a:spcAft>
                <a:spcPts val="1000"/>
              </a:spcAft>
              <a:buClr>
                <a:srgbClr val="E8B44A"/>
              </a:buClr>
              <a:buFont typeface="Arial"/>
              <a:buChar char="•"/>
            </a:pPr>
            <a:r>
              <a:rPr sz="1450">
                <a:solidFill>
                  <a:srgbClr val="1F2328"/>
                </a:solidFill>
                <a:latin typeface="Calibri"/>
              </a:rPr>
              <a:t>Table.TransformColumns is the idiomatic way to apply a function to a set of columns without generating one Applied Step per column — cleaner M, faster to review, easier to add columns to later.</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connection: Exercise 4 creates fn_CleanText and invokes it on the text columns of both FactOrders (CustomerName, SalesChannel) and dim_ProductCategory (ProductName, ProductCategory, ProductSubcategory).</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07</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Query Folding</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Query folding is Power Query's ability to translate M steps into the source system's native query language (usually SQL) and push work down to the source.</a:t>
            </a:r>
          </a:p>
          <a:p>
            <a:pPr>
              <a:lnSpc>
                <a:spcPct val="105000"/>
              </a:lnSpc>
              <a:spcAft>
                <a:spcPts val="1000"/>
              </a:spcAft>
              <a:buClr>
                <a:srgbClr val="1E2761"/>
              </a:buClr>
              <a:buFont typeface="Arial"/>
              <a:buChar char="•"/>
            </a:pPr>
            <a:r>
              <a:rPr sz="1450">
                <a:solidFill>
                  <a:srgbClr val="1F2328"/>
                </a:solidFill>
                <a:latin typeface="Calibri"/>
              </a:rPr>
              <a:t>What folds: filters, column selection, joins, group-by, and simple typing against connectors that support folding (SQL Server, Synapse, Snowflake, and similar).</a:t>
            </a:r>
          </a:p>
          <a:p>
            <a:pPr>
              <a:lnSpc>
                <a:spcPct val="105000"/>
              </a:lnSpc>
              <a:spcAft>
                <a:spcPts val="1000"/>
              </a:spcAft>
              <a:buClr>
                <a:srgbClr val="1E2761"/>
              </a:buClr>
              <a:buFont typeface="Arial"/>
              <a:buChar char="•"/>
            </a:pPr>
            <a:r>
              <a:rPr sz="1450">
                <a:solidFill>
                  <a:srgbClr val="1F2328"/>
                </a:solidFill>
                <a:latin typeface="Calibri"/>
              </a:rPr>
              <a:t>What breaks folding: adding an index column, custom columns with M functions like Text.Clean or fn_CleanText, referencing a step that already broke folding, and any step against a non-folding source (CSV, Excel, Web).</a:t>
            </a:r>
          </a:p>
          <a:p>
            <a:pPr>
              <a:lnSpc>
                <a:spcPct val="105000"/>
              </a:lnSpc>
              <a:spcAft>
                <a:spcPts val="1000"/>
              </a:spcAft>
              <a:buClr>
                <a:srgbClr val="1E2761"/>
              </a:buClr>
              <a:buFont typeface="Arial"/>
              <a:buChar char="•"/>
            </a:pPr>
            <a:r>
              <a:rPr sz="1450">
                <a:solidFill>
                  <a:srgbClr val="1F2328"/>
                </a:solidFill>
                <a:latin typeface="Calibri"/>
              </a:rPr>
              <a:t>Verify by right-clicking a step and choosing View Native Query — if the option is grayed out, folding stopped at or before that step.</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When folding works, filtering a billion-row fact table down to 10,000 rows for a date range happens at the source in seconds — not by streaming a billion rows to Desktop and filtering client-side.</a:t>
            </a:r>
          </a:p>
          <a:p>
            <a:pPr>
              <a:lnSpc>
                <a:spcPct val="105000"/>
              </a:lnSpc>
              <a:spcAft>
                <a:spcPts val="1000"/>
              </a:spcAft>
              <a:buClr>
                <a:srgbClr val="E8B44A"/>
              </a:buClr>
              <a:buFont typeface="Arial"/>
              <a:buChar char="•"/>
            </a:pPr>
            <a:r>
              <a:rPr sz="1450">
                <a:solidFill>
                  <a:srgbClr val="1F2328"/>
                </a:solidFill>
                <a:latin typeface="Calibri"/>
              </a:rPr>
              <a:t>The Web/CSV source in this lab does not fold, so folding is a concept slide today — but every step you write is either fold-preserving or fold-breaking, and knowing which is which is essential for the next SQL-backed project.</a:t>
            </a:r>
          </a:p>
          <a:p>
            <a:pPr>
              <a:lnSpc>
                <a:spcPct val="105000"/>
              </a:lnSpc>
              <a:spcAft>
                <a:spcPts val="1000"/>
              </a:spcAft>
              <a:buClr>
                <a:srgbClr val="E8B44A"/>
              </a:buClr>
              <a:buFont typeface="Arial"/>
              <a:buChar char="•"/>
            </a:pPr>
            <a:r>
              <a:rPr sz="1450">
                <a:solidFill>
                  <a:srgbClr val="1F2328"/>
                </a:solidFill>
                <a:latin typeface="Calibri"/>
              </a:rPr>
              <a:t>Folding is why the order of steps matters: put filters and column selection as early as possible, and push any non-folding transformations (like invoking fn_CleanText) as late as possible so the smallest possible dataset reaches them.</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Gov note: query folding is Gov-ready as a Power Query capability, but hands-on folding validation is Verify for source — it depends on the specific connector and source system in the target tenant. Lab Exercise 6 is conceptual for that reason.</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08</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Native Queries and Source Systems</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A native query is source-system SQL (or equivalent) passed directly through the Value.NativeQuery function or the connector's SQL text box, rather than expressed as M steps.</a:t>
            </a:r>
          </a:p>
          <a:p>
            <a:pPr>
              <a:lnSpc>
                <a:spcPct val="105000"/>
              </a:lnSpc>
              <a:spcAft>
                <a:spcPts val="1000"/>
              </a:spcAft>
              <a:buClr>
                <a:srgbClr val="1E2761"/>
              </a:buClr>
              <a:buFont typeface="Arial"/>
              <a:buChar char="•"/>
            </a:pPr>
            <a:r>
              <a:rPr sz="1450">
                <a:solidFill>
                  <a:srgbClr val="1F2328"/>
                </a:solidFill>
                <a:latin typeface="Calibri"/>
              </a:rPr>
              <a:t>Native queries can push complex logic (window functions, source-specific optimizations, hints) that Power Query M cannot generate on its own.</a:t>
            </a:r>
          </a:p>
          <a:p>
            <a:pPr>
              <a:lnSpc>
                <a:spcPct val="105000"/>
              </a:lnSpc>
              <a:spcAft>
                <a:spcPts val="1000"/>
              </a:spcAft>
              <a:buClr>
                <a:srgbClr val="1E2761"/>
              </a:buClr>
              <a:buFont typeface="Arial"/>
              <a:buChar char="•"/>
            </a:pPr>
            <a:r>
              <a:rPr sz="1450">
                <a:solidFill>
                  <a:srgbClr val="1F2328"/>
                </a:solidFill>
                <a:latin typeface="Calibri"/>
              </a:rPr>
              <a:t>The tradeoff: a native query hard-couples the report to a specific source dialect, requires source-side security review, and is much harder to review or refactor than equivalent M steps.</a:t>
            </a:r>
          </a:p>
          <a:p>
            <a:pPr>
              <a:lnSpc>
                <a:spcPct val="105000"/>
              </a:lnSpc>
              <a:spcAft>
                <a:spcPts val="1000"/>
              </a:spcAft>
              <a:buClr>
                <a:srgbClr val="1E2761"/>
              </a:buClr>
              <a:buFont typeface="Arial"/>
              <a:buChar char="•"/>
            </a:pPr>
            <a:r>
              <a:rPr sz="1450">
                <a:solidFill>
                  <a:srgbClr val="1F2328"/>
                </a:solidFill>
                <a:latin typeface="Calibri"/>
              </a:rPr>
              <a:t>Gateway and identity implications: native queries typically require the gateway account to have sufficient privileges on the source, and some tenants disable Value.NativeQuery entirely for governance reasons.</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Prefer maintainable M steps for the 90% case. Reach for native queries only when there is a specific performance or feature reason M can't cover.</a:t>
            </a:r>
          </a:p>
          <a:p>
            <a:pPr>
              <a:lnSpc>
                <a:spcPct val="105000"/>
              </a:lnSpc>
              <a:spcAft>
                <a:spcPts val="1000"/>
              </a:spcAft>
              <a:buClr>
                <a:srgbClr val="E8B44A"/>
              </a:buClr>
              <a:buFont typeface="Arial"/>
              <a:buChar char="•"/>
            </a:pPr>
            <a:r>
              <a:rPr sz="1450">
                <a:solidFill>
                  <a:srgbClr val="1F2328"/>
                </a:solidFill>
                <a:latin typeface="Calibri"/>
              </a:rPr>
              <a:t>Governance risk is real: a native query hidden inside a query is a security reviewer's blind spot — it should be flagged, documented, and reviewed with the same care as source-side stored procedures.</a:t>
            </a:r>
          </a:p>
          <a:p>
            <a:pPr>
              <a:lnSpc>
                <a:spcPct val="105000"/>
              </a:lnSpc>
              <a:spcAft>
                <a:spcPts val="1000"/>
              </a:spcAft>
              <a:buClr>
                <a:srgbClr val="E8B44A"/>
              </a:buClr>
              <a:buFont typeface="Arial"/>
              <a:buChar char="•"/>
            </a:pPr>
            <a:r>
              <a:rPr sz="1450">
                <a:solidFill>
                  <a:srgbClr val="1F2328"/>
                </a:solidFill>
                <a:latin typeface="Calibri"/>
              </a:rPr>
              <a:t>Portability matters: an M-based transformation can often be repointed at a different source (dev/test/prod, or SQL Server to Synapse) with parameter changes. A native query pins you to the current source dialect.</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Gov note: native queries are Verify for Gov — connector, gateway, credential, and tenant policy must all support them before they ship into a production Gov model.</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09</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Data Quality and Errors</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357628"/>
                <a:gridCol w="5440680"/>
                <a:gridCol w="3083052"/>
              </a:tblGrid>
              <a:tr h="777240">
                <a:tc>
                  <a:txBody>
                    <a:bodyPr/>
                    <a:lstStyle/>
                    <a:p>
                      <a:pPr algn="l"/>
                      <a:r>
                        <a:rPr b="1" sz="1250">
                          <a:solidFill>
                            <a:srgbClr val="FFFFFF"/>
                          </a:solidFill>
                          <a:latin typeface="Calibri"/>
                        </a:rPr>
                        <a:t>Technique</a:t>
                      </a:r>
                    </a:p>
                  </a:txBody>
                  <a:tcPr>
                    <a:solidFill>
                      <a:srgbClr val="1E2761"/>
                    </a:solidFill>
                  </a:tcPr>
                </a:tc>
                <a:tc>
                  <a:txBody>
                    <a:bodyPr/>
                    <a:lstStyle/>
                    <a:p>
                      <a:pPr algn="l"/>
                      <a:r>
                        <a:rPr b="1" sz="1250">
                          <a:solidFill>
                            <a:srgbClr val="FFFFFF"/>
                          </a:solidFill>
                          <a:latin typeface="Calibri"/>
                        </a:rPr>
                        <a:t>How it's used in Exercise 5</a:t>
                      </a:r>
                    </a:p>
                  </a:txBody>
                  <a:tcPr>
                    <a:solidFill>
                      <a:srgbClr val="1E2761"/>
                    </a:solidFill>
                  </a:tcPr>
                </a:tc>
                <a:tc>
                  <a:txBody>
                    <a:bodyPr/>
                    <a:lstStyle/>
                    <a:p>
                      <a:pPr algn="l"/>
                      <a:r>
                        <a:rPr b="1" sz="1250">
                          <a:solidFill>
                            <a:srgbClr val="FFFFFF"/>
                          </a:solidFill>
                          <a:latin typeface="Calibri"/>
                        </a:rPr>
                        <a:t>Why it matters</a:t>
                      </a:r>
                    </a:p>
                  </a:txBody>
                  <a:tcPr>
                    <a:solidFill>
                      <a:srgbClr val="1E2761"/>
                    </a:solidFill>
                  </a:tcPr>
                </a:tc>
              </a:tr>
              <a:tr h="777240">
                <a:tc>
                  <a:txBody>
                    <a:bodyPr/>
                    <a:lstStyle/>
                    <a:p>
                      <a:r>
                        <a:rPr sz="1150">
                          <a:solidFill>
                            <a:srgbClr val="1F2328"/>
                          </a:solidFill>
                          <a:latin typeface="Calibri"/>
                        </a:rPr>
                        <a:t>Explicit types</a:t>
                      </a:r>
                    </a:p>
                  </a:txBody>
                  <a:tcPr>
                    <a:solidFill>
                      <a:srgbClr val="FFFFFF"/>
                    </a:solidFill>
                  </a:tcPr>
                </a:tc>
                <a:tc>
                  <a:txBody>
                    <a:bodyPr/>
                    <a:lstStyle/>
                    <a:p>
                      <a:r>
                        <a:rPr sz="1150">
                          <a:solidFill>
                            <a:srgbClr val="1F2328"/>
                          </a:solidFill>
                          <a:latin typeface="Calibri"/>
                        </a:rPr>
                        <a:t>Every column on FactOrders is set to its intended type (Date/Time, Int64, Decimal, Text) as the last step before load.</a:t>
                      </a:r>
                    </a:p>
                  </a:txBody>
                  <a:tcPr>
                    <a:solidFill>
                      <a:srgbClr val="FFFFFF"/>
                    </a:solidFill>
                  </a:tcPr>
                </a:tc>
                <a:tc>
                  <a:txBody>
                    <a:bodyPr/>
                    <a:lstStyle/>
                    <a:p>
                      <a:r>
                        <a:rPr sz="1150">
                          <a:solidFill>
                            <a:srgbClr val="1F2328"/>
                          </a:solidFill>
                          <a:latin typeface="Calibri"/>
                        </a:rPr>
                        <a:t>Prevents silent implicit conversions and surfaces bad values as errors instead of hiding them as blanks.</a:t>
                      </a:r>
                    </a:p>
                  </a:txBody>
                  <a:tcPr>
                    <a:solidFill>
                      <a:srgbClr val="FFFFFF"/>
                    </a:solidFill>
                  </a:tcPr>
                </a:tc>
              </a:tr>
              <a:tr h="777240">
                <a:tc>
                  <a:txBody>
                    <a:bodyPr/>
                    <a:lstStyle/>
                    <a:p>
                      <a:r>
                        <a:rPr sz="1150">
                          <a:solidFill>
                            <a:srgbClr val="1F2328"/>
                          </a:solidFill>
                          <a:latin typeface="Calibri"/>
                        </a:rPr>
                        <a:t>try / otherwise</a:t>
                      </a:r>
                    </a:p>
                  </a:txBody>
                  <a:tcPr>
                    <a:solidFill>
                      <a:srgbClr val="F6F8FC"/>
                    </a:solidFill>
                  </a:tcPr>
                </a:tc>
                <a:tc>
                  <a:txBody>
                    <a:bodyPr/>
                    <a:lstStyle/>
                    <a:p>
                      <a:r>
                        <a:rPr sz="1150">
                          <a:solidFill>
                            <a:srgbClr val="1F2328"/>
                          </a:solidFill>
                          <a:latin typeface="Calibri"/>
                        </a:rPr>
                        <a:t>try Date.From([OrderDate]) otherwise null, try Number.From([Quantity]) otherwise null, and similar patterns inside AddedDataQualityIssue.</a:t>
                      </a:r>
                    </a:p>
                  </a:txBody>
                  <a:tcPr>
                    <a:solidFill>
                      <a:srgbClr val="F6F8FC"/>
                    </a:solidFill>
                  </a:tcPr>
                </a:tc>
                <a:tc>
                  <a:txBody>
                    <a:bodyPr/>
                    <a:lstStyle/>
                    <a:p>
                      <a:r>
                        <a:rPr sz="1150">
                          <a:solidFill>
                            <a:srgbClr val="1F2328"/>
                          </a:solidFill>
                          <a:latin typeface="Calibri"/>
                        </a:rPr>
                        <a:t>Turns row-level parse failures into inspectable nulls instead of refresh-breaking errors.</a:t>
                      </a:r>
                    </a:p>
                  </a:txBody>
                  <a:tcPr>
                    <a:solidFill>
                      <a:srgbClr val="F6F8FC"/>
                    </a:solidFill>
                  </a:tcPr>
                </a:tc>
              </a:tr>
              <a:tr h="777240">
                <a:tc>
                  <a:txBody>
                    <a:bodyPr/>
                    <a:lstStyle/>
                    <a:p>
                      <a:r>
                        <a:rPr sz="1150">
                          <a:solidFill>
                            <a:srgbClr val="1F2328"/>
                          </a:solidFill>
                          <a:latin typeface="Calibri"/>
                        </a:rPr>
                        <a:t>Business-rule checks</a:t>
                      </a:r>
                    </a:p>
                  </a:txBody>
                  <a:tcPr>
                    <a:solidFill>
                      <a:srgbClr val="FFFFFF"/>
                    </a:solidFill>
                  </a:tcPr>
                </a:tc>
                <a:tc>
                  <a:txBody>
                    <a:bodyPr/>
                    <a:lstStyle/>
                    <a:p>
                      <a:r>
                        <a:rPr sz="1150">
                          <a:solidFill>
                            <a:srgbClr val="1F2328"/>
                          </a:solidFill>
                          <a:latin typeface="Calibri"/>
                        </a:rPr>
                        <a:t>Quantity &lt;= 0, UnitPrice &lt;= 0, and Trim(ProductCode) = "" are flagged as issues alongside type failures.</a:t>
                      </a:r>
                    </a:p>
                  </a:txBody>
                  <a:tcPr>
                    <a:solidFill>
                      <a:srgbClr val="FFFFFF"/>
                    </a:solidFill>
                  </a:tcPr>
                </a:tc>
                <a:tc>
                  <a:txBody>
                    <a:bodyPr/>
                    <a:lstStyle/>
                    <a:p>
                      <a:r>
                        <a:rPr sz="1150">
                          <a:solidFill>
                            <a:srgbClr val="1F2328"/>
                          </a:solidFill>
                          <a:latin typeface="Calibri"/>
                        </a:rPr>
                        <a:t>Technical validity is not the same as business validity — a zero-quantity order line parses fine but is still meaningless.</a:t>
                      </a:r>
                    </a:p>
                  </a:txBody>
                  <a:tcPr>
                    <a:solidFill>
                      <a:srgbClr val="FFFFFF"/>
                    </a:solidFill>
                  </a:tcPr>
                </a:tc>
              </a:tr>
              <a:tr h="777240">
                <a:tc>
                  <a:txBody>
                    <a:bodyPr/>
                    <a:lstStyle/>
                    <a:p>
                      <a:r>
                        <a:rPr sz="1150">
                          <a:solidFill>
                            <a:srgbClr val="1F2328"/>
                          </a:solidFill>
                          <a:latin typeface="Calibri"/>
                        </a:rPr>
                        <a:t>Error review query</a:t>
                      </a:r>
                    </a:p>
                  </a:txBody>
                  <a:tcPr>
                    <a:solidFill>
                      <a:srgbClr val="F6F8FC"/>
                    </a:solidFill>
                  </a:tcPr>
                </a:tc>
                <a:tc>
                  <a:txBody>
                    <a:bodyPr/>
                    <a:lstStyle/>
                    <a:p>
                      <a:r>
                        <a:rPr sz="1150">
                          <a:solidFill>
                            <a:srgbClr val="1F2328"/>
                          </a:solidFill>
                          <a:latin typeface="Calibri"/>
                        </a:rPr>
                        <a:t>err_OrdersReview is a Reference of stg_OrdersCombined that keeps only rows where DataQualityIssue &lt;&gt; "", with the issue text preserved.</a:t>
                      </a:r>
                    </a:p>
                  </a:txBody>
                  <a:tcPr>
                    <a:solidFill>
                      <a:srgbClr val="F6F8FC"/>
                    </a:solidFill>
                  </a:tcPr>
                </a:tc>
                <a:tc>
                  <a:txBody>
                    <a:bodyPr/>
                    <a:lstStyle/>
                    <a:p>
                      <a:r>
                        <a:rPr sz="1150">
                          <a:solidFill>
                            <a:srgbClr val="1F2328"/>
                          </a:solidFill>
                          <a:latin typeface="Calibri"/>
                        </a:rPr>
                        <a:t>Bad rows are triaged, not silently dropped — reviewers can see exactly why each row was excluded from FactOrders.</a:t>
                      </a:r>
                    </a:p>
                  </a:txBody>
                  <a:tcPr>
                    <a:solidFill>
                      <a:srgbClr val="F6F8FC"/>
                    </a:solidFill>
                  </a:tcPr>
                </a:tc>
              </a:tr>
              <a:tr h="777240">
                <a:tc>
                  <a:txBody>
                    <a:bodyPr/>
                    <a:lstStyle/>
                    <a:p>
                      <a:r>
                        <a:rPr sz="1150">
                          <a:solidFill>
                            <a:srgbClr val="1F2328"/>
                          </a:solidFill>
                          <a:latin typeface="Calibri"/>
                        </a:rPr>
                        <a:t>FactOrders filter</a:t>
                      </a:r>
                    </a:p>
                  </a:txBody>
                  <a:tcPr>
                    <a:solidFill>
                      <a:srgbClr val="FFFFFF"/>
                    </a:solidFill>
                  </a:tcPr>
                </a:tc>
                <a:tc>
                  <a:txBody>
                    <a:bodyPr/>
                    <a:lstStyle/>
                    <a:p>
                      <a:r>
                        <a:rPr sz="1150">
                          <a:solidFill>
                            <a:srgbClr val="1F2328"/>
                          </a:solidFill>
                          <a:latin typeface="Calibri"/>
                        </a:rPr>
                        <a:t>FactOrders selects rows where DataQualityIssue = "" before applying final types.</a:t>
                      </a:r>
                    </a:p>
                  </a:txBody>
                  <a:tcPr>
                    <a:solidFill>
                      <a:srgbClr val="FFFFFF"/>
                    </a:solidFill>
                  </a:tcPr>
                </a:tc>
                <a:tc>
                  <a:txBody>
                    <a:bodyPr/>
                    <a:lstStyle/>
                    <a:p>
                      <a:r>
                        <a:rPr sz="1150">
                          <a:solidFill>
                            <a:srgbClr val="1F2328"/>
                          </a:solidFill>
                          <a:latin typeface="Calibri"/>
                        </a:rPr>
                        <a:t>The model only contains rows that passed both technical and business validation, with an audit trail in err_OrdersReview.</a:t>
                      </a:r>
                    </a:p>
                  </a:txBody>
                  <a:tcPr>
                    <a:solidFill>
                      <a:srgbClr val="FFFFFF"/>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Lab tie-in: Exercise 5 builds AddedDataQualityIssue once inside stg_OrdersCombined and reuses it in both err_OrdersReview and FactOrders via a Reference — one validation logic stack, two consumers.</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10</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Incremental Refresh Preparation</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The two required parameter names are exact: RangeStart and RangeEnd, both of type Date/Time. The Service will not recognize any other names or types for an incremental refresh policy.</a:t>
            </a:r>
          </a:p>
          <a:p>
            <a:pPr>
              <a:lnSpc>
                <a:spcPct val="105000"/>
              </a:lnSpc>
              <a:spcAft>
                <a:spcPts val="1000"/>
              </a:spcAft>
              <a:buClr>
                <a:srgbClr val="1E2761"/>
              </a:buClr>
              <a:buFont typeface="Arial"/>
              <a:buChar char="•"/>
            </a:pPr>
            <a:r>
              <a:rPr sz="1450">
                <a:solidFill>
                  <a:srgbClr val="1F2328"/>
                </a:solidFill>
                <a:latin typeface="Calibri"/>
              </a:rPr>
              <a:t>Filter FactOrders on a Date/Time column (OrderDate) with a step of the form Table.SelectRows(#"...", each [OrderDate] &gt;= RangeStart and [OrderDate] &lt; RangeEnd) — half-open on the RangeEnd side to avoid double-counting boundary rows.</a:t>
            </a:r>
          </a:p>
          <a:p>
            <a:pPr>
              <a:lnSpc>
                <a:spcPct val="105000"/>
              </a:lnSpc>
              <a:spcAft>
                <a:spcPts val="1000"/>
              </a:spcAft>
              <a:buClr>
                <a:srgbClr val="1E2761"/>
              </a:buClr>
              <a:buFont typeface="Arial"/>
              <a:buChar char="•"/>
            </a:pPr>
            <a:r>
              <a:rPr sz="1450">
                <a:solidFill>
                  <a:srgbClr val="1F2328"/>
                </a:solidFill>
                <a:latin typeface="Calibri"/>
              </a:rPr>
              <a:t>In Desktop, the parameters act as manual filter values so students can preview a single window; in the Service, the incremental refresh policy overrides them for each partition automatically.</a:t>
            </a:r>
          </a:p>
          <a:p>
            <a:pPr>
              <a:lnSpc>
                <a:spcPct val="105000"/>
              </a:lnSpc>
              <a:spcAft>
                <a:spcPts val="1000"/>
              </a:spcAft>
              <a:buClr>
                <a:srgbClr val="1E2761"/>
              </a:buClr>
              <a:buFont typeface="Arial"/>
              <a:buChar char="•"/>
            </a:pPr>
            <a:r>
              <a:rPr sz="1450">
                <a:solidFill>
                  <a:srgbClr val="1F2328"/>
                </a:solidFill>
                <a:latin typeface="Calibri"/>
              </a:rPr>
              <a:t>Document the intended refresh and archive windows (e.g., 'keep 3 years, refresh the last 3 months') as part of the model documentation — the policy itself lives in the Service, and its settings must be validated against the target tenant.</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Without RangeStart and RangeEnd wired correctly in Desktop, the incremental refresh policy in the Service will refuse to apply and the model will silently fall back to full refresh — costing performance and possibly capacity.</a:t>
            </a:r>
          </a:p>
          <a:p>
            <a:pPr>
              <a:lnSpc>
                <a:spcPct val="105000"/>
              </a:lnSpc>
              <a:spcAft>
                <a:spcPts val="1000"/>
              </a:spcAft>
              <a:buClr>
                <a:srgbClr val="E8B44A"/>
              </a:buClr>
              <a:buFont typeface="Arial"/>
              <a:buChar char="•"/>
            </a:pPr>
            <a:r>
              <a:rPr sz="1450">
                <a:solidFill>
                  <a:srgbClr val="1F2328"/>
                </a:solidFill>
                <a:latin typeface="Calibri"/>
              </a:rPr>
              <a:t>The half-open filter ([OrderDate] &lt; RangeEnd) is a subtle but critical detail: the closed form (&lt;=) causes rows on the partition boundary to appear in two partitions and inflate totals.</a:t>
            </a:r>
          </a:p>
          <a:p>
            <a:pPr>
              <a:lnSpc>
                <a:spcPct val="105000"/>
              </a:lnSpc>
              <a:spcAft>
                <a:spcPts val="1000"/>
              </a:spcAft>
              <a:buClr>
                <a:srgbClr val="E8B44A"/>
              </a:buClr>
              <a:buFont typeface="Arial"/>
              <a:buChar char="•"/>
            </a:pPr>
            <a:r>
              <a:rPr sz="1450">
                <a:solidFill>
                  <a:srgbClr val="1F2328"/>
                </a:solidFill>
                <a:latin typeface="Calibri"/>
              </a:rPr>
              <a:t>This is the prep half of incremental refresh; the policy application in the Service is a separate topic and is Verify for Gov — licensing, capacity, and workspace type all affect whether the policy is available.</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Gov note: Desktop preparation of RangeStart/RangeEnd is Gov-ready. Applying the policy in the Service is Verify for Gov — validate license, workspace, and tenant support before treating Exercise 7 as anything more than preparation.</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01168"/>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11</a:t>
            </a:r>
          </a:p>
        </p:txBody>
      </p:sp>
      <p:sp>
        <p:nvSpPr>
          <p:cNvPr id="5" name="TextBox 4"/>
          <p:cNvSpPr txBox="1"/>
          <p:nvPr/>
        </p:nvSpPr>
        <p:spPr>
          <a:xfrm>
            <a:off x="640080" y="475488"/>
            <a:ext cx="10515600" cy="502920"/>
          </a:xfrm>
          <a:prstGeom prst="rect">
            <a:avLst/>
          </a:prstGeom>
          <a:noFill/>
        </p:spPr>
        <p:txBody>
          <a:bodyPr wrap="square" anchor="t" lIns="0" rIns="0" tIns="0" bIns="0">
            <a:spAutoFit/>
          </a:bodyPr>
          <a:lstStyle/>
          <a:p>
            <a:pPr algn="l">
              <a:lnSpc>
                <a:spcPct val="100000"/>
              </a:lnSpc>
              <a:spcAft>
                <a:spcPts val="0"/>
              </a:spcAft>
            </a:pPr>
            <a:r>
              <a:rPr sz="2400" b="1" i="0">
                <a:solidFill>
                  <a:srgbClr val="FFFFFF"/>
                </a:solidFill>
                <a:latin typeface="Cambria"/>
              </a:rPr>
              <a:t>Azure Government Considerations</a:t>
            </a:r>
          </a:p>
        </p:txBody>
      </p:sp>
      <p:graphicFrame>
        <p:nvGraphicFramePr>
          <p:cNvPr id="6" name="Table 5"/>
          <p:cNvGraphicFramePr>
            <a:graphicFrameLocks noGrp="1"/>
          </p:cNvGraphicFramePr>
          <p:nvPr/>
        </p:nvGraphicFramePr>
        <p:xfrm>
          <a:off x="640080" y="1325880"/>
          <a:ext cx="10881360" cy="4663440"/>
        </p:xfrm>
        <a:graphic>
          <a:graphicData uri="http://schemas.openxmlformats.org/drawingml/2006/table">
            <a:tbl>
              <a:tblPr firstRow="1" bandRow="1">
                <a:tableStyleId>{5C22544A-7EE6-4342-B048-85BDC9FD1C3A}</a:tableStyleId>
              </a:tblPr>
              <a:tblGrid>
                <a:gridCol w="2901696"/>
                <a:gridCol w="2538984"/>
                <a:gridCol w="5440680"/>
              </a:tblGrid>
              <a:tr h="518160">
                <a:tc>
                  <a:txBody>
                    <a:bodyPr/>
                    <a:lstStyle/>
                    <a:p>
                      <a:pPr algn="l"/>
                      <a:r>
                        <a:rPr b="1" sz="1250">
                          <a:solidFill>
                            <a:srgbClr val="FFFFFF"/>
                          </a:solidFill>
                          <a:latin typeface="Calibri"/>
                        </a:rPr>
                        <a:t>Feature</a:t>
                      </a:r>
                    </a:p>
                  </a:txBody>
                  <a:tcPr>
                    <a:solidFill>
                      <a:srgbClr val="1E2761"/>
                    </a:solidFill>
                  </a:tcPr>
                </a:tc>
                <a:tc>
                  <a:txBody>
                    <a:bodyPr/>
                    <a:lstStyle/>
                    <a:p>
                      <a:pPr algn="l"/>
                      <a:r>
                        <a:rPr b="1" sz="1250">
                          <a:solidFill>
                            <a:srgbClr val="FFFFFF"/>
                          </a:solidFill>
                          <a:latin typeface="Calibri"/>
                        </a:rPr>
                        <a:t>Status</a:t>
                      </a:r>
                    </a:p>
                  </a:txBody>
                  <a:tcPr>
                    <a:solidFill>
                      <a:srgbClr val="1E2761"/>
                    </a:solidFill>
                  </a:tcPr>
                </a:tc>
                <a:tc>
                  <a:txBody>
                    <a:bodyPr/>
                    <a:lstStyle/>
                    <a:p>
                      <a:pPr algn="l"/>
                      <a:r>
                        <a:rPr b="1" sz="1250">
                          <a:solidFill>
                            <a:srgbClr val="FFFFFF"/>
                          </a:solidFill>
                          <a:latin typeface="Calibri"/>
                        </a:rPr>
                        <a:t>Delivery note</a:t>
                      </a:r>
                    </a:p>
                  </a:txBody>
                  <a:tcPr>
                    <a:solidFill>
                      <a:srgbClr val="1E2761"/>
                    </a:solidFill>
                  </a:tcPr>
                </a:tc>
              </a:tr>
              <a:tr h="518160">
                <a:tc>
                  <a:txBody>
                    <a:bodyPr/>
                    <a:lstStyle/>
                    <a:p>
                      <a:r>
                        <a:rPr sz="1150">
                          <a:solidFill>
                            <a:srgbClr val="1F2328"/>
                          </a:solidFill>
                          <a:latin typeface="Calibri"/>
                        </a:rPr>
                        <a:t>Power Query in Desktop</a:t>
                      </a:r>
                    </a:p>
                  </a:txBody>
                  <a:tcPr>
                    <a:solidFill>
                      <a:srgbClr val="FFFFFF"/>
                    </a:solidFill>
                  </a:tcPr>
                </a:tc>
                <a:tc>
                  <a:txBody>
                    <a:bodyPr/>
                    <a:lstStyle/>
                    <a:p>
                      <a:r>
                        <a:rPr sz="1150">
                          <a:solidFill>
                            <a:srgbClr val="1F2328"/>
                          </a:solidFill>
                          <a:latin typeface="Calibri"/>
                        </a:rPr>
                        <a:t>Gov-ready</a:t>
                      </a:r>
                    </a:p>
                  </a:txBody>
                  <a:tcPr>
                    <a:solidFill>
                      <a:srgbClr val="FFFFFF"/>
                    </a:solidFill>
                  </a:tcPr>
                </a:tc>
                <a:tc>
                  <a:txBody>
                    <a:bodyPr/>
                    <a:lstStyle/>
                    <a:p>
                      <a:r>
                        <a:rPr sz="1150">
                          <a:solidFill>
                            <a:srgbClr val="1F2328"/>
                          </a:solidFill>
                          <a:latin typeface="Calibri"/>
                        </a:rPr>
                        <a:t>Core local authoring — staging, parameters, custom functions, folder combine on local files are all fully supported.</a:t>
                      </a:r>
                    </a:p>
                  </a:txBody>
                  <a:tcPr>
                    <a:solidFill>
                      <a:srgbClr val="FFFFFF"/>
                    </a:solidFill>
                  </a:tcPr>
                </a:tc>
              </a:tr>
              <a:tr h="518160">
                <a:tc>
                  <a:txBody>
                    <a:bodyPr/>
                    <a:lstStyle/>
                    <a:p>
                      <a:r>
                        <a:rPr sz="1150">
                          <a:solidFill>
                            <a:srgbClr val="1F2328"/>
                          </a:solidFill>
                          <a:latin typeface="Calibri"/>
                        </a:rPr>
                        <a:t>Folder-combine pattern</a:t>
                      </a:r>
                    </a:p>
                  </a:txBody>
                  <a:tcPr>
                    <a:solidFill>
                      <a:srgbClr val="F6F8FC"/>
                    </a:solidFill>
                  </a:tcPr>
                </a:tc>
                <a:tc>
                  <a:txBody>
                    <a:bodyPr/>
                    <a:lstStyle/>
                    <a:p>
                      <a:r>
                        <a:rPr sz="1150">
                          <a:solidFill>
                            <a:srgbClr val="1F2328"/>
                          </a:solidFill>
                          <a:latin typeface="Calibri"/>
                        </a:rPr>
                        <a:t>Gov-ready</a:t>
                      </a:r>
                    </a:p>
                  </a:txBody>
                  <a:tcPr>
                    <a:solidFill>
                      <a:srgbClr val="F6F8FC"/>
                    </a:solidFill>
                  </a:tcPr>
                </a:tc>
                <a:tc>
                  <a:txBody>
                    <a:bodyPr/>
                    <a:lstStyle/>
                    <a:p>
                      <a:r>
                        <a:rPr sz="1150">
                          <a:solidFill>
                            <a:srgbClr val="1F2328"/>
                          </a:solidFill>
                          <a:latin typeface="Calibri"/>
                        </a:rPr>
                        <a:t>Uses local files in the core lab path — no external dependencies.</a:t>
                      </a:r>
                    </a:p>
                  </a:txBody>
                  <a:tcPr>
                    <a:solidFill>
                      <a:srgbClr val="F6F8FC"/>
                    </a:solidFill>
                  </a:tcPr>
                </a:tc>
              </a:tr>
              <a:tr h="518160">
                <a:tc>
                  <a:txBody>
                    <a:bodyPr/>
                    <a:lstStyle/>
                    <a:p>
                      <a:r>
                        <a:rPr sz="1150">
                          <a:solidFill>
                            <a:srgbClr val="1F2328"/>
                          </a:solidFill>
                          <a:latin typeface="Calibri"/>
                        </a:rPr>
                        <a:t>Parameters and custom functions</a:t>
                      </a:r>
                    </a:p>
                  </a:txBody>
                  <a:tcPr>
                    <a:solidFill>
                      <a:srgbClr val="FFFFFF"/>
                    </a:solidFill>
                  </a:tcPr>
                </a:tc>
                <a:tc>
                  <a:txBody>
                    <a:bodyPr/>
                    <a:lstStyle/>
                    <a:p>
                      <a:r>
                        <a:rPr sz="1150">
                          <a:solidFill>
                            <a:srgbClr val="1F2328"/>
                          </a:solidFill>
                          <a:latin typeface="Calibri"/>
                        </a:rPr>
                        <a:t>Gov-ready</a:t>
                      </a:r>
                    </a:p>
                  </a:txBody>
                  <a:tcPr>
                    <a:solidFill>
                      <a:srgbClr val="FFFFFF"/>
                    </a:solidFill>
                  </a:tcPr>
                </a:tc>
                <a:tc>
                  <a:txBody>
                    <a:bodyPr/>
                    <a:lstStyle/>
                    <a:p>
                      <a:r>
                        <a:rPr sz="1150">
                          <a:solidFill>
                            <a:srgbClr val="1F2328"/>
                          </a:solidFill>
                          <a:latin typeface="Calibri"/>
                        </a:rPr>
                        <a:t>Core Power Query features; no tenant or capacity gating.</a:t>
                      </a:r>
                    </a:p>
                  </a:txBody>
                  <a:tcPr>
                    <a:solidFill>
                      <a:srgbClr val="FFFFFF"/>
                    </a:solidFill>
                  </a:tcPr>
                </a:tc>
              </a:tr>
              <a:tr h="518160">
                <a:tc>
                  <a:txBody>
                    <a:bodyPr/>
                    <a:lstStyle/>
                    <a:p>
                      <a:r>
                        <a:rPr sz="1150">
                          <a:solidFill>
                            <a:srgbClr val="1F2328"/>
                          </a:solidFill>
                          <a:latin typeface="Calibri"/>
                        </a:rPr>
                        <a:t>Query folding</a:t>
                      </a:r>
                    </a:p>
                  </a:txBody>
                  <a:tcPr>
                    <a:solidFill>
                      <a:srgbClr val="F6F8FC"/>
                    </a:solidFill>
                  </a:tcPr>
                </a:tc>
                <a:tc>
                  <a:txBody>
                    <a:bodyPr/>
                    <a:lstStyle/>
                    <a:p>
                      <a:r>
                        <a:rPr sz="1150">
                          <a:solidFill>
                            <a:srgbClr val="1F2328"/>
                          </a:solidFill>
                          <a:latin typeface="Calibri"/>
                        </a:rPr>
                        <a:t>Gov-ready / Verify for source</a:t>
                      </a:r>
                    </a:p>
                  </a:txBody>
                  <a:tcPr>
                    <a:solidFill>
                      <a:srgbClr val="F6F8FC"/>
                    </a:solidFill>
                  </a:tcPr>
                </a:tc>
                <a:tc>
                  <a:txBody>
                    <a:bodyPr/>
                    <a:lstStyle/>
                    <a:p>
                      <a:r>
                        <a:rPr sz="1150">
                          <a:solidFill>
                            <a:srgbClr val="1F2328"/>
                          </a:solidFill>
                          <a:latin typeface="Calibri"/>
                        </a:rPr>
                        <a:t>The capability is core Power Query, but hands-on folding validation depends on the specific connector and source system in the tenant.</a:t>
                      </a:r>
                    </a:p>
                  </a:txBody>
                  <a:tcPr>
                    <a:solidFill>
                      <a:srgbClr val="F6F8FC"/>
                    </a:solidFill>
                  </a:tcPr>
                </a:tc>
              </a:tr>
              <a:tr h="518160">
                <a:tc>
                  <a:txBody>
                    <a:bodyPr/>
                    <a:lstStyle/>
                    <a:p>
                      <a:r>
                        <a:rPr sz="1150">
                          <a:solidFill>
                            <a:srgbClr val="1F2328"/>
                          </a:solidFill>
                          <a:latin typeface="Calibri"/>
                        </a:rPr>
                        <a:t>Incremental refresh preparation</a:t>
                      </a:r>
                    </a:p>
                  </a:txBody>
                  <a:tcPr>
                    <a:solidFill>
                      <a:srgbClr val="FFFFFF"/>
                    </a:solidFill>
                  </a:tcPr>
                </a:tc>
                <a:tc>
                  <a:txBody>
                    <a:bodyPr/>
                    <a:lstStyle/>
                    <a:p>
                      <a:r>
                        <a:rPr sz="1150">
                          <a:solidFill>
                            <a:srgbClr val="1F2328"/>
                          </a:solidFill>
                          <a:latin typeface="Calibri"/>
                        </a:rPr>
                        <a:t>Verify for Gov</a:t>
                      </a:r>
                    </a:p>
                  </a:txBody>
                  <a:tcPr>
                    <a:solidFill>
                      <a:srgbClr val="FFFFFF"/>
                    </a:solidFill>
                  </a:tcPr>
                </a:tc>
                <a:tc>
                  <a:txBody>
                    <a:bodyPr/>
                    <a:lstStyle/>
                    <a:p>
                      <a:r>
                        <a:rPr sz="1150">
                          <a:solidFill>
                            <a:srgbClr val="1F2328"/>
                          </a:solidFill>
                          <a:latin typeface="Calibri"/>
                        </a:rPr>
                        <a:t>Desktop RangeStart/RangeEnd prep is Gov-ready; applying the policy in the Service depends on license, workspace type, and tenant support.</a:t>
                      </a:r>
                    </a:p>
                  </a:txBody>
                  <a:tcPr>
                    <a:solidFill>
                      <a:srgbClr val="FFFFFF"/>
                    </a:solidFill>
                  </a:tcPr>
                </a:tc>
              </a:tr>
              <a:tr h="518160">
                <a:tc>
                  <a:txBody>
                    <a:bodyPr/>
                    <a:lstStyle/>
                    <a:p>
                      <a:r>
                        <a:rPr sz="1150">
                          <a:solidFill>
                            <a:srgbClr val="1F2328"/>
                          </a:solidFill>
                          <a:latin typeface="Calibri"/>
                        </a:rPr>
                        <a:t>Cloud dataflows</a:t>
                      </a:r>
                    </a:p>
                  </a:txBody>
                  <a:tcPr>
                    <a:solidFill>
                      <a:srgbClr val="F6F8FC"/>
                    </a:solidFill>
                  </a:tcPr>
                </a:tc>
                <a:tc>
                  <a:txBody>
                    <a:bodyPr/>
                    <a:lstStyle/>
                    <a:p>
                      <a:r>
                        <a:rPr sz="1150">
                          <a:solidFill>
                            <a:srgbClr val="1F2328"/>
                          </a:solidFill>
                          <a:latin typeface="Calibri"/>
                        </a:rPr>
                        <a:t>Verify for Gov</a:t>
                      </a:r>
                    </a:p>
                  </a:txBody>
                  <a:tcPr>
                    <a:solidFill>
                      <a:srgbClr val="F6F8FC"/>
                    </a:solidFill>
                  </a:tcPr>
                </a:tc>
                <a:tc>
                  <a:txBody>
                    <a:bodyPr/>
                    <a:lstStyle/>
                    <a:p>
                      <a:r>
                        <a:rPr sz="1150">
                          <a:solidFill>
                            <a:srgbClr val="1F2328"/>
                          </a:solidFill>
                          <a:latin typeface="Calibri"/>
                        </a:rPr>
                        <a:t>Validate Power BI Service / Fabric availability and tenant settings before committing to a dataflows-based delivery.</a:t>
                      </a:r>
                    </a:p>
                  </a:txBody>
                  <a:tcPr>
                    <a:solidFill>
                      <a:srgbClr val="F6F8FC"/>
                    </a:solidFill>
                  </a:tcPr>
                </a:tc>
              </a:tr>
              <a:tr h="518160">
                <a:tc>
                  <a:txBody>
                    <a:bodyPr/>
                    <a:lstStyle/>
                    <a:p>
                      <a:r>
                        <a:rPr sz="1150">
                          <a:solidFill>
                            <a:srgbClr val="1F2328"/>
                          </a:solidFill>
                          <a:latin typeface="Calibri"/>
                        </a:rPr>
                        <a:t>Dataflows Gen2</a:t>
                      </a:r>
                    </a:p>
                  </a:txBody>
                  <a:tcPr>
                    <a:solidFill>
                      <a:srgbClr val="FFFFFF"/>
                    </a:solidFill>
                  </a:tcPr>
                </a:tc>
                <a:tc>
                  <a:txBody>
                    <a:bodyPr/>
                    <a:lstStyle/>
                    <a:p>
                      <a:r>
                        <a:rPr sz="1150">
                          <a:solidFill>
                            <a:srgbClr val="1F2328"/>
                          </a:solidFill>
                          <a:latin typeface="Calibri"/>
                        </a:rPr>
                        <a:t>Commercial-focused / Verify for Gov</a:t>
                      </a:r>
                    </a:p>
                  </a:txBody>
                  <a:tcPr>
                    <a:solidFill>
                      <a:srgbClr val="FFFFFF"/>
                    </a:solidFill>
                  </a:tcPr>
                </a:tc>
                <a:tc>
                  <a:txBody>
                    <a:bodyPr/>
                    <a:lstStyle/>
                    <a:p>
                      <a:r>
                        <a:rPr sz="1150">
                          <a:solidFill>
                            <a:srgbClr val="1F2328"/>
                          </a:solidFill>
                          <a:latin typeface="Calibri"/>
                        </a:rPr>
                        <a:t>Fabric-related; do not require it in Gov labs unless explicitly validated.</a:t>
                      </a:r>
                    </a:p>
                  </a:txBody>
                  <a:tcPr>
                    <a:solidFill>
                      <a:srgbClr val="FFFFFF"/>
                    </a:solidFill>
                  </a:tcPr>
                </a:tc>
              </a:tr>
              <a:tr h="518160">
                <a:tc>
                  <a:txBody>
                    <a:bodyPr/>
                    <a:lstStyle/>
                    <a:p>
                      <a:r>
                        <a:rPr sz="1150">
                          <a:solidFill>
                            <a:srgbClr val="1F2328"/>
                          </a:solidFill>
                          <a:latin typeface="Calibri"/>
                        </a:rPr>
                        <a:t>Connectors</a:t>
                      </a:r>
                    </a:p>
                  </a:txBody>
                  <a:tcPr>
                    <a:solidFill>
                      <a:srgbClr val="F6F8FC"/>
                    </a:solidFill>
                  </a:tcPr>
                </a:tc>
                <a:tc>
                  <a:txBody>
                    <a:bodyPr/>
                    <a:lstStyle/>
                    <a:p>
                      <a:r>
                        <a:rPr sz="1150">
                          <a:solidFill>
                            <a:srgbClr val="1F2328"/>
                          </a:solidFill>
                          <a:latin typeface="Calibri"/>
                        </a:rPr>
                        <a:t>Verify for Gov</a:t>
                      </a:r>
                    </a:p>
                  </a:txBody>
                  <a:tcPr>
                    <a:solidFill>
                      <a:srgbClr val="F6F8FC"/>
                    </a:solidFill>
                  </a:tcPr>
                </a:tc>
                <a:tc>
                  <a:txBody>
                    <a:bodyPr/>
                    <a:lstStyle/>
                    <a:p>
                      <a:r>
                        <a:rPr sz="1150">
                          <a:solidFill>
                            <a:srgbClr val="1F2328"/>
                          </a:solidFill>
                          <a:latin typeface="Calibri"/>
                        </a:rPr>
                        <a:t>Connector availability varies by cloud, gateway, network path, and customer security policy.</a:t>
                      </a:r>
                    </a:p>
                  </a:txBody>
                  <a:tcPr>
                    <a:solidFill>
                      <a:srgbClr val="F6F8FC"/>
                    </a:solidFill>
                  </a:tcPr>
                </a:tc>
              </a:tr>
            </a:tbl>
          </a:graphicData>
        </a:graphic>
      </p:graphicFrame>
      <p:sp>
        <p:nvSpPr>
          <p:cNvPr id="7" name="TextBox 6"/>
          <p:cNvSpPr txBox="1"/>
          <p:nvPr/>
        </p:nvSpPr>
        <p:spPr>
          <a:xfrm>
            <a:off x="640080" y="6126480"/>
            <a:ext cx="10881360" cy="64008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Instructor guidance: when a student asks whether a technique 'works in Gov', the honest answer is almost always 'the Desktop capability yes, the Service policy or connector verify' — use this table to give consistent, defensible answers.</a:t>
            </a:r>
          </a:p>
        </p:txBody>
      </p:sp>
      <p:sp>
        <p:nvSpPr>
          <p:cNvPr id="8" name="TextBox 7"/>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56032"/>
            <a:ext cx="1463040" cy="365760"/>
          </a:xfrm>
          <a:prstGeom prst="rect">
            <a:avLst/>
          </a:prstGeom>
          <a:noFill/>
        </p:spPr>
        <p:txBody>
          <a:bodyPr wrap="square" anchor="t" lIns="0" rIns="0" tIns="0" bIns="0">
            <a:spAutoFit/>
          </a:bodyPr>
          <a:lstStyle/>
          <a:p>
            <a:pPr algn="l">
              <a:lnSpc>
                <a:spcPct val="100000"/>
              </a:lnSpc>
              <a:spcAft>
                <a:spcPts val="0"/>
              </a:spcAft>
            </a:pPr>
            <a:r>
              <a:rPr sz="1300" b="1" i="0">
                <a:solidFill>
                  <a:srgbClr val="E8B44A"/>
                </a:solidFill>
                <a:latin typeface="Calibri"/>
              </a:rPr>
              <a:t>TOPIC 12</a:t>
            </a:r>
          </a:p>
        </p:txBody>
      </p:sp>
      <p:sp>
        <p:nvSpPr>
          <p:cNvPr id="5" name="TextBox 4"/>
          <p:cNvSpPr txBox="1"/>
          <p:nvPr/>
        </p:nvSpPr>
        <p:spPr>
          <a:xfrm>
            <a:off x="640080" y="566928"/>
            <a:ext cx="10515600" cy="594360"/>
          </a:xfrm>
          <a:prstGeom prst="rect">
            <a:avLst/>
          </a:prstGeom>
          <a:noFill/>
        </p:spPr>
        <p:txBody>
          <a:bodyPr wrap="square" anchor="t" lIns="0" rIns="0" tIns="0" bIns="0">
            <a:spAutoFit/>
          </a:bodyPr>
          <a:lstStyle/>
          <a:p>
            <a:pPr algn="l">
              <a:lnSpc>
                <a:spcPct val="100000"/>
              </a:lnSpc>
              <a:spcAft>
                <a:spcPts val="0"/>
              </a:spcAft>
            </a:pPr>
            <a:r>
              <a:rPr sz="2700" b="1" i="0">
                <a:solidFill>
                  <a:srgbClr val="FFFFFF"/>
                </a:solidFill>
                <a:latin typeface="Cambria"/>
              </a:rPr>
              <a:t>Lab Review</a:t>
            </a:r>
          </a:p>
        </p:txBody>
      </p:sp>
      <p:sp>
        <p:nvSpPr>
          <p:cNvPr id="6" name="Rectangle 5"/>
          <p:cNvSpPr/>
          <p:nvPr/>
        </p:nvSpPr>
        <p:spPr>
          <a:xfrm>
            <a:off x="640080" y="1600200"/>
            <a:ext cx="5074920" cy="45720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141B45"/>
                </a:solidFill>
                <a:latin typeface="Calibri"/>
              </a:rPr>
              <a:t>What &amp; how</a:t>
            </a:r>
          </a:p>
        </p:txBody>
      </p:sp>
      <p:sp>
        <p:nvSpPr>
          <p:cNvPr id="8" name="TextBox 7"/>
          <p:cNvSpPr txBox="1"/>
          <p:nvPr/>
        </p:nvSpPr>
        <p:spPr>
          <a:xfrm>
            <a:off x="685800" y="2194560"/>
            <a:ext cx="4983480" cy="4206240"/>
          </a:xfrm>
          <a:prstGeom prst="rect">
            <a:avLst/>
          </a:prstGeom>
          <a:noFill/>
        </p:spPr>
        <p:txBody>
          <a:bodyPr wrap="square" lIns="0" rIns="0" tIns="0" bIns="0">
            <a:spAutoFit/>
          </a:bodyPr>
          <a:lstStyle/>
          <a:p>
            <a:pPr>
              <a:lnSpc>
                <a:spcPct val="105000"/>
              </a:lnSpc>
              <a:spcAft>
                <a:spcPts val="1000"/>
              </a:spcAft>
              <a:buClr>
                <a:srgbClr val="1E2761"/>
              </a:buClr>
              <a:buFont typeface="Arial"/>
              <a:buChar char="•"/>
            </a:pPr>
            <a:r>
              <a:rPr sz="1450">
                <a:solidFill>
                  <a:srgbClr val="1F2328"/>
                </a:solidFill>
                <a:latin typeface="Calibri"/>
              </a:rPr>
              <a:t>Staged solution: raw_Orders_2026_01/02/03 → stg_OrdersCombined → FactOrders, with err_OrdersReview referencing staging for triage.</a:t>
            </a:r>
          </a:p>
          <a:p>
            <a:pPr>
              <a:lnSpc>
                <a:spcPct val="105000"/>
              </a:lnSpc>
              <a:spcAft>
                <a:spcPts val="1000"/>
              </a:spcAft>
              <a:buClr>
                <a:srgbClr val="1E2761"/>
              </a:buClr>
              <a:buFont typeface="Arial"/>
              <a:buChar char="•"/>
            </a:pPr>
            <a:r>
              <a:rPr sz="1450">
                <a:solidFill>
                  <a:srgbClr val="1F2328"/>
                </a:solidFill>
                <a:latin typeface="Calibri"/>
              </a:rPr>
              <a:t>Folder-combine equivalent: three raw Web queries with a SourceFile lineage column, appended via Append Queries as New into stg_OrdersCombined.</a:t>
            </a:r>
          </a:p>
          <a:p>
            <a:pPr>
              <a:lnSpc>
                <a:spcPct val="105000"/>
              </a:lnSpc>
              <a:spcAft>
                <a:spcPts val="1000"/>
              </a:spcAft>
              <a:buClr>
                <a:srgbClr val="1E2761"/>
              </a:buClr>
              <a:buFont typeface="Arial"/>
              <a:buChar char="•"/>
            </a:pPr>
            <a:r>
              <a:rPr sz="1450">
                <a:solidFill>
                  <a:srgbClr val="1F2328"/>
                </a:solidFill>
                <a:latin typeface="Calibri"/>
              </a:rPr>
              <a:t>Parameters and functions: RawDataBaseUrl, SourceFolderPath, EnvironmentName, RangeStart, RangeEnd; fn_CleanText invoked via Table.TransformColumns on the text columns of FactOrders and dim_ProductCategory.</a:t>
            </a:r>
          </a:p>
          <a:p>
            <a:pPr>
              <a:lnSpc>
                <a:spcPct val="105000"/>
              </a:lnSpc>
              <a:spcAft>
                <a:spcPts val="1000"/>
              </a:spcAft>
              <a:buClr>
                <a:srgbClr val="1E2761"/>
              </a:buClr>
              <a:buFont typeface="Arial"/>
              <a:buChar char="•"/>
            </a:pPr>
            <a:r>
              <a:rPr sz="1450">
                <a:solidFill>
                  <a:srgbClr val="1F2328"/>
                </a:solidFill>
                <a:latin typeface="Calibri"/>
              </a:rPr>
              <a:t>Validation: only FactOrders and dim_ProductCategory load; explicit types, null-safe cleanup, and DataQualityIssue-based row filtering are all in place; Gov-status flags are documented next to any Verify-for-Gov feature.</a:t>
            </a:r>
          </a:p>
        </p:txBody>
      </p:sp>
      <p:sp>
        <p:nvSpPr>
          <p:cNvPr id="9" name="Rectangle 8"/>
          <p:cNvSpPr/>
          <p:nvPr/>
        </p:nvSpPr>
        <p:spPr>
          <a:xfrm>
            <a:off x="6126480" y="1600200"/>
            <a:ext cx="5074920" cy="4572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600200"/>
            <a:ext cx="4709160" cy="457200"/>
          </a:xfrm>
          <a:prstGeom prst="rect">
            <a:avLst/>
          </a:prstGeom>
          <a:noFill/>
        </p:spPr>
        <p:txBody>
          <a:bodyPr wrap="square" anchor="ctr" lIns="0" rIns="0" tIns="0" bIns="0">
            <a:spAutoFit/>
          </a:bodyPr>
          <a:lstStyle/>
          <a:p>
            <a:pPr algn="l">
              <a:lnSpc>
                <a:spcPct val="100000"/>
              </a:lnSpc>
              <a:spcAft>
                <a:spcPts val="0"/>
              </a:spcAft>
            </a:pPr>
            <a:r>
              <a:rPr sz="1500" b="1" i="0">
                <a:solidFill>
                  <a:srgbClr val="FFFFFF"/>
                </a:solidFill>
                <a:latin typeface="Calibri"/>
              </a:rPr>
              <a:t>Why it matters</a:t>
            </a:r>
          </a:p>
        </p:txBody>
      </p:sp>
      <p:sp>
        <p:nvSpPr>
          <p:cNvPr id="11" name="TextBox 10"/>
          <p:cNvSpPr txBox="1"/>
          <p:nvPr/>
        </p:nvSpPr>
        <p:spPr>
          <a:xfrm>
            <a:off x="6172200" y="2194560"/>
            <a:ext cx="4983480" cy="4206240"/>
          </a:xfrm>
          <a:prstGeom prst="rect">
            <a:avLst/>
          </a:prstGeom>
          <a:noFill/>
        </p:spPr>
        <p:txBody>
          <a:bodyPr wrap="square" lIns="0" rIns="0" tIns="0" bIns="0">
            <a:spAutoFit/>
          </a:bodyPr>
          <a:lstStyle/>
          <a:p>
            <a:pPr>
              <a:lnSpc>
                <a:spcPct val="105000"/>
              </a:lnSpc>
              <a:spcAft>
                <a:spcPts val="1000"/>
              </a:spcAft>
              <a:buClr>
                <a:srgbClr val="E8B44A"/>
              </a:buClr>
              <a:buFont typeface="Arial"/>
              <a:buChar char="•"/>
            </a:pPr>
            <a:r>
              <a:rPr sz="1450">
                <a:solidFill>
                  <a:srgbClr val="1F2328"/>
                </a:solidFill>
                <a:latin typeface="Calibri"/>
              </a:rPr>
              <a:t>The end state is a semantic-model surface that a reviewer can read at a glance: two loaded tables, everything else load-disabled, named layers, and parameterized sources.</a:t>
            </a:r>
          </a:p>
          <a:p>
            <a:pPr>
              <a:lnSpc>
                <a:spcPct val="105000"/>
              </a:lnSpc>
              <a:spcAft>
                <a:spcPts val="1000"/>
              </a:spcAft>
              <a:buClr>
                <a:srgbClr val="E8B44A"/>
              </a:buClr>
              <a:buFont typeface="Arial"/>
              <a:buChar char="•"/>
            </a:pPr>
            <a:r>
              <a:rPr sz="1450">
                <a:solidFill>
                  <a:srgbClr val="1F2328"/>
                </a:solidFill>
                <a:latin typeface="Calibri"/>
              </a:rPr>
              <a:t>Every pattern in this lab — staging, folder combine, parameters, functions, data quality, incremental refresh prep — was chosen because it survives real-world change: new monthly files, source moves, new columns, new validation rules.</a:t>
            </a:r>
          </a:p>
          <a:p>
            <a:pPr>
              <a:lnSpc>
                <a:spcPct val="105000"/>
              </a:lnSpc>
              <a:spcAft>
                <a:spcPts val="1000"/>
              </a:spcAft>
              <a:buClr>
                <a:srgbClr val="E8B44A"/>
              </a:buClr>
              <a:buFont typeface="Arial"/>
              <a:buChar char="•"/>
            </a:pPr>
            <a:r>
              <a:rPr sz="1450">
                <a:solidFill>
                  <a:srgbClr val="1F2328"/>
                </a:solidFill>
                <a:latin typeface="Calibri"/>
              </a:rPr>
              <a:t>This is the pattern set later modules (Performance Optimization, Enterprise Deployment) assume is already in place — a well-architected Power Query layer is the foundation for both refresh performance and governed source management.</a:t>
            </a:r>
          </a:p>
        </p:txBody>
      </p:sp>
      <p:sp>
        <p:nvSpPr>
          <p:cNvPr id="12" name="Rectangle 11"/>
          <p:cNvSpPr/>
          <p:nvPr/>
        </p:nvSpPr>
        <p:spPr>
          <a:xfrm>
            <a:off x="0" y="6172200"/>
            <a:ext cx="12191695" cy="6858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281928"/>
            <a:ext cx="10881360" cy="502920"/>
          </a:xfrm>
          <a:prstGeom prst="rect">
            <a:avLst/>
          </a:prstGeom>
          <a:noFill/>
        </p:spPr>
        <p:txBody>
          <a:bodyPr wrap="square" anchor="t" lIns="0" rIns="0" tIns="0" bIns="0">
            <a:spAutoFit/>
          </a:bodyPr>
          <a:lstStyle/>
          <a:p>
            <a:pPr algn="l">
              <a:lnSpc>
                <a:spcPct val="110000"/>
              </a:lnSpc>
              <a:spcAft>
                <a:spcPts val="0"/>
              </a:spcAft>
            </a:pPr>
            <a:r>
              <a:rPr sz="1250" b="0" i="1">
                <a:solidFill>
                  <a:srgbClr val="4B5563"/>
                </a:solidFill>
                <a:latin typeface="Calibri"/>
              </a:rPr>
              <a:t>Instructor prompt: walk the query pane in the final PBIP and ask students to narrate what each query does and why it is or isn't load-enabled. If they can narrate the pane, they've internalized the pattern.</a:t>
            </a:r>
          </a:p>
        </p:txBody>
      </p:sp>
      <p:sp>
        <p:nvSpPr>
          <p:cNvPr id="14" name="TextBox 13"/>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TOPIC 13 — WHAT YOU'LL BUILD</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Module Lab Walkthrough</a:t>
            </a:r>
          </a:p>
        </p:txBody>
      </p:sp>
      <p:sp>
        <p:nvSpPr>
          <p:cNvPr id="6" name="Rectangle 5"/>
          <p:cNvSpPr/>
          <p:nvPr/>
        </p:nvSpPr>
        <p:spPr>
          <a:xfrm>
            <a:off x="64008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Data sources: orders-2026-01/02/03.csv and product-category-map.csv, via Get data &gt; Web using the raw GitHub URLs</a:t>
            </a:r>
          </a:p>
        </p:txBody>
      </p:sp>
      <p:sp>
        <p:nvSpPr>
          <p:cNvPr id="9" name="Rectangle 8"/>
          <p:cNvSpPr/>
          <p:nvPr/>
        </p:nvSpPr>
        <p:spPr>
          <a:xfrm>
            <a:off x="64008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1: Staged query architecture — raw_ / stg_ / FactOrders layering with load disabled on raw and staging</a:t>
            </a:r>
          </a:p>
        </p:txBody>
      </p:sp>
      <p:sp>
        <p:nvSpPr>
          <p:cNvPr id="12" name="Rectangle 11"/>
          <p:cNvSpPr/>
          <p:nvPr/>
        </p:nvSpPr>
        <p:spPr>
          <a:xfrm>
            <a:off x="64008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2: Folder combine — add SourceFile lineage, append monthly queries, confirm schema consistency, apply explicit types</a:t>
            </a:r>
          </a:p>
        </p:txBody>
      </p:sp>
      <p:sp>
        <p:nvSpPr>
          <p:cNvPr id="15" name="Rectangle 14"/>
          <p:cNvSpPr/>
          <p:nvPr/>
        </p:nvSpPr>
        <p:spPr>
          <a:xfrm>
            <a:off x="64008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3: Parameters — create RawDataBaseUrl, SourceFolderPath, EnvironmentName; document Dev/Test/Prod switching</a:t>
            </a:r>
          </a:p>
        </p:txBody>
      </p:sp>
      <p:sp>
        <p:nvSpPr>
          <p:cNvPr id="18" name="Rectangle 17"/>
          <p:cNvSpPr/>
          <p:nvPr/>
        </p:nvSpPr>
        <p:spPr>
          <a:xfrm>
            <a:off x="6309360" y="178308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14083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67728" y="178308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4: Custom function fn_CleanText — nullable-text-safe, invoked via Table.TransformColumns on FactOrders and dim_ProductCategory text columns</a:t>
            </a:r>
          </a:p>
        </p:txBody>
      </p:sp>
      <p:sp>
        <p:nvSpPr>
          <p:cNvPr id="21" name="Rectangle 20"/>
          <p:cNvSpPr/>
          <p:nvPr/>
        </p:nvSpPr>
        <p:spPr>
          <a:xfrm>
            <a:off x="6309360" y="293751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92240" y="329526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293751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5: Data quality — AddedDataQualityIssue in staging, err_OrdersReview as a Reference, FactOrders filtered to DataQualityIssue = ""</a:t>
            </a:r>
          </a:p>
        </p:txBody>
      </p:sp>
      <p:sp>
        <p:nvSpPr>
          <p:cNvPr id="24" name="Rectangle 23"/>
          <p:cNvSpPr/>
          <p:nvPr/>
        </p:nvSpPr>
        <p:spPr>
          <a:xfrm>
            <a:off x="6309360" y="409194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444969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409194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6: Query folding — conceptual for the Web/CSV source; discuss what would fold on SQL Server and how to verify with View Native Query</a:t>
            </a:r>
          </a:p>
        </p:txBody>
      </p:sp>
      <p:sp>
        <p:nvSpPr>
          <p:cNvPr id="27" name="Rectangle 26"/>
          <p:cNvSpPr/>
          <p:nvPr/>
        </p:nvSpPr>
        <p:spPr>
          <a:xfrm>
            <a:off x="6309360" y="5246370"/>
            <a:ext cx="5120640" cy="1026414"/>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5604129"/>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5246370"/>
            <a:ext cx="4279392" cy="1026414"/>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Exercise 7: Incremental refresh prep — RangeStart/RangeEnd Date/Time parameters and a half-open FactOrders[OrderDate] filter</a:t>
            </a:r>
          </a:p>
        </p:txBody>
      </p:sp>
      <p:sp>
        <p:nvSpPr>
          <p:cNvPr id="30" name="TextBox 29"/>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8B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315200" cy="320040"/>
          </a:xfrm>
          <a:prstGeom prst="rect">
            <a:avLst/>
          </a:prstGeom>
          <a:noFill/>
        </p:spPr>
        <p:txBody>
          <a:bodyPr wrap="square" anchor="t" lIns="0" rIns="0" tIns="0" bIns="0">
            <a:spAutoFit/>
          </a:bodyPr>
          <a:lstStyle/>
          <a:p>
            <a:pPr algn="l">
              <a:lnSpc>
                <a:spcPct val="100000"/>
              </a:lnSpc>
              <a:spcAft>
                <a:spcPts val="0"/>
              </a:spcAft>
            </a:pPr>
            <a:r>
              <a:rPr sz="1200" b="1" i="0">
                <a:solidFill>
                  <a:srgbClr val="1E2761"/>
                </a:solidFill>
                <a:latin typeface="Calibri"/>
              </a:rPr>
              <a:t>TOPIC 14 — WRAP-UP</a:t>
            </a:r>
          </a:p>
        </p:txBody>
      </p:sp>
      <p:sp>
        <p:nvSpPr>
          <p:cNvPr id="5" name="TextBox 4"/>
          <p:cNvSpPr txBox="1"/>
          <p:nvPr/>
        </p:nvSpPr>
        <p:spPr>
          <a:xfrm>
            <a:off x="640080" y="868680"/>
            <a:ext cx="9601200" cy="640080"/>
          </a:xfrm>
          <a:prstGeom prst="rect">
            <a:avLst/>
          </a:prstGeom>
          <a:noFill/>
        </p:spPr>
        <p:txBody>
          <a:bodyPr wrap="square" anchor="t" lIns="0" rIns="0" tIns="0" bIns="0">
            <a:spAutoFit/>
          </a:bodyPr>
          <a:lstStyle/>
          <a:p>
            <a:pPr algn="l">
              <a:lnSpc>
                <a:spcPct val="100000"/>
              </a:lnSpc>
              <a:spcAft>
                <a:spcPts val="0"/>
              </a:spcAft>
            </a:pPr>
            <a:r>
              <a:rPr sz="3000" b="1" i="0">
                <a:solidFill>
                  <a:srgbClr val="141B45"/>
                </a:solidFill>
                <a:latin typeface="Cambria"/>
              </a:rPr>
              <a:t>Knowledge Check &amp; Discussion</a:t>
            </a:r>
          </a:p>
        </p:txBody>
      </p:sp>
      <p:sp>
        <p:nvSpPr>
          <p:cNvPr id="6" name="Rectangle 5"/>
          <p:cNvSpPr/>
          <p:nvPr/>
        </p:nvSpPr>
        <p:spPr>
          <a:xfrm>
            <a:off x="640080" y="1783080"/>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025396"/>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1783080"/>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Raw and staging queries have load disabled; only FactOrders and dim_ProductCategory load into the model.</a:t>
            </a:r>
          </a:p>
        </p:txBody>
      </p:sp>
      <p:sp>
        <p:nvSpPr>
          <p:cNvPr id="9" name="Rectangle 8"/>
          <p:cNvSpPr/>
          <p:nvPr/>
        </p:nvSpPr>
        <p:spPr>
          <a:xfrm>
            <a:off x="640080" y="2706624"/>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2948940"/>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706624"/>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The final fact query (FactOrders) has explicit data types applied as the last step before load.</a:t>
            </a:r>
          </a:p>
        </p:txBody>
      </p:sp>
      <p:sp>
        <p:nvSpPr>
          <p:cNvPr id="12" name="Rectangle 11"/>
          <p:cNvSpPr/>
          <p:nvPr/>
        </p:nvSpPr>
        <p:spPr>
          <a:xfrm>
            <a:off x="640080" y="3630168"/>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87248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3630168"/>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The folder-combine equivalent filters to the expected monthly files only and preserves a SourceFile lineage column.</a:t>
            </a:r>
          </a:p>
        </p:txBody>
      </p:sp>
      <p:sp>
        <p:nvSpPr>
          <p:cNvPr id="15" name="Rectangle 14"/>
          <p:cNvSpPr/>
          <p:nvPr/>
        </p:nvSpPr>
        <p:spPr>
          <a:xfrm>
            <a:off x="640080" y="4553712"/>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 y="4796028"/>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553712"/>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fn_CleanText handles null input safely and is invoked via Table.TransformColumns on the intended text columns.</a:t>
            </a:r>
          </a:p>
        </p:txBody>
      </p:sp>
      <p:sp>
        <p:nvSpPr>
          <p:cNvPr id="18" name="Rectangle 17"/>
          <p:cNvSpPr/>
          <p:nvPr/>
        </p:nvSpPr>
        <p:spPr>
          <a:xfrm>
            <a:off x="640080" y="5477256"/>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5719572"/>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98448" y="5477256"/>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Data quality issues are surfaced in err_OrdersReview with a readable DataQualityIssue reason column, not silently dropped.</a:t>
            </a:r>
          </a:p>
        </p:txBody>
      </p:sp>
      <p:sp>
        <p:nvSpPr>
          <p:cNvPr id="21" name="Rectangle 20"/>
          <p:cNvSpPr/>
          <p:nvPr/>
        </p:nvSpPr>
        <p:spPr>
          <a:xfrm>
            <a:off x="6309360" y="1783080"/>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92240" y="2025396"/>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67728" y="1783080"/>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Query folding is discussed with source limitations named — Web/CSV does not fold, SQL-family sources do.</a:t>
            </a:r>
          </a:p>
        </p:txBody>
      </p:sp>
      <p:sp>
        <p:nvSpPr>
          <p:cNvPr id="24" name="Rectangle 23"/>
          <p:cNvSpPr/>
          <p:nvPr/>
        </p:nvSpPr>
        <p:spPr>
          <a:xfrm>
            <a:off x="6309360" y="2706624"/>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2948940"/>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2706624"/>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All five module parameters exist and are named exactly: RawDataBaseUrl, SourceFolderPath, EnvironmentName, RangeStart, RangeEnd.</a:t>
            </a:r>
          </a:p>
        </p:txBody>
      </p:sp>
      <p:sp>
        <p:nvSpPr>
          <p:cNvPr id="27" name="Rectangle 26"/>
          <p:cNvSpPr/>
          <p:nvPr/>
        </p:nvSpPr>
        <p:spPr>
          <a:xfrm>
            <a:off x="6309360" y="3630168"/>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3872484"/>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3630168"/>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RangeStart and RangeEnd are Date/Time and used in a half-open filter on FactOrders[OrderDate].</a:t>
            </a:r>
          </a:p>
        </p:txBody>
      </p:sp>
      <p:sp>
        <p:nvSpPr>
          <p:cNvPr id="30" name="Rectangle 29"/>
          <p:cNvSpPr/>
          <p:nvPr/>
        </p:nvSpPr>
        <p:spPr>
          <a:xfrm>
            <a:off x="6309360" y="4553712"/>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92240" y="4796028"/>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67728" y="4553712"/>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Gov notes are documented next to Verify-for-Gov features (incremental refresh policy, dataflows, connectors, Dataflows Gen2).</a:t>
            </a:r>
          </a:p>
        </p:txBody>
      </p:sp>
      <p:sp>
        <p:nvSpPr>
          <p:cNvPr id="33" name="Rectangle 32"/>
          <p:cNvSpPr/>
          <p:nvPr/>
        </p:nvSpPr>
        <p:spPr>
          <a:xfrm>
            <a:off x="6309360" y="5477256"/>
            <a:ext cx="5120640" cy="795528"/>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92240" y="5719572"/>
            <a:ext cx="310896" cy="310896"/>
          </a:xfrm>
          <a:prstGeom prst="rect">
            <a:avLst/>
          </a:prstGeom>
          <a:solidFill>
            <a:srgbClr val="F6F8FC"/>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67728" y="5477256"/>
            <a:ext cx="4279392" cy="795528"/>
          </a:xfrm>
          <a:prstGeom prst="rect">
            <a:avLst/>
          </a:prstGeom>
          <a:noFill/>
        </p:spPr>
        <p:txBody>
          <a:bodyPr wrap="square" anchor="ctr" lIns="0" rIns="0" tIns="0" bIns="0">
            <a:spAutoFit/>
          </a:bodyPr>
          <a:lstStyle/>
          <a:p>
            <a:pPr algn="l">
              <a:lnSpc>
                <a:spcPct val="105000"/>
              </a:lnSpc>
              <a:spcAft>
                <a:spcPts val="0"/>
              </a:spcAft>
            </a:pPr>
            <a:r>
              <a:rPr sz="1350" b="0" i="0">
                <a:solidFill>
                  <a:srgbClr val="1F2328"/>
                </a:solidFill>
                <a:latin typeface="Calibri"/>
              </a:rPr>
              <a:t>Discussion: when would you accept a native query, and how would you document that exception?</a:t>
            </a:r>
          </a:p>
        </p:txBody>
      </p:sp>
      <p:sp>
        <p:nvSpPr>
          <p:cNvPr id="36" name="TextBox 35"/>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4B5563"/>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058400" cy="914400"/>
          </a:xfrm>
          <a:prstGeom prst="rect">
            <a:avLst/>
          </a:prstGeom>
          <a:noFill/>
        </p:spPr>
        <p:txBody>
          <a:bodyPr wrap="square" anchor="t" lIns="0" rIns="0" tIns="0" bIns="0">
            <a:spAutoFit/>
          </a:bodyPr>
          <a:lstStyle/>
          <a:p>
            <a:pPr algn="l">
              <a:lnSpc>
                <a:spcPct val="100000"/>
              </a:lnSpc>
              <a:spcAft>
                <a:spcPts val="0"/>
              </a:spcAft>
            </a:pPr>
            <a:r>
              <a:rPr sz="3600" b="1" i="0">
                <a:solidFill>
                  <a:srgbClr val="FFFFFF"/>
                </a:solidFill>
                <a:latin typeface="Cambria"/>
              </a:rPr>
              <a:t>Module 03 Complete</a:t>
            </a:r>
          </a:p>
        </p:txBody>
      </p:sp>
      <p:sp>
        <p:nvSpPr>
          <p:cNvPr id="4" name="TextBox 3"/>
          <p:cNvSpPr txBox="1"/>
          <p:nvPr/>
        </p:nvSpPr>
        <p:spPr>
          <a:xfrm>
            <a:off x="822960" y="3017520"/>
            <a:ext cx="10058400" cy="1280160"/>
          </a:xfrm>
          <a:prstGeom prst="rect">
            <a:avLst/>
          </a:prstGeom>
          <a:noFill/>
        </p:spPr>
        <p:txBody>
          <a:bodyPr wrap="square" anchor="t" lIns="0" rIns="0" tIns="0" bIns="0">
            <a:spAutoFit/>
          </a:bodyPr>
          <a:lstStyle/>
          <a:p>
            <a:pPr algn="l">
              <a:lnSpc>
                <a:spcPct val="115000"/>
              </a:lnSpc>
              <a:spcAft>
                <a:spcPts val="0"/>
              </a:spcAft>
            </a:pPr>
            <a:r>
              <a:rPr sz="1700" b="0" i="1">
                <a:solidFill>
                  <a:srgbClr val="CADCFC"/>
                </a:solidFill>
                <a:latin typeface="Calibri"/>
              </a:rPr>
              <a:t>Learners now have a governed, reusable semantic model foundation to build on.</a:t>
            </a:r>
          </a:p>
        </p:txBody>
      </p:sp>
      <p:sp>
        <p:nvSpPr>
          <p:cNvPr id="5" name="Rectangle 4"/>
          <p:cNvSpPr/>
          <p:nvPr/>
        </p:nvSpPr>
        <p:spPr>
          <a:xfrm>
            <a:off x="822960" y="4023360"/>
            <a:ext cx="10332720" cy="100584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4160520"/>
            <a:ext cx="9875520" cy="777240"/>
          </a:xfrm>
          <a:prstGeom prst="rect">
            <a:avLst/>
          </a:prstGeom>
          <a:noFill/>
        </p:spPr>
        <p:txBody>
          <a:bodyPr wrap="square" anchor="ctr" lIns="0" rIns="0" tIns="0" bIns="0">
            <a:spAutoFit/>
          </a:bodyPr>
          <a:lstStyle/>
          <a:p>
            <a:pPr algn="l">
              <a:lnSpc>
                <a:spcPct val="100000"/>
              </a:lnSpc>
              <a:spcAft>
                <a:spcPts val="0"/>
              </a:spcAft>
            </a:pPr>
            <a:r>
              <a:rPr sz="1600" b="1" i="0">
                <a:solidFill>
                  <a:srgbClr val="E8B44A"/>
                </a:solidFill>
                <a:latin typeface="Calibri"/>
              </a:rPr>
              <a:t>Up next: Module 04: Report Design UX — building accessible, high-performance report canvases on top of the governed FactOrders / dim_ProductCategory model you just built.</a:t>
            </a:r>
          </a:p>
        </p:txBody>
      </p:sp>
      <p:sp>
        <p:nvSpPr>
          <p:cNvPr id="7" name="TextBox 6"/>
          <p:cNvSpPr txBox="1"/>
          <p:nvPr/>
        </p:nvSpPr>
        <p:spPr>
          <a:xfrm>
            <a:off x="11521440" y="6446520"/>
            <a:ext cx="548640" cy="320040"/>
          </a:xfrm>
          <a:prstGeom prst="rect">
            <a:avLst/>
          </a:prstGeom>
          <a:noFill/>
        </p:spPr>
        <p:txBody>
          <a:bodyPr wrap="square" anchor="t" lIns="0" rIns="0" tIns="0" bIns="0">
            <a:spAutoFit/>
          </a:bodyPr>
          <a:lstStyle/>
          <a:p>
            <a:pPr algn="r">
              <a:lnSpc>
                <a:spcPct val="100000"/>
              </a:lnSpc>
              <a:spcAft>
                <a:spcPts val="0"/>
              </a:spcAft>
            </a:pPr>
            <a:r>
              <a:rPr sz="1100" b="0" i="0">
                <a:solidFill>
                  <a:srgbClr val="CADCFC"/>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