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to Module 4. Frame the shift: Modules 1–3 built the semantic model, DAX measures, and Power Query transforms. Today we finally put a face on all of that work — the report canvas the business actually sees and clicks on.</a:t>
            </a:r>
          </a:p>
          <a:p>
            <a:r>
              <a:t>Set the stakes: a technically correct model with a poor report UX still fails, because the business can't find the answer they need in under 10 seconds. Report UX is not decoration — it is the difference between a deployed report and a shelfware report.</a:t>
            </a:r>
          </a:p>
          <a:p>
            <a:r>
              <a:t>Preview the lab: students will add drillthrough from customer visuals to a Customer Detail page, build a tooltip page, wire up bookmarks and navigation buttons, create a Metric Parameter field parameter over Sales Amount / Gross Margin / Gross Margin % / Quantity, apply conditional formatting tied to margin thresholds, build a mobile layout, and run an accessibility review.</a:t>
            </a:r>
          </a:p>
          <a:p>
            <a:r>
              <a:t>Call out Azure Government up front: every required lab in this module is Gov-ready because it uses core Desktop authoring features. Personalized visuals and AI visuals are Verify-for-Gov and are treated as optional/discussion-only.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fourteen topics quickly. Group them mentally for the class: principles and audience (1–2), the four core interactivity patterns (3–6 — filters, drillthrough, tooltips, bookmarks), the navigation and self-service layer (7–8), formatting and reach (9–11), then Gov considerations, the lab, and the wrap-up (12–14).</a:t>
            </a:r>
          </a:p>
          <a:p>
            <a:r>
              <a:t>Point out that this is the widest module so far in terms of topic count, but each topic is intentionally shorter than a modeling or DAX topic — report UX is many small well-chosen decisions, not one big architectural one.</a:t>
            </a:r>
          </a:p>
          <a:p>
            <a:r>
              <a:t>Tell students the lab (topic 13) exercises hit every one of topics 3 through 11 directly — there is no purely theoretical topic in this module except the Gov note and the wrap-up.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reframing statement: 'A report is not a dashboard — it is a decision interface.' The user opens it to answer a question and take action. Every design choice should be judged against that.</a:t>
            </a:r>
          </a:p>
          <a:p>
            <a:r>
              <a:t>Explain the three principles concretely. Audience and task means the executive KPI card layout is a different page from the analyst matrix, even if both use the same [Sales Amount] and [Gross Margin %] measures — the layout and level of detail change, not the underlying measures.</a:t>
            </a:r>
          </a:p>
          <a:p>
            <a:r>
              <a:t>On cognitive load, give a concrete anti-example: five slicers at the top of the page, each of which could contradict the others, is not more powerful — it's more confusing. If two of those slicers are for occasional analyst use, they belong behind a bookmark-driven panel that appears only when needed.</a:t>
            </a:r>
          </a:p>
          <a:p>
            <a:r>
              <a:t>Close with the discussion prompt in the footer, and use answers to bridge into topic 2: most abandoned reports failed because they were designed for one audience — usually 'someone technical' — and shown to everyone.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row of the table. Emphasize that the same semantic model powers all four audience patterns — nothing in the model changes. What changes is which visuals sit on the page, how many slicers, and where the drillthrough targets go.</a:t>
            </a:r>
          </a:p>
          <a:p>
            <a:r>
              <a:t>For the executive row, stress restraint: executives typically want three to five KPIs and a variance table, not a canvas of 15 charts. If they need to dig deeper, they drill through — they don't scroll.</a:t>
            </a:r>
          </a:p>
          <a:p>
            <a:r>
              <a:t>For analyst exploration, tie forward to topic 8 (field parameters): field parameters let one page serve many analyst questions without duplicating the page five times.</a:t>
            </a:r>
          </a:p>
          <a:p>
            <a:r>
              <a:t>For the detail/exception row, tie forward to topic 4 (drillthrough) — that entire pattern exists to serve this audience. The executive on the summary page right-clicks an exception, lands on a Customer Detail page filtered to that entity, and gets exactly the deep context they need without leaving the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clarifying the three filter scopes precisely, because students often conflate them: visual filter is one visual, page filter is one page, report filter is every page. Slicers themselves live on a page and are effectively an interactive page filter.</a:t>
            </a:r>
          </a:p>
          <a:p>
            <a:r>
              <a:t>Explain the placement rule with an example: if the Territory slicer is top-left on the summary page, it should be top-left on every page that uses it. Users navigating between pages should never have to search for where the slicer moved to.</a:t>
            </a:r>
          </a:p>
          <a:p>
            <a:r>
              <a:t>Cover Sync slicers concretely: point out that when you enable it, you get separate toggles for 'sync' and 'visible' per page, so you can have a slicer that's visible on the summary page and hidden but still filtering on the detail page. That is the correct way to preserve filter context across a drillthrough.</a:t>
            </a:r>
          </a:p>
          <a:p>
            <a:r>
              <a:t>Close with the footer rule and pivot to topic 4: once slicer context is right, the next question is what to do when a user wants to leave a filtered summary and go deep on one row. That's drillthrough.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mechanics in the order the lab does: create the target page (Customer Detail), then add the drillthrough field. Stress that the drillthrough field's job is to define what filter context is inherited when the user right-clicks and drills.</a:t>
            </a:r>
          </a:p>
          <a:p>
            <a:r>
              <a:t>Explain the right-click gesture explicitly — first-time users often don't discover drillthrough because they left-click everything. The instructor should demo the right-click flow at least once so learners see it work.</a:t>
            </a:r>
          </a:p>
          <a:p>
            <a:r>
              <a:t>On the target page design, contrast it with an analyst page: a Customer Detail page does NOT need Territory or Segment slicers, because it's already filtered to one customer. Adding those slicers only invites the user to break the intended filter context.</a:t>
            </a:r>
          </a:p>
          <a:p>
            <a:r>
              <a:t>Emphasize the Back button strongly. Insert → Buttons → Navigator → Back is the correct path — it returns to the exact source page and filter state, which no generic 'go to page X' button can do reliably. Preview topic 5: sometimes users don't need a full detail page, just a peek — that's what tooltip pages are 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concept by contrast: the default Power BI tooltip is a plain text list of the data point's values — useful but limited. A report page tooltip lets you show an actual mini visualization instead.</a:t>
            </a:r>
          </a:p>
          <a:p>
            <a:r>
              <a:t>Walk the three configuration steps in order: create the page, change the page type to Tooltip (which resizes the canvas to a small tooltip-appropriate size), then go to the source visual and assign the tooltip page.</a:t>
            </a:r>
          </a:p>
          <a:p>
            <a:r>
              <a:t>Cover the design constraints deliberately — students often try to cram five visuals onto a tooltip page and end up with something illegibly small. One or two KPI cards and a small trend line is the sweet spot. And no slicers, because the user is hovering, not clicking.</a:t>
            </a:r>
          </a:p>
          <a:p>
            <a:r>
              <a:t>Tie it back to the UX principles: tooltip pages are the poster child for topic 1's 'reduce cognitive load' principle — they hide detail until asked for, keeping the main canvas clean. Preview topic 6: sometimes you want that same reveal behavior for an entire panel, not just a hover — that's bookmarks and buttons.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a bookmark plainly: it's a saved snapshot of report state. The most common mistake first-time authors make is not realizing the Data checkbox is on by default, so their Show/Hide panel button also silently resets slicers.</a:t>
            </a:r>
          </a:p>
          <a:p>
            <a:r>
              <a:t>Walk the common patterns — Show/Hide info panel is by far the most common in production reports, followed by Reset filters. Guided walkthroughs (a sequence of bookmarks stepping the user through a page) are more advanced and rarely worth the maintenance cost.</a:t>
            </a:r>
          </a:p>
          <a:p>
            <a:r>
              <a:t>Demo the Selection pane briefly: this is how you build a Show/Hide panel — group the panel's visuals in the Selection pane, hide them, save a 'Panel Hidden' bookmark, unhide them, save a 'Panel Shown' bookmark. Wire two buttons to those bookmarks.</a:t>
            </a:r>
          </a:p>
          <a:p>
            <a:r>
              <a:t>Reinforce the footer rule one more time — uncheck Data for visibility-only bookmarks. It's the single most common source of 'why did my slicer reset?' bug reports. Preview topic 7: buttons are also how we build the navigation layer of the report, which is what dynamic navigation is about.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discoverability problem: even a well-designed report fails if the user doesn't know they can navigate. In-canvas navigation solves that, but only if the buttons are actually visible.</a:t>
            </a:r>
          </a:p>
          <a:p>
            <a:r>
              <a:t>Demo the Page navigator first because it's the fastest win: one insert, and Power BI generates a button per page, kept in sync automatically. For most reports this is all you need. Custom Blank buttons with Page navigation actions are the fallback when you need styling or ordering the navigator doesn't give you.</a:t>
            </a:r>
          </a:p>
          <a:p>
            <a:r>
              <a:t>Emphasize the visible-affordance rule strongly — this is the corrected guidance for this specific lab. The prior version had transparent buttons that were technically there but functionally invisible. Every navigation button should have a solid fill, a visible border, and a clearly readable text label. If you can't see it against the canvas without hovering, users can't either.</a:t>
            </a:r>
          </a:p>
          <a:p>
            <a:r>
              <a:t>Close on consistency: buttons should live in the same spot on every page, in the same order, at the same size. Users navigate by muscle memory once they've clicked twice — don't break that. Preview topic 8: dynamic navigation moves users between pages; field parameters let a user reshape a single page without moving at 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field parameters as the answer to a very common request: 'can I let the user pick which metric they're looking at without me building four separate pages?' Before field parameters, the pattern was a disconnected selector table plus a DAX SWITCH — the Deeper Understanding Challenge in the lab actually walks through that older pattern so students can compare.</a:t>
            </a:r>
          </a:p>
          <a:p>
            <a:r>
              <a:t>Walk the mechanics from the lab: Modeling → New parameter → Fields, pick the four measures, keep 'Add slicer to this page' checked, and Power BI generates both the parameter table and a slicer wired to it. Drop the generated parameter field into a visual's values well and the visual now switches with the slicer.</a:t>
            </a:r>
          </a:p>
          <a:p>
            <a:r>
              <a:t>Cover the InvalidUnconstrainedJoin correction explicitly. This lab used to throw that error because the dimension parameter mixed columns from tables the engine couldn't resolve to a single filter path. The fix is to pick dimension columns whose tables all filter FactSales — in this lab, DimProductCategory, DimTerritory, and DimSegment all do. If you get InvalidUnconstrainedJoin in the wild, that's the diagnostic.</a:t>
            </a:r>
          </a:p>
          <a:p>
            <a:r>
              <a:t>Close with the tradeoff between native field parameters and the disconnected-table + SWITCH pattern: field parameters are almost always better for pure metric or dimension swapping. The SWITCH pattern is still useful when you need custom fallback logic — which is exactly what the optional Deeper Understanding Challenges in the lab explore.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topic with a warning: conditional formatting is the single easiest place to over-decorate a report. Every color and icon must earn its place by conveying business meaning — if you can't say what a color means in one sentence, it doesn't belong.</a:t>
            </a:r>
          </a:p>
          <a:p>
            <a:r>
              <a:t>Walk each row. For rule-based color, tie it directly to the lab's [Margin Target Status Color] measure — that measure returns actual hex codes, and conditional formatting has a 'Field value' option that reads those hex codes directly. That's the cleanest, most maintainable pattern.</a:t>
            </a:r>
          </a:p>
          <a:p>
            <a:r>
              <a:t>Contrast color scales with rules: scales are continuous (small variance = light color, large variance = dark), rules are categorical (specific ranges = specific colors). Pick based on whether the business thinks in bands or in magnitudes.</a:t>
            </a:r>
          </a:p>
          <a:p>
            <a:r>
              <a:t>Close on the documented-thresholds rule. Every conditional format needs a note somewhere on the page that spells out what the color means — otherwise the report author is the only person who ever really understands the report. Preview topic 10: everything we just discussed also has to work on a phone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audience question: who reads this report on a phone, and what is the one question they need answered before they put the phone back in their pocket? That answer drives the entire mobile layout.</a:t>
            </a:r>
          </a:p>
          <a:p>
            <a:r>
              <a:t>Walk the mechanics: View → Mobile layout gives you a phone-shaped canvas and a list of the page's existing visuals. You drag the ones you want onto the mobile canvas and resize them. Visuals not placed on the mobile canvas simply don't appear in mobile mode — they aren't lost, they just aren't shown.</a:t>
            </a:r>
          </a:p>
          <a:p>
            <a:r>
              <a:t>Cover the touch sizing rule with the ~44 pixel / 11 mm minimum. Under that size, users start fat-fingering the wrong slicer value or wrong button, which reads as 'the report is buggy' from their perspective.</a:t>
            </a:r>
          </a:p>
          <a:p>
            <a:r>
              <a:t>Close on validation: previewing every page in mobile view before publishing is not optional. Preview topic 11: mobile layout is about reach across devices; accessibility is about reach across users.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real production requirement, not a nice-to-have. Many organizations — especially government customers this workshop targets — will refuse to deploy a report that fails an accessibility review.</a:t>
            </a:r>
          </a:p>
          <a:p>
            <a:r>
              <a:t>Walk each item. Alt text: it's not enough to type 'chart' — it should describe what the visual shows ('Bar chart of Sales Amount by Territory, current quarter, showing West as the top region'). Power BI can auto-generate a starting alt text but always review and edit it.</a:t>
            </a:r>
          </a:p>
          <a:p>
            <a:r>
              <a:t>Tab order: demo the Selection pane's tab-order view briefly. The default order is the order you added visuals — which is almost never a logical reading order. Fix it once per page and it's done.</a:t>
            </a:r>
          </a:p>
          <a:p>
            <a:r>
              <a:t>Emphasize the color-is-not-the-only-signal rule with the lab's Margin Target Status pattern: 'Above target' / 'Near target' / 'Below target' is a text label AND a color AND (if you use icon formatting) an icon. Redundant encoding is the accessibility win. Preview topic 12: some Power BI features have limits in Azure Government — that's what we cover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this slide is a reference, not a deep dive. Most of what students just learned is fully Gov-ready — the entire required lab is. Only the optional personalized-visuals and AI-visuals paths need extra validation.</a:t>
            </a:r>
          </a:p>
          <a:p>
            <a:r>
              <a:t>Walk the table row by row. For the top row, stress that drillthrough, tooltips, bookmarks, navigation, and conditional formatting are all core Desktop features — no tenant setting can disable them for the required lab flow.</a:t>
            </a:r>
          </a:p>
          <a:p>
            <a:r>
              <a:t>For field parameters and mobile, explain 'Gov-ready' with a caveat: the feature is supported, but you should still validate Desktop/Service parity and mobile device policy in the specific customer tenant. It's a smoke test, not a blocker.</a:t>
            </a:r>
          </a:p>
          <a:p>
            <a:r>
              <a:t>For personalized and AI visuals, be firm: if this is a Gov delivery, plan a non-AI path from day one. Don't build a lab that depends on Q&amp;A or Key influencers and then discover on delivery day that the tenant doesn't have them. Preview: with concepts covered, it's lab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bridge from concepts into hands-on work. Walk it as a literal table of contents for the next block of lab time.</a:t>
            </a:r>
          </a:p>
          <a:p>
            <a:r>
              <a:t>Point out that Exercises 1 through 5 map directly onto topics 4 through 8 of this deck — the topic order and exercise order intentionally match, so students can flip back to the corresponding slide if they get stuck on an exercise.</a:t>
            </a:r>
          </a:p>
          <a:p>
            <a:r>
              <a:t>Call out the two Deeper Understanding Challenges as optional but valuable: they build a disconnected metric selector and a margin target selector using Power Query + DAX SWITCH. The margin selector produces the [Margin Target Status] and [Margin Target Status Color] measures that Exercise 6 then uses for conditional formatting — so if students want the richest Exercise 6, they should do that challenge first.</a:t>
            </a:r>
          </a:p>
          <a:p>
            <a:r>
              <a:t>Remind students that the required exercises are all Gov-ready, and that Exercises 7 (mobile) and 8 (accessibility) are not optional polish — they're production requirements for most real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discussion-driven wrap-up rather than a quiz. The goal is to surface reasoning across topics, not just recall which button lives in which menu.</a:t>
            </a:r>
          </a:p>
          <a:p>
            <a:r>
              <a:t>Pick 2–3 items and ask specific students to answer out loud. The navigation visibility item and the field-parameter InvalidUnconstrainedJoin item are especially worth surfacing because they are the two known pitfalls this lab was corrected to avoid — make sure the class understands both.</a:t>
            </a:r>
          </a:p>
          <a:p>
            <a:r>
              <a:t>For the bookmark 'Data unchecked' item, walk through the specific scenario one more time: a Show/Hide info panel bookmark should not reset slicers, so uncheck Data. This is the single most common UX bug in bookmark-heavy reports.</a:t>
            </a:r>
          </a:p>
          <a:p>
            <a:r>
              <a:t>Close by connecting forward: everything today assumed the model and DAX from Modules 1–2 are correct and the report runs quickly. Module 5 is where we make it run quickly — performance optimization on top of exactly this report.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Congratulate the class on completing the report design and UX module. This is often the module that changes how learners think about their existing reports the most — expect them to come back tomorrow wanting to redesign old dashboards.</a:t>
            </a:r>
          </a:p>
          <a:p>
            <a:r>
              <a:t>Remind students to keep their completed report artifact open or close at hand, since Module 5 profiles and tunes exactly this report against the same semantic model.</a:t>
            </a:r>
          </a:p>
          <a:p>
            <a:r>
              <a:t>Take final questions before moving on, especially anything about field parameters (InvalidUnconstrainedJoin), navigation button discoverability, or the Gov status of personalized and AI visuals — those three are the most common lingering-confusion topics from this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0644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54864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E8B44A"/>
                </a:solidFill>
                <a:latin typeface="Calibri"/>
              </a:rPr>
              <a:t>MODULE 04</a:t>
            </a:r>
          </a:p>
        </p:txBody>
      </p:sp>
      <p:sp>
        <p:nvSpPr>
          <p:cNvPr id="5" name="TextBox 4"/>
          <p:cNvSpPr txBox="1"/>
          <p:nvPr/>
        </p:nvSpPr>
        <p:spPr>
          <a:xfrm>
            <a:off x="822960" y="1874519"/>
            <a:ext cx="9601200" cy="1920240"/>
          </a:xfrm>
          <a:prstGeom prst="rect">
            <a:avLst/>
          </a:prstGeom>
          <a:noFill/>
        </p:spPr>
        <p:txBody>
          <a:bodyPr wrap="square" anchor="t" lIns="0" rIns="0" tIns="0" bIns="0">
            <a:spAutoFit/>
          </a:bodyPr>
          <a:lstStyle/>
          <a:p>
            <a:pPr algn="l">
              <a:lnSpc>
                <a:spcPct val="105000"/>
              </a:lnSpc>
              <a:spcAft>
                <a:spcPts val="0"/>
              </a:spcAft>
            </a:pPr>
            <a:r>
              <a:rPr sz="4400" b="1" i="0">
                <a:solidFill>
                  <a:srgbClr val="FFFFFF"/>
                </a:solidFill>
                <a:latin typeface="Cambria"/>
              </a:rPr>
              <a:t>Report Design &amp; UX</a:t>
            </a:r>
          </a:p>
        </p:txBody>
      </p:sp>
      <p:sp>
        <p:nvSpPr>
          <p:cNvPr id="6" name="TextBox 5"/>
          <p:cNvSpPr txBox="1"/>
          <p:nvPr/>
        </p:nvSpPr>
        <p:spPr>
          <a:xfrm>
            <a:off x="822960" y="3703320"/>
            <a:ext cx="9601200" cy="914400"/>
          </a:xfrm>
          <a:prstGeom prst="rect">
            <a:avLst/>
          </a:prstGeom>
          <a:noFill/>
        </p:spPr>
        <p:txBody>
          <a:bodyPr wrap="square" anchor="t" lIns="0" rIns="0" tIns="0" bIns="0">
            <a:spAutoFit/>
          </a:bodyPr>
          <a:lstStyle/>
          <a:p>
            <a:pPr algn="l">
              <a:lnSpc>
                <a:spcPct val="100000"/>
              </a:lnSpc>
              <a:spcAft>
                <a:spcPts val="0"/>
              </a:spcAft>
            </a:pPr>
            <a:r>
              <a:rPr sz="2000" b="0" i="1">
                <a:solidFill>
                  <a:srgbClr val="CADCFC"/>
                </a:solidFill>
                <a:latin typeface="Calibri"/>
              </a:rPr>
              <a:t>Turning the Contoso semantic model into an interactive, accessible, audience-aware decision experience</a:t>
            </a:r>
          </a:p>
        </p:txBody>
      </p:sp>
      <p:sp>
        <p:nvSpPr>
          <p:cNvPr id="7" name="TextBox 6"/>
          <p:cNvSpPr txBox="1"/>
          <p:nvPr/>
        </p:nvSpPr>
        <p:spPr>
          <a:xfrm>
            <a:off x="822960" y="6035040"/>
            <a:ext cx="9144000" cy="548640"/>
          </a:xfrm>
          <a:prstGeom prst="rect">
            <a:avLst/>
          </a:prstGeom>
          <a:noFill/>
        </p:spPr>
        <p:txBody>
          <a:bodyPr wrap="square" anchor="t" lIns="0" rIns="0" tIns="0" bIns="0">
            <a:spAutoFit/>
          </a:bodyPr>
          <a:lstStyle/>
          <a:p>
            <a:pPr algn="l">
              <a:lnSpc>
                <a:spcPct val="100000"/>
              </a:lnSpc>
              <a:spcAft>
                <a:spcPts val="0"/>
              </a:spcAft>
            </a:pPr>
            <a:r>
              <a:rPr sz="1300" b="0" i="0">
                <a:solidFill>
                  <a:srgbClr val="CADCFC"/>
                </a:solidFill>
                <a:latin typeface="Calibri"/>
              </a:rPr>
              <a:t>Advanced Power BI Training — Instructor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MODULE 04 AGENDA</a:t>
            </a:r>
          </a:p>
        </p:txBody>
      </p:sp>
      <p:sp>
        <p:nvSpPr>
          <p:cNvPr id="5" name="TextBox 4"/>
          <p:cNvSpPr txBox="1"/>
          <p:nvPr/>
        </p:nvSpPr>
        <p:spPr>
          <a:xfrm>
            <a:off x="640080" y="868680"/>
            <a:ext cx="8229600" cy="640080"/>
          </a:xfrm>
          <a:prstGeom prst="rect">
            <a:avLst/>
          </a:prstGeom>
          <a:noFill/>
        </p:spPr>
        <p:txBody>
          <a:bodyPr wrap="square" anchor="t" lIns="0" rIns="0" tIns="0" bIns="0">
            <a:spAutoFit/>
          </a:bodyPr>
          <a:lstStyle/>
          <a:p>
            <a:pPr algn="l">
              <a:lnSpc>
                <a:spcPct val="100000"/>
              </a:lnSpc>
              <a:spcAft>
                <a:spcPts val="0"/>
              </a:spcAft>
            </a:pPr>
            <a:r>
              <a:rPr sz="3200" b="1" i="0">
                <a:solidFill>
                  <a:srgbClr val="141B45"/>
                </a:solidFill>
                <a:latin typeface="Cambria"/>
              </a:rPr>
              <a:t>What We'll Cover</a:t>
            </a:r>
          </a:p>
        </p:txBody>
      </p:sp>
      <p:sp>
        <p:nvSpPr>
          <p:cNvPr id="6" name="Rectangle 5"/>
          <p:cNvSpPr/>
          <p:nvPr/>
        </p:nvSpPr>
        <p:spPr>
          <a:xfrm>
            <a:off x="64008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a:t>
            </a:r>
          </a:p>
        </p:txBody>
      </p:sp>
      <p:sp>
        <p:nvSpPr>
          <p:cNvPr id="8" name="TextBox 7"/>
          <p:cNvSpPr txBox="1"/>
          <p:nvPr/>
        </p:nvSpPr>
        <p:spPr>
          <a:xfrm>
            <a:off x="117043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Advanced report UX principles</a:t>
            </a:r>
          </a:p>
        </p:txBody>
      </p:sp>
      <p:sp>
        <p:nvSpPr>
          <p:cNvPr id="9" name="Rectangle 8"/>
          <p:cNvSpPr/>
          <p:nvPr/>
        </p:nvSpPr>
        <p:spPr>
          <a:xfrm>
            <a:off x="64008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2</a:t>
            </a:r>
          </a:p>
        </p:txBody>
      </p:sp>
      <p:sp>
        <p:nvSpPr>
          <p:cNvPr id="11" name="TextBox 10"/>
          <p:cNvSpPr txBox="1"/>
          <p:nvPr/>
        </p:nvSpPr>
        <p:spPr>
          <a:xfrm>
            <a:off x="117043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Audience-driven design</a:t>
            </a:r>
          </a:p>
        </p:txBody>
      </p:sp>
      <p:sp>
        <p:nvSpPr>
          <p:cNvPr id="12" name="Rectangle 11"/>
          <p:cNvSpPr/>
          <p:nvPr/>
        </p:nvSpPr>
        <p:spPr>
          <a:xfrm>
            <a:off x="64008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3</a:t>
            </a:r>
          </a:p>
        </p:txBody>
      </p:sp>
      <p:sp>
        <p:nvSpPr>
          <p:cNvPr id="14" name="TextBox 13"/>
          <p:cNvSpPr txBox="1"/>
          <p:nvPr/>
        </p:nvSpPr>
        <p:spPr>
          <a:xfrm>
            <a:off x="117043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Slicers and filters</a:t>
            </a:r>
          </a:p>
        </p:txBody>
      </p:sp>
      <p:sp>
        <p:nvSpPr>
          <p:cNvPr id="15" name="Rectangle 14"/>
          <p:cNvSpPr/>
          <p:nvPr/>
        </p:nvSpPr>
        <p:spPr>
          <a:xfrm>
            <a:off x="64008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4</a:t>
            </a:r>
          </a:p>
        </p:txBody>
      </p:sp>
      <p:sp>
        <p:nvSpPr>
          <p:cNvPr id="17" name="TextBox 16"/>
          <p:cNvSpPr txBox="1"/>
          <p:nvPr/>
        </p:nvSpPr>
        <p:spPr>
          <a:xfrm>
            <a:off x="117043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Drillthrough</a:t>
            </a:r>
          </a:p>
        </p:txBody>
      </p:sp>
      <p:sp>
        <p:nvSpPr>
          <p:cNvPr id="18" name="Rectangle 17"/>
          <p:cNvSpPr/>
          <p:nvPr/>
        </p:nvSpPr>
        <p:spPr>
          <a:xfrm>
            <a:off x="64008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5</a:t>
            </a:r>
          </a:p>
        </p:txBody>
      </p:sp>
      <p:sp>
        <p:nvSpPr>
          <p:cNvPr id="20" name="TextBox 19"/>
          <p:cNvSpPr txBox="1"/>
          <p:nvPr/>
        </p:nvSpPr>
        <p:spPr>
          <a:xfrm>
            <a:off x="117043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Report page tooltips</a:t>
            </a:r>
          </a:p>
        </p:txBody>
      </p:sp>
      <p:sp>
        <p:nvSpPr>
          <p:cNvPr id="21" name="Rectangle 20"/>
          <p:cNvSpPr/>
          <p:nvPr/>
        </p:nvSpPr>
        <p:spPr>
          <a:xfrm>
            <a:off x="64008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6</a:t>
            </a:r>
          </a:p>
        </p:txBody>
      </p:sp>
      <p:sp>
        <p:nvSpPr>
          <p:cNvPr id="23" name="TextBox 22"/>
          <p:cNvSpPr txBox="1"/>
          <p:nvPr/>
        </p:nvSpPr>
        <p:spPr>
          <a:xfrm>
            <a:off x="117043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Bookmarks and buttons</a:t>
            </a:r>
          </a:p>
        </p:txBody>
      </p:sp>
      <p:sp>
        <p:nvSpPr>
          <p:cNvPr id="24" name="Rectangle 23"/>
          <p:cNvSpPr/>
          <p:nvPr/>
        </p:nvSpPr>
        <p:spPr>
          <a:xfrm>
            <a:off x="64008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7</a:t>
            </a:r>
          </a:p>
        </p:txBody>
      </p:sp>
      <p:sp>
        <p:nvSpPr>
          <p:cNvPr id="26" name="TextBox 25"/>
          <p:cNvSpPr txBox="1"/>
          <p:nvPr/>
        </p:nvSpPr>
        <p:spPr>
          <a:xfrm>
            <a:off x="117043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Dynamic navigation</a:t>
            </a:r>
          </a:p>
        </p:txBody>
      </p:sp>
      <p:sp>
        <p:nvSpPr>
          <p:cNvPr id="27" name="Rectangle 26"/>
          <p:cNvSpPr/>
          <p:nvPr/>
        </p:nvSpPr>
        <p:spPr>
          <a:xfrm>
            <a:off x="630936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8</a:t>
            </a:r>
          </a:p>
        </p:txBody>
      </p:sp>
      <p:sp>
        <p:nvSpPr>
          <p:cNvPr id="29" name="TextBox 28"/>
          <p:cNvSpPr txBox="1"/>
          <p:nvPr/>
        </p:nvSpPr>
        <p:spPr>
          <a:xfrm>
            <a:off x="683971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Field parameters</a:t>
            </a:r>
          </a:p>
        </p:txBody>
      </p:sp>
      <p:sp>
        <p:nvSpPr>
          <p:cNvPr id="30" name="Rectangle 29"/>
          <p:cNvSpPr/>
          <p:nvPr/>
        </p:nvSpPr>
        <p:spPr>
          <a:xfrm>
            <a:off x="630936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9</a:t>
            </a:r>
          </a:p>
        </p:txBody>
      </p:sp>
      <p:sp>
        <p:nvSpPr>
          <p:cNvPr id="32" name="TextBox 31"/>
          <p:cNvSpPr txBox="1"/>
          <p:nvPr/>
        </p:nvSpPr>
        <p:spPr>
          <a:xfrm>
            <a:off x="683971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Conditional formatting</a:t>
            </a:r>
          </a:p>
        </p:txBody>
      </p:sp>
      <p:sp>
        <p:nvSpPr>
          <p:cNvPr id="33" name="Rectangle 32"/>
          <p:cNvSpPr/>
          <p:nvPr/>
        </p:nvSpPr>
        <p:spPr>
          <a:xfrm>
            <a:off x="630936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10</a:t>
            </a:r>
          </a:p>
        </p:txBody>
      </p:sp>
      <p:sp>
        <p:nvSpPr>
          <p:cNvPr id="35" name="TextBox 34"/>
          <p:cNvSpPr txBox="1"/>
          <p:nvPr/>
        </p:nvSpPr>
        <p:spPr>
          <a:xfrm>
            <a:off x="683971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Mobile layout</a:t>
            </a:r>
          </a:p>
        </p:txBody>
      </p:sp>
      <p:sp>
        <p:nvSpPr>
          <p:cNvPr id="36" name="Rectangle 35"/>
          <p:cNvSpPr/>
          <p:nvPr/>
        </p:nvSpPr>
        <p:spPr>
          <a:xfrm>
            <a:off x="630936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11</a:t>
            </a:r>
          </a:p>
        </p:txBody>
      </p:sp>
      <p:sp>
        <p:nvSpPr>
          <p:cNvPr id="38" name="TextBox 37"/>
          <p:cNvSpPr txBox="1"/>
          <p:nvPr/>
        </p:nvSpPr>
        <p:spPr>
          <a:xfrm>
            <a:off x="683971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Accessibility</a:t>
            </a:r>
          </a:p>
        </p:txBody>
      </p:sp>
      <p:sp>
        <p:nvSpPr>
          <p:cNvPr id="39" name="Rectangle 38"/>
          <p:cNvSpPr/>
          <p:nvPr/>
        </p:nvSpPr>
        <p:spPr>
          <a:xfrm>
            <a:off x="630936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12</a:t>
            </a:r>
          </a:p>
        </p:txBody>
      </p:sp>
      <p:sp>
        <p:nvSpPr>
          <p:cNvPr id="41" name="TextBox 40"/>
          <p:cNvSpPr txBox="1"/>
          <p:nvPr/>
        </p:nvSpPr>
        <p:spPr>
          <a:xfrm>
            <a:off x="683971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Azure Government considerations</a:t>
            </a:r>
          </a:p>
        </p:txBody>
      </p:sp>
      <p:sp>
        <p:nvSpPr>
          <p:cNvPr id="42" name="Rectangle 41"/>
          <p:cNvSpPr/>
          <p:nvPr/>
        </p:nvSpPr>
        <p:spPr>
          <a:xfrm>
            <a:off x="630936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13</a:t>
            </a:r>
          </a:p>
        </p:txBody>
      </p:sp>
      <p:sp>
        <p:nvSpPr>
          <p:cNvPr id="44" name="TextBox 43"/>
          <p:cNvSpPr txBox="1"/>
          <p:nvPr/>
        </p:nvSpPr>
        <p:spPr>
          <a:xfrm>
            <a:off x="683971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Module lab walkthrough</a:t>
            </a:r>
          </a:p>
        </p:txBody>
      </p:sp>
      <p:sp>
        <p:nvSpPr>
          <p:cNvPr id="45" name="Rectangle 44"/>
          <p:cNvSpPr/>
          <p:nvPr/>
        </p:nvSpPr>
        <p:spPr>
          <a:xfrm>
            <a:off x="630936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14</a:t>
            </a:r>
          </a:p>
        </p:txBody>
      </p:sp>
      <p:sp>
        <p:nvSpPr>
          <p:cNvPr id="47" name="TextBox 46"/>
          <p:cNvSpPr txBox="1"/>
          <p:nvPr/>
        </p:nvSpPr>
        <p:spPr>
          <a:xfrm>
            <a:off x="683971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Knowledge check and discussion</a:t>
            </a:r>
          </a:p>
        </p:txBody>
      </p:sp>
      <p:sp>
        <p:nvSpPr>
          <p:cNvPr id="48" name="TextBox 4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Advanced Report UX Principles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Treat each report page as a decision interface, not a data dump: the top of the page should answer 'what is going on?' before it offers 'and here is how to dig in'.</a:t>
            </a:r>
          </a:p>
          <a:p>
            <a:pPr>
              <a:lnSpc>
                <a:spcPct val="105000"/>
              </a:lnSpc>
              <a:spcAft>
                <a:spcPts val="1000"/>
              </a:spcAft>
              <a:buClr>
                <a:srgbClr val="1E2761"/>
              </a:buClr>
              <a:buFont typeface="Arial"/>
              <a:buChar char="•"/>
            </a:pPr>
            <a:r>
              <a:rPr sz="1450">
                <a:solidFill>
                  <a:srgbClr val="1F2328"/>
                </a:solidFill>
                <a:latin typeface="Calibri"/>
              </a:rPr>
              <a:t>Layout follows audience and task — the same measures might be shown as KPI cards for an executive, a matrix for an analyst, and a status table for an operator.</a:t>
            </a:r>
          </a:p>
          <a:p>
            <a:pPr>
              <a:lnSpc>
                <a:spcPct val="105000"/>
              </a:lnSpc>
              <a:spcAft>
                <a:spcPts val="1000"/>
              </a:spcAft>
              <a:buClr>
                <a:srgbClr val="1E2761"/>
              </a:buClr>
              <a:buFont typeface="Arial"/>
              <a:buChar char="•"/>
            </a:pPr>
            <a:r>
              <a:rPr sz="1450">
                <a:solidFill>
                  <a:srgbClr val="1F2328"/>
                </a:solidFill>
                <a:latin typeface="Calibri"/>
              </a:rPr>
              <a:t>Use interactivity (slicers, drillthrough, tooltips, bookmarks) to reduce cognitive load, not to add cleverness — every interactive element competes with the primary question the page is trying to answer.</a:t>
            </a:r>
          </a:p>
          <a:p>
            <a:pPr>
              <a:lnSpc>
                <a:spcPct val="105000"/>
              </a:lnSpc>
              <a:spcAft>
                <a:spcPts val="1000"/>
              </a:spcAft>
              <a:buClr>
                <a:srgbClr val="1E2761"/>
              </a:buClr>
              <a:buFont typeface="Arial"/>
              <a:buChar char="•"/>
            </a:pPr>
            <a:r>
              <a:rPr sz="1450">
                <a:solidFill>
                  <a:srgbClr val="1F2328"/>
                </a:solidFill>
                <a:latin typeface="Calibri"/>
              </a:rPr>
              <a:t>If a slicer, button, or visual doesn't help the user decide what to do next, delete it or move it to a hidden panel behind a bookmark.</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A technically perfect model can still fail adoption if the report makes the answer hard to find in the first 10 seconds.</a:t>
            </a:r>
          </a:p>
          <a:p>
            <a:pPr>
              <a:lnSpc>
                <a:spcPct val="105000"/>
              </a:lnSpc>
              <a:spcAft>
                <a:spcPts val="1000"/>
              </a:spcAft>
              <a:buClr>
                <a:srgbClr val="E8B44A"/>
              </a:buClr>
              <a:buFont typeface="Arial"/>
              <a:buChar char="•"/>
            </a:pPr>
            <a:r>
              <a:rPr sz="1450">
                <a:solidFill>
                  <a:srgbClr val="1F2328"/>
                </a:solidFill>
                <a:latin typeface="Calibri"/>
              </a:rPr>
              <a:t>Consistency across pages (slicer placement, filter meaning, navigation) is what lets users trust that the number they see is the number they asked for.</a:t>
            </a:r>
          </a:p>
          <a:p>
            <a:pPr>
              <a:lnSpc>
                <a:spcPct val="105000"/>
              </a:lnSpc>
              <a:spcAft>
                <a:spcPts val="1000"/>
              </a:spcAft>
              <a:buClr>
                <a:srgbClr val="E8B44A"/>
              </a:buClr>
              <a:buFont typeface="Arial"/>
              <a:buChar char="•"/>
            </a:pPr>
            <a:r>
              <a:rPr sz="1450">
                <a:solidFill>
                  <a:srgbClr val="1F2328"/>
                </a:solidFill>
                <a:latin typeface="Calibri"/>
              </a:rPr>
              <a:t>Every later topic in this module is a specific technique for applying these three principles — audience fit, cognitive load reduction, and consistency.</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Instructor prompt: ask the room to describe a report they've abandoned because it was hard to use — what specifically made them give up?</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02</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Audience-Driven Design</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194560"/>
                <a:gridCol w="4206240"/>
                <a:gridCol w="4480560"/>
              </a:tblGrid>
              <a:tr h="932688">
                <a:tc>
                  <a:txBody>
                    <a:bodyPr/>
                    <a:lstStyle/>
                    <a:p>
                      <a:pPr algn="l"/>
                      <a:r>
                        <a:rPr b="1" sz="1250">
                          <a:solidFill>
                            <a:srgbClr val="FFFFFF"/>
                          </a:solidFill>
                          <a:latin typeface="Calibri"/>
                        </a:rPr>
                        <a:t>Audience</a:t>
                      </a:r>
                    </a:p>
                  </a:txBody>
                  <a:tcPr>
                    <a:solidFill>
                      <a:srgbClr val="1E2761"/>
                    </a:solidFill>
                  </a:tcPr>
                </a:tc>
                <a:tc>
                  <a:txBody>
                    <a:bodyPr/>
                    <a:lstStyle/>
                    <a:p>
                      <a:pPr algn="l"/>
                      <a:r>
                        <a:rPr b="1" sz="1250">
                          <a:solidFill>
                            <a:srgbClr val="FFFFFF"/>
                          </a:solidFill>
                          <a:latin typeface="Calibri"/>
                        </a:rPr>
                        <a:t>Primary question</a:t>
                      </a:r>
                    </a:p>
                  </a:txBody>
                  <a:tcPr>
                    <a:solidFill>
                      <a:srgbClr val="1E2761"/>
                    </a:solidFill>
                  </a:tcPr>
                </a:tc>
                <a:tc>
                  <a:txBody>
                    <a:bodyPr/>
                    <a:lstStyle/>
                    <a:p>
                      <a:pPr algn="l"/>
                      <a:r>
                        <a:rPr b="1" sz="1250">
                          <a:solidFill>
                            <a:srgbClr val="FFFFFF"/>
                          </a:solidFill>
                          <a:latin typeface="Calibri"/>
                        </a:rPr>
                        <a:t>Recommended page pattern</a:t>
                      </a:r>
                    </a:p>
                  </a:txBody>
                  <a:tcPr>
                    <a:solidFill>
                      <a:srgbClr val="1E2761"/>
                    </a:solidFill>
                  </a:tcPr>
                </a:tc>
              </a:tr>
              <a:tr h="932688">
                <a:tc>
                  <a:txBody>
                    <a:bodyPr/>
                    <a:lstStyle/>
                    <a:p>
                      <a:r>
                        <a:rPr sz="1150">
                          <a:solidFill>
                            <a:srgbClr val="1F2328"/>
                          </a:solidFill>
                          <a:latin typeface="Calibri"/>
                        </a:rPr>
                        <a:t>Executive summary</a:t>
                      </a:r>
                    </a:p>
                  </a:txBody>
                  <a:tcPr>
                    <a:solidFill>
                      <a:srgbClr val="FFFFFF"/>
                    </a:solidFill>
                  </a:tcPr>
                </a:tc>
                <a:tc>
                  <a:txBody>
                    <a:bodyPr/>
                    <a:lstStyle/>
                    <a:p>
                      <a:r>
                        <a:rPr sz="1150">
                          <a:solidFill>
                            <a:srgbClr val="1F2328"/>
                          </a:solidFill>
                          <a:latin typeface="Calibri"/>
                        </a:rPr>
                        <a:t>Are we on plan? What are the top exceptions I need to act on?</a:t>
                      </a:r>
                    </a:p>
                  </a:txBody>
                  <a:tcPr>
                    <a:solidFill>
                      <a:srgbClr val="FFFFFF"/>
                    </a:solidFill>
                  </a:tcPr>
                </a:tc>
                <a:tc>
                  <a:txBody>
                    <a:bodyPr/>
                    <a:lstStyle/>
                    <a:p>
                      <a:r>
                        <a:rPr sz="1150">
                          <a:solidFill>
                            <a:srgbClr val="1F2328"/>
                          </a:solidFill>
                          <a:latin typeface="Calibri"/>
                        </a:rPr>
                        <a:t>KPI cards + a small variance/status matrix; minimal slicers; drillthrough to detail.</a:t>
                      </a:r>
                    </a:p>
                  </a:txBody>
                  <a:tcPr>
                    <a:solidFill>
                      <a:srgbClr val="FFFFFF"/>
                    </a:solidFill>
                  </a:tcPr>
                </a:tc>
              </a:tr>
              <a:tr h="932688">
                <a:tc>
                  <a:txBody>
                    <a:bodyPr/>
                    <a:lstStyle/>
                    <a:p>
                      <a:r>
                        <a:rPr sz="1150">
                          <a:solidFill>
                            <a:srgbClr val="1F2328"/>
                          </a:solidFill>
                          <a:latin typeface="Calibri"/>
                        </a:rPr>
                        <a:t>Analyst exploration</a:t>
                      </a:r>
                    </a:p>
                  </a:txBody>
                  <a:tcPr>
                    <a:solidFill>
                      <a:srgbClr val="F6F8FC"/>
                    </a:solidFill>
                  </a:tcPr>
                </a:tc>
                <a:tc>
                  <a:txBody>
                    <a:bodyPr/>
                    <a:lstStyle/>
                    <a:p>
                      <a:r>
                        <a:rPr sz="1150">
                          <a:solidFill>
                            <a:srgbClr val="1F2328"/>
                          </a:solidFill>
                          <a:latin typeface="Calibri"/>
                        </a:rPr>
                        <a:t>Why is this metric moving? Which slice is driving the trend?</a:t>
                      </a:r>
                    </a:p>
                  </a:txBody>
                  <a:tcPr>
                    <a:solidFill>
                      <a:srgbClr val="F6F8FC"/>
                    </a:solidFill>
                  </a:tcPr>
                </a:tc>
                <a:tc>
                  <a:txBody>
                    <a:bodyPr/>
                    <a:lstStyle/>
                    <a:p>
                      <a:r>
                        <a:rPr sz="1150">
                          <a:solidFill>
                            <a:srgbClr val="1F2328"/>
                          </a:solidFill>
                          <a:latin typeface="Calibri"/>
                        </a:rPr>
                        <a:t>Matrices with row hierarchies, field parameter slicers for metric/dimension switching, tooltips for extra context.</a:t>
                      </a:r>
                    </a:p>
                  </a:txBody>
                  <a:tcPr>
                    <a:solidFill>
                      <a:srgbClr val="F6F8FC"/>
                    </a:solidFill>
                  </a:tcPr>
                </a:tc>
              </a:tr>
              <a:tr h="932688">
                <a:tc>
                  <a:txBody>
                    <a:bodyPr/>
                    <a:lstStyle/>
                    <a:p>
                      <a:r>
                        <a:rPr sz="1150">
                          <a:solidFill>
                            <a:srgbClr val="1F2328"/>
                          </a:solidFill>
                          <a:latin typeface="Calibri"/>
                        </a:rPr>
                        <a:t>Operational monitoring</a:t>
                      </a:r>
                    </a:p>
                  </a:txBody>
                  <a:tcPr>
                    <a:solidFill>
                      <a:srgbClr val="FFFFFF"/>
                    </a:solidFill>
                  </a:tcPr>
                </a:tc>
                <a:tc>
                  <a:txBody>
                    <a:bodyPr/>
                    <a:lstStyle/>
                    <a:p>
                      <a:r>
                        <a:rPr sz="1150">
                          <a:solidFill>
                            <a:srgbClr val="1F2328"/>
                          </a:solidFill>
                          <a:latin typeface="Calibri"/>
                        </a:rPr>
                        <a:t>What needs attention right now?</a:t>
                      </a:r>
                    </a:p>
                  </a:txBody>
                  <a:tcPr>
                    <a:solidFill>
                      <a:srgbClr val="FFFFFF"/>
                    </a:solidFill>
                  </a:tcPr>
                </a:tc>
                <a:tc>
                  <a:txBody>
                    <a:bodyPr/>
                    <a:lstStyle/>
                    <a:p>
                      <a:r>
                        <a:rPr sz="1150">
                          <a:solidFill>
                            <a:srgbClr val="1F2328"/>
                          </a:solidFill>
                          <a:latin typeface="Calibri"/>
                        </a:rPr>
                        <a:t>Conditional-formatted status tables, refresh timestamp visible, focused filter set.</a:t>
                      </a:r>
                    </a:p>
                  </a:txBody>
                  <a:tcPr>
                    <a:solidFill>
                      <a:srgbClr val="FFFFFF"/>
                    </a:solidFill>
                  </a:tcPr>
                </a:tc>
              </a:tr>
              <a:tr h="932688">
                <a:tc>
                  <a:txBody>
                    <a:bodyPr/>
                    <a:lstStyle/>
                    <a:p>
                      <a:r>
                        <a:rPr sz="1150">
                          <a:solidFill>
                            <a:srgbClr val="1F2328"/>
                          </a:solidFill>
                          <a:latin typeface="Calibri"/>
                        </a:rPr>
                        <a:t>Detail and exception handling</a:t>
                      </a:r>
                    </a:p>
                  </a:txBody>
                  <a:tcPr>
                    <a:solidFill>
                      <a:srgbClr val="F6F8FC"/>
                    </a:solidFill>
                  </a:tcPr>
                </a:tc>
                <a:tc>
                  <a:txBody>
                    <a:bodyPr/>
                    <a:lstStyle/>
                    <a:p>
                      <a:r>
                        <a:rPr sz="1150">
                          <a:solidFill>
                            <a:srgbClr val="1F2328"/>
                          </a:solidFill>
                          <a:latin typeface="Calibri"/>
                        </a:rPr>
                        <a:t>For this specific customer / product / territory, what happened?</a:t>
                      </a:r>
                    </a:p>
                  </a:txBody>
                  <a:tcPr>
                    <a:solidFill>
                      <a:srgbClr val="F6F8FC"/>
                    </a:solidFill>
                  </a:tcPr>
                </a:tc>
                <a:tc>
                  <a:txBody>
                    <a:bodyPr/>
                    <a:lstStyle/>
                    <a:p>
                      <a:r>
                        <a:rPr sz="1150">
                          <a:solidFill>
                            <a:srgbClr val="1F2328"/>
                          </a:solidFill>
                          <a:latin typeface="Calibri"/>
                        </a:rPr>
                        <a:t>Drillthrough target page with entity KPIs and a transaction table.</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the Customer Detail page built in Exercise 1 is the 'detail and exception' pattern; the field parameter work in Exercise 5 is the 'analyst exploration' pattern.</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03</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Slicers and Filters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Three filter scopes in Power BI: visual-level (only that visual), page-level (all visuals on the current page), and report-level (every page in the report).</a:t>
            </a:r>
          </a:p>
          <a:p>
            <a:pPr>
              <a:lnSpc>
                <a:spcPct val="105000"/>
              </a:lnSpc>
              <a:spcAft>
                <a:spcPts val="1000"/>
              </a:spcAft>
              <a:buClr>
                <a:srgbClr val="1E2761"/>
              </a:buClr>
              <a:buFont typeface="Arial"/>
              <a:buChar char="•"/>
            </a:pPr>
            <a:r>
              <a:rPr sz="1450">
                <a:solidFill>
                  <a:srgbClr val="1F2328"/>
                </a:solidFill>
                <a:latin typeface="Calibri"/>
              </a:rPr>
              <a:t>Slicers are just page-level filters rendered as an on-canvas control — use them when the user needs to change the filter interactively; use the Filters pane for fixed context they should not change.</a:t>
            </a:r>
          </a:p>
          <a:p>
            <a:pPr>
              <a:lnSpc>
                <a:spcPct val="105000"/>
              </a:lnSpc>
              <a:spcAft>
                <a:spcPts val="1000"/>
              </a:spcAft>
              <a:buClr>
                <a:srgbClr val="1E2761"/>
              </a:buClr>
              <a:buFont typeface="Arial"/>
              <a:buChar char="•"/>
            </a:pPr>
            <a:r>
              <a:rPr sz="1450">
                <a:solidFill>
                  <a:srgbClr val="1F2328"/>
                </a:solidFill>
                <a:latin typeface="Calibri"/>
              </a:rPr>
              <a:t>Place slicers in a consistent location on every page (typically the top strip or a left rail) so users don't have to hunt for them.</a:t>
            </a:r>
          </a:p>
          <a:p>
            <a:pPr>
              <a:lnSpc>
                <a:spcPct val="105000"/>
              </a:lnSpc>
              <a:spcAft>
                <a:spcPts val="1000"/>
              </a:spcAft>
              <a:buClr>
                <a:srgbClr val="1E2761"/>
              </a:buClr>
              <a:buFont typeface="Arial"/>
              <a:buChar char="•"/>
            </a:pPr>
            <a:r>
              <a:rPr sz="1450">
                <a:solidFill>
                  <a:srgbClr val="1F2328"/>
                </a:solidFill>
                <a:latin typeface="Calibri"/>
              </a:rPr>
              <a:t>Use Sync slicers (View → Sync slicers) so that a slicer change on one page carries to related pages — but only for slicers where that shared context genuinely makes sense (e.g., Year, Territory), not for page-specific slicers like a metric switcher.</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Inconsistent slicer placement and unclear scope is the number-one source of 'the numbers don't match' complaints — users forget which filters are still active.</a:t>
            </a:r>
          </a:p>
          <a:p>
            <a:pPr>
              <a:lnSpc>
                <a:spcPct val="105000"/>
              </a:lnSpc>
              <a:spcAft>
                <a:spcPts val="1000"/>
              </a:spcAft>
              <a:buClr>
                <a:srgbClr val="E8B44A"/>
              </a:buClr>
              <a:buFont typeface="Arial"/>
              <a:buChar char="•"/>
            </a:pPr>
            <a:r>
              <a:rPr sz="1450">
                <a:solidFill>
                  <a:srgbClr val="1F2328"/>
                </a:solidFill>
                <a:latin typeface="Calibri"/>
              </a:rPr>
              <a:t>Correctly scoped page/report filters keep the on-canvas slicer count small, which directly reduces cognitive load from topic 1.</a:t>
            </a:r>
          </a:p>
          <a:p>
            <a:pPr>
              <a:lnSpc>
                <a:spcPct val="105000"/>
              </a:lnSpc>
              <a:spcAft>
                <a:spcPts val="1000"/>
              </a:spcAft>
              <a:buClr>
                <a:srgbClr val="E8B44A"/>
              </a:buClr>
              <a:buFont typeface="Arial"/>
              <a:buChar char="•"/>
            </a:pPr>
            <a:r>
              <a:rPr sz="1450">
                <a:solidFill>
                  <a:srgbClr val="1F2328"/>
                </a:solidFill>
                <a:latin typeface="Calibri"/>
              </a:rPr>
              <a:t>Sync slicers preserve the user's mental model as they navigate pages built in the next topics (drillthrough, dynamic navigation).</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Design rule: if a slicer is on the page for compliance/context only (never changed), it should be a page-level filter in the Filters pane, not an on-canvas slicer competing for attention.</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04</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Drillthrough</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Drillthrough sends the user from a summary visual to a dedicated detail page, automatically filtered to the value they right-clicked (e.g., a specific customer).</a:t>
            </a:r>
          </a:p>
          <a:p>
            <a:pPr>
              <a:lnSpc>
                <a:spcPct val="105000"/>
              </a:lnSpc>
              <a:spcAft>
                <a:spcPts val="1000"/>
              </a:spcAft>
              <a:buClr>
                <a:srgbClr val="1E2761"/>
              </a:buClr>
              <a:buFont typeface="Arial"/>
              <a:buChar char="•"/>
            </a:pPr>
            <a:r>
              <a:rPr sz="1450">
                <a:solidFill>
                  <a:srgbClr val="1F2328"/>
                </a:solidFill>
                <a:latin typeface="Calibri"/>
              </a:rPr>
              <a:t>Configure it by adding the entity field (DimCustomer[CustomerName] in this lab) to the Drill-through field well on the target page — that field defines the filter context the target page inherits.</a:t>
            </a:r>
          </a:p>
          <a:p>
            <a:pPr>
              <a:lnSpc>
                <a:spcPct val="105000"/>
              </a:lnSpc>
              <a:spcAft>
                <a:spcPts val="1000"/>
              </a:spcAft>
              <a:buClr>
                <a:srgbClr val="1E2761"/>
              </a:buClr>
              <a:buFont typeface="Arial"/>
              <a:buChar char="•"/>
            </a:pPr>
            <a:r>
              <a:rPr sz="1450">
                <a:solidFill>
                  <a:srgbClr val="1F2328"/>
                </a:solidFill>
                <a:latin typeface="Calibri"/>
              </a:rPr>
              <a:t>Add a Back button (Insert → Buttons → Navigator → Back) so the user returns to the exact summary page and filter state they came from.</a:t>
            </a:r>
          </a:p>
          <a:p>
            <a:pPr>
              <a:lnSpc>
                <a:spcPct val="105000"/>
              </a:lnSpc>
              <a:spcAft>
                <a:spcPts val="1000"/>
              </a:spcAft>
              <a:buClr>
                <a:srgbClr val="1E2761"/>
              </a:buClr>
              <a:buFont typeface="Arial"/>
              <a:buChar char="•"/>
            </a:pPr>
            <a:r>
              <a:rPr sz="1450">
                <a:solidFill>
                  <a:srgbClr val="1F2328"/>
                </a:solidFill>
                <a:latin typeface="Calibri"/>
              </a:rPr>
              <a:t>Design the detail page as an entity page: KPI cards for that customer, plus a transaction table — not another summary. It should answer 'tell me everything about this one entity.'</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Drillthrough replaces the 'build one giant page with every level of detail' anti-pattern with a clean summary → detail flow that matches how executives actually work.</a:t>
            </a:r>
          </a:p>
          <a:p>
            <a:pPr>
              <a:lnSpc>
                <a:spcPct val="105000"/>
              </a:lnSpc>
              <a:spcAft>
                <a:spcPts val="1000"/>
              </a:spcAft>
              <a:buClr>
                <a:srgbClr val="E8B44A"/>
              </a:buClr>
              <a:buFont typeface="Arial"/>
              <a:buChar char="•"/>
            </a:pPr>
            <a:r>
              <a:rPr sz="1450">
                <a:solidFill>
                  <a:srgbClr val="1F2328"/>
                </a:solidFill>
                <a:latin typeface="Calibri"/>
              </a:rPr>
              <a:t>Because the target page inherits filter context automatically, you don't have to duplicate slicers on the detail page — the model does the filtering for you.</a:t>
            </a:r>
          </a:p>
          <a:p>
            <a:pPr>
              <a:lnSpc>
                <a:spcPct val="105000"/>
              </a:lnSpc>
              <a:spcAft>
                <a:spcPts val="1000"/>
              </a:spcAft>
              <a:buClr>
                <a:srgbClr val="E8B44A"/>
              </a:buClr>
              <a:buFont typeface="Arial"/>
              <a:buChar char="•"/>
            </a:pPr>
            <a:r>
              <a:rPr sz="1450">
                <a:solidFill>
                  <a:srgbClr val="1F2328"/>
                </a:solidFill>
                <a:latin typeface="Calibri"/>
              </a:rPr>
              <a:t>The Back button is not optional UX polish — without it, users get stuck on the detail page and often close the report entirely rather than use the page tabs.</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1 builds the Customer Detail page with CustomerName as the drillthrough field, customer KPI cards, a transaction table, and a Back button.</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05</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Report Page Tooltips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A report page tooltip is a small, custom-designed page that appears on hover over a visual — it lets you show extra context (a trend, a KPI breakdown) without adding another visual to the main canvas.</a:t>
            </a:r>
          </a:p>
          <a:p>
            <a:pPr>
              <a:lnSpc>
                <a:spcPct val="105000"/>
              </a:lnSpc>
              <a:spcAft>
                <a:spcPts val="1000"/>
              </a:spcAft>
              <a:buClr>
                <a:srgbClr val="1E2761"/>
              </a:buClr>
              <a:buFont typeface="Arial"/>
              <a:buChar char="•"/>
            </a:pPr>
            <a:r>
              <a:rPr sz="1450">
                <a:solidFill>
                  <a:srgbClr val="1F2328"/>
                </a:solidFill>
                <a:latin typeface="Calibri"/>
              </a:rPr>
              <a:t>Set the target page's Page information → Page type to 'Tooltip' so it uses the compact tooltip page size, then design compact visuals sized to that canvas.</a:t>
            </a:r>
          </a:p>
          <a:p>
            <a:pPr>
              <a:lnSpc>
                <a:spcPct val="105000"/>
              </a:lnSpc>
              <a:spcAft>
                <a:spcPts val="1000"/>
              </a:spcAft>
              <a:buClr>
                <a:srgbClr val="1E2761"/>
              </a:buClr>
              <a:buFont typeface="Arial"/>
              <a:buChar char="•"/>
            </a:pPr>
            <a:r>
              <a:rPr sz="1450">
                <a:solidFill>
                  <a:srgbClr val="1F2328"/>
                </a:solidFill>
                <a:latin typeface="Calibri"/>
              </a:rPr>
              <a:t>Assign the tooltip on the source visual: Format visual → General → Tooltips → Type: Report page, and select the tooltip page.</a:t>
            </a:r>
          </a:p>
          <a:p>
            <a:pPr>
              <a:lnSpc>
                <a:spcPct val="105000"/>
              </a:lnSpc>
              <a:spcAft>
                <a:spcPts val="1000"/>
              </a:spcAft>
              <a:buClr>
                <a:srgbClr val="1E2761"/>
              </a:buClr>
              <a:buFont typeface="Arial"/>
              <a:buChar char="•"/>
            </a:pPr>
            <a:r>
              <a:rPr sz="1450">
                <a:solidFill>
                  <a:srgbClr val="1F2328"/>
                </a:solidFill>
                <a:latin typeface="Calibri"/>
              </a:rPr>
              <a:t>Design constraints: keep it under a handful of small visuals, avoid slicers on a tooltip page (they can't be interacted with), and rely on the source visual's filter context flowing in automatically.</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Tooltip pages fight the 'add another chart to the canvas' reflex — they let one clean main visual carry rich context that only appears when the user wants it.</a:t>
            </a:r>
          </a:p>
          <a:p>
            <a:pPr>
              <a:lnSpc>
                <a:spcPct val="105000"/>
              </a:lnSpc>
              <a:spcAft>
                <a:spcPts val="1000"/>
              </a:spcAft>
              <a:buClr>
                <a:srgbClr val="E8B44A"/>
              </a:buClr>
              <a:buFont typeface="Arial"/>
              <a:buChar char="•"/>
            </a:pPr>
            <a:r>
              <a:rPr sz="1450">
                <a:solidFill>
                  <a:srgbClr val="1F2328"/>
                </a:solidFill>
                <a:latin typeface="Calibri"/>
              </a:rPr>
              <a:t>Because they inherit filter context from the hovered data point, a single tooltip page can serve many source visuals across the report.</a:t>
            </a:r>
          </a:p>
          <a:p>
            <a:pPr>
              <a:lnSpc>
                <a:spcPct val="105000"/>
              </a:lnSpc>
              <a:spcAft>
                <a:spcPts val="1000"/>
              </a:spcAft>
              <a:buClr>
                <a:srgbClr val="E8B44A"/>
              </a:buClr>
              <a:buFont typeface="Arial"/>
              <a:buChar char="•"/>
            </a:pPr>
            <a:r>
              <a:rPr sz="1450">
                <a:solidFill>
                  <a:srgbClr val="1F2328"/>
                </a:solidFill>
                <a:latin typeface="Calibri"/>
              </a:rPr>
              <a:t>They pair well with drillthrough: hover for a quick peek, right-click drillthrough for the full detail page.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2 builds a Sales Tooltip page (compact KPIs + a small trend visual) and assigns it to a main report visual.</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06</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Bookmarks and Buttons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A bookmark captures a snapshot of the current report state — which visuals are visible, current slicer selections, sort order, and drill state — and lets you restore it with a button click.</a:t>
            </a:r>
          </a:p>
          <a:p>
            <a:pPr>
              <a:lnSpc>
                <a:spcPct val="105000"/>
              </a:lnSpc>
              <a:spcAft>
                <a:spcPts val="1000"/>
              </a:spcAft>
              <a:buClr>
                <a:srgbClr val="1E2761"/>
              </a:buClr>
              <a:buFont typeface="Arial"/>
              <a:buChar char="•"/>
            </a:pPr>
            <a:r>
              <a:rPr sz="1450">
                <a:solidFill>
                  <a:srgbClr val="1F2328"/>
                </a:solidFill>
                <a:latin typeface="Calibri"/>
              </a:rPr>
              <a:t>Common patterns: Show/Hide panels (an info panel, an advanced-slicer panel), Reset filters, and stepwise guided walkthroughs of a report page.</a:t>
            </a:r>
          </a:p>
          <a:p>
            <a:pPr>
              <a:lnSpc>
                <a:spcPct val="105000"/>
              </a:lnSpc>
              <a:spcAft>
                <a:spcPts val="1000"/>
              </a:spcAft>
              <a:buClr>
                <a:srgbClr val="1E2761"/>
              </a:buClr>
              <a:buFont typeface="Arial"/>
              <a:buChar char="•"/>
            </a:pPr>
            <a:r>
              <a:rPr sz="1450">
                <a:solidFill>
                  <a:srgbClr val="1F2328"/>
                </a:solidFill>
                <a:latin typeface="Calibri"/>
              </a:rPr>
              <a:t>In the Bookmark options menu, control what the bookmark actually captures: Data (slicer state), Display (visual visibility), Current page (which page is shown), and Selected visuals (only capture a subset).</a:t>
            </a:r>
          </a:p>
          <a:p>
            <a:pPr>
              <a:lnSpc>
                <a:spcPct val="105000"/>
              </a:lnSpc>
              <a:spcAft>
                <a:spcPts val="1000"/>
              </a:spcAft>
              <a:buClr>
                <a:srgbClr val="1E2761"/>
              </a:buClr>
              <a:buFont typeface="Arial"/>
              <a:buChar char="•"/>
            </a:pPr>
            <a:r>
              <a:rPr sz="1450">
                <a:solidFill>
                  <a:srgbClr val="1F2328"/>
                </a:solidFill>
                <a:latin typeface="Calibri"/>
              </a:rPr>
              <a:t>Trigger bookmarks from buttons: Insert → Buttons → Blank/Navigator, then in the button's Action settings choose Type: Bookmark and pick the target bookmark.</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Bookmarks let one page do the work of three or four — an info panel can be hidden by default and revealed only when a first-time user asks for it.</a:t>
            </a:r>
          </a:p>
          <a:p>
            <a:pPr>
              <a:lnSpc>
                <a:spcPct val="105000"/>
              </a:lnSpc>
              <a:spcAft>
                <a:spcPts val="1000"/>
              </a:spcAft>
              <a:buClr>
                <a:srgbClr val="E8B44A"/>
              </a:buClr>
              <a:buFont typeface="Arial"/>
              <a:buChar char="•"/>
            </a:pPr>
            <a:r>
              <a:rPr sz="1450">
                <a:solidFill>
                  <a:srgbClr val="1F2328"/>
                </a:solidFill>
                <a:latin typeface="Calibri"/>
              </a:rPr>
              <a:t>The Data / Display / Current page checkboxes matter: a bookmark that captures Data when you only meant to change visibility will silently reset the user's slicer selections when the button is clicked — a classic UX bug.</a:t>
            </a:r>
          </a:p>
          <a:p>
            <a:pPr>
              <a:lnSpc>
                <a:spcPct val="105000"/>
              </a:lnSpc>
              <a:spcAft>
                <a:spcPts val="1000"/>
              </a:spcAft>
              <a:buClr>
                <a:srgbClr val="E8B44A"/>
              </a:buClr>
              <a:buFont typeface="Arial"/>
              <a:buChar char="•"/>
            </a:pPr>
            <a:r>
              <a:rPr sz="1450">
                <a:solidFill>
                  <a:srgbClr val="1F2328"/>
                </a:solidFill>
                <a:latin typeface="Calibri"/>
              </a:rPr>
              <a:t>Reset filters bookmarks are the safety net that lets analysts explore aggressively without fear of leaving the report in a confusing state.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Design rule: for a Show/Hide panel bookmark, uncheck 'Data' — you only want to toggle visibility, not overwrite the user's current slicer selections.</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07</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Dynamic Navigation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Page navigation buttons (Insert → Buttons → Navigator → Page navigator) build a one-click nav bar automatically from your report's pages — it stays in sync as you add or rename pages.</a:t>
            </a:r>
          </a:p>
          <a:p>
            <a:pPr>
              <a:lnSpc>
                <a:spcPct val="105000"/>
              </a:lnSpc>
              <a:spcAft>
                <a:spcPts val="1000"/>
              </a:spcAft>
              <a:buClr>
                <a:srgbClr val="1E2761"/>
              </a:buClr>
              <a:buFont typeface="Arial"/>
              <a:buChar char="•"/>
            </a:pPr>
            <a:r>
              <a:rPr sz="1450">
                <a:solidFill>
                  <a:srgbClr val="1F2328"/>
                </a:solidFill>
                <a:latin typeface="Calibri"/>
              </a:rPr>
              <a:t>For custom navigation, use individual Blank buttons with Action → Type: Page navigation, and place them consistently (typically a top or left rail).</a:t>
            </a:r>
          </a:p>
          <a:p>
            <a:pPr>
              <a:lnSpc>
                <a:spcPct val="105000"/>
              </a:lnSpc>
              <a:spcAft>
                <a:spcPts val="1000"/>
              </a:spcAft>
              <a:buClr>
                <a:srgbClr val="1E2761"/>
              </a:buClr>
              <a:buFont typeface="Arial"/>
              <a:buChar char="•"/>
            </a:pPr>
            <a:r>
              <a:rPr sz="1450">
                <a:solidFill>
                  <a:srgbClr val="1F2328"/>
                </a:solidFill>
                <a:latin typeface="Calibri"/>
              </a:rPr>
              <a:t>Give every navigation button visible affordance: a filled shape, a clear label, and a visible border or icon. Transparent-on-white buttons are functionally invisible — users can't click what they can't see.</a:t>
            </a:r>
          </a:p>
          <a:p>
            <a:pPr>
              <a:lnSpc>
                <a:spcPct val="105000"/>
              </a:lnSpc>
              <a:spcAft>
                <a:spcPts val="1000"/>
              </a:spcAft>
              <a:buClr>
                <a:srgbClr val="1E2761"/>
              </a:buClr>
              <a:buFont typeface="Arial"/>
              <a:buChar char="•"/>
            </a:pPr>
            <a:r>
              <a:rPr sz="1450">
                <a:solidFill>
                  <a:srgbClr val="1F2328"/>
                </a:solidFill>
                <a:latin typeface="Calibri"/>
              </a:rPr>
              <a:t>Use consistent labels (e.g., 'Summary', 'Customers', 'Products'), consistent size, and consistent placement across every page — navigation controls should never surprise the user by moving between pages.</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Users often can't find the built-in Power BI page tabs (especially in embedded or Service views) — in-canvas navigation removes that discoverability problem.</a:t>
            </a:r>
          </a:p>
          <a:p>
            <a:pPr>
              <a:lnSpc>
                <a:spcPct val="105000"/>
              </a:lnSpc>
              <a:spcAft>
                <a:spcPts val="1000"/>
              </a:spcAft>
              <a:buClr>
                <a:srgbClr val="E8B44A"/>
              </a:buClr>
              <a:buFont typeface="Arial"/>
              <a:buChar char="•"/>
            </a:pPr>
            <a:r>
              <a:rPr sz="1450">
                <a:solidFill>
                  <a:srgbClr val="1F2328"/>
                </a:solidFill>
                <a:latin typeface="Calibri"/>
              </a:rPr>
              <a:t>Consistent placement and visible affordance directly address the discoverability issue this lab was corrected for: previously the nav buttons were near-invisible, and users didn't know they could click through.</a:t>
            </a:r>
          </a:p>
          <a:p>
            <a:pPr>
              <a:lnSpc>
                <a:spcPct val="105000"/>
              </a:lnSpc>
              <a:spcAft>
                <a:spcPts val="1000"/>
              </a:spcAft>
              <a:buClr>
                <a:srgbClr val="E8B44A"/>
              </a:buClr>
              <a:buFont typeface="Arial"/>
              <a:buChar char="•"/>
            </a:pPr>
            <a:r>
              <a:rPr sz="1450">
                <a:solidFill>
                  <a:srgbClr val="1F2328"/>
                </a:solidFill>
                <a:latin typeface="Calibri"/>
              </a:rPr>
              <a:t>Page navigator visuals cost nothing to maintain when pages are added or renamed — prefer them over hand-wired button lists for standard nav bars.</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Corrected guidance: give every dynamic navigation button a solid fill, a visible border, and a text label — the earlier version of this lab had near-invisible buttons that users couldn't discover.</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08</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Field Parameters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A field parameter (Modeling → New parameter → Fields) creates a slicer-driven switcher over a chosen set of measures or dimension columns — one page, many views.</a:t>
            </a:r>
          </a:p>
          <a:p>
            <a:pPr>
              <a:lnSpc>
                <a:spcPct val="105000"/>
              </a:lnSpc>
              <a:spcAft>
                <a:spcPts val="1000"/>
              </a:spcAft>
              <a:buClr>
                <a:srgbClr val="1E2761"/>
              </a:buClr>
              <a:buFont typeface="Arial"/>
              <a:buChar char="•"/>
            </a:pPr>
            <a:r>
              <a:rPr sz="1450">
                <a:solidFill>
                  <a:srgbClr val="1F2328"/>
                </a:solidFill>
                <a:latin typeface="Calibri"/>
              </a:rPr>
              <a:t>The lab's Metric Parameter switches between [Sales Amount], [Gross Margin], [Gross Margin %], and [Quantity]; an optional Dimension Parameter switches between DimProductCategory[ProductCategory], DimTerritory[TerritoryRegion], and DimSegment[Segment].</a:t>
            </a:r>
          </a:p>
          <a:p>
            <a:pPr>
              <a:lnSpc>
                <a:spcPct val="105000"/>
              </a:lnSpc>
              <a:spcAft>
                <a:spcPts val="1000"/>
              </a:spcAft>
              <a:buClr>
                <a:srgbClr val="1E2761"/>
              </a:buClr>
              <a:buFont typeface="Arial"/>
              <a:buChar char="•"/>
            </a:pPr>
            <a:r>
              <a:rPr sz="1450">
                <a:solidFill>
                  <a:srgbClr val="1F2328"/>
                </a:solidFill>
                <a:latin typeface="Calibri"/>
              </a:rPr>
              <a:t>Field parameters are the native replacement for the older 'disconnected table + SWITCH measure' pattern — they handle formatting and dimensions natively where the DAX pattern needs extra work.</a:t>
            </a:r>
          </a:p>
          <a:p>
            <a:pPr>
              <a:lnSpc>
                <a:spcPct val="105000"/>
              </a:lnSpc>
              <a:spcAft>
                <a:spcPts val="1000"/>
              </a:spcAft>
              <a:buClr>
                <a:srgbClr val="1E2761"/>
              </a:buClr>
              <a:buFont typeface="Arial"/>
              <a:buChar char="•"/>
            </a:pPr>
            <a:r>
              <a:rPr sz="1450">
                <a:solidFill>
                  <a:srgbClr val="1F2328"/>
                </a:solidFill>
                <a:latin typeface="Calibri"/>
              </a:rPr>
              <a:t>When choosing fields, pick columns whose tables all filter FactSales via the star schema. Mixing unrelated tables triggers an InvalidUnconstrainedJoin error — the corrected lab avoids that.</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One field-parameter page replaces four near-duplicate pages (one per metric), which cuts maintenance cost and eliminates 'which page had the right filter?' confusion.</a:t>
            </a:r>
          </a:p>
          <a:p>
            <a:pPr>
              <a:lnSpc>
                <a:spcPct val="105000"/>
              </a:lnSpc>
              <a:spcAft>
                <a:spcPts val="1000"/>
              </a:spcAft>
              <a:buClr>
                <a:srgbClr val="E8B44A"/>
              </a:buClr>
              <a:buFont typeface="Arial"/>
              <a:buChar char="•"/>
            </a:pPr>
            <a:r>
              <a:rPr sz="1450">
                <a:solidFill>
                  <a:srgbClr val="1F2328"/>
                </a:solidFill>
                <a:latin typeface="Calibri"/>
              </a:rPr>
              <a:t>Because the switcher is model-driven, adding a new metric later means adding it to the parameter — not rebuilding a page or editing every SWITCH measure.</a:t>
            </a:r>
          </a:p>
          <a:p>
            <a:pPr>
              <a:lnSpc>
                <a:spcPct val="105000"/>
              </a:lnSpc>
              <a:spcAft>
                <a:spcPts val="1000"/>
              </a:spcAft>
              <a:buClr>
                <a:srgbClr val="E8B44A"/>
              </a:buClr>
              <a:buFont typeface="Arial"/>
              <a:buChar char="•"/>
            </a:pPr>
            <a:r>
              <a:rPr sz="1450">
                <a:solidFill>
                  <a:srgbClr val="1F2328"/>
                </a:solidFill>
                <a:latin typeface="Calibri"/>
              </a:rPr>
              <a:t>The InvalidUnconstrainedJoin correction matters: this lab previously hit that error by including fields the model couldn't relate. The current lab picks fields from tables that all relate to FactSales through the star schema.</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Corrected guidance: dimension field parameters must draw from tables that share a common filter path through the fact table — mixing unrelated tables causes an InvalidUnconstrainedJoin error.</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09</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Conditional Formatting</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377440"/>
                <a:gridCol w="4206240"/>
                <a:gridCol w="4297680"/>
              </a:tblGrid>
              <a:tr h="777240">
                <a:tc>
                  <a:txBody>
                    <a:bodyPr/>
                    <a:lstStyle/>
                    <a:p>
                      <a:pPr algn="l"/>
                      <a:r>
                        <a:rPr b="1" sz="1250">
                          <a:solidFill>
                            <a:srgbClr val="FFFFFF"/>
                          </a:solidFill>
                          <a:latin typeface="Calibri"/>
                        </a:rPr>
                        <a:t>Technique</a:t>
                      </a:r>
                    </a:p>
                  </a:txBody>
                  <a:tcPr>
                    <a:solidFill>
                      <a:srgbClr val="1E2761"/>
                    </a:solidFill>
                  </a:tcPr>
                </a:tc>
                <a:tc>
                  <a:txBody>
                    <a:bodyPr/>
                    <a:lstStyle/>
                    <a:p>
                      <a:pPr algn="l"/>
                      <a:r>
                        <a:rPr b="1" sz="1250">
                          <a:solidFill>
                            <a:srgbClr val="FFFFFF"/>
                          </a:solidFill>
                          <a:latin typeface="Calibri"/>
                        </a:rPr>
                        <a:t>When to use it</a:t>
                      </a:r>
                    </a:p>
                  </a:txBody>
                  <a:tcPr>
                    <a:solidFill>
                      <a:srgbClr val="1E2761"/>
                    </a:solidFill>
                  </a:tcPr>
                </a:tc>
                <a:tc>
                  <a:txBody>
                    <a:bodyPr/>
                    <a:lstStyle/>
                    <a:p>
                      <a:pPr algn="l"/>
                      <a:r>
                        <a:rPr b="1" sz="1250">
                          <a:solidFill>
                            <a:srgbClr val="FFFFFF"/>
                          </a:solidFill>
                          <a:latin typeface="Calibri"/>
                        </a:rPr>
                        <a:t>How to apply it in this lab</a:t>
                      </a:r>
                    </a:p>
                  </a:txBody>
                  <a:tcPr>
                    <a:solidFill>
                      <a:srgbClr val="1E2761"/>
                    </a:solidFill>
                  </a:tcPr>
                </a:tc>
              </a:tr>
              <a:tr h="777240">
                <a:tc>
                  <a:txBody>
                    <a:bodyPr/>
                    <a:lstStyle/>
                    <a:p>
                      <a:r>
                        <a:rPr sz="1150">
                          <a:solidFill>
                            <a:srgbClr val="1F2328"/>
                          </a:solidFill>
                          <a:latin typeface="Calibri"/>
                        </a:rPr>
                        <a:t>Background / font color by rule</a:t>
                      </a:r>
                    </a:p>
                  </a:txBody>
                  <a:tcPr>
                    <a:solidFill>
                      <a:srgbClr val="FFFFFF"/>
                    </a:solidFill>
                  </a:tcPr>
                </a:tc>
                <a:tc>
                  <a:txBody>
                    <a:bodyPr/>
                    <a:lstStyle/>
                    <a:p>
                      <a:r>
                        <a:rPr sz="1150">
                          <a:solidFill>
                            <a:srgbClr val="1F2328"/>
                          </a:solidFill>
                          <a:latin typeface="Calibri"/>
                        </a:rPr>
                        <a:t>Categorical status (Above / At / Near / Below target).</a:t>
                      </a:r>
                    </a:p>
                  </a:txBody>
                  <a:tcPr>
                    <a:solidFill>
                      <a:srgbClr val="FFFFFF"/>
                    </a:solidFill>
                  </a:tcPr>
                </a:tc>
                <a:tc>
                  <a:txBody>
                    <a:bodyPr/>
                    <a:lstStyle/>
                    <a:p>
                      <a:r>
                        <a:rPr sz="1150">
                          <a:solidFill>
                            <a:srgbClr val="1F2328"/>
                          </a:solidFill>
                          <a:latin typeface="Calibri"/>
                        </a:rPr>
                        <a:t>Format → conditional formatting → Rules; source the color from a color measure like [Margin Target Status Color] which returns hex values (#107C10, #FFB900, #D13438).</a:t>
                      </a:r>
                    </a:p>
                  </a:txBody>
                  <a:tcPr>
                    <a:solidFill>
                      <a:srgbClr val="FFFFFF"/>
                    </a:solidFill>
                  </a:tcPr>
                </a:tc>
              </a:tr>
              <a:tr h="777240">
                <a:tc>
                  <a:txBody>
                    <a:bodyPr/>
                    <a:lstStyle/>
                    <a:p>
                      <a:r>
                        <a:rPr sz="1150">
                          <a:solidFill>
                            <a:srgbClr val="1F2328"/>
                          </a:solidFill>
                          <a:latin typeface="Calibri"/>
                        </a:rPr>
                        <a:t>Color scale (gradient)</a:t>
                      </a:r>
                    </a:p>
                  </a:txBody>
                  <a:tcPr>
                    <a:solidFill>
                      <a:srgbClr val="F6F8FC"/>
                    </a:solidFill>
                  </a:tcPr>
                </a:tc>
                <a:tc>
                  <a:txBody>
                    <a:bodyPr/>
                    <a:lstStyle/>
                    <a:p>
                      <a:r>
                        <a:rPr sz="1150">
                          <a:solidFill>
                            <a:srgbClr val="1F2328"/>
                          </a:solidFill>
                          <a:latin typeface="Calibri"/>
                        </a:rPr>
                        <a:t>Continuous variance measures where relative magnitude matters.</a:t>
                      </a:r>
                    </a:p>
                  </a:txBody>
                  <a:tcPr>
                    <a:solidFill>
                      <a:srgbClr val="F6F8FC"/>
                    </a:solidFill>
                  </a:tcPr>
                </a:tc>
                <a:tc>
                  <a:txBody>
                    <a:bodyPr/>
                    <a:lstStyle/>
                    <a:p>
                      <a:r>
                        <a:rPr sz="1150">
                          <a:solidFill>
                            <a:srgbClr val="1F2328"/>
                          </a:solidFill>
                          <a:latin typeface="Calibri"/>
                        </a:rPr>
                        <a:t>Use for [Gross Margin vs Target] on a matrix; pick a low / mid / high anchor aligned to the business thresholds.</a:t>
                      </a:r>
                    </a:p>
                  </a:txBody>
                  <a:tcPr>
                    <a:solidFill>
                      <a:srgbClr val="F6F8FC"/>
                    </a:solidFill>
                  </a:tcPr>
                </a:tc>
              </a:tr>
              <a:tr h="777240">
                <a:tc>
                  <a:txBody>
                    <a:bodyPr/>
                    <a:lstStyle/>
                    <a:p>
                      <a:r>
                        <a:rPr sz="1150">
                          <a:solidFill>
                            <a:srgbClr val="1F2328"/>
                          </a:solidFill>
                          <a:latin typeface="Calibri"/>
                        </a:rPr>
                        <a:t>Icons</a:t>
                      </a:r>
                    </a:p>
                  </a:txBody>
                  <a:tcPr>
                    <a:solidFill>
                      <a:srgbClr val="FFFFFF"/>
                    </a:solidFill>
                  </a:tcPr>
                </a:tc>
                <a:tc>
                  <a:txBody>
                    <a:bodyPr/>
                    <a:lstStyle/>
                    <a:p>
                      <a:r>
                        <a:rPr sz="1150">
                          <a:solidFill>
                            <a:srgbClr val="1F2328"/>
                          </a:solidFill>
                          <a:latin typeface="Calibri"/>
                        </a:rPr>
                        <a:t>Quick status glance in dense tables.</a:t>
                      </a:r>
                    </a:p>
                  </a:txBody>
                  <a:tcPr>
                    <a:solidFill>
                      <a:srgbClr val="FFFFFF"/>
                    </a:solidFill>
                  </a:tcPr>
                </a:tc>
                <a:tc>
                  <a:txBody>
                    <a:bodyPr/>
                    <a:lstStyle/>
                    <a:p>
                      <a:r>
                        <a:rPr sz="1150">
                          <a:solidFill>
                            <a:srgbClr val="1F2328"/>
                          </a:solidFill>
                          <a:latin typeface="Calibri"/>
                        </a:rPr>
                        <a:t>Rules-based icons on the status column; keep the icon set to three states to match the target-status categories.</a:t>
                      </a:r>
                    </a:p>
                  </a:txBody>
                  <a:tcPr>
                    <a:solidFill>
                      <a:srgbClr val="FFFFFF"/>
                    </a:solidFill>
                  </a:tcPr>
                </a:tc>
              </a:tr>
              <a:tr h="777240">
                <a:tc>
                  <a:txBody>
                    <a:bodyPr/>
                    <a:lstStyle/>
                    <a:p>
                      <a:r>
                        <a:rPr sz="1150">
                          <a:solidFill>
                            <a:srgbClr val="1F2328"/>
                          </a:solidFill>
                          <a:latin typeface="Calibri"/>
                        </a:rPr>
                        <a:t>Data bars</a:t>
                      </a:r>
                    </a:p>
                  </a:txBody>
                  <a:tcPr>
                    <a:solidFill>
                      <a:srgbClr val="F6F8FC"/>
                    </a:solidFill>
                  </a:tcPr>
                </a:tc>
                <a:tc>
                  <a:txBody>
                    <a:bodyPr/>
                    <a:lstStyle/>
                    <a:p>
                      <a:r>
                        <a:rPr sz="1150">
                          <a:solidFill>
                            <a:srgbClr val="1F2328"/>
                          </a:solidFill>
                          <a:latin typeface="Calibri"/>
                        </a:rPr>
                        <a:t>In-row magnitude comparison against a simple range.</a:t>
                      </a:r>
                    </a:p>
                  </a:txBody>
                  <a:tcPr>
                    <a:solidFill>
                      <a:srgbClr val="F6F8FC"/>
                    </a:solidFill>
                  </a:tcPr>
                </a:tc>
                <a:tc>
                  <a:txBody>
                    <a:bodyPr/>
                    <a:lstStyle/>
                    <a:p>
                      <a:r>
                        <a:rPr sz="1150">
                          <a:solidFill>
                            <a:srgbClr val="1F2328"/>
                          </a:solidFill>
                          <a:latin typeface="Calibri"/>
                        </a:rPr>
                        <a:t>Good for [Sales Amount] within a customer or product-category table; avoid on percentages where scale is misleading.</a:t>
                      </a:r>
                    </a:p>
                  </a:txBody>
                  <a:tcPr>
                    <a:solidFill>
                      <a:srgbClr val="F6F8FC"/>
                    </a:solidFill>
                  </a:tcPr>
                </a:tc>
              </a:tr>
              <a:tr h="777240">
                <a:tc>
                  <a:txBody>
                    <a:bodyPr/>
                    <a:lstStyle/>
                    <a:p>
                      <a:r>
                        <a:rPr sz="1150">
                          <a:solidFill>
                            <a:srgbClr val="1F2328"/>
                          </a:solidFill>
                          <a:latin typeface="Calibri"/>
                        </a:rPr>
                        <a:t>Documented thresholds</a:t>
                      </a:r>
                    </a:p>
                  </a:txBody>
                  <a:tcPr>
                    <a:solidFill>
                      <a:srgbClr val="FFFFFF"/>
                    </a:solidFill>
                  </a:tcPr>
                </a:tc>
                <a:tc>
                  <a:txBody>
                    <a:bodyPr/>
                    <a:lstStyle/>
                    <a:p>
                      <a:r>
                        <a:rPr sz="1150">
                          <a:solidFill>
                            <a:srgbClr val="1F2328"/>
                          </a:solidFill>
                          <a:latin typeface="Calibri"/>
                        </a:rPr>
                        <a:t>Always — every rule needs a documented business meaning.</a:t>
                      </a:r>
                    </a:p>
                  </a:txBody>
                  <a:tcPr>
                    <a:solidFill>
                      <a:srgbClr val="FFFFFF"/>
                    </a:solidFill>
                  </a:tcPr>
                </a:tc>
                <a:tc>
                  <a:txBody>
                    <a:bodyPr/>
                    <a:lstStyle/>
                    <a:p>
                      <a:r>
                        <a:rPr sz="1150">
                          <a:solidFill>
                            <a:srgbClr val="1F2328"/>
                          </a:solidFill>
                          <a:latin typeface="Calibri"/>
                        </a:rPr>
                        <a:t>Add a small note visual on the page that spells out the threshold ranges (e.g., &gt;= +5%: Above target).</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6 applies these techniques. The Deeper Understanding Challenge builds [Margin Target Status] and [Margin Target Status Color] measures that plug directly into rule-based conditional formatting.</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10</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Mobile Layout</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Open the Mobile layout view (View → Mobile layout) to build a separate portrait arrangement of the same visuals — the desktop layout is untouched.</a:t>
            </a:r>
          </a:p>
          <a:p>
            <a:pPr>
              <a:lnSpc>
                <a:spcPct val="105000"/>
              </a:lnSpc>
              <a:spcAft>
                <a:spcPts val="1000"/>
              </a:spcAft>
              <a:buClr>
                <a:srgbClr val="1E2761"/>
              </a:buClr>
              <a:buFont typeface="Arial"/>
              <a:buChar char="•"/>
            </a:pPr>
            <a:r>
              <a:rPr sz="1450">
                <a:solidFill>
                  <a:srgbClr val="1F2328"/>
                </a:solidFill>
                <a:latin typeface="Calibri"/>
              </a:rPr>
              <a:t>Only place the highest-value visuals: top KPI cards and one primary chart per page. Dense matrices and multi-slicer strips do not translate to a phone.</a:t>
            </a:r>
          </a:p>
          <a:p>
            <a:pPr>
              <a:lnSpc>
                <a:spcPct val="105000"/>
              </a:lnSpc>
              <a:spcAft>
                <a:spcPts val="1000"/>
              </a:spcAft>
              <a:buClr>
                <a:srgbClr val="1E2761"/>
              </a:buClr>
              <a:buFont typeface="Arial"/>
              <a:buChar char="•"/>
            </a:pPr>
            <a:r>
              <a:rPr sz="1450">
                <a:solidFill>
                  <a:srgbClr val="1F2328"/>
                </a:solidFill>
                <a:latin typeface="Calibri"/>
              </a:rPr>
              <a:t>Size for touch: buttons and slicers need to be big enough for a thumb (roughly 44 pixels / ~11 mm minimum), and visuals need to be readable without pinch-zoom.</a:t>
            </a:r>
          </a:p>
          <a:p>
            <a:pPr>
              <a:lnSpc>
                <a:spcPct val="105000"/>
              </a:lnSpc>
              <a:spcAft>
                <a:spcPts val="1000"/>
              </a:spcAft>
              <a:buClr>
                <a:srgbClr val="1E2761"/>
              </a:buClr>
              <a:buFont typeface="Arial"/>
              <a:buChar char="•"/>
            </a:pPr>
            <a:r>
              <a:rPr sz="1450">
                <a:solidFill>
                  <a:srgbClr val="1F2328"/>
                </a:solidFill>
                <a:latin typeface="Calibri"/>
              </a:rPr>
              <a:t>Validate the layout by previewing every page in mobile view before publishing — an empty mobile canvas falls back to a scaled desktop layout, which is rarely usable.</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Executives and field users increasingly consume Power BI on phones — a report without a mobile layout effectively excludes them.</a:t>
            </a:r>
          </a:p>
          <a:p>
            <a:pPr>
              <a:lnSpc>
                <a:spcPct val="105000"/>
              </a:lnSpc>
              <a:spcAft>
                <a:spcPts val="1000"/>
              </a:spcAft>
              <a:buClr>
                <a:srgbClr val="E8B44A"/>
              </a:buClr>
              <a:buFont typeface="Arial"/>
              <a:buChar char="•"/>
            </a:pPr>
            <a:r>
              <a:rPr sz="1450">
                <a:solidFill>
                  <a:srgbClr val="1F2328"/>
                </a:solidFill>
                <a:latin typeface="Calibri"/>
              </a:rPr>
              <a:t>The scaled-desktop fallback is one of the most common 'report looks broken on my phone' complaints — explicitly building the mobile layout prevents it.</a:t>
            </a:r>
          </a:p>
          <a:p>
            <a:pPr>
              <a:lnSpc>
                <a:spcPct val="105000"/>
              </a:lnSpc>
              <a:spcAft>
                <a:spcPts val="1000"/>
              </a:spcAft>
              <a:buClr>
                <a:srgbClr val="E8B44A"/>
              </a:buClr>
              <a:buFont typeface="Arial"/>
              <a:buChar char="•"/>
            </a:pPr>
            <a:r>
              <a:rPr sz="1450">
                <a:solidFill>
                  <a:srgbClr val="1F2328"/>
                </a:solidFill>
                <a:latin typeface="Calibri"/>
              </a:rPr>
              <a:t>Prioritizing 'the two visuals that answer the primary question' on mobile forces the same discipline topic 1 asked for on desktop — audience-first design.</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7 builds a mobile layout for the summary page — the top KPIs and one trend visual, sized for touch, validated in mobile preview.</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Accessibility</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Alt text: add descriptive alt text on every non-decorative visual so screen readers can announce what the visual is showing.</a:t>
            </a:r>
          </a:p>
          <a:p>
            <a:pPr>
              <a:lnSpc>
                <a:spcPct val="105000"/>
              </a:lnSpc>
              <a:spcAft>
                <a:spcPts val="1000"/>
              </a:spcAft>
              <a:buClr>
                <a:srgbClr val="1E2761"/>
              </a:buClr>
              <a:buFont typeface="Arial"/>
              <a:buChar char="•"/>
            </a:pPr>
            <a:r>
              <a:rPr sz="1450">
                <a:solidFill>
                  <a:srgbClr val="1F2328"/>
                </a:solidFill>
                <a:latin typeface="Calibri"/>
              </a:rPr>
              <a:t>Tab order: set Selection pane → Tab order deliberately so keyboard users move through the page in a logical reading order, not the arbitrary order visuals were added.</a:t>
            </a:r>
          </a:p>
          <a:p>
            <a:pPr>
              <a:lnSpc>
                <a:spcPct val="105000"/>
              </a:lnSpc>
              <a:spcAft>
                <a:spcPts val="1000"/>
              </a:spcAft>
              <a:buClr>
                <a:srgbClr val="1E2761"/>
              </a:buClr>
              <a:buFont typeface="Arial"/>
              <a:buChar char="•"/>
            </a:pPr>
            <a:r>
              <a:rPr sz="1450">
                <a:solidFill>
                  <a:srgbClr val="1F2328"/>
                </a:solidFill>
                <a:latin typeface="Calibri"/>
              </a:rPr>
              <a:t>Contrast: text and meaningful UI must meet the WCAG 4.5:1 contrast ratio against its background — pale-gray-on-white footers and axis labels are a common failure.</a:t>
            </a:r>
          </a:p>
          <a:p>
            <a:pPr>
              <a:lnSpc>
                <a:spcPct val="105000"/>
              </a:lnSpc>
              <a:spcAft>
                <a:spcPts val="1000"/>
              </a:spcAft>
              <a:buClr>
                <a:srgbClr val="1E2761"/>
              </a:buClr>
              <a:buFont typeface="Arial"/>
              <a:buChar char="•"/>
            </a:pPr>
            <a:r>
              <a:rPr sz="1450">
                <a:solidFill>
                  <a:srgbClr val="1F2328"/>
                </a:solidFill>
                <a:latin typeface="Calibri"/>
              </a:rPr>
              <a:t>Never let color be the only signal: pair color with an icon, a text status label, or a shape so color-blind users get the same message (the Above/At/Near/Below target labels do exactly this).</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Accessibility is a real requirement for many organizations — government tenants in particular have accessibility mandates that a color-only status report will fail.</a:t>
            </a:r>
          </a:p>
          <a:p>
            <a:pPr>
              <a:lnSpc>
                <a:spcPct val="105000"/>
              </a:lnSpc>
              <a:spcAft>
                <a:spcPts val="1000"/>
              </a:spcAft>
              <a:buClr>
                <a:srgbClr val="E8B44A"/>
              </a:buClr>
              <a:buFont typeface="Arial"/>
              <a:buChar char="•"/>
            </a:pPr>
            <a:r>
              <a:rPr sz="1450">
                <a:solidFill>
                  <a:srgbClr val="1F2328"/>
                </a:solidFill>
                <a:latin typeface="Calibri"/>
              </a:rPr>
              <a:t>The keyboard tab order is invisible to sighted users but is the primary navigation for many assistive-tech users — if it's not set, they experience the page as random.</a:t>
            </a:r>
          </a:p>
          <a:p>
            <a:pPr>
              <a:lnSpc>
                <a:spcPct val="105000"/>
              </a:lnSpc>
              <a:spcAft>
                <a:spcPts val="1000"/>
              </a:spcAft>
              <a:buClr>
                <a:srgbClr val="E8B44A"/>
              </a:buClr>
              <a:buFont typeface="Arial"/>
              <a:buChar char="•"/>
            </a:pPr>
            <a:r>
              <a:rPr sz="1450">
                <a:solidFill>
                  <a:srgbClr val="1F2328"/>
                </a:solidFill>
                <a:latin typeface="Calibri"/>
              </a:rPr>
              <a:t>Building accessibility in from the start is far cheaper than retrofitting it after a compliance review flags the report.</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8 runs a formal accessibility review — alt text, tab order, contrast, visual titles, and 'color is not the only signal' — and documents each improvement.</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12</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Azure Government Considerations</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743200"/>
                <a:gridCol w="2560320"/>
                <a:gridCol w="5577840"/>
              </a:tblGrid>
              <a:tr h="777240">
                <a:tc>
                  <a:txBody>
                    <a:bodyPr/>
                    <a:lstStyle/>
                    <a:p>
                      <a:pPr algn="l"/>
                      <a:r>
                        <a:rPr b="1" sz="1250">
                          <a:solidFill>
                            <a:srgbClr val="FFFFFF"/>
                          </a:solidFill>
                          <a:latin typeface="Calibri"/>
                        </a:rPr>
                        <a:t>Feature</a:t>
                      </a:r>
                    </a:p>
                  </a:txBody>
                  <a:tcPr>
                    <a:solidFill>
                      <a:srgbClr val="1E2761"/>
                    </a:solidFill>
                  </a:tcPr>
                </a:tc>
                <a:tc>
                  <a:txBody>
                    <a:bodyPr/>
                    <a:lstStyle/>
                    <a:p>
                      <a:pPr algn="l"/>
                      <a:r>
                        <a:rPr b="1" sz="1250">
                          <a:solidFill>
                            <a:srgbClr val="FFFFFF"/>
                          </a:solidFill>
                          <a:latin typeface="Calibri"/>
                        </a:rPr>
                        <a:t>Gov status</a:t>
                      </a:r>
                    </a:p>
                  </a:txBody>
                  <a:tcPr>
                    <a:solidFill>
                      <a:srgbClr val="1E2761"/>
                    </a:solidFill>
                  </a:tcPr>
                </a:tc>
                <a:tc>
                  <a:txBody>
                    <a:bodyPr/>
                    <a:lstStyle/>
                    <a:p>
                      <a:pPr algn="l"/>
                      <a:r>
                        <a:rPr b="1" sz="1250">
                          <a:solidFill>
                            <a:srgbClr val="FFFFFF"/>
                          </a:solidFill>
                          <a:latin typeface="Calibri"/>
                        </a:rPr>
                        <a:t>Delivery guidance</a:t>
                      </a:r>
                    </a:p>
                  </a:txBody>
                  <a:tcPr>
                    <a:solidFill>
                      <a:srgbClr val="1E2761"/>
                    </a:solidFill>
                  </a:tcPr>
                </a:tc>
              </a:tr>
              <a:tr h="777240">
                <a:tc>
                  <a:txBody>
                    <a:bodyPr/>
                    <a:lstStyle/>
                    <a:p>
                      <a:r>
                        <a:rPr sz="1150">
                          <a:solidFill>
                            <a:srgbClr val="1F2328"/>
                          </a:solidFill>
                          <a:latin typeface="Calibri"/>
                        </a:rPr>
                        <a:t>Drillthrough, tooltips, bookmarks, navigation, conditional formatting</a:t>
                      </a:r>
                    </a:p>
                  </a:txBody>
                  <a:tcPr>
                    <a:solidFill>
                      <a:srgbClr val="FFFFFF"/>
                    </a:solidFill>
                  </a:tcPr>
                </a:tc>
                <a:tc>
                  <a:txBody>
                    <a:bodyPr/>
                    <a:lstStyle/>
                    <a:p>
                      <a:r>
                        <a:rPr sz="1150">
                          <a:solidFill>
                            <a:srgbClr val="1F2328"/>
                          </a:solidFill>
                          <a:latin typeface="Calibri"/>
                        </a:rPr>
                        <a:t>Gov-ready</a:t>
                      </a:r>
                    </a:p>
                  </a:txBody>
                  <a:tcPr>
                    <a:solidFill>
                      <a:srgbClr val="FFFFFF"/>
                    </a:solidFill>
                  </a:tcPr>
                </a:tc>
                <a:tc>
                  <a:txBody>
                    <a:bodyPr/>
                    <a:lstStyle/>
                    <a:p>
                      <a:r>
                        <a:rPr sz="1150">
                          <a:solidFill>
                            <a:srgbClr val="1F2328"/>
                          </a:solidFill>
                          <a:latin typeface="Calibri"/>
                        </a:rPr>
                        <a:t>Core Desktop authoring — no tenant validation needed for the required labs.</a:t>
                      </a:r>
                    </a:p>
                  </a:txBody>
                  <a:tcPr>
                    <a:solidFill>
                      <a:srgbClr val="FFFFFF"/>
                    </a:solidFill>
                  </a:tcPr>
                </a:tc>
              </a:tr>
              <a:tr h="777240">
                <a:tc>
                  <a:txBody>
                    <a:bodyPr/>
                    <a:lstStyle/>
                    <a:p>
                      <a:r>
                        <a:rPr sz="1150">
                          <a:solidFill>
                            <a:srgbClr val="1F2328"/>
                          </a:solidFill>
                          <a:latin typeface="Calibri"/>
                        </a:rPr>
                        <a:t>Field parameters</a:t>
                      </a:r>
                    </a:p>
                  </a:txBody>
                  <a:tcPr>
                    <a:solidFill>
                      <a:srgbClr val="F6F8FC"/>
                    </a:solidFill>
                  </a:tcPr>
                </a:tc>
                <a:tc>
                  <a:txBody>
                    <a:bodyPr/>
                    <a:lstStyle/>
                    <a:p>
                      <a:r>
                        <a:rPr sz="1150">
                          <a:solidFill>
                            <a:srgbClr val="1F2328"/>
                          </a:solidFill>
                          <a:latin typeface="Calibri"/>
                        </a:rPr>
                        <a:t>Gov-ready</a:t>
                      </a:r>
                    </a:p>
                  </a:txBody>
                  <a:tcPr>
                    <a:solidFill>
                      <a:srgbClr val="F6F8FC"/>
                    </a:solidFill>
                  </a:tcPr>
                </a:tc>
                <a:tc>
                  <a:txBody>
                    <a:bodyPr/>
                    <a:lstStyle/>
                    <a:p>
                      <a:r>
                        <a:rPr sz="1150">
                          <a:solidFill>
                            <a:srgbClr val="1F2328"/>
                          </a:solidFill>
                          <a:latin typeface="Calibri"/>
                        </a:rPr>
                        <a:t>Validate Desktop and Service parity in the customer's tenant before treating as production-ready.</a:t>
                      </a:r>
                    </a:p>
                  </a:txBody>
                  <a:tcPr>
                    <a:solidFill>
                      <a:srgbClr val="F6F8FC"/>
                    </a:solidFill>
                  </a:tcPr>
                </a:tc>
              </a:tr>
              <a:tr h="777240">
                <a:tc>
                  <a:txBody>
                    <a:bodyPr/>
                    <a:lstStyle/>
                    <a:p>
                      <a:r>
                        <a:rPr sz="1150">
                          <a:solidFill>
                            <a:srgbClr val="1F2328"/>
                          </a:solidFill>
                          <a:latin typeface="Calibri"/>
                        </a:rPr>
                        <a:t>Mobile layout</a:t>
                      </a:r>
                    </a:p>
                  </a:txBody>
                  <a:tcPr>
                    <a:solidFill>
                      <a:srgbClr val="FFFFFF"/>
                    </a:solidFill>
                  </a:tcPr>
                </a:tc>
                <a:tc>
                  <a:txBody>
                    <a:bodyPr/>
                    <a:lstStyle/>
                    <a:p>
                      <a:r>
                        <a:rPr sz="1150">
                          <a:solidFill>
                            <a:srgbClr val="1F2328"/>
                          </a:solidFill>
                          <a:latin typeface="Calibri"/>
                        </a:rPr>
                        <a:t>Gov-ready</a:t>
                      </a:r>
                    </a:p>
                  </a:txBody>
                  <a:tcPr>
                    <a:solidFill>
                      <a:srgbClr val="FFFFFF"/>
                    </a:solidFill>
                  </a:tcPr>
                </a:tc>
                <a:tc>
                  <a:txBody>
                    <a:bodyPr/>
                    <a:lstStyle/>
                    <a:p>
                      <a:r>
                        <a:rPr sz="1150">
                          <a:solidFill>
                            <a:srgbClr val="1F2328"/>
                          </a:solidFill>
                          <a:latin typeface="Calibri"/>
                        </a:rPr>
                        <a:t>Validate the customer's mobile app policy and device management before assuming the report reaches phones.</a:t>
                      </a:r>
                    </a:p>
                  </a:txBody>
                  <a:tcPr>
                    <a:solidFill>
                      <a:srgbClr val="FFFFFF"/>
                    </a:solidFill>
                  </a:tcPr>
                </a:tc>
              </a:tr>
              <a:tr h="777240">
                <a:tc>
                  <a:txBody>
                    <a:bodyPr/>
                    <a:lstStyle/>
                    <a:p>
                      <a:r>
                        <a:rPr sz="1150">
                          <a:solidFill>
                            <a:srgbClr val="1F2328"/>
                          </a:solidFill>
                          <a:latin typeface="Calibri"/>
                        </a:rPr>
                        <a:t>Personalized visuals</a:t>
                      </a:r>
                    </a:p>
                  </a:txBody>
                  <a:tcPr>
                    <a:solidFill>
                      <a:srgbClr val="F6F8FC"/>
                    </a:solidFill>
                  </a:tcPr>
                </a:tc>
                <a:tc>
                  <a:txBody>
                    <a:bodyPr/>
                    <a:lstStyle/>
                    <a:p>
                      <a:r>
                        <a:rPr sz="1150">
                          <a:solidFill>
                            <a:srgbClr val="1F2328"/>
                          </a:solidFill>
                          <a:latin typeface="Calibri"/>
                        </a:rPr>
                        <a:t>Verify for Gov</a:t>
                      </a:r>
                    </a:p>
                  </a:txBody>
                  <a:tcPr>
                    <a:solidFill>
                      <a:srgbClr val="F6F8FC"/>
                    </a:solidFill>
                  </a:tcPr>
                </a:tc>
                <a:tc>
                  <a:txBody>
                    <a:bodyPr/>
                    <a:lstStyle/>
                    <a:p>
                      <a:r>
                        <a:rPr sz="1150">
                          <a:solidFill>
                            <a:srgbClr val="1F2328"/>
                          </a:solidFill>
                          <a:latin typeface="Calibri"/>
                        </a:rPr>
                        <a:t>Depends on Service availability and tenant settings. Do not require in Gov labs unless validated in advance.</a:t>
                      </a:r>
                    </a:p>
                  </a:txBody>
                  <a:tcPr>
                    <a:solidFill>
                      <a:srgbClr val="F6F8FC"/>
                    </a:solidFill>
                  </a:tcPr>
                </a:tc>
              </a:tr>
              <a:tr h="777240">
                <a:tc>
                  <a:txBody>
                    <a:bodyPr/>
                    <a:lstStyle/>
                    <a:p>
                      <a:r>
                        <a:rPr sz="1150">
                          <a:solidFill>
                            <a:srgbClr val="1F2328"/>
                          </a:solidFill>
                          <a:latin typeface="Calibri"/>
                        </a:rPr>
                        <a:t>AI visuals (Q&amp;A, Key influencers, Decomposition tree, Smart narrative)</a:t>
                      </a:r>
                    </a:p>
                  </a:txBody>
                  <a:tcPr>
                    <a:solidFill>
                      <a:srgbClr val="FFFFFF"/>
                    </a:solidFill>
                  </a:tcPr>
                </a:tc>
                <a:tc>
                  <a:txBody>
                    <a:bodyPr/>
                    <a:lstStyle/>
                    <a:p>
                      <a:r>
                        <a:rPr sz="1150">
                          <a:solidFill>
                            <a:srgbClr val="1F2328"/>
                          </a:solidFill>
                          <a:latin typeface="Calibri"/>
                        </a:rPr>
                        <a:t>Verify for Gov / Commercial-focused</a:t>
                      </a:r>
                    </a:p>
                  </a:txBody>
                  <a:tcPr>
                    <a:solidFill>
                      <a:srgbClr val="FFFFFF"/>
                    </a:solidFill>
                  </a:tcPr>
                </a:tc>
                <a:tc>
                  <a:txBody>
                    <a:bodyPr/>
                    <a:lstStyle/>
                    <a:p>
                      <a:r>
                        <a:rPr sz="1150">
                          <a:solidFill>
                            <a:srgbClr val="1F2328"/>
                          </a:solidFill>
                          <a:latin typeface="Calibri"/>
                        </a:rPr>
                        <a:t>Provide a non-AI alternate path for Gov delivery; treat as demo-only until validated.</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Rule of thumb: everything the required lab exercises use is Gov-ready. Anything labeled 'Optional' or 'Deeper Understanding' involving personalized or AI visuals is Verify for Gov and must be checked before treating as hands-on.</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13 — WHAT YOU'LL BUILD</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Module Lab Walkthrough</a:t>
            </a:r>
          </a:p>
        </p:txBody>
      </p:sp>
      <p:sp>
        <p:nvSpPr>
          <p:cNvPr id="6" name="Rectangle 5"/>
          <p:cNvSpPr/>
          <p:nvPr/>
        </p:nvSpPr>
        <p:spPr>
          <a:xfrm>
            <a:off x="640080" y="1783080"/>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025396"/>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1: Drillthrough — Customer Detail page + Back button</a:t>
            </a:r>
          </a:p>
        </p:txBody>
      </p:sp>
      <p:sp>
        <p:nvSpPr>
          <p:cNvPr id="9" name="Rectangle 8"/>
          <p:cNvSpPr/>
          <p:nvPr/>
        </p:nvSpPr>
        <p:spPr>
          <a:xfrm>
            <a:off x="640080" y="2706624"/>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948940"/>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706624"/>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2: Report page tooltip — Sales Tooltip page assigned to a visual</a:t>
            </a:r>
          </a:p>
        </p:txBody>
      </p:sp>
      <p:sp>
        <p:nvSpPr>
          <p:cNvPr id="12" name="Rectangle 11"/>
          <p:cNvSpPr/>
          <p:nvPr/>
        </p:nvSpPr>
        <p:spPr>
          <a:xfrm>
            <a:off x="640080" y="3630168"/>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872484"/>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3630168"/>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3: Bookmarks and buttons — Show/Hide panel + Reset filters</a:t>
            </a:r>
          </a:p>
        </p:txBody>
      </p:sp>
      <p:sp>
        <p:nvSpPr>
          <p:cNvPr id="15" name="Rectangle 14"/>
          <p:cNvSpPr/>
          <p:nvPr/>
        </p:nvSpPr>
        <p:spPr>
          <a:xfrm>
            <a:off x="640080" y="4553712"/>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796028"/>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4553712"/>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4: Dynamic navigation — visible buttons with clear labels on every page</a:t>
            </a:r>
          </a:p>
        </p:txBody>
      </p:sp>
      <p:sp>
        <p:nvSpPr>
          <p:cNvPr id="18" name="Rectangle 17"/>
          <p:cNvSpPr/>
          <p:nvPr/>
        </p:nvSpPr>
        <p:spPr>
          <a:xfrm>
            <a:off x="640080" y="5477256"/>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5719572"/>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98448" y="5477256"/>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5: Field parameters — Metric Parameter (+ optional Dimension Parameter)</a:t>
            </a:r>
          </a:p>
        </p:txBody>
      </p:sp>
      <p:sp>
        <p:nvSpPr>
          <p:cNvPr id="21" name="Rectangle 20"/>
          <p:cNvSpPr/>
          <p:nvPr/>
        </p:nvSpPr>
        <p:spPr>
          <a:xfrm>
            <a:off x="6309360" y="1783080"/>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2025396"/>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1783080"/>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Deeper challenges: disconnected metric selector + margin target selector (DAX SWITCH)</a:t>
            </a:r>
          </a:p>
        </p:txBody>
      </p:sp>
      <p:sp>
        <p:nvSpPr>
          <p:cNvPr id="24" name="Rectangle 23"/>
          <p:cNvSpPr/>
          <p:nvPr/>
        </p:nvSpPr>
        <p:spPr>
          <a:xfrm>
            <a:off x="6309360" y="2706624"/>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2948940"/>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2706624"/>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6: Conditional formatting — rule-based colors tied to margin thresholds</a:t>
            </a:r>
          </a:p>
        </p:txBody>
      </p:sp>
      <p:sp>
        <p:nvSpPr>
          <p:cNvPr id="27" name="Rectangle 26"/>
          <p:cNvSpPr/>
          <p:nvPr/>
        </p:nvSpPr>
        <p:spPr>
          <a:xfrm>
            <a:off x="6309360" y="3630168"/>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3872484"/>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3630168"/>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7: Mobile layout — prioritized visuals sized for touch</a:t>
            </a:r>
          </a:p>
        </p:txBody>
      </p:sp>
      <p:sp>
        <p:nvSpPr>
          <p:cNvPr id="30" name="Rectangle 29"/>
          <p:cNvSpPr/>
          <p:nvPr/>
        </p:nvSpPr>
        <p:spPr>
          <a:xfrm>
            <a:off x="6309360" y="4553712"/>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4796028"/>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7728" y="4553712"/>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8: Accessibility review — alt text, tab order, contrast, non-color signals</a:t>
            </a:r>
          </a:p>
        </p:txBody>
      </p:sp>
      <p:sp>
        <p:nvSpPr>
          <p:cNvPr id="33" name="Rectangle 32"/>
          <p:cNvSpPr/>
          <p:nvPr/>
        </p:nvSpPr>
        <p:spPr>
          <a:xfrm>
            <a:off x="6309360" y="5477256"/>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92240" y="5719572"/>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7728" y="5477256"/>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Validation: run the UX validation checklist before considering the report done</a:t>
            </a:r>
          </a:p>
        </p:txBody>
      </p:sp>
      <p:sp>
        <p:nvSpPr>
          <p:cNvPr id="36" name="TextBox 35"/>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14 — WRAP-UP</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Knowledge Check &amp; Discussion</a:t>
            </a:r>
          </a:p>
        </p:txBody>
      </p:sp>
      <p:sp>
        <p:nvSpPr>
          <p:cNvPr id="6" name="Rectangle 5"/>
          <p:cNvSpPr/>
          <p:nvPr/>
        </p:nvSpPr>
        <p:spPr>
          <a:xfrm>
            <a:off x="640080" y="1783080"/>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025396"/>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Report pages have a clear audience and a primary question they answer.</a:t>
            </a:r>
          </a:p>
        </p:txBody>
      </p:sp>
      <p:sp>
        <p:nvSpPr>
          <p:cNvPr id="9" name="Rectangle 8"/>
          <p:cNvSpPr/>
          <p:nvPr/>
        </p:nvSpPr>
        <p:spPr>
          <a:xfrm>
            <a:off x="640080" y="2706624"/>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948940"/>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706624"/>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Drillthrough works from a summary visual to Customer Detail, and Back returns.</a:t>
            </a:r>
          </a:p>
        </p:txBody>
      </p:sp>
      <p:sp>
        <p:nvSpPr>
          <p:cNvPr id="12" name="Rectangle 11"/>
          <p:cNvSpPr/>
          <p:nvPr/>
        </p:nvSpPr>
        <p:spPr>
          <a:xfrm>
            <a:off x="640080" y="3630168"/>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872484"/>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3630168"/>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The tooltip page is assigned and shows compact context on hover.</a:t>
            </a:r>
          </a:p>
        </p:txBody>
      </p:sp>
      <p:sp>
        <p:nvSpPr>
          <p:cNvPr id="15" name="Rectangle 14"/>
          <p:cNvSpPr/>
          <p:nvPr/>
        </p:nvSpPr>
        <p:spPr>
          <a:xfrm>
            <a:off x="640080" y="4553712"/>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796028"/>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4553712"/>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Bookmarks capture only the intended state (Data unchecked for visibility toggles).</a:t>
            </a:r>
          </a:p>
        </p:txBody>
      </p:sp>
      <p:sp>
        <p:nvSpPr>
          <p:cNvPr id="18" name="Rectangle 17"/>
          <p:cNvSpPr/>
          <p:nvPr/>
        </p:nvSpPr>
        <p:spPr>
          <a:xfrm>
            <a:off x="640080" y="5477256"/>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5719572"/>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98448" y="5477256"/>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Navigation buttons are visible, labelled, and consistent on every page.</a:t>
            </a:r>
          </a:p>
        </p:txBody>
      </p:sp>
      <p:sp>
        <p:nvSpPr>
          <p:cNvPr id="21" name="Rectangle 20"/>
          <p:cNvSpPr/>
          <p:nvPr/>
        </p:nvSpPr>
        <p:spPr>
          <a:xfrm>
            <a:off x="6309360" y="1783080"/>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2025396"/>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1783080"/>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The field parameter switches metrics without an InvalidUnconstrainedJoin error.</a:t>
            </a:r>
          </a:p>
        </p:txBody>
      </p:sp>
      <p:sp>
        <p:nvSpPr>
          <p:cNvPr id="24" name="Rectangle 23"/>
          <p:cNvSpPr/>
          <p:nvPr/>
        </p:nvSpPr>
        <p:spPr>
          <a:xfrm>
            <a:off x="6309360" y="2706624"/>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2948940"/>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2706624"/>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Conditional formatting has documented business thresholds.</a:t>
            </a:r>
          </a:p>
        </p:txBody>
      </p:sp>
      <p:sp>
        <p:nvSpPr>
          <p:cNvPr id="27" name="Rectangle 26"/>
          <p:cNvSpPr/>
          <p:nvPr/>
        </p:nvSpPr>
        <p:spPr>
          <a:xfrm>
            <a:off x="6309360" y="3630168"/>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3872484"/>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3630168"/>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Mobile layout is readable and touch-friendly on every page.</a:t>
            </a:r>
          </a:p>
        </p:txBody>
      </p:sp>
      <p:sp>
        <p:nvSpPr>
          <p:cNvPr id="30" name="Rectangle 29"/>
          <p:cNvSpPr/>
          <p:nvPr/>
        </p:nvSpPr>
        <p:spPr>
          <a:xfrm>
            <a:off x="6309360" y="4553712"/>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4796028"/>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7728" y="4553712"/>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Accessibility review is complete: alt text, tab order, contrast, non-color signals.</a:t>
            </a:r>
          </a:p>
        </p:txBody>
      </p:sp>
      <p:sp>
        <p:nvSpPr>
          <p:cNvPr id="33" name="Rectangle 32"/>
          <p:cNvSpPr/>
          <p:nvPr/>
        </p:nvSpPr>
        <p:spPr>
          <a:xfrm>
            <a:off x="6309360" y="5477256"/>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92240" y="5719572"/>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7728" y="5477256"/>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Discussion: when would you accept AI visuals in a Gov delivery, and how would you document the fallback path?</a:t>
            </a:r>
          </a:p>
        </p:txBody>
      </p:sp>
      <p:sp>
        <p:nvSpPr>
          <p:cNvPr id="36" name="TextBox 35"/>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058400" cy="914400"/>
          </a:xfrm>
          <a:prstGeom prst="rect">
            <a:avLst/>
          </a:prstGeom>
          <a:noFill/>
        </p:spPr>
        <p:txBody>
          <a:bodyPr wrap="square" anchor="t" lIns="0" rIns="0" tIns="0" bIns="0">
            <a:spAutoFit/>
          </a:bodyPr>
          <a:lstStyle/>
          <a:p>
            <a:pPr algn="l">
              <a:lnSpc>
                <a:spcPct val="100000"/>
              </a:lnSpc>
              <a:spcAft>
                <a:spcPts val="0"/>
              </a:spcAft>
            </a:pPr>
            <a:r>
              <a:rPr sz="3600" b="1" i="0">
                <a:solidFill>
                  <a:srgbClr val="FFFFFF"/>
                </a:solidFill>
                <a:latin typeface="Cambria"/>
              </a:rPr>
              <a:t>Module 04 Complete</a:t>
            </a:r>
          </a:p>
        </p:txBody>
      </p:sp>
      <p:sp>
        <p:nvSpPr>
          <p:cNvPr id="4" name="TextBox 3"/>
          <p:cNvSpPr txBox="1"/>
          <p:nvPr/>
        </p:nvSpPr>
        <p:spPr>
          <a:xfrm>
            <a:off x="822960" y="3017520"/>
            <a:ext cx="10058400" cy="1280160"/>
          </a:xfrm>
          <a:prstGeom prst="rect">
            <a:avLst/>
          </a:prstGeom>
          <a:noFill/>
        </p:spPr>
        <p:txBody>
          <a:bodyPr wrap="square" anchor="t" lIns="0" rIns="0" tIns="0" bIns="0">
            <a:spAutoFit/>
          </a:bodyPr>
          <a:lstStyle/>
          <a:p>
            <a:pPr algn="l">
              <a:lnSpc>
                <a:spcPct val="115000"/>
              </a:lnSpc>
              <a:spcAft>
                <a:spcPts val="0"/>
              </a:spcAft>
            </a:pPr>
            <a:r>
              <a:rPr sz="1700" b="0" i="1">
                <a:solidFill>
                  <a:srgbClr val="CADCFC"/>
                </a:solidFill>
                <a:latin typeface="Calibri"/>
              </a:rPr>
              <a:t>Learners now have an interactive, accessible, audience-aware Contoso report built on the Modules 1–3 foundation.</a:t>
            </a:r>
          </a:p>
        </p:txBody>
      </p:sp>
      <p:sp>
        <p:nvSpPr>
          <p:cNvPr id="5" name="Rectangle 4"/>
          <p:cNvSpPr/>
          <p:nvPr/>
        </p:nvSpPr>
        <p:spPr>
          <a:xfrm>
            <a:off x="822960" y="4023360"/>
            <a:ext cx="10332720" cy="10058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160520"/>
            <a:ext cx="9875520" cy="777240"/>
          </a:xfrm>
          <a:prstGeom prst="rect">
            <a:avLst/>
          </a:prstGeom>
          <a:noFill/>
        </p:spPr>
        <p:txBody>
          <a:bodyPr wrap="square" anchor="ctr" lIns="0" rIns="0" tIns="0" bIns="0">
            <a:spAutoFit/>
          </a:bodyPr>
          <a:lstStyle/>
          <a:p>
            <a:pPr algn="l">
              <a:lnSpc>
                <a:spcPct val="100000"/>
              </a:lnSpc>
              <a:spcAft>
                <a:spcPts val="0"/>
              </a:spcAft>
            </a:pPr>
            <a:r>
              <a:rPr sz="1600" b="1" i="0">
                <a:solidFill>
                  <a:srgbClr val="E8B44A"/>
                </a:solidFill>
                <a:latin typeface="Calibri"/>
              </a:rPr>
              <a:t>Up next: Module 05: Performance Optimization — measuring, diagnosing, and tuning the reports you just built so they stay fast at production scale.</a:t>
            </a:r>
          </a:p>
        </p:txBody>
      </p:sp>
      <p:sp>
        <p:nvSpPr>
          <p:cNvPr id="7" name="TextBox 6"/>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CADCFC"/>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