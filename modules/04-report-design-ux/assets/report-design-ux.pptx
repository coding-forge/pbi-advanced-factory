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Opening talk track: Welcome students to this module and explain that the goal is not to memorize features. The goal is to understand when a pattern helps authors build more trustworthy, maintainable, user-friendly Power BI solutions.</a:t>
            </a:r>
          </a:p>
          <a:p>
            <a:r>
              <a:t>Module framing: Frame this module as decision experience design. Every interaction should reduce confusion and help users answer the next question.</a:t>
            </a:r>
          </a:p>
          <a:p>
            <a:r>
              <a:t>Set expectations: presentation will introduce the theme, then the lab will let learners build or evaluate the pattern hands-on. Encourage questions about tradeoffs, not just button clicks.</a:t>
            </a:r>
          </a:p>
          <a:p>
            <a:r>
              <a:t>Further learning: Report design guidance: https://learn.microsoft.com/power-bi/create-reports/ | Field parameters: https://learn.microsoft.com/power-bi/create-reports/power-bi-field-parameters | Accessibility: https://learn.microsoft.com/power-bi/create-reports/desktop-accessibility-overview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guidance: Emphasize sequence and dependency. Explain what students should already know from prior modules and what this module adds on top.</a:t>
            </a:r>
          </a:p>
          <a:p>
            <a:r>
              <a:t>Module framing: Frame this module as decision experience design. Every interaction should reduce confusion and help users answer the next question.</a:t>
            </a:r>
          </a:p>
          <a:p>
            <a:r>
              <a:t>Transition: After this slide, move from the concept map into the specific pattern or lab activity.</a:t>
            </a:r>
          </a:p>
          <a:p>
            <a:r>
              <a:t>Further learning: Report design guidance: https://learn.microsoft.com/power-bi/create-reports/ | Field parameters: https://learn.microsoft.com/power-bi/create-reports/power-bi-field-parameters | Accessibility: https://learn.microsoft.com/power-bi/create-reports/desktop-accessibility-overview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Core message: 1. Advanced report UX principles.</a:t>
            </a:r>
          </a:p>
          <a:p>
            <a:r>
              <a:t>Talking points to expand: Talking points, learner value, and lab connection Talking points • Reports are decision interfaces. • Layout should follow audience and task. Why it helps • Interactivity should reduce cognitive load. Lab connection Coverage: Partial. Use the lab README to demonstrate or discuss this topic. Review terms: cognitive, decision, follow, interactivity, interfaces. 03</a:t>
            </a:r>
          </a:p>
          <a:p>
            <a:r>
              <a:t>Why it matters: Frame this module as decision experience design. Every interaction should reduce confusion and help users answer the next question.</a:t>
            </a:r>
          </a:p>
          <a:p>
            <a:r>
              <a:t>How it helps users: connect the technical pattern to clearer decisions, fewer confusing report interactions, better trust in results, or easier support.</a:t>
            </a:r>
          </a:p>
          <a:p>
            <a:r>
              <a:t>How it builds on prior lessons: reference the previous layer in the workshop, such as prepared data, a clean model, tested measures, or report UX conventions.</a:t>
            </a:r>
          </a:p>
          <a:p>
            <a:r>
              <a:t>Lab connection: Show where this concept appears in the module lab. If the lab path is conceptual or Verify for Gov, explain what learners should document instead of building hands-on.</a:t>
            </a:r>
          </a:p>
          <a:p>
            <a:r>
              <a:t>Instructor prompt: Ask one learner to describe the risk of skipping this pattern or using it without validation.</a:t>
            </a:r>
          </a:p>
          <a:p>
            <a:r>
              <a:t>Further learning: Report design guidance: https://learn.microsoft.com/power-bi/create-reports/ | Field parameters: https://learn.microsoft.com/power-bi/create-reports/power-bi-field-parameters | Accessibility: https://learn.microsoft.com/power-bi/create-reports/desktop-accessibility-overview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Core message: 2. Audience-driven design.</a:t>
            </a:r>
          </a:p>
          <a:p>
            <a:r>
              <a:t>Talking points to expand: Talking points, learner value, and lab connection Talking points • Executive summary • Analyst exploration Why it helps • Operational monitoring • Detail and exception handling Lab connection Coverage: Partial. Use the lab README to demonstrate or discuss this topic. Review terms: analyst, driven, executive, handling, monitoring. 04</a:t>
            </a:r>
          </a:p>
          <a:p>
            <a:r>
              <a:t>Why it matters: Frame this module as decision experience design. Every interaction should reduce confusion and help users answer the next question.</a:t>
            </a:r>
          </a:p>
          <a:p>
            <a:r>
              <a:t>How it helps users: connect the technical pattern to clearer decisions, fewer confusing report interactions, better trust in results, or easier support.</a:t>
            </a:r>
          </a:p>
          <a:p>
            <a:r>
              <a:t>How it builds on prior lessons: reference the previous layer in the workshop, such as prepared data, a clean model, tested measures, or report UX conventions.</a:t>
            </a:r>
          </a:p>
          <a:p>
            <a:r>
              <a:t>Lab connection: Show where this concept appears in the module lab. If the lab path is conceptual or Verify for Gov, explain what learners should document instead of building hands-on.</a:t>
            </a:r>
          </a:p>
          <a:p>
            <a:r>
              <a:t>Instructor prompt: Ask one learner to describe the risk of skipping this pattern or using it without validation.</a:t>
            </a:r>
          </a:p>
          <a:p>
            <a:r>
              <a:t>Further learning: Report design guidance: https://learn.microsoft.com/power-bi/create-reports/ | Field parameters: https://learn.microsoft.com/power-bi/create-reports/power-bi-field-parameters | Accessibility: https://learn.microsoft.com/power-bi/create-reports/desktop-accessibility-overview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Core message: 3. Slicers and filters.</a:t>
            </a:r>
          </a:p>
          <a:p>
            <a:r>
              <a:t>Talking points to expand: Talking points, learner value, and lab connection Talking points • Page filters vs. visual filters • Slicer placement Why it helps • Sync slicers • Avoiding filter confusion Lab connection Coverage: Partial. Use the lab README to demonstrate or discuss this topic. Review terms: avoiding, confusion, filters, slicers. 05</a:t>
            </a:r>
          </a:p>
          <a:p>
            <a:r>
              <a:t>Why it matters: Frame this module as decision experience design. Every interaction should reduce confusion and help users answer the next question.</a:t>
            </a:r>
          </a:p>
          <a:p>
            <a:r>
              <a:t>How it helps users: connect the technical pattern to clearer decisions, fewer confusing report interactions, better trust in results, or easier support.</a:t>
            </a:r>
          </a:p>
          <a:p>
            <a:r>
              <a:t>How it builds on prior lessons: reference the previous layer in the workshop, such as prepared data, a clean model, tested measures, or report UX conventions.</a:t>
            </a:r>
          </a:p>
          <a:p>
            <a:r>
              <a:t>Lab connection: Show where this concept appears in the module lab. If the lab path is conceptual or Verify for Gov, explain what learners should document instead of building hands-on.</a:t>
            </a:r>
          </a:p>
          <a:p>
            <a:r>
              <a:t>Instructor prompt: Ask one learner to describe the risk of skipping this pattern or using it without validation.</a:t>
            </a:r>
          </a:p>
          <a:p>
            <a:r>
              <a:t>Further learning: Report design guidance: https://learn.microsoft.com/power-bi/create-reports/ | Field parameters: https://learn.microsoft.com/power-bi/create-reports/power-bi-field-parameters | Accessibility: https://learn.microsoft.com/power-bi/create-reports/desktop-accessibility-overview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Core message: 4. Drillthrough.</a:t>
            </a:r>
          </a:p>
          <a:p>
            <a:r>
              <a:t>Talking points to expand: Talking points, learner value, and lab connection Talking points • Summary-to-detail analysis • Drillthrough fields Why it helps • Back button • Detail page design Lab connection Coverage: Covered. Use the lab README to demonstrate or discuss this topic. Review terms: none. 06</a:t>
            </a:r>
          </a:p>
          <a:p>
            <a:r>
              <a:t>Why it matters: Frame this module as decision experience design. Every interaction should reduce confusion and help users answer the next question.</a:t>
            </a:r>
          </a:p>
          <a:p>
            <a:r>
              <a:t>How it helps users: connect the technical pattern to clearer decisions, fewer confusing report interactions, better trust in results, or easier support.</a:t>
            </a:r>
          </a:p>
          <a:p>
            <a:r>
              <a:t>How it builds on prior lessons: reference the previous layer in the workshop, such as prepared data, a clean model, tested measures, or report UX conventions.</a:t>
            </a:r>
          </a:p>
          <a:p>
            <a:r>
              <a:t>Lab connection: Show where this concept appears in the module lab. If the lab path is conceptual or Verify for Gov, explain what learners should document instead of building hands-on.</a:t>
            </a:r>
          </a:p>
          <a:p>
            <a:r>
              <a:t>Instructor prompt: Ask one learner to describe the risk of skipping this pattern or using it without validation.</a:t>
            </a:r>
          </a:p>
          <a:p>
            <a:r>
              <a:t>Further learning: Report design guidance: https://learn.microsoft.com/power-bi/create-reports/ | Field parameters: https://learn.microsoft.com/power-bi/create-reports/power-bi-field-parameters | Accessibility: https://learn.microsoft.com/power-bi/create-reports/desktop-accessibility-overview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Core message: 5. Report page tooltips.</a:t>
            </a:r>
          </a:p>
          <a:p>
            <a:r>
              <a:t>Talking points to expand: Talking points, learner value, and lab connection Talking points • Context without clutter • Tooltip page size Why it helps • Tooltip assignment • Design constraints Lab connection Coverage: Covered. Use the lab README to demonstrate or discuss this topic. Review terms: assignment, constraints. 07</a:t>
            </a:r>
          </a:p>
          <a:p>
            <a:r>
              <a:t>Why it matters: Frame this module as decision experience design. Every interaction should reduce confusion and help users answer the next question.</a:t>
            </a:r>
          </a:p>
          <a:p>
            <a:r>
              <a:t>How it helps users: connect the technical pattern to clearer decisions, fewer confusing report interactions, better trust in results, or easier support.</a:t>
            </a:r>
          </a:p>
          <a:p>
            <a:r>
              <a:t>How it builds on prior lessons: reference the previous layer in the workshop, such as prepared data, a clean model, tested measures, or report UX conventions.</a:t>
            </a:r>
          </a:p>
          <a:p>
            <a:r>
              <a:t>Lab connection: Show where this concept appears in the module lab. If the lab path is conceptual or Verify for Gov, explain what learners should document instead of building hands-on.</a:t>
            </a:r>
          </a:p>
          <a:p>
            <a:r>
              <a:t>Instructor prompt: Ask one learner to describe the risk of skipping this pattern or using it without validation.</a:t>
            </a:r>
          </a:p>
          <a:p>
            <a:r>
              <a:t>Further learning: Report design guidance: https://learn.microsoft.com/power-bi/create-reports/ | Field parameters: https://learn.microsoft.com/power-bi/create-reports/power-bi-field-parameters | Accessibility: https://learn.microsoft.com/power-bi/create-reports/desktop-accessibility-overview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Core message: 6. Bookmarks and buttons.</a:t>
            </a:r>
          </a:p>
          <a:p>
            <a:r>
              <a:t>Talking points to expand: Talking points, learner value, and lab connection Talking points • Guided experiences • Show/hide panels Why it helps • Reset filters • Bookmark options Lab connection Coverage: Covered. Use the lab README to demonstrate or discuss this topic. Review terms: experiences, filters, panels. 08</a:t>
            </a:r>
          </a:p>
          <a:p>
            <a:r>
              <a:t>Why it matters: Frame this module as decision experience design. Every interaction should reduce confusion and help users answer the next question.</a:t>
            </a:r>
          </a:p>
          <a:p>
            <a:r>
              <a:t>How it helps users: connect the technical pattern to clearer decisions, fewer confusing report interactions, better trust in results, or easier support.</a:t>
            </a:r>
          </a:p>
          <a:p>
            <a:r>
              <a:t>How it builds on prior lessons: reference the previous layer in the workshop, such as prepared data, a clean model, tested measures, or report UX conventions.</a:t>
            </a:r>
          </a:p>
          <a:p>
            <a:r>
              <a:t>Lab connection: Show where this concept appears in the module lab. If the lab path is conceptual or Verify for Gov, explain what learners should document instead of building hands-on.</a:t>
            </a:r>
          </a:p>
          <a:p>
            <a:r>
              <a:t>Instructor prompt: Ask one learner to describe the risk of skipping this pattern or using it without validation.</a:t>
            </a:r>
          </a:p>
          <a:p>
            <a:r>
              <a:t>Further learning: Report design guidance: https://learn.microsoft.com/power-bi/create-reports/ | Field parameters: https://learn.microsoft.com/power-bi/create-reports/power-bi-field-parameters | Accessibility: https://learn.microsoft.com/power-bi/create-reports/desktop-accessibility-overview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Core message: 7. Dynamic navigation.</a:t>
            </a:r>
          </a:p>
          <a:p>
            <a:r>
              <a:t>Talking points to expand: Talking points, learner value, and lab connection Talking points • Page navigation buttons • Navigator visuals Why it helps • Conditional navigation concepts • Navigation labels Lab connection Coverage: Covered. Use the lab README to demonstrate or discuss this topic. Review terms: concepts. 09</a:t>
            </a:r>
          </a:p>
          <a:p>
            <a:r>
              <a:t>Why it matters: Frame this module as decision experience design. Every interaction should reduce confusion and help users answer the next question.</a:t>
            </a:r>
          </a:p>
          <a:p>
            <a:r>
              <a:t>How it helps users: connect the technical pattern to clearer decisions, fewer confusing report interactions, better trust in results, or easier support.</a:t>
            </a:r>
          </a:p>
          <a:p>
            <a:r>
              <a:t>How it builds on prior lessons: reference the previous layer in the workshop, such as prepared data, a clean model, tested measures, or report UX conventions.</a:t>
            </a:r>
          </a:p>
          <a:p>
            <a:r>
              <a:t>Lab connection: Show where this concept appears in the module lab. If the lab path is conceptual or Verify for Gov, explain what learners should document instead of building hands-on.</a:t>
            </a:r>
          </a:p>
          <a:p>
            <a:r>
              <a:t>Instructor prompt: Ask one learner to describe the risk of skipping this pattern or using it without validation.</a:t>
            </a:r>
          </a:p>
          <a:p>
            <a:r>
              <a:t>Further learning: Report design guidance: https://learn.microsoft.com/power-bi/create-reports/ | Field parameters: https://learn.microsoft.com/power-bi/create-reports/power-bi-field-parameters | Accessibility: https://learn.microsoft.com/power-bi/create-reports/desktop-accessibility-overview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Core message: 8. Field parameters.</a:t>
            </a:r>
          </a:p>
          <a:p>
            <a:r>
              <a:t>Talking points to expand: Talking points, learner value, and lab connection Talking points • Metric switching • Dimension switching Why it helps • Slicer-driven exploration • Controlled flexibility vs. duplicated pages Lab connection Coverage: Covered. Use the lab README to demonstrate or discuss this topic. Review terms: driven, duplicated. 10</a:t>
            </a:r>
          </a:p>
          <a:p>
            <a:r>
              <a:t>Why it matters: Frame this module as decision experience design. Every interaction should reduce confusion and help users answer the next question.</a:t>
            </a:r>
          </a:p>
          <a:p>
            <a:r>
              <a:t>How it helps users: connect the technical pattern to clearer decisions, fewer confusing report interactions, better trust in results, or easier support.</a:t>
            </a:r>
          </a:p>
          <a:p>
            <a:r>
              <a:t>How it builds on prior lessons: reference the previous layer in the workshop, such as prepared data, a clean model, tested measures, or report UX conventions.</a:t>
            </a:r>
          </a:p>
          <a:p>
            <a:r>
              <a:t>Lab connection: Show where this concept appears in the module lab. If the lab path is conceptual or Verify for Gov, explain what learners should document instead of building hands-on.</a:t>
            </a:r>
          </a:p>
          <a:p>
            <a:r>
              <a:t>Instructor prompt: Ask one learner to describe the risk of skipping this pattern or using it without validation.</a:t>
            </a:r>
          </a:p>
          <a:p>
            <a:r>
              <a:t>Further learning: Report design guidance: https://learn.microsoft.com/power-bi/create-reports/ | Field parameters: https://learn.microsoft.com/power-bi/create-reports/power-bi-field-parameters | Accessibility: https://learn.microsoft.com/power-bi/create-reports/desktop-accessibility-overview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Core message: 9. Conditional formatting.</a:t>
            </a:r>
          </a:p>
          <a:p>
            <a:r>
              <a:t>Talking points to expand: Talking points, learner value, and lab connection Talking points • Business thresholds • Color meaning Why it helps • Icon and data bar usage • Avoiding over-formatting Lab connection Coverage: Covered. Use the lab README to demonstrate or discuss this topic. Review terms: avoiding, usage. 11</a:t>
            </a:r>
          </a:p>
          <a:p>
            <a:r>
              <a:t>Why it matters: Frame this module as decision experience design. Every interaction should reduce confusion and help users answer the next question.</a:t>
            </a:r>
          </a:p>
          <a:p>
            <a:r>
              <a:t>How it helps users: connect the technical pattern to clearer decisions, fewer confusing report interactions, better trust in results, or easier support.</a:t>
            </a:r>
          </a:p>
          <a:p>
            <a:r>
              <a:t>How it builds on prior lessons: reference the previous layer in the workshop, such as prepared data, a clean model, tested measures, or report UX conventions.</a:t>
            </a:r>
          </a:p>
          <a:p>
            <a:r>
              <a:t>Lab connection: Show where this concept appears in the module lab. If the lab path is conceptual or Verify for Gov, explain what learners should document instead of building hands-on.</a:t>
            </a:r>
          </a:p>
          <a:p>
            <a:r>
              <a:t>Instructor prompt: Ask one learner to describe the risk of skipping this pattern or using it without validation.</a:t>
            </a:r>
          </a:p>
          <a:p>
            <a:r>
              <a:t>Further learning: Report design guidance: https://learn.microsoft.com/power-bi/create-reports/ | Field parameters: https://learn.microsoft.com/power-bi/create-reports/power-bi-field-parameters | Accessibility: https://learn.microsoft.com/power-bi/create-reports/desktop-accessibility-overview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Core message: 10. Mobile layout.</a:t>
            </a:r>
          </a:p>
          <a:p>
            <a:r>
              <a:t>Talking points to expand: Talking points, learner value, and lab connection Talking points • Mobile-specific design • Touch targets Why it helps • Visual prioritization • Validation Lab connection Coverage: Covered. Use the lab README to demonstrate or discuss this topic. Review terms: prioritization, specific, touch. 12</a:t>
            </a:r>
          </a:p>
          <a:p>
            <a:r>
              <a:t>Why it matters: Frame this module as decision experience design. Every interaction should reduce confusion and help users answer the next question.</a:t>
            </a:r>
          </a:p>
          <a:p>
            <a:r>
              <a:t>How it helps users: connect the technical pattern to clearer decisions, fewer confusing report interactions, better trust in results, or easier support.</a:t>
            </a:r>
          </a:p>
          <a:p>
            <a:r>
              <a:t>How it builds on prior lessons: reference the previous layer in the workshop, such as prepared data, a clean model, tested measures, or report UX conventions.</a:t>
            </a:r>
          </a:p>
          <a:p>
            <a:r>
              <a:t>Lab connection: Show where this concept appears in the module lab. If the lab path is conceptual or Verify for Gov, explain what learners should document instead of building hands-on.</a:t>
            </a:r>
          </a:p>
          <a:p>
            <a:r>
              <a:t>Instructor prompt: Ask one learner to describe the risk of skipping this pattern or using it without validation.</a:t>
            </a:r>
          </a:p>
          <a:p>
            <a:r>
              <a:t>Further learning: Report design guidance: https://learn.microsoft.com/power-bi/create-reports/ | Field parameters: https://learn.microsoft.com/power-bi/create-reports/power-bi-field-parameters | Accessibility: https://learn.microsoft.com/power-bi/create-reports/desktop-accessibility-overview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Core message: 11. Accessibility.</a:t>
            </a:r>
          </a:p>
          <a:p>
            <a:r>
              <a:t>Talking points to expand: Talking points, learner value, and lab connection Talking points • Alt text • Tab order • Contrast Why it helps • Keyboard navigation • Clear visual titles Lab connection Coverage: Covered. Use the lab README to demonstrate or discuss this topic. Review terms: keyboard. 13</a:t>
            </a:r>
          </a:p>
          <a:p>
            <a:r>
              <a:t>Why it matters: Frame this module as decision experience design. Every interaction should reduce confusion and help users answer the next question.</a:t>
            </a:r>
          </a:p>
          <a:p>
            <a:r>
              <a:t>How it helps users: connect the technical pattern to clearer decisions, fewer confusing report interactions, better trust in results, or easier support.</a:t>
            </a:r>
          </a:p>
          <a:p>
            <a:r>
              <a:t>How it builds on prior lessons: reference the previous layer in the workshop, such as prepared data, a clean model, tested measures, or report UX conventions.</a:t>
            </a:r>
          </a:p>
          <a:p>
            <a:r>
              <a:t>Lab connection: Show where this concept appears in the module lab. If the lab path is conceptual or Verify for Gov, explain what learners should document instead of building hands-on.</a:t>
            </a:r>
          </a:p>
          <a:p>
            <a:r>
              <a:t>Instructor prompt: Ask one learner to describe the risk of skipping this pattern or using it without validation.</a:t>
            </a:r>
          </a:p>
          <a:p>
            <a:r>
              <a:t>Further learning: Report design guidance: https://learn.microsoft.com/power-bi/create-reports/ | Field parameters: https://learn.microsoft.com/power-bi/create-reports/power-bi-field-parameters | Accessibility: https://learn.microsoft.com/power-bi/create-reports/desktop-accessibility-overview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Core message: 12. Azure Government considerations.</a:t>
            </a:r>
          </a:p>
          <a:p>
            <a:r>
              <a:t>Talking points to expand: Talking points, learner value, and lab connection Talking points • Core report interactions are Gov-ready. • Mobile depends on customer policy. Why it helps • Personalized visuals and AI visuals need validation. Lab connection Coverage: Covered. Use the lab README to demonstrate or discuss this topic. Review terms: considerations, depends, policy. 14</a:t>
            </a:r>
          </a:p>
          <a:p>
            <a:r>
              <a:t>Why it matters: Frame this module as decision experience design. Every interaction should reduce confusion and help users answer the next question.</a:t>
            </a:r>
          </a:p>
          <a:p>
            <a:r>
              <a:t>How it helps users: connect the technical pattern to clearer decisions, fewer confusing report interactions, better trust in results, or easier support.</a:t>
            </a:r>
          </a:p>
          <a:p>
            <a:r>
              <a:t>How it builds on prior lessons: reference the previous layer in the workshop, such as prepared data, a clean model, tested measures, or report UX conventions.</a:t>
            </a:r>
          </a:p>
          <a:p>
            <a:r>
              <a:t>Lab connection: Show where this concept appears in the module lab. If the lab path is conceptual or Verify for Gov, explain what learners should document instead of building hands-on.</a:t>
            </a:r>
          </a:p>
          <a:p>
            <a:r>
              <a:t>Instructor prompt: Ask one learner to describe the risk of skipping this pattern or using it without validation.</a:t>
            </a:r>
          </a:p>
          <a:p>
            <a:r>
              <a:t>Further learning: Report design guidance: https://learn.microsoft.com/power-bi/create-reports/ | Field parameters: https://learn.microsoft.com/power-bi/create-reports/power-bi-field-parameters | Accessibility: https://learn.microsoft.com/power-bi/create-reports/desktop-accessibility-overview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guidance: Treat this as a checkpoint. Ask learners to explain the pattern in their own words and identify where they would use it in a real report.</a:t>
            </a:r>
          </a:p>
          <a:p>
            <a:r>
              <a:t>Validation prompt: What would prove this worked? Look for a simple visual, expected filter behavior, or a documented before/after result.</a:t>
            </a:r>
          </a:p>
          <a:p>
            <a:r>
              <a:t>Further learning: Report design guidance: https://learn.microsoft.com/power-bi/create-reports/ | Field parameters: https://learn.microsoft.com/power-bi/create-reports/power-bi-field-parameters | Accessibility: https://learn.microsoft.com/power-bi/create-reports/desktop-accessibility-overview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guidance: Use this slide as the handoff for self-study. Do not read every link aloud. Point out which source is most relevant to the lab just completed and which source helps learners go deeper after class.</a:t>
            </a:r>
          </a:p>
          <a:p>
            <a:r>
              <a:t>Suggested prompt: Ask learners to bookmark the source that best matches the skill they want to improve next.</a:t>
            </a:r>
          </a:p>
          <a:p>
            <a:r>
              <a:t>Further learning: Report design guidance: https://learn.microsoft.com/power-bi/create-reports/ | Field parameters: https://learn.microsoft.com/power-bi/create-reports/power-bi-field-parameters | Accessibility: https://learn.microsoft.com/power-bi/create-reports/desktop-accessibility-overview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7899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3000">
                <a:solidFill>
                  <a:srgbClr val="FFFFFF"/>
                </a:solidFill>
                <a:latin typeface="Aptos Display"/>
              </a:defRPr>
            </a:pPr>
            <a:r>
              <a:t>Report Design Ux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914400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02C39A"/>
                </a:solidFill>
                <a:latin typeface="Aptos"/>
              </a:defRPr>
            </a:pPr>
            <a:r>
              <a:t>Power BI Advanced Factory teaching deck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828800"/>
            <a:ext cx="3200400" cy="123444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1828800"/>
            <a:ext cx="91440" cy="1234440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938528"/>
            <a:ext cx="2880360" cy="106984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What students learn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Key concepts and talking points from the module outline.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80560" y="1828800"/>
            <a:ext cx="3200400" cy="123444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480560" y="1828800"/>
            <a:ext cx="91440" cy="1234440"/>
          </a:xfrm>
          <a:prstGeom prst="rect">
            <a:avLst/>
          </a:prstGeom>
          <a:solidFill>
            <a:srgbClr val="F9B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63440" y="1938528"/>
            <a:ext cx="2880360" cy="106984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Why it matters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How the topic helps authors and report consumers.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75320" y="1828800"/>
            <a:ext cx="3200400" cy="123444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275320" y="1828800"/>
            <a:ext cx="91440" cy="123444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58200" y="1938528"/>
            <a:ext cx="2880360" cy="106984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How labs connect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Where learners apply the theme hands-on.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7899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3000">
                <a:solidFill>
                  <a:srgbClr val="1E2761"/>
                </a:solidFill>
                <a:latin typeface="Aptos Display"/>
              </a:defRPr>
            </a:pPr>
            <a:r>
              <a:t>Module 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914400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5C5C5C"/>
                </a:solidFill>
                <a:latin typeface="Aptos"/>
              </a:defRPr>
            </a:pPr>
            <a:r>
              <a:t>Use this to introduce the section before hands-on labs.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94360" y="1143000"/>
            <a:ext cx="5074920" cy="82296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94360" y="1143000"/>
            <a:ext cx="91440" cy="82296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252728"/>
            <a:ext cx="4754880" cy="65836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1. Advanced report UX principles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Reports are decision interfaces.; Layout should follow audience and task.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1143000"/>
            <a:ext cx="5074920" cy="82296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172200" y="1143000"/>
            <a:ext cx="91440" cy="822960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55080" y="1252728"/>
            <a:ext cx="4754880" cy="65836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2. Audience-driven design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Executive summary; Analyst exploration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94360" y="2286000"/>
            <a:ext cx="5074920" cy="82296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94360" y="2286000"/>
            <a:ext cx="91440" cy="82296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2395728"/>
            <a:ext cx="4754880" cy="65836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3. Slicers and filters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Page filters vs. visual filters; Slicer placement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72200" y="2286000"/>
            <a:ext cx="5074920" cy="82296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72200" y="2286000"/>
            <a:ext cx="91440" cy="822960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55080" y="2395728"/>
            <a:ext cx="4754880" cy="65836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4. Drillthrough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Summary-to-detail analysis; Drillthrough fields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94360" y="3429000"/>
            <a:ext cx="5074920" cy="82296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94360" y="3429000"/>
            <a:ext cx="91440" cy="82296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3538728"/>
            <a:ext cx="4754880" cy="65836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5. Report page tooltips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Context without clutter; Tooltip page size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3429000"/>
            <a:ext cx="5074920" cy="82296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172200" y="3429000"/>
            <a:ext cx="91440" cy="822960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55080" y="3538728"/>
            <a:ext cx="4754880" cy="65836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6. Bookmarks and buttons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Guided experiences; Show/hide panels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94360" y="4572000"/>
            <a:ext cx="5074920" cy="82296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94360" y="4572000"/>
            <a:ext cx="91440" cy="82296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77240" y="4681728"/>
            <a:ext cx="4754880" cy="65836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7. Dynamic navigation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Page navigation buttons; Navigator visuals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72200" y="4572000"/>
            <a:ext cx="5074920" cy="82296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172200" y="4572000"/>
            <a:ext cx="91440" cy="822960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55080" y="4681728"/>
            <a:ext cx="4754880" cy="65836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8. Field parameters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Metric switching; Dimension switching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789920" y="6492240"/>
            <a:ext cx="9144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5C5C5C"/>
                </a:solidFill>
              </a:defRPr>
            </a:pPr>
            <a: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7899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3000">
                <a:solidFill>
                  <a:srgbClr val="1E2761"/>
                </a:solidFill>
                <a:latin typeface="Aptos Display"/>
              </a:defRPr>
            </a:pPr>
            <a:r>
              <a:t>1. Advanced report UX principles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914400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5C5C5C"/>
                </a:solidFill>
                <a:latin typeface="Aptos"/>
              </a:defRPr>
            </a:pPr>
            <a:r>
              <a:t>Talking points, learner value, and lab connection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234440"/>
            <a:ext cx="530352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234440"/>
            <a:ext cx="91440" cy="182880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59" y="1344168"/>
            <a:ext cx="4983480" cy="166420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Talking points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• Reports are decision interfaces.</a:t>
            </a:r>
            <a:br/>
            <a:r>
              <a:t>• Layout should follow audience and task.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1234440"/>
            <a:ext cx="530352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263640" y="1234440"/>
            <a:ext cx="91440" cy="1828800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46520" y="1344168"/>
            <a:ext cx="4983480" cy="166420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Why it helps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• Interactivity should reduce cognitive load.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4160520"/>
            <a:ext cx="10424160" cy="86868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22960" y="4160520"/>
            <a:ext cx="91440" cy="868680"/>
          </a:xfrm>
          <a:prstGeom prst="rect">
            <a:avLst/>
          </a:prstGeom>
          <a:solidFill>
            <a:srgbClr val="F9B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4270248"/>
            <a:ext cx="10104120" cy="70408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Lab connection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Coverage: Partial. Use the lab README to demonstrate or discuss this topic. Review terms: cognitive, decision, follow, interactivity, interfaces.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9920" y="6492240"/>
            <a:ext cx="9144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5C5C5C"/>
                </a:solidFill>
              </a:defRPr>
            </a:pPr>
            <a: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7899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3000">
                <a:solidFill>
                  <a:srgbClr val="1E2761"/>
                </a:solidFill>
                <a:latin typeface="Aptos Display"/>
              </a:defRPr>
            </a:pPr>
            <a:r>
              <a:t>2. Audience-driven design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914400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5C5C5C"/>
                </a:solidFill>
                <a:latin typeface="Aptos"/>
              </a:defRPr>
            </a:pPr>
            <a:r>
              <a:t>Talking points, learner value, and lab connection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234440"/>
            <a:ext cx="530352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234440"/>
            <a:ext cx="91440" cy="182880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59" y="1344168"/>
            <a:ext cx="4983480" cy="166420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Talking points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• Executive summary</a:t>
            </a:r>
            <a:br/>
            <a:r>
              <a:t>• Analyst exploration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1234440"/>
            <a:ext cx="530352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263640" y="1234440"/>
            <a:ext cx="91440" cy="1828800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46520" y="1344168"/>
            <a:ext cx="4983480" cy="166420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Why it helps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• Operational monitoring</a:t>
            </a:r>
            <a:br/>
            <a:r>
              <a:t>• Detail and exception handling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4160520"/>
            <a:ext cx="10424160" cy="86868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22960" y="4160520"/>
            <a:ext cx="91440" cy="868680"/>
          </a:xfrm>
          <a:prstGeom prst="rect">
            <a:avLst/>
          </a:prstGeom>
          <a:solidFill>
            <a:srgbClr val="F9B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4270248"/>
            <a:ext cx="10104120" cy="70408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Lab connection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Coverage: Partial. Use the lab README to demonstrate or discuss this topic. Review terms: analyst, driven, executive, handling, monitoring.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9920" y="6492240"/>
            <a:ext cx="9144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5C5C5C"/>
                </a:solidFill>
              </a:defRPr>
            </a:pPr>
            <a: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7899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3000">
                <a:solidFill>
                  <a:srgbClr val="1E2761"/>
                </a:solidFill>
                <a:latin typeface="Aptos Display"/>
              </a:defRPr>
            </a:pPr>
            <a:r>
              <a:t>3. Slicers and filters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914400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5C5C5C"/>
                </a:solidFill>
                <a:latin typeface="Aptos"/>
              </a:defRPr>
            </a:pPr>
            <a:r>
              <a:t>Talking points, learner value, and lab connection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234440"/>
            <a:ext cx="530352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234440"/>
            <a:ext cx="91440" cy="182880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59" y="1344168"/>
            <a:ext cx="4983480" cy="166420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Talking points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• Page filters vs. visual filters</a:t>
            </a:r>
            <a:br/>
            <a:r>
              <a:t>• Slicer placement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1234440"/>
            <a:ext cx="530352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263640" y="1234440"/>
            <a:ext cx="91440" cy="1828800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46520" y="1344168"/>
            <a:ext cx="4983480" cy="166420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Why it helps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• Sync slicers</a:t>
            </a:r>
            <a:br/>
            <a:r>
              <a:t>• Avoiding filter confusion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4160520"/>
            <a:ext cx="10424160" cy="86868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22960" y="4160520"/>
            <a:ext cx="91440" cy="868680"/>
          </a:xfrm>
          <a:prstGeom prst="rect">
            <a:avLst/>
          </a:prstGeom>
          <a:solidFill>
            <a:srgbClr val="F9B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4270248"/>
            <a:ext cx="10104120" cy="70408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Lab connection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Coverage: Partial. Use the lab README to demonstrate or discuss this topic. Review terms: avoiding, confusion, filters, slicers.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9920" y="6492240"/>
            <a:ext cx="9144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5C5C5C"/>
                </a:solidFill>
              </a:defRPr>
            </a:pPr>
            <a: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7899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3000">
                <a:solidFill>
                  <a:srgbClr val="1E2761"/>
                </a:solidFill>
                <a:latin typeface="Aptos Display"/>
              </a:defRPr>
            </a:pPr>
            <a:r>
              <a:t>4. Drillthrough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914400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5C5C5C"/>
                </a:solidFill>
                <a:latin typeface="Aptos"/>
              </a:defRPr>
            </a:pPr>
            <a:r>
              <a:t>Talking points, learner value, and lab connection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234440"/>
            <a:ext cx="530352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234440"/>
            <a:ext cx="91440" cy="182880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59" y="1344168"/>
            <a:ext cx="4983480" cy="166420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Talking points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• Summary-to-detail analysis</a:t>
            </a:r>
            <a:br/>
            <a:r>
              <a:t>• Drillthrough fields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1234440"/>
            <a:ext cx="530352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263640" y="1234440"/>
            <a:ext cx="91440" cy="1828800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46520" y="1344168"/>
            <a:ext cx="4983480" cy="166420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Why it helps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• Back button</a:t>
            </a:r>
            <a:br/>
            <a:r>
              <a:t>• Detail page design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4160520"/>
            <a:ext cx="10424160" cy="86868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22960" y="4160520"/>
            <a:ext cx="91440" cy="868680"/>
          </a:xfrm>
          <a:prstGeom prst="rect">
            <a:avLst/>
          </a:prstGeom>
          <a:solidFill>
            <a:srgbClr val="F9B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4270248"/>
            <a:ext cx="10104120" cy="70408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Lab connection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Coverage: Covered. Use the lab README to demonstrate or discuss this topic. Review terms: none.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9920" y="6492240"/>
            <a:ext cx="9144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5C5C5C"/>
                </a:solidFill>
              </a:defRPr>
            </a:pPr>
            <a: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7899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3000">
                <a:solidFill>
                  <a:srgbClr val="1E2761"/>
                </a:solidFill>
                <a:latin typeface="Aptos Display"/>
              </a:defRPr>
            </a:pPr>
            <a:r>
              <a:t>5. Report page tooltips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914400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5C5C5C"/>
                </a:solidFill>
                <a:latin typeface="Aptos"/>
              </a:defRPr>
            </a:pPr>
            <a:r>
              <a:t>Talking points, learner value, and lab connection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234440"/>
            <a:ext cx="530352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234440"/>
            <a:ext cx="91440" cy="182880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59" y="1344168"/>
            <a:ext cx="4983480" cy="166420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Talking points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• Context without clutter</a:t>
            </a:r>
            <a:br/>
            <a:r>
              <a:t>• Tooltip page size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1234440"/>
            <a:ext cx="530352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263640" y="1234440"/>
            <a:ext cx="91440" cy="1828800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46520" y="1344168"/>
            <a:ext cx="4983480" cy="166420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Why it helps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• Tooltip assignment</a:t>
            </a:r>
            <a:br/>
            <a:r>
              <a:t>• Design constraints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4160520"/>
            <a:ext cx="10424160" cy="86868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22960" y="4160520"/>
            <a:ext cx="91440" cy="868680"/>
          </a:xfrm>
          <a:prstGeom prst="rect">
            <a:avLst/>
          </a:prstGeom>
          <a:solidFill>
            <a:srgbClr val="F9B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4270248"/>
            <a:ext cx="10104120" cy="70408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Lab connection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Coverage: Covered. Use the lab README to demonstrate or discuss this topic. Review terms: assignment, constraints.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9920" y="6492240"/>
            <a:ext cx="9144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5C5C5C"/>
                </a:solidFill>
              </a:defRPr>
            </a:pPr>
            <a: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7899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3000">
                <a:solidFill>
                  <a:srgbClr val="1E2761"/>
                </a:solidFill>
                <a:latin typeface="Aptos Display"/>
              </a:defRPr>
            </a:pPr>
            <a:r>
              <a:t>6. Bookmarks and buttons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914400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5C5C5C"/>
                </a:solidFill>
                <a:latin typeface="Aptos"/>
              </a:defRPr>
            </a:pPr>
            <a:r>
              <a:t>Talking points, learner value, and lab connection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234440"/>
            <a:ext cx="530352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234440"/>
            <a:ext cx="91440" cy="182880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59" y="1344168"/>
            <a:ext cx="4983480" cy="166420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Talking points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• Guided experiences</a:t>
            </a:r>
            <a:br/>
            <a:r>
              <a:t>• Show/hide panels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1234440"/>
            <a:ext cx="530352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263640" y="1234440"/>
            <a:ext cx="91440" cy="1828800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46520" y="1344168"/>
            <a:ext cx="4983480" cy="166420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Why it helps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• Reset filters</a:t>
            </a:r>
            <a:br/>
            <a:r>
              <a:t>• Bookmark options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4160520"/>
            <a:ext cx="10424160" cy="86868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22960" y="4160520"/>
            <a:ext cx="91440" cy="868680"/>
          </a:xfrm>
          <a:prstGeom prst="rect">
            <a:avLst/>
          </a:prstGeom>
          <a:solidFill>
            <a:srgbClr val="F9B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4270248"/>
            <a:ext cx="10104120" cy="70408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Lab connection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Coverage: Covered. Use the lab README to demonstrate or discuss this topic. Review terms: experiences, filters, panels.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9920" y="6492240"/>
            <a:ext cx="9144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5C5C5C"/>
                </a:solidFill>
              </a:defRPr>
            </a:pPr>
            <a: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7899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3000">
                <a:solidFill>
                  <a:srgbClr val="1E2761"/>
                </a:solidFill>
                <a:latin typeface="Aptos Display"/>
              </a:defRPr>
            </a:pPr>
            <a:r>
              <a:t>7. Dynamic navigation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914400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5C5C5C"/>
                </a:solidFill>
                <a:latin typeface="Aptos"/>
              </a:defRPr>
            </a:pPr>
            <a:r>
              <a:t>Talking points, learner value, and lab connection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234440"/>
            <a:ext cx="530352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234440"/>
            <a:ext cx="91440" cy="182880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59" y="1344168"/>
            <a:ext cx="4983480" cy="166420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Talking points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• Page navigation buttons</a:t>
            </a:r>
            <a:br/>
            <a:r>
              <a:t>• Navigator visuals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1234440"/>
            <a:ext cx="530352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263640" y="1234440"/>
            <a:ext cx="91440" cy="1828800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46520" y="1344168"/>
            <a:ext cx="4983480" cy="166420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Why it helps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• Conditional navigation concepts</a:t>
            </a:r>
            <a:br/>
            <a:r>
              <a:t>• Navigation labels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4160520"/>
            <a:ext cx="10424160" cy="86868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22960" y="4160520"/>
            <a:ext cx="91440" cy="868680"/>
          </a:xfrm>
          <a:prstGeom prst="rect">
            <a:avLst/>
          </a:prstGeom>
          <a:solidFill>
            <a:srgbClr val="F9B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4270248"/>
            <a:ext cx="10104120" cy="70408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Lab connection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Coverage: Covered. Use the lab README to demonstrate or discuss this topic. Review terms: concepts.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9920" y="6492240"/>
            <a:ext cx="9144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5C5C5C"/>
                </a:solidFill>
              </a:defRPr>
            </a:pPr>
            <a: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7899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3000">
                <a:solidFill>
                  <a:srgbClr val="1E2761"/>
                </a:solidFill>
                <a:latin typeface="Aptos Display"/>
              </a:defRPr>
            </a:pPr>
            <a:r>
              <a:t>8. Field parameters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914400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5C5C5C"/>
                </a:solidFill>
                <a:latin typeface="Aptos"/>
              </a:defRPr>
            </a:pPr>
            <a:r>
              <a:t>Talking points, learner value, and lab connection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234440"/>
            <a:ext cx="530352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234440"/>
            <a:ext cx="91440" cy="182880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59" y="1344168"/>
            <a:ext cx="4983480" cy="166420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Talking points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• Metric switching</a:t>
            </a:r>
            <a:br/>
            <a:r>
              <a:t>• Dimension switching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1234440"/>
            <a:ext cx="530352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263640" y="1234440"/>
            <a:ext cx="91440" cy="1828800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46520" y="1344168"/>
            <a:ext cx="4983480" cy="166420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Why it helps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• Slicer-driven exploration</a:t>
            </a:r>
            <a:br/>
            <a:r>
              <a:t>• Controlled flexibility vs. duplicated pages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4160520"/>
            <a:ext cx="10424160" cy="86868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22960" y="4160520"/>
            <a:ext cx="91440" cy="868680"/>
          </a:xfrm>
          <a:prstGeom prst="rect">
            <a:avLst/>
          </a:prstGeom>
          <a:solidFill>
            <a:srgbClr val="F9B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4270248"/>
            <a:ext cx="10104120" cy="70408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Lab connection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Coverage: Covered. Use the lab README to demonstrate or discuss this topic. Review terms: driven, duplicated.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9920" y="6492240"/>
            <a:ext cx="9144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5C5C5C"/>
                </a:solidFill>
              </a:defRPr>
            </a:pPr>
            <a: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7899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3000">
                <a:solidFill>
                  <a:srgbClr val="1E2761"/>
                </a:solidFill>
                <a:latin typeface="Aptos Display"/>
              </a:defRPr>
            </a:pPr>
            <a:r>
              <a:t>9. Conditional formatting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914400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5C5C5C"/>
                </a:solidFill>
                <a:latin typeface="Aptos"/>
              </a:defRPr>
            </a:pPr>
            <a:r>
              <a:t>Talking points, learner value, and lab connection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234440"/>
            <a:ext cx="530352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234440"/>
            <a:ext cx="91440" cy="182880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59" y="1344168"/>
            <a:ext cx="4983480" cy="166420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Talking points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• Business thresholds</a:t>
            </a:r>
            <a:br/>
            <a:r>
              <a:t>• Color meaning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1234440"/>
            <a:ext cx="530352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263640" y="1234440"/>
            <a:ext cx="91440" cy="1828800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46520" y="1344168"/>
            <a:ext cx="4983480" cy="166420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Why it helps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• Icon and data bar usage</a:t>
            </a:r>
            <a:br/>
            <a:r>
              <a:t>• Avoiding over-formatting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4160520"/>
            <a:ext cx="10424160" cy="86868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22960" y="4160520"/>
            <a:ext cx="91440" cy="868680"/>
          </a:xfrm>
          <a:prstGeom prst="rect">
            <a:avLst/>
          </a:prstGeom>
          <a:solidFill>
            <a:srgbClr val="F9B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4270248"/>
            <a:ext cx="10104120" cy="70408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Lab connection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Coverage: Covered. Use the lab README to demonstrate or discuss this topic. Review terms: avoiding, usage.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9920" y="6492240"/>
            <a:ext cx="9144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5C5C5C"/>
                </a:solidFill>
              </a:defRPr>
            </a:pPr>
            <a: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7899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3000">
                <a:solidFill>
                  <a:srgbClr val="1E2761"/>
                </a:solidFill>
                <a:latin typeface="Aptos Display"/>
              </a:defRPr>
            </a:pPr>
            <a:r>
              <a:t>10. Mobile layout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914400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5C5C5C"/>
                </a:solidFill>
                <a:latin typeface="Aptos"/>
              </a:defRPr>
            </a:pPr>
            <a:r>
              <a:t>Talking points, learner value, and lab connection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234440"/>
            <a:ext cx="530352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234440"/>
            <a:ext cx="91440" cy="182880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59" y="1344168"/>
            <a:ext cx="4983480" cy="166420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Talking points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• Mobile-specific design</a:t>
            </a:r>
            <a:br/>
            <a:r>
              <a:t>• Touch targets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1234440"/>
            <a:ext cx="530352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263640" y="1234440"/>
            <a:ext cx="91440" cy="1828800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46520" y="1344168"/>
            <a:ext cx="4983480" cy="166420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Why it helps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• Visual prioritization</a:t>
            </a:r>
            <a:br/>
            <a:r>
              <a:t>• Validation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4160520"/>
            <a:ext cx="10424160" cy="86868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22960" y="4160520"/>
            <a:ext cx="91440" cy="868680"/>
          </a:xfrm>
          <a:prstGeom prst="rect">
            <a:avLst/>
          </a:prstGeom>
          <a:solidFill>
            <a:srgbClr val="F9B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4270248"/>
            <a:ext cx="10104120" cy="70408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Lab connection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Coverage: Covered. Use the lab README to demonstrate or discuss this topic. Review terms: prioritization, specific, touch.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9920" y="6492240"/>
            <a:ext cx="9144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5C5C5C"/>
                </a:solidFill>
              </a:defRPr>
            </a:pPr>
            <a: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7899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3000">
                <a:solidFill>
                  <a:srgbClr val="1E2761"/>
                </a:solidFill>
                <a:latin typeface="Aptos Display"/>
              </a:defRPr>
            </a:pPr>
            <a:r>
              <a:t>11. Accessibility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914400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5C5C5C"/>
                </a:solidFill>
                <a:latin typeface="Aptos"/>
              </a:defRPr>
            </a:pPr>
            <a:r>
              <a:t>Talking points, learner value, and lab connection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234440"/>
            <a:ext cx="530352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234440"/>
            <a:ext cx="91440" cy="182880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59" y="1344168"/>
            <a:ext cx="4983480" cy="166420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Talking points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• Alt text</a:t>
            </a:r>
            <a:br/>
            <a:r>
              <a:t>• Tab order</a:t>
            </a:r>
            <a:br/>
            <a:r>
              <a:t>• Contrast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1234440"/>
            <a:ext cx="530352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263640" y="1234440"/>
            <a:ext cx="91440" cy="1828800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46520" y="1344168"/>
            <a:ext cx="4983480" cy="166420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Why it helps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• Keyboard navigation</a:t>
            </a:r>
            <a:br/>
            <a:r>
              <a:t>• Clear visual titles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4160520"/>
            <a:ext cx="10424160" cy="86868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22960" y="4160520"/>
            <a:ext cx="91440" cy="868680"/>
          </a:xfrm>
          <a:prstGeom prst="rect">
            <a:avLst/>
          </a:prstGeom>
          <a:solidFill>
            <a:srgbClr val="F9B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4270248"/>
            <a:ext cx="10104120" cy="70408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Lab connection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Coverage: Covered. Use the lab README to demonstrate or discuss this topic. Review terms: keyboard.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9920" y="6492240"/>
            <a:ext cx="9144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5C5C5C"/>
                </a:solidFill>
              </a:defRPr>
            </a:pPr>
            <a: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7899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3000">
                <a:solidFill>
                  <a:srgbClr val="1E2761"/>
                </a:solidFill>
                <a:latin typeface="Aptos Display"/>
              </a:defRPr>
            </a:pPr>
            <a:r>
              <a:t>12. Azure Government considerations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914400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5C5C5C"/>
                </a:solidFill>
                <a:latin typeface="Aptos"/>
              </a:defRPr>
            </a:pPr>
            <a:r>
              <a:t>Talking points, learner value, and lab connection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234440"/>
            <a:ext cx="530352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234440"/>
            <a:ext cx="91440" cy="182880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59" y="1344168"/>
            <a:ext cx="4983480" cy="166420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Talking points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• Core report interactions are Gov-ready.</a:t>
            </a:r>
            <a:br/>
            <a:r>
              <a:t>• Mobile depends on customer policy.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1234440"/>
            <a:ext cx="530352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263640" y="1234440"/>
            <a:ext cx="91440" cy="1828800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46520" y="1344168"/>
            <a:ext cx="4983480" cy="166420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Why it helps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• Personalized visuals and AI visuals need validation.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4160520"/>
            <a:ext cx="10424160" cy="86868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22960" y="4160520"/>
            <a:ext cx="91440" cy="868680"/>
          </a:xfrm>
          <a:prstGeom prst="rect">
            <a:avLst/>
          </a:prstGeom>
          <a:solidFill>
            <a:srgbClr val="F9B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4270248"/>
            <a:ext cx="10104120" cy="70408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Lab connection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Coverage: Covered. Use the lab README to demonstrate or discuss this topic. Review terms: considerations, depends, policy.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9920" y="6492240"/>
            <a:ext cx="9144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5C5C5C"/>
                </a:solidFill>
              </a:defRPr>
            </a:pPr>
            <a: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7899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3000">
                <a:solidFill>
                  <a:srgbClr val="1E2761"/>
                </a:solidFill>
                <a:latin typeface="Aptos Display"/>
              </a:defRPr>
            </a:pPr>
            <a:r>
              <a:t>13. Lab review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914400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5C5C5C"/>
                </a:solidFill>
                <a:latin typeface="Aptos"/>
              </a:defRPr>
            </a:pPr>
            <a:r>
              <a:t>Talking points, learner value, and lab connection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234440"/>
            <a:ext cx="530352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234440"/>
            <a:ext cx="91440" cy="182880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59" y="1344168"/>
            <a:ext cx="4983480" cy="166420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Talking points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• UX validation checklist</a:t>
            </a:r>
            <a:br/>
            <a:r>
              <a:t>• Screenshot capture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1234440"/>
            <a:ext cx="530352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263640" y="1234440"/>
            <a:ext cx="91440" cy="1828800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46520" y="1344168"/>
            <a:ext cx="4983480" cy="166420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Why it helps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• Production readiness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4160520"/>
            <a:ext cx="10424160" cy="86868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22960" y="4160520"/>
            <a:ext cx="91440" cy="868680"/>
          </a:xfrm>
          <a:prstGeom prst="rect">
            <a:avLst/>
          </a:prstGeom>
          <a:solidFill>
            <a:srgbClr val="F9B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4270248"/>
            <a:ext cx="10104120" cy="70408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Lab connection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Coverage: Covered. Use the lab README to demonstrate or discuss this topic. Review terms: production, screenshot.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9920" y="6492240"/>
            <a:ext cx="9144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5C5C5C"/>
                </a:solidFill>
              </a:defRPr>
            </a:pPr>
            <a: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7899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3000">
                <a:solidFill>
                  <a:srgbClr val="1E2761"/>
                </a:solidFill>
                <a:latin typeface="Aptos Display"/>
              </a:defRPr>
            </a:pPr>
            <a:r>
              <a:t>Sources and further learning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914400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5C5C5C"/>
                </a:solidFill>
                <a:latin typeface="Aptos"/>
              </a:defRPr>
            </a:pPr>
            <a:r>
              <a:t>Use these official Microsoft docs for deeper study.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143000"/>
            <a:ext cx="10698480" cy="59436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1143000"/>
            <a:ext cx="91440" cy="59436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252728"/>
            <a:ext cx="10378440" cy="42976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Power BI guidance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https://learn.microsoft.com/power-bi/guidance/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892807"/>
            <a:ext cx="10698480" cy="59436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31520" y="1892807"/>
            <a:ext cx="91440" cy="59436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002536"/>
            <a:ext cx="10378440" cy="42976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Power BI Desktop docs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https://learn.microsoft.com/power-bi/fundamentals/desktop-getting-started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2642615"/>
            <a:ext cx="10698480" cy="59436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31520" y="2642615"/>
            <a:ext cx="91440" cy="59436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2752344"/>
            <a:ext cx="10378440" cy="42976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Power Query M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https://learn.microsoft.com/powerquery-m/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3392423"/>
            <a:ext cx="10698480" cy="59436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31520" y="3392423"/>
            <a:ext cx="91440" cy="59436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3502151"/>
            <a:ext cx="10378440" cy="42976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DAX reference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https://learn.microsoft.com/dax/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4142231"/>
            <a:ext cx="10698480" cy="59436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31520" y="4142231"/>
            <a:ext cx="91440" cy="59436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4400" y="4251959"/>
            <a:ext cx="10378440" cy="42976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Power BI Project files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https://learn.microsoft.com/power-bi/developer/projects/projects-overview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789920" y="6492240"/>
            <a:ext cx="9144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5C5C5C"/>
                </a:solidFill>
              </a:defRPr>
            </a:pPr>
            <a:r>
              <a:t>16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