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to Module 6. Frame this as the module where Power BI stops being purely a modeling and reporting tool and starts overlapping with analytics and AI features — what-if scenarios, decomposition tree, forecasting, anomaly detection, key influencers, Python/R visuals, Azure Machine Learning, and Copilot.</a:t>
            </a:r>
          </a:p>
          <a:p>
            <a:r>
              <a:t>Set the tension up front: almost every advanced feature in this module has a governance caveat. Only what-if parameters are Gov-ready today. Decomposition tree, forecasting, anomaly detection, key influencers, Python/R, Azure ML, and Copilot are each either 'Verify for Gov' or 'Commercial-focused' — they may or may not work in the target tenant, and the answer is not obvious from Desktop alone.</a:t>
            </a:r>
          </a:p>
          <a:p>
            <a:r>
              <a:t>Preview the lab shape: Exercise 1 (what-if parameters) is the one universally hands-on exercise. Exercises 2-4 are 'where available' visuals — do them if the tenant supports it, otherwise follow the documented Gov-safe alternate path. Exercises 5-7 (Python/R, Azure ML, Copilot) are largely conceptual for a mixed classroom.</a:t>
            </a:r>
          </a:p>
          <a:p>
            <a:r>
              <a:t>Tell students the goal of today is dual: they should be able to *build* a what-if scenario and *decide* whether any given AI-assisted feature is appropriate for a given delivery — tenant, cloud, licensing, and residency all factor in, and the decision framework at the end of the deck is what they'll actually take back to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twelve topics briefly. Group them for the room: topic 1 sets the landscape; topic 2 (what-if) is the Gov-ready hands-on core; topics 3-6 are the built-in AI visuals (decomposition tree, forecasting, anomaly detection, key influencers); topics 7-9 are the external/AI-assisted integrations (Python/R, Azure ML, Copilot); topics 10-12 are the governance layer — fallbacks, decision framework, and lab review.</a:t>
            </a:r>
          </a:p>
          <a:p>
            <a:r>
              <a:t>Emphasize the split: only topic 2 is guaranteed hands-on. Every AI visual (3-6) is 'Verify for Gov'. The Copilot topic is 'Commercial-focused / Verify for Gov' — for many students in a Gov delivery, that entire topic is conceptual.</a:t>
            </a:r>
          </a:p>
          <a:p>
            <a:r>
              <a:t>Tell learners the decision framework in topic 11 is the single most portable takeaway of the day — the same four questions apply to every future AI or advanced-analytics feature Microsoft ships, not just the ones we cover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drawing the distinction on the board: 'advanced analytics' in Power BI covers everything from a simple rolling-average measure up through Copilot. Not all of it is AI, and not all of it is available everywhere — lumping it together is exactly how delivery teams get surprised in a Gov engagement.</a:t>
            </a:r>
          </a:p>
          <a:p>
            <a:r>
              <a:t>Walk the rows in order. Analytical patterns — what-if, Top N, YoY — are pure DAX and modeling; they run on any tenant, any cloud, no special capacity. Built-in AI visuals like Decomposition tree and Key influencers are Microsoft-hosted intelligence baked into Desktop and Service, and their availability varies by sovereign cloud.</a:t>
            </a:r>
          </a:p>
          <a:p>
            <a:r>
              <a:t>External ML integration means either Python/R visuals executing code inside Desktop (and requiring Service parity), or Azure ML producing a scored dataset that Power BI consumes. Both introduce runtime, network path, and data residency questions that a governance team must sign off on.</a:t>
            </a:r>
          </a:p>
          <a:p>
            <a:r>
              <a:t>Copilot is called out separately because its status is currently 'Commercial-focused / Verify for Gov' — for many Gov customers today it isn't available at all, so treat it as a conceptual discussion unless somebody in the room can confirm otherwise.</a:t>
            </a:r>
          </a:p>
          <a:p>
            <a:r>
              <a:t>Close by pointing at the last row: governance and availability apply on top of every row above. Tenant settings, capacity, residency, and human-review policies decide whether any of this is deliverable, regardless of what Desktop can technically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framing before the mechanics: what-if parameters let a report user ask 'what would our margin look like if we raised prices 5%?' or 'what if input costs went up 8%?' without a modeler having to intervene. That's the value.</a:t>
            </a:r>
          </a:p>
          <a:p>
            <a:r>
              <a:t>Walk the mechanics slowly — this is the one exercise every student will do, so make sure they see the flow: Modeling ribbon, New parameter, Numeric range, pick a name ('Margin Adjustment %'), a min, a max, and an increment. Power BI creates the parameter table plus a companion measure that returns the currently selected value using SELECTEDVALUE.</a:t>
            </a:r>
          </a:p>
          <a:p>
            <a:r>
              <a:t>Show how the generated measure gets consumed: an adjusted-margin measure just multiplies the base margin by (1 + [Margin Adjustment % Value]). Point out that there's nothing magical here — it's a normal DAX measure that happens to reference a slicer-driven value. That's why what-if is Gov-ready: no service call, no AI.</a:t>
            </a:r>
          </a:p>
          <a:p>
            <a:r>
              <a:t>Use an analogy that lands with business audiences: it's a live pricing knob. The board doesn't need to see six versions of the same report at different assumed margins — they need one report with a slider on it.</a:t>
            </a:r>
          </a:p>
          <a:p>
            <a:r>
              <a:t>Transition to the next topic by pointing out that everything after this slide leaves the safety of pure DAX and enters Verify-for-Gov territory — starting with the Decomposition tree AI visual.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Decomposition tree as the most approachable of the AI visuals — it looks and feels like drill-down, which every business user already understands.</a:t>
            </a:r>
          </a:p>
          <a:p>
            <a:r>
              <a:t>Explain both modes concretely. In manual mode, the user picks the next field to break the value by (e.g., break Sales Amount by Territory, then by Product Category). In High value / Low value AI mode, Power BI ranks all the 'Explain by' fields and recommends the one whose next level contributes most to the high or low outcome.</a:t>
            </a:r>
          </a:p>
          <a:p>
            <a:r>
              <a:t>Walk through the lab's specific setup: analyze Sales Amount or Gross Margin, with Territory, Product Category, Customer Type, and Segment as explanatory fields. Show how a High value split might land on Territory first, then Product Category — that's the AI telling the user 'this branch is where the money is.'</a:t>
            </a:r>
          </a:p>
          <a:p>
            <a:r>
              <a:t>Be explicit about availability: Decomposition tree is Verify for Gov. In some sovereign clouds the visual renders but AI splits are disabled; in others the visual itself may be turned off by tenant policy. The lab's Gov-safe fallback — a matrix hierarchy with a drillthrough page — lets students still do the analysis, just without the guided splits.</a:t>
            </a:r>
          </a:p>
          <a:p>
            <a:r>
              <a:t>Transition: 'That was AI *guiding* exploration. Next topic is AI *predicting* the future — forecasting.'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forecasting as the AI feature most likely to be misused. Users see a projected line, mentally treat it as a commitment, and forget that a wide confidence interval is the model saying 'I don't really know.'</a:t>
            </a:r>
          </a:p>
          <a:p>
            <a:r>
              <a:t>Walk the mechanics: line chart, date on the X axis, Sales Amount as value, Analytics pane on the right, expand Forecast, set the forecast length and the confidence band (default 95%). Point out the shaded region — that's the confidence interval, not the forecast itself.</a:t>
            </a:r>
          </a:p>
          <a:p>
            <a:r>
              <a:t>Discuss requirements openly: forecasting needs a continuous date axis, enough history to see at least two seasonal cycles (a year for monthly seasonality, several weeks for weekly), and clean data without large gaps. If any of those are missing, the output will look plausible and be wrong.</a:t>
            </a:r>
          </a:p>
          <a:p>
            <a:r>
              <a:t>Use a concrete analogy: 'The forecast is a weather report. A tight confidence band is clear skies; a wide one means the model is guessing. Don't ship a business plan built on guessing.' That's the teaching moment.</a:t>
            </a:r>
          </a:p>
          <a:p>
            <a:r>
              <a:t>Close with the Gov fallback: if forecasting isn't approved for the tenant, the lab's documented alternative is a rolling-average plus prior-period comparison measure — not the same feature, but the same *narrative* about trend and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anomaly detection as the mirror image of forecasting: forecasting says 'here's what to expect'; anomaly detection says 'here's a point that didn't match expectation'.</a:t>
            </a:r>
          </a:p>
          <a:p>
            <a:r>
              <a:t>Explain the mechanics quickly — same Analytics pane on a line chart, enable Find anomalies, tune the sensitivity slider. Point out that clicking a flagged anomaly opens an Explain pane where Power BI proposes candidate explanatory fields.</a:t>
            </a:r>
          </a:p>
          <a:p>
            <a:r>
              <a:t>Stress the data-quality trap. In a real delivery, the first several 'anomalies' the visual finds are almost always late-arriving rows, missing days, or a partition that hasn't refreshed — not business anomalies. Teach students to sanity-check the source before believing the visual.</a:t>
            </a:r>
          </a:p>
          <a:p>
            <a:r>
              <a:t>Discuss sensitivity honestly: too low, and real anomalies slip through; too high, and every noisy point gets flagged and users start ignoring the visual entirely — the alert-fatigue failure mode.</a:t>
            </a:r>
          </a:p>
          <a:p>
            <a:r>
              <a:t>Gov fallback: a plain DAX exception measure — something like flagging points more than two standard deviations from a rolling mean — is deterministic, auditable, and runs anywhere. Not as clever, but perfectly acceptable in a Gov delivery.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Key influencers by contrasting it with Decomposition tree. Both look at drivers, but Decomposition tree is a guided drill; Key influencers is a ranked statistical explanation of a specific outcome.</a:t>
            </a:r>
          </a:p>
          <a:p>
            <a:r>
              <a:t>Walk through both tabs. The Key influencers tab answers 'which field values push the outcome up or down and by how much?' The Top segments tab answers 'which *combinations* of field values co-occur with the outcome?' Top segments is often more actionable in a real business — a single field rarely tells the whole story.</a:t>
            </a:r>
          </a:p>
          <a:p>
            <a:r>
              <a:t>Be direct about data requirements: this is a statistical visual. Small samples, highly imbalanced classes, or fields with only one or two distinct values will produce rankings that are either unstable or obvious. Set expectations before students see 'weird' results in the lab.</a:t>
            </a:r>
          </a:p>
          <a:p>
            <a:r>
              <a:t>Use the correlation-vs-causation teaching moment explicitly. A visual that says 'Territory West is 40% more likely to churn' is describing a statistical association — the underlying cause could be a product line concentrated in that territory, a specific customer segment, or a service issue. Key influencers cannot tell you which.</a:t>
            </a:r>
          </a:p>
          <a:p>
            <a:r>
              <a:t>Gov fallback: ranked Top N visuals plus slicer-driven side-by-side comparisons. It's manual driver analysis, but it's transparent and Gov-ready.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Python/R visuals as the escape hatch: when Power BI's built-in and custom visuals genuinely can't render what you need, code-based visuals can. That's the narrow real use case.</a:t>
            </a:r>
          </a:p>
          <a:p>
            <a:r>
              <a:t>Explain the runtime picture. Desktop needs a working Python or R install; the visual then executes the script and embeds the rendered image (matplotlib, ggplot2). The Service supports a specific, limited runtime and package list — anything outside that list works in Desktop but breaks after publish.</a:t>
            </a:r>
          </a:p>
          <a:p>
            <a:r>
              <a:t>Governance is where this topic gets serious. A Python visual is arbitrary code the author wrote, running on the report render pipeline. In a governed environment that code needs the same review path as any other production code — approved packages, no arbitrary pip installs, source-controlled scripts.</a:t>
            </a:r>
          </a:p>
          <a:p>
            <a:r>
              <a:t>Talk security concretely: a poorly-written script could exfiltrate data from the model to an external endpoint, or embed user-controlled input in a way that breaks assumptions. This is why customer policy often forbids code visuals entirely.</a:t>
            </a:r>
          </a:p>
          <a:p>
            <a:r>
              <a:t>Close with a pragmatic recommendation: for 95% of business reports the answer is 'use a native or trusted custom visual.' Python/R visuals are for the specific 5% where nothing else fits and governance signs off.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Azure ML integration as the point where a Power BI report stops being purely a reporting artifact and becomes the consumer of a machine-learning supply chain. That reframing is the whole teaching goal here.</a:t>
            </a:r>
          </a:p>
          <a:p>
            <a:r>
              <a:t>Walk the table row by row. Architecture: two patterns — a batch-scored dataset loaded into the model, or a live online endpoint queried at refresh or query time. Pick one, document it, don't mix them without a reason.</a:t>
            </a:r>
          </a:p>
          <a:p>
            <a:r>
              <a:t>Identity and network are where most real integrations fail. A model that scores fine in Azure ML Studio may be unreachable from the on-premises data gateway if private endpoints, VNet rules, or firewall paths aren't in place. Include the gateway host in the connectivity picture from day one.</a:t>
            </a:r>
          </a:p>
          <a:p>
            <a:r>
              <a:t>Region and cloud alignment is the Gov-critical row. An Azure ML workspace in Commercial cloud consumed by a Power BI Gov tenant is almost always a residency violation; treat cross-cloud model calls as forbidden until specifically approved.</a:t>
            </a:r>
          </a:p>
          <a:p>
            <a:r>
              <a:t>Close on model governance: once a model's predictions ship in a report, model versioning, drift, retraining, and human review of scored output are all part of the report's operational surface. This is why the lab exercise is deliberately conceptual — the right first step for a classroom is a static scored sample, not a live endpoint.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up front: for many Gov students in the room Copilot is not available today. That doesn't mean the topic doesn't matter — the governance framing here applies to every AI feature Microsoft will ship next.</a:t>
            </a:r>
          </a:p>
          <a:p>
            <a:r>
              <a:t>Walk the three main capability areas: authoring assistance (draft a DAX measure, suggest visuals for a page), summarization (turn a report page into a written narrative), and data exploration (ask the model a question in natural language and get a visual back).</a:t>
            </a:r>
          </a:p>
          <a:p>
            <a:r>
              <a:t>Be explicit about capacity and tenant requirements: Copilot needs a supported Fabric or Premium SKU, tenant-level enablement by an admin, and explicit workspace assignment. It is not something an individual author can turn on.</a:t>
            </a:r>
          </a:p>
          <a:p>
            <a:r>
              <a:t>The data boundary conversation is the most important one. Prompts, model inputs, and generated outputs are processed by Microsoft-hosted foundation models. Whether that meets a customer's residency and confidentiality commitments is a decision the customer's governance team makes, not the report author.</a:t>
            </a:r>
          </a:p>
          <a:p>
            <a:r>
              <a:t>Close with the reviewer's rule: every Copilot output is a hypothesis. A generated measure can be syntactically fine and semantically wrong — wrong grain, wrong filter context, right shape. Human review of AI output is a requirement, not a nice-to-have.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the most operationally important slide in the deck. Every AI feature we've covered has a fallback, and every governed delivery needs the fallback documented — not because AI will definitely fail, but because feature availability can change under you.</a:t>
            </a:r>
          </a:p>
          <a:p>
            <a:r>
              <a:t>Walk the table left to right. Notice the pattern: each fallback trades an AI-provided insight (ranked splits, projected trend, flagged anomaly, ranked drivers, natural-language explain) for something the report author explicitly builds and can defend in a review.</a:t>
            </a:r>
          </a:p>
          <a:p>
            <a:r>
              <a:t>Emphasize that the fallbacks aren't degraded versions of the same thing — they're different tools that answer a related question. Rolling-average plus prior-period is not a forecast; it's a description of trend and change. A DAX exception measure isn't anomaly detection; it's a rule-based flag. Naming them accurately is part of governance.</a:t>
            </a:r>
          </a:p>
          <a:p>
            <a:r>
              <a:t>Point out the Copilot row: the fallback for Copilot's authoring assist is well-documented DAX patterns and reusable measures — which is basically what a healthy team already does. The AI accelerates it; it doesn't replace it.</a:t>
            </a:r>
          </a:p>
          <a:p>
            <a:r>
              <a:t>Set the rule of thumb from the note: the fallback must be documented and working before ship, even when the AI path is expected to be available. Toggles get flipped; fallbacks don't.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room this is the single most portable takeaway of the module. If they forget every visual name we discussed, they should still remember these four questions — they apply to every AI feature Microsoft has shipped, is shipping, and will ship next.</a:t>
            </a:r>
          </a:p>
          <a:p>
            <a:r>
              <a:t>Walk each question with a concrete example. Availability: forecasting works in Desktop but the customer's Gov Service tenant has the AI visual policy disabled — answer is no. Approval: Copilot is available in the tenant but the customer's governance policy hasn't cleared it for production reports yet — answer is no. Residency: an Azure ML endpoint is in Commercial cloud but the report is in a Gov tenant — answer is no.</a:t>
            </a:r>
          </a:p>
          <a:p>
            <a:r>
              <a:t>The fallback question is the one people skip. Make students say the fallback out loud: 'If Copilot isn't available, we'll ship documented DAX templates.' 'If forecasting isn't approved, we'll ship rolling averages and YoY comparisons.' A delivery without a stated fallback is a delivery with a hidden dependency.</a:t>
            </a:r>
          </a:p>
          <a:p>
            <a:r>
              <a:t>Do the exercise from the footer live: pick forecasting or Copilot and walk the four questions with the class contributing answers. The muscle memory of using the framework is more valuable than memorizing it.</a:t>
            </a:r>
          </a:p>
          <a:p>
            <a:r>
              <a:t>Transition into the lab review with a clear statement: 'This framework is what you should use in the lab as you decide which optional exercises to actually do hands-on vs. treat conceptually.'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bridge from lecture into the lab. Walk it as the literal checklist students will follow at the keyboard.</a:t>
            </a:r>
          </a:p>
          <a:p>
            <a:r>
              <a:t>Anchor them to Exercise 1 first: it's the one exercise that runs everywhere, is fully Gov-ready, and delivers a real business capability (scenario sliders). If a student runs out of time, this is the exercise they cannot skip.</a:t>
            </a:r>
          </a:p>
          <a:p>
            <a:r>
              <a:t>For Exercises 2-4, tell students the pattern is identical: confirm the AI visual works in the tenant, if yes build it as described, if no use the Gov-safe alternate documented in the README — and label the artifact either way. The label is not optional.</a:t>
            </a:r>
          </a:p>
          <a:p>
            <a:r>
              <a:t>For Exercises 5-7, set expectations that in most classrooms these will be conceptual: read the section, discuss governance implications, and document the non-AI fallback. Nobody should be installing Python packages or standing up an Azure ML endpoint in the classroom environment.</a:t>
            </a:r>
          </a:p>
          <a:p>
            <a:r>
              <a:t>Close with the labeling requirement one more time: every optional exercise's output should carry a visible status (Gov-ready, Verify for Gov, Commercial-focused) and a documented fallback — that's how governance sees this work land.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discussion, not a quiz. The goal is to surface *reasoning* — whether students can defend the choices they made in the lab, not whether they can recite a definition.</a:t>
            </a:r>
          </a:p>
          <a:p>
            <a:r>
              <a:t>Pick two or three items to press on. The 'label the availability status' item is a good one — ask a student to name any optional exercise they did and state the label they attached to it and why.</a:t>
            </a:r>
          </a:p>
          <a:p>
            <a:r>
              <a:t>For the delivery decision framework item, actually do it: pick a feature (Copilot is usually the most productive), and walk the four questions with the class contributing answers. If they can do this smoothly, they've internalized the framework.</a:t>
            </a:r>
          </a:p>
          <a:p>
            <a:r>
              <a:t>For the human-review guidance item, ask what that looks like in practice — the answer should include some combination of: a documented reviewer, a review cadence, a way to challenge a specific AI output, and a rollback plan if a scored dataset turns out to be wrong.</a:t>
            </a:r>
          </a:p>
          <a:p>
            <a:r>
              <a:t>Close by connecting forward: the governance instincts practiced here — label the feature, document the fallback, verify residency — are exactly the instincts Module 7 (Security Design) will build on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Congratulate the class on completing what is genuinely the most nuanced module of the workshop — not because the features are hard, but because deciding when to use them is.</a:t>
            </a:r>
          </a:p>
          <a:p>
            <a:r>
              <a:t>Recap the two deliverables of the day: a working what-if scenario built by every student, and a defended set of decisions (labeled features, documented fallbacks) for every optional AI-assisted exercise.</a:t>
            </a:r>
          </a:p>
          <a:p>
            <a:r>
              <a:t>Take final questions especially on the Verify-for-Gov topics — forecasting, Key influencers, Azure ML, Copilot — since those are where lingering confusion is most likely and where students will get real customer questions after the workshop.</a:t>
            </a:r>
          </a:p>
          <a:p>
            <a:r>
              <a:t>Transition into Module 7: with the analytics and AI story settled, the next question is 'who is allowed to see what?' That's row-level security, object-level security, and the workspace/tenant boundary conversation — all built on the same models we've been extending all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80644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5486400" cy="457200"/>
          </a:xfrm>
          <a:prstGeom prst="rect">
            <a:avLst/>
          </a:prstGeom>
          <a:noFill/>
        </p:spPr>
        <p:txBody>
          <a:bodyPr wrap="square" anchor="t" lIns="0" rIns="0" tIns="0" bIns="0">
            <a:spAutoFit/>
          </a:bodyPr>
          <a:lstStyle/>
          <a:p>
            <a:pPr algn="l">
              <a:lnSpc>
                <a:spcPct val="100000"/>
              </a:lnSpc>
              <a:spcAft>
                <a:spcPts val="0"/>
              </a:spcAft>
            </a:pPr>
            <a:r>
              <a:rPr sz="1600" b="1" i="0">
                <a:solidFill>
                  <a:srgbClr val="E8B44A"/>
                </a:solidFill>
                <a:latin typeface="Calibri"/>
              </a:rPr>
              <a:t>MODULE 06</a:t>
            </a:r>
          </a:p>
        </p:txBody>
      </p:sp>
      <p:sp>
        <p:nvSpPr>
          <p:cNvPr id="5" name="TextBox 4"/>
          <p:cNvSpPr txBox="1"/>
          <p:nvPr/>
        </p:nvSpPr>
        <p:spPr>
          <a:xfrm>
            <a:off x="822960" y="1874519"/>
            <a:ext cx="9601200" cy="1920240"/>
          </a:xfrm>
          <a:prstGeom prst="rect">
            <a:avLst/>
          </a:prstGeom>
          <a:noFill/>
        </p:spPr>
        <p:txBody>
          <a:bodyPr wrap="square" anchor="t" lIns="0" rIns="0" tIns="0" bIns="0">
            <a:spAutoFit/>
          </a:bodyPr>
          <a:lstStyle/>
          <a:p>
            <a:pPr algn="l">
              <a:lnSpc>
                <a:spcPct val="105000"/>
              </a:lnSpc>
              <a:spcAft>
                <a:spcPts val="0"/>
              </a:spcAft>
            </a:pPr>
            <a:r>
              <a:rPr sz="4400" b="1" i="0">
                <a:solidFill>
                  <a:srgbClr val="FFFFFF"/>
                </a:solidFill>
                <a:latin typeface="Cambria"/>
              </a:rPr>
              <a:t>Advanced Analytics and AI-Assisted Insights</a:t>
            </a:r>
          </a:p>
        </p:txBody>
      </p:sp>
      <p:sp>
        <p:nvSpPr>
          <p:cNvPr id="6" name="TextBox 5"/>
          <p:cNvSpPr txBox="1"/>
          <p:nvPr/>
        </p:nvSpPr>
        <p:spPr>
          <a:xfrm>
            <a:off x="822960" y="3703320"/>
            <a:ext cx="9601200" cy="914400"/>
          </a:xfrm>
          <a:prstGeom prst="rect">
            <a:avLst/>
          </a:prstGeom>
          <a:noFill/>
        </p:spPr>
        <p:txBody>
          <a:bodyPr wrap="square" anchor="t" lIns="0" rIns="0" tIns="0" bIns="0">
            <a:spAutoFit/>
          </a:bodyPr>
          <a:lstStyle/>
          <a:p>
            <a:pPr algn="l">
              <a:lnSpc>
                <a:spcPct val="100000"/>
              </a:lnSpc>
              <a:spcAft>
                <a:spcPts val="0"/>
              </a:spcAft>
            </a:pPr>
            <a:r>
              <a:rPr sz="2000" b="0" i="1">
                <a:solidFill>
                  <a:srgbClr val="CADCFC"/>
                </a:solidFill>
                <a:latin typeface="Calibri"/>
              </a:rPr>
              <a:t>Delivering what-if scenarios, driver analysis, forecasting, and AI visuals in Power BI — with a documented Gov-safe fallback for every AI-assisted feature.</a:t>
            </a:r>
          </a:p>
        </p:txBody>
      </p:sp>
      <p:sp>
        <p:nvSpPr>
          <p:cNvPr id="7" name="TextBox 6"/>
          <p:cNvSpPr txBox="1"/>
          <p:nvPr/>
        </p:nvSpPr>
        <p:spPr>
          <a:xfrm>
            <a:off x="822960" y="6035040"/>
            <a:ext cx="9144000" cy="548640"/>
          </a:xfrm>
          <a:prstGeom prst="rect">
            <a:avLst/>
          </a:prstGeom>
          <a:noFill/>
        </p:spPr>
        <p:txBody>
          <a:bodyPr wrap="square" anchor="t" lIns="0" rIns="0" tIns="0" bIns="0">
            <a:spAutoFit/>
          </a:bodyPr>
          <a:lstStyle/>
          <a:p>
            <a:pPr algn="l">
              <a:lnSpc>
                <a:spcPct val="100000"/>
              </a:lnSpc>
              <a:spcAft>
                <a:spcPts val="0"/>
              </a:spcAft>
            </a:pPr>
            <a:r>
              <a:rPr sz="1300" b="0" i="0">
                <a:solidFill>
                  <a:srgbClr val="CADCFC"/>
                </a:solidFill>
                <a:latin typeface="Calibri"/>
              </a:rPr>
              <a:t>Advanced Power BI Training — Instructor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MODULE 06 AGENDA</a:t>
            </a:r>
          </a:p>
        </p:txBody>
      </p:sp>
      <p:sp>
        <p:nvSpPr>
          <p:cNvPr id="5" name="TextBox 4"/>
          <p:cNvSpPr txBox="1"/>
          <p:nvPr/>
        </p:nvSpPr>
        <p:spPr>
          <a:xfrm>
            <a:off x="640080" y="868680"/>
            <a:ext cx="8229600" cy="640080"/>
          </a:xfrm>
          <a:prstGeom prst="rect">
            <a:avLst/>
          </a:prstGeom>
          <a:noFill/>
        </p:spPr>
        <p:txBody>
          <a:bodyPr wrap="square" anchor="t" lIns="0" rIns="0" tIns="0" bIns="0">
            <a:spAutoFit/>
          </a:bodyPr>
          <a:lstStyle/>
          <a:p>
            <a:pPr algn="l">
              <a:lnSpc>
                <a:spcPct val="100000"/>
              </a:lnSpc>
              <a:spcAft>
                <a:spcPts val="0"/>
              </a:spcAft>
            </a:pPr>
            <a:r>
              <a:rPr sz="3200" b="1" i="0">
                <a:solidFill>
                  <a:srgbClr val="141B45"/>
                </a:solidFill>
                <a:latin typeface="Cambria"/>
              </a:rPr>
              <a:t>What We'll Cover</a:t>
            </a:r>
          </a:p>
        </p:txBody>
      </p:sp>
      <p:sp>
        <p:nvSpPr>
          <p:cNvPr id="6" name="Rectangle 5"/>
          <p:cNvSpPr/>
          <p:nvPr/>
        </p:nvSpPr>
        <p:spPr>
          <a:xfrm>
            <a:off x="64008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a:t>
            </a:r>
          </a:p>
        </p:txBody>
      </p:sp>
      <p:sp>
        <p:nvSpPr>
          <p:cNvPr id="8" name="TextBox 7"/>
          <p:cNvSpPr txBox="1"/>
          <p:nvPr/>
        </p:nvSpPr>
        <p:spPr>
          <a:xfrm>
            <a:off x="117043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Advanced analytics vs. AI-assisted features</a:t>
            </a:r>
          </a:p>
        </p:txBody>
      </p:sp>
      <p:sp>
        <p:nvSpPr>
          <p:cNvPr id="9" name="Rectangle 8"/>
          <p:cNvSpPr/>
          <p:nvPr/>
        </p:nvSpPr>
        <p:spPr>
          <a:xfrm>
            <a:off x="640080" y="255270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5270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2</a:t>
            </a:r>
          </a:p>
        </p:txBody>
      </p:sp>
      <p:sp>
        <p:nvSpPr>
          <p:cNvPr id="11" name="TextBox 10"/>
          <p:cNvSpPr txBox="1"/>
          <p:nvPr/>
        </p:nvSpPr>
        <p:spPr>
          <a:xfrm>
            <a:off x="1170432" y="257098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What-if parameters</a:t>
            </a:r>
          </a:p>
        </p:txBody>
      </p:sp>
      <p:sp>
        <p:nvSpPr>
          <p:cNvPr id="12" name="Rectangle 11"/>
          <p:cNvSpPr/>
          <p:nvPr/>
        </p:nvSpPr>
        <p:spPr>
          <a:xfrm>
            <a:off x="640080" y="332232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32232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3</a:t>
            </a:r>
          </a:p>
        </p:txBody>
      </p:sp>
      <p:sp>
        <p:nvSpPr>
          <p:cNvPr id="14" name="TextBox 13"/>
          <p:cNvSpPr txBox="1"/>
          <p:nvPr/>
        </p:nvSpPr>
        <p:spPr>
          <a:xfrm>
            <a:off x="1170432" y="334060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Decomposition tree</a:t>
            </a:r>
          </a:p>
        </p:txBody>
      </p:sp>
      <p:sp>
        <p:nvSpPr>
          <p:cNvPr id="15" name="Rectangle 14"/>
          <p:cNvSpPr/>
          <p:nvPr/>
        </p:nvSpPr>
        <p:spPr>
          <a:xfrm>
            <a:off x="640080" y="409194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09194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4</a:t>
            </a:r>
          </a:p>
        </p:txBody>
      </p:sp>
      <p:sp>
        <p:nvSpPr>
          <p:cNvPr id="17" name="TextBox 16"/>
          <p:cNvSpPr txBox="1"/>
          <p:nvPr/>
        </p:nvSpPr>
        <p:spPr>
          <a:xfrm>
            <a:off x="1170432" y="411022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Forecasting</a:t>
            </a:r>
          </a:p>
        </p:txBody>
      </p:sp>
      <p:sp>
        <p:nvSpPr>
          <p:cNvPr id="18" name="Rectangle 17"/>
          <p:cNvSpPr/>
          <p:nvPr/>
        </p:nvSpPr>
        <p:spPr>
          <a:xfrm>
            <a:off x="640080" y="486156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86156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5</a:t>
            </a:r>
          </a:p>
        </p:txBody>
      </p:sp>
      <p:sp>
        <p:nvSpPr>
          <p:cNvPr id="20" name="TextBox 19"/>
          <p:cNvSpPr txBox="1"/>
          <p:nvPr/>
        </p:nvSpPr>
        <p:spPr>
          <a:xfrm>
            <a:off x="1170432" y="487984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Anomaly detection</a:t>
            </a:r>
          </a:p>
        </p:txBody>
      </p:sp>
      <p:sp>
        <p:nvSpPr>
          <p:cNvPr id="21" name="Rectangle 20"/>
          <p:cNvSpPr/>
          <p:nvPr/>
        </p:nvSpPr>
        <p:spPr>
          <a:xfrm>
            <a:off x="640080" y="56311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6311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6</a:t>
            </a:r>
          </a:p>
        </p:txBody>
      </p:sp>
      <p:sp>
        <p:nvSpPr>
          <p:cNvPr id="23" name="TextBox 22"/>
          <p:cNvSpPr txBox="1"/>
          <p:nvPr/>
        </p:nvSpPr>
        <p:spPr>
          <a:xfrm>
            <a:off x="1170432" y="56494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Key influencers</a:t>
            </a:r>
          </a:p>
        </p:txBody>
      </p:sp>
      <p:sp>
        <p:nvSpPr>
          <p:cNvPr id="24" name="Rectangle 23"/>
          <p:cNvSpPr/>
          <p:nvPr/>
        </p:nvSpPr>
        <p:spPr>
          <a:xfrm>
            <a:off x="630936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7</a:t>
            </a:r>
          </a:p>
        </p:txBody>
      </p:sp>
      <p:sp>
        <p:nvSpPr>
          <p:cNvPr id="26" name="TextBox 25"/>
          <p:cNvSpPr txBox="1"/>
          <p:nvPr/>
        </p:nvSpPr>
        <p:spPr>
          <a:xfrm>
            <a:off x="683971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Python and R visuals</a:t>
            </a:r>
          </a:p>
        </p:txBody>
      </p:sp>
      <p:sp>
        <p:nvSpPr>
          <p:cNvPr id="27" name="Rectangle 26"/>
          <p:cNvSpPr/>
          <p:nvPr/>
        </p:nvSpPr>
        <p:spPr>
          <a:xfrm>
            <a:off x="6309360" y="255270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255270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8</a:t>
            </a:r>
          </a:p>
        </p:txBody>
      </p:sp>
      <p:sp>
        <p:nvSpPr>
          <p:cNvPr id="29" name="TextBox 28"/>
          <p:cNvSpPr txBox="1"/>
          <p:nvPr/>
        </p:nvSpPr>
        <p:spPr>
          <a:xfrm>
            <a:off x="6839712" y="257098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Azure Machine Learning integration</a:t>
            </a:r>
          </a:p>
        </p:txBody>
      </p:sp>
      <p:sp>
        <p:nvSpPr>
          <p:cNvPr id="30" name="Rectangle 29"/>
          <p:cNvSpPr/>
          <p:nvPr/>
        </p:nvSpPr>
        <p:spPr>
          <a:xfrm>
            <a:off x="6309360" y="332232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332232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9</a:t>
            </a:r>
          </a:p>
        </p:txBody>
      </p:sp>
      <p:sp>
        <p:nvSpPr>
          <p:cNvPr id="32" name="TextBox 31"/>
          <p:cNvSpPr txBox="1"/>
          <p:nvPr/>
        </p:nvSpPr>
        <p:spPr>
          <a:xfrm>
            <a:off x="6839712" y="334060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Copilot in Power BI / Fabric</a:t>
            </a:r>
          </a:p>
        </p:txBody>
      </p:sp>
      <p:sp>
        <p:nvSpPr>
          <p:cNvPr id="33" name="Rectangle 32"/>
          <p:cNvSpPr/>
          <p:nvPr/>
        </p:nvSpPr>
        <p:spPr>
          <a:xfrm>
            <a:off x="6309360" y="409194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409194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10</a:t>
            </a:r>
          </a:p>
        </p:txBody>
      </p:sp>
      <p:sp>
        <p:nvSpPr>
          <p:cNvPr id="35" name="TextBox 34"/>
          <p:cNvSpPr txBox="1"/>
          <p:nvPr/>
        </p:nvSpPr>
        <p:spPr>
          <a:xfrm>
            <a:off x="6839712" y="411022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Gov-safe alternate paths</a:t>
            </a:r>
          </a:p>
        </p:txBody>
      </p:sp>
      <p:sp>
        <p:nvSpPr>
          <p:cNvPr id="36" name="Rectangle 35"/>
          <p:cNvSpPr/>
          <p:nvPr/>
        </p:nvSpPr>
        <p:spPr>
          <a:xfrm>
            <a:off x="6309360" y="486156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486156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11</a:t>
            </a:r>
          </a:p>
        </p:txBody>
      </p:sp>
      <p:sp>
        <p:nvSpPr>
          <p:cNvPr id="38" name="TextBox 37"/>
          <p:cNvSpPr txBox="1"/>
          <p:nvPr/>
        </p:nvSpPr>
        <p:spPr>
          <a:xfrm>
            <a:off x="6839712" y="487984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Delivery decision framework</a:t>
            </a:r>
          </a:p>
        </p:txBody>
      </p:sp>
      <p:sp>
        <p:nvSpPr>
          <p:cNvPr id="39" name="Rectangle 38"/>
          <p:cNvSpPr/>
          <p:nvPr/>
        </p:nvSpPr>
        <p:spPr>
          <a:xfrm>
            <a:off x="6309360" y="56311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56311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12</a:t>
            </a:r>
          </a:p>
        </p:txBody>
      </p:sp>
      <p:sp>
        <p:nvSpPr>
          <p:cNvPr id="41" name="TextBox 40"/>
          <p:cNvSpPr txBox="1"/>
          <p:nvPr/>
        </p:nvSpPr>
        <p:spPr>
          <a:xfrm>
            <a:off x="6839712" y="56494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Lab review and knowledge check</a:t>
            </a:r>
          </a:p>
        </p:txBody>
      </p:sp>
      <p:sp>
        <p:nvSpPr>
          <p:cNvPr id="42" name="TextBox 41"/>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01</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Advanced Analytics vs. AI-Assisted Features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743200"/>
                <a:gridCol w="5120640"/>
                <a:gridCol w="3017520"/>
              </a:tblGrid>
              <a:tr h="777240">
                <a:tc>
                  <a:txBody>
                    <a:bodyPr/>
                    <a:lstStyle/>
                    <a:p>
                      <a:pPr algn="l"/>
                      <a:r>
                        <a:rPr b="1" sz="1250">
                          <a:solidFill>
                            <a:srgbClr val="FFFFFF"/>
                          </a:solidFill>
                          <a:latin typeface="Calibri"/>
                        </a:rPr>
                        <a:t>Category</a:t>
                      </a:r>
                    </a:p>
                  </a:txBody>
                  <a:tcPr>
                    <a:solidFill>
                      <a:srgbClr val="1E2761"/>
                    </a:solidFill>
                  </a:tcPr>
                </a:tc>
                <a:tc>
                  <a:txBody>
                    <a:bodyPr/>
                    <a:lstStyle/>
                    <a:p>
                      <a:pPr algn="l"/>
                      <a:r>
                        <a:rPr b="1" sz="1250">
                          <a:solidFill>
                            <a:srgbClr val="FFFFFF"/>
                          </a:solidFill>
                          <a:latin typeface="Calibri"/>
                        </a:rPr>
                        <a:t>Examples in Power BI</a:t>
                      </a:r>
                    </a:p>
                  </a:txBody>
                  <a:tcPr>
                    <a:solidFill>
                      <a:srgbClr val="1E2761"/>
                    </a:solidFill>
                  </a:tcPr>
                </a:tc>
                <a:tc>
                  <a:txBody>
                    <a:bodyPr/>
                    <a:lstStyle/>
                    <a:p>
                      <a:pPr algn="l"/>
                      <a:r>
                        <a:rPr b="1" sz="1250">
                          <a:solidFill>
                            <a:srgbClr val="FFFFFF"/>
                          </a:solidFill>
                          <a:latin typeface="Calibri"/>
                        </a:rPr>
                        <a:t>Gov status</a:t>
                      </a:r>
                    </a:p>
                  </a:txBody>
                  <a:tcPr>
                    <a:solidFill>
                      <a:srgbClr val="1E2761"/>
                    </a:solidFill>
                  </a:tcPr>
                </a:tc>
              </a:tr>
              <a:tr h="777240">
                <a:tc>
                  <a:txBody>
                    <a:bodyPr/>
                    <a:lstStyle/>
                    <a:p>
                      <a:r>
                        <a:rPr sz="1150">
                          <a:solidFill>
                            <a:srgbClr val="1F2328"/>
                          </a:solidFill>
                          <a:latin typeface="Calibri"/>
                        </a:rPr>
                        <a:t>Analytical patterns</a:t>
                      </a:r>
                    </a:p>
                  </a:txBody>
                  <a:tcPr>
                    <a:solidFill>
                      <a:srgbClr val="FFFFFF"/>
                    </a:solidFill>
                  </a:tcPr>
                </a:tc>
                <a:tc>
                  <a:txBody>
                    <a:bodyPr/>
                    <a:lstStyle/>
                    <a:p>
                      <a:r>
                        <a:rPr sz="1150">
                          <a:solidFill>
                            <a:srgbClr val="1F2328"/>
                          </a:solidFill>
                          <a:latin typeface="Calibri"/>
                        </a:rPr>
                        <a:t>What-if parameters, rolling averages, YoY / prior-period measures, Top N.</a:t>
                      </a:r>
                    </a:p>
                  </a:txBody>
                  <a:tcPr>
                    <a:solidFill>
                      <a:srgbClr val="FFFFFF"/>
                    </a:solidFill>
                  </a:tcPr>
                </a:tc>
                <a:tc>
                  <a:txBody>
                    <a:bodyPr/>
                    <a:lstStyle/>
                    <a:p>
                      <a:r>
                        <a:rPr sz="1150">
                          <a:solidFill>
                            <a:srgbClr val="1F2328"/>
                          </a:solidFill>
                          <a:latin typeface="Calibri"/>
                        </a:rPr>
                        <a:t>Gov-ready — pure DAX/modeling.</a:t>
                      </a:r>
                    </a:p>
                  </a:txBody>
                  <a:tcPr>
                    <a:solidFill>
                      <a:srgbClr val="FFFFFF"/>
                    </a:solidFill>
                  </a:tcPr>
                </a:tc>
              </a:tr>
              <a:tr h="777240">
                <a:tc>
                  <a:txBody>
                    <a:bodyPr/>
                    <a:lstStyle/>
                    <a:p>
                      <a:r>
                        <a:rPr sz="1150">
                          <a:solidFill>
                            <a:srgbClr val="1F2328"/>
                          </a:solidFill>
                          <a:latin typeface="Calibri"/>
                        </a:rPr>
                        <a:t>Built-in AI visuals</a:t>
                      </a:r>
                    </a:p>
                  </a:txBody>
                  <a:tcPr>
                    <a:solidFill>
                      <a:srgbClr val="F6F8FC"/>
                    </a:solidFill>
                  </a:tcPr>
                </a:tc>
                <a:tc>
                  <a:txBody>
                    <a:bodyPr/>
                    <a:lstStyle/>
                    <a:p>
                      <a:r>
                        <a:rPr sz="1150">
                          <a:solidFill>
                            <a:srgbClr val="1F2328"/>
                          </a:solidFill>
                          <a:latin typeface="Calibri"/>
                        </a:rPr>
                        <a:t>Decomposition tree, Key influencers, Q&amp;A visual, Smart Narrative, anomaly detection, forecasting.</a:t>
                      </a:r>
                    </a:p>
                  </a:txBody>
                  <a:tcPr>
                    <a:solidFill>
                      <a:srgbClr val="F6F8FC"/>
                    </a:solidFill>
                  </a:tcPr>
                </a:tc>
                <a:tc>
                  <a:txBody>
                    <a:bodyPr/>
                    <a:lstStyle/>
                    <a:p>
                      <a:r>
                        <a:rPr sz="1150">
                          <a:solidFill>
                            <a:srgbClr val="1F2328"/>
                          </a:solidFill>
                          <a:latin typeface="Calibri"/>
                        </a:rPr>
                        <a:t>Verify for Gov — varies by sovereign cloud.</a:t>
                      </a:r>
                    </a:p>
                  </a:txBody>
                  <a:tcPr>
                    <a:solidFill>
                      <a:srgbClr val="F6F8FC"/>
                    </a:solidFill>
                  </a:tcPr>
                </a:tc>
              </a:tr>
              <a:tr h="777240">
                <a:tc>
                  <a:txBody>
                    <a:bodyPr/>
                    <a:lstStyle/>
                    <a:p>
                      <a:r>
                        <a:rPr sz="1150">
                          <a:solidFill>
                            <a:srgbClr val="1F2328"/>
                          </a:solidFill>
                          <a:latin typeface="Calibri"/>
                        </a:rPr>
                        <a:t>External ML integration</a:t>
                      </a:r>
                    </a:p>
                  </a:txBody>
                  <a:tcPr>
                    <a:solidFill>
                      <a:srgbClr val="FFFFFF"/>
                    </a:solidFill>
                  </a:tcPr>
                </a:tc>
                <a:tc>
                  <a:txBody>
                    <a:bodyPr/>
                    <a:lstStyle/>
                    <a:p>
                      <a:r>
                        <a:rPr sz="1150">
                          <a:solidFill>
                            <a:srgbClr val="1F2328"/>
                          </a:solidFill>
                          <a:latin typeface="Calibri"/>
                        </a:rPr>
                        <a:t>Python and R visuals in Desktop/Service; Azure Machine Learning scored datasets.</a:t>
                      </a:r>
                    </a:p>
                  </a:txBody>
                  <a:tcPr>
                    <a:solidFill>
                      <a:srgbClr val="FFFFFF"/>
                    </a:solidFill>
                  </a:tcPr>
                </a:tc>
                <a:tc>
                  <a:txBody>
                    <a:bodyPr/>
                    <a:lstStyle/>
                    <a:p>
                      <a:r>
                        <a:rPr sz="1150">
                          <a:solidFill>
                            <a:srgbClr val="1F2328"/>
                          </a:solidFill>
                          <a:latin typeface="Calibri"/>
                        </a:rPr>
                        <a:t>Verify for Gov — runtime, network, residency.</a:t>
                      </a:r>
                    </a:p>
                  </a:txBody>
                  <a:tcPr>
                    <a:solidFill>
                      <a:srgbClr val="FFFFFF"/>
                    </a:solidFill>
                  </a:tcPr>
                </a:tc>
              </a:tr>
              <a:tr h="777240">
                <a:tc>
                  <a:txBody>
                    <a:bodyPr/>
                    <a:lstStyle/>
                    <a:p>
                      <a:r>
                        <a:rPr sz="1150">
                          <a:solidFill>
                            <a:srgbClr val="1F2328"/>
                          </a:solidFill>
                          <a:latin typeface="Calibri"/>
                        </a:rPr>
                        <a:t>Copilot experiences</a:t>
                      </a:r>
                    </a:p>
                  </a:txBody>
                  <a:tcPr>
                    <a:solidFill>
                      <a:srgbClr val="F6F8FC"/>
                    </a:solidFill>
                  </a:tcPr>
                </a:tc>
                <a:tc>
                  <a:txBody>
                    <a:bodyPr/>
                    <a:lstStyle/>
                    <a:p>
                      <a:r>
                        <a:rPr sz="1150">
                          <a:solidFill>
                            <a:srgbClr val="1F2328"/>
                          </a:solidFill>
                          <a:latin typeface="Calibri"/>
                        </a:rPr>
                        <a:t>Copilot in Power BI/Fabric for authoring assist, summarization, data exploration.</a:t>
                      </a:r>
                    </a:p>
                  </a:txBody>
                  <a:tcPr>
                    <a:solidFill>
                      <a:srgbClr val="F6F8FC"/>
                    </a:solidFill>
                  </a:tcPr>
                </a:tc>
                <a:tc>
                  <a:txBody>
                    <a:bodyPr/>
                    <a:lstStyle/>
                    <a:p>
                      <a:r>
                        <a:rPr sz="1150">
                          <a:solidFill>
                            <a:srgbClr val="1F2328"/>
                          </a:solidFill>
                          <a:latin typeface="Calibri"/>
                        </a:rPr>
                        <a:t>Commercial-focused / Verify for Gov.</a:t>
                      </a:r>
                    </a:p>
                  </a:txBody>
                  <a:tcPr>
                    <a:solidFill>
                      <a:srgbClr val="F6F8FC"/>
                    </a:solidFill>
                  </a:tcPr>
                </a:tc>
              </a:tr>
              <a:tr h="777240">
                <a:tc>
                  <a:txBody>
                    <a:bodyPr/>
                    <a:lstStyle/>
                    <a:p>
                      <a:r>
                        <a:rPr sz="1150">
                          <a:solidFill>
                            <a:srgbClr val="1F2328"/>
                          </a:solidFill>
                          <a:latin typeface="Calibri"/>
                        </a:rPr>
                        <a:t>Governance and availability</a:t>
                      </a:r>
                    </a:p>
                  </a:txBody>
                  <a:tcPr>
                    <a:solidFill>
                      <a:srgbClr val="FFFFFF"/>
                    </a:solidFill>
                  </a:tcPr>
                </a:tc>
                <a:tc>
                  <a:txBody>
                    <a:bodyPr/>
                    <a:lstStyle/>
                    <a:p>
                      <a:r>
                        <a:rPr sz="1150">
                          <a:solidFill>
                            <a:srgbClr val="1F2328"/>
                          </a:solidFill>
                          <a:latin typeface="Calibri"/>
                        </a:rPr>
                        <a:t>Tenant settings, capacity SKU, data residency, human-review requirements.</a:t>
                      </a:r>
                    </a:p>
                  </a:txBody>
                  <a:tcPr>
                    <a:solidFill>
                      <a:srgbClr val="FFFFFF"/>
                    </a:solidFill>
                  </a:tcPr>
                </a:tc>
                <a:tc>
                  <a:txBody>
                    <a:bodyPr/>
                    <a:lstStyle/>
                    <a:p>
                      <a:r>
                        <a:rPr sz="1150">
                          <a:solidFill>
                            <a:srgbClr val="1F2328"/>
                          </a:solidFill>
                          <a:latin typeface="Calibri"/>
                        </a:rPr>
                        <a:t>Applies to every row above.</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 lives in the top row (Gov-ready). Every other exercise in the lab maps to a row below it — each with its own availability check and Gov-safe alternate path documented in the README.</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02</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What-If Parameters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Author with Modeling &gt; New parameter &gt; Numeric range — in the lab, name it 'Margin Adjustment %' with a range like -10% to 20% and a small increment.</a:t>
            </a:r>
          </a:p>
          <a:p>
            <a:pPr>
              <a:lnSpc>
                <a:spcPct val="105000"/>
              </a:lnSpc>
              <a:spcAft>
                <a:spcPts val="1000"/>
              </a:spcAft>
              <a:buClr>
                <a:srgbClr val="1E2761"/>
              </a:buClr>
              <a:buFont typeface="Arial"/>
              <a:buChar char="•"/>
            </a:pPr>
            <a:r>
              <a:rPr sz="1450">
                <a:solidFill>
                  <a:srgbClr val="1F2328"/>
                </a:solidFill>
                <a:latin typeface="Calibri"/>
              </a:rPr>
              <a:t>Power BI generates two artifacts: a hidden parameter table with the value range, and a SELECTEDVALUE-based measure that returns the current slicer selection.</a:t>
            </a:r>
          </a:p>
          <a:p>
            <a:pPr>
              <a:lnSpc>
                <a:spcPct val="105000"/>
              </a:lnSpc>
              <a:spcAft>
                <a:spcPts val="1000"/>
              </a:spcAft>
              <a:buClr>
                <a:srgbClr val="1E2761"/>
              </a:buClr>
              <a:buFont typeface="Arial"/>
              <a:buChar char="•"/>
            </a:pPr>
            <a:r>
              <a:rPr sz="1450">
                <a:solidFill>
                  <a:srgbClr val="1F2328"/>
                </a:solidFill>
                <a:latin typeface="Calibri"/>
              </a:rPr>
              <a:t>Consume the generated measure inside a DAX measure — for example an adjusted gross margin that multiplies the base margin by (1 + 'Margin Adjustment %' Value).</a:t>
            </a:r>
          </a:p>
          <a:p>
            <a:pPr>
              <a:lnSpc>
                <a:spcPct val="105000"/>
              </a:lnSpc>
              <a:spcAft>
                <a:spcPts val="1000"/>
              </a:spcAft>
              <a:buClr>
                <a:srgbClr val="1E2761"/>
              </a:buClr>
              <a:buFont typeface="Arial"/>
              <a:buChar char="•"/>
            </a:pPr>
            <a:r>
              <a:rPr sz="1450">
                <a:solidFill>
                  <a:srgbClr val="1F2328"/>
                </a:solidFill>
                <a:latin typeface="Calibri"/>
              </a:rPr>
              <a:t>The generated slicer drives every visual bound to the adjusted measure so users can explore scenarios interactively without editing DAX.</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What-if is the one advanced analytics feature in this module that is fully Gov-ready — no AI service, no external runtime, no tenant caveat.</a:t>
            </a:r>
          </a:p>
          <a:p>
            <a:pPr>
              <a:lnSpc>
                <a:spcPct val="105000"/>
              </a:lnSpc>
              <a:spcAft>
                <a:spcPts val="1000"/>
              </a:spcAft>
              <a:buClr>
                <a:srgbClr val="E8B44A"/>
              </a:buClr>
              <a:buFont typeface="Arial"/>
              <a:buChar char="•"/>
            </a:pPr>
            <a:r>
              <a:rPr sz="1450">
                <a:solidFill>
                  <a:srgbClr val="1F2328"/>
                </a:solidFill>
                <a:latin typeface="Calibri"/>
              </a:rPr>
              <a:t>It turns a static report into a scenario tool: pricing sensitivity, cost-inflation modeling, target-attainment adjustments — all without leaving the model.</a:t>
            </a:r>
          </a:p>
          <a:p>
            <a:pPr>
              <a:lnSpc>
                <a:spcPct val="105000"/>
              </a:lnSpc>
              <a:spcAft>
                <a:spcPts val="1000"/>
              </a:spcAft>
              <a:buClr>
                <a:srgbClr val="E8B44A"/>
              </a:buClr>
              <a:buFont typeface="Arial"/>
              <a:buChar char="•"/>
            </a:pPr>
            <a:r>
              <a:rPr sz="1450">
                <a:solidFill>
                  <a:srgbClr val="1F2328"/>
                </a:solidFill>
                <a:latin typeface="Calibri"/>
              </a:rPr>
              <a:t>It reinforces DAX skills from Module 2 — SELECTEDVALUE, variable measures, and measure composition — in a business-facing way.</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1 walks through creating 'Margin Adjustment %', wiring it into an adjusted gross margin measure, and validating that visuals respond as the slicer changes.</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03</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Decomposition Tree</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AI visual that decomposes a numeric measure (e.g., Sales Amount, Gross Margin) across a set of explanatory categorical fields chosen at author time.</a:t>
            </a:r>
          </a:p>
          <a:p>
            <a:pPr>
              <a:lnSpc>
                <a:spcPct val="105000"/>
              </a:lnSpc>
              <a:spcAft>
                <a:spcPts val="1000"/>
              </a:spcAft>
              <a:buClr>
                <a:srgbClr val="1E2761"/>
              </a:buClr>
              <a:buFont typeface="Arial"/>
              <a:buChar char="•"/>
            </a:pPr>
            <a:r>
              <a:rPr sz="1450">
                <a:solidFill>
                  <a:srgbClr val="1F2328"/>
                </a:solidFill>
                <a:latin typeface="Calibri"/>
              </a:rPr>
              <a:t>Two exploration modes: manual drill (author picks the next field) and AI split (High/Low value) — the AI split ranks which field's next level explains the most change in the analyzed measure.</a:t>
            </a:r>
          </a:p>
          <a:p>
            <a:pPr>
              <a:lnSpc>
                <a:spcPct val="105000"/>
              </a:lnSpc>
              <a:spcAft>
                <a:spcPts val="1000"/>
              </a:spcAft>
              <a:buClr>
                <a:srgbClr val="1E2761"/>
              </a:buClr>
              <a:buFont typeface="Arial"/>
              <a:buChar char="•"/>
            </a:pPr>
            <a:r>
              <a:rPr sz="1450">
                <a:solidFill>
                  <a:srgbClr val="1F2328"/>
                </a:solidFill>
                <a:latin typeface="Calibri"/>
              </a:rPr>
              <a:t>In the lab, students analyze Sales Amount or Gross Margin with Territory, Product Category, Customer Type, and Segment as 'Explain by' fields.</a:t>
            </a:r>
          </a:p>
          <a:p>
            <a:pPr>
              <a:lnSpc>
                <a:spcPct val="105000"/>
              </a:lnSpc>
              <a:spcAft>
                <a:spcPts val="1000"/>
              </a:spcAft>
              <a:buClr>
                <a:srgbClr val="1E2761"/>
              </a:buClr>
              <a:buFont typeface="Arial"/>
              <a:buChar char="•"/>
            </a:pPr>
            <a:r>
              <a:rPr sz="1450">
                <a:solidFill>
                  <a:srgbClr val="1F2328"/>
                </a:solidFill>
                <a:latin typeface="Calibri"/>
              </a:rPr>
              <a:t>Availability status: Verify for Gov — tenant settings and sovereign cloud can disable the AI splits or the visual entirely.</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Turns a static hierarchy exploration into a guided one — the visual points users to the branch of the tree that actually matters, instead of manual click-and-hope drill.</a:t>
            </a:r>
          </a:p>
          <a:p>
            <a:pPr>
              <a:lnSpc>
                <a:spcPct val="105000"/>
              </a:lnSpc>
              <a:spcAft>
                <a:spcPts val="1000"/>
              </a:spcAft>
              <a:buClr>
                <a:srgbClr val="E8B44A"/>
              </a:buClr>
              <a:buFont typeface="Arial"/>
              <a:buChar char="•"/>
            </a:pPr>
            <a:r>
              <a:rPr sz="1450">
                <a:solidFill>
                  <a:srgbClr val="1F2328"/>
                </a:solidFill>
                <a:latin typeface="Calibri"/>
              </a:rPr>
              <a:t>Highest-value AI visual for guided root-cause analysis by non-technical business users, because the UI is a familiar drill-down.</a:t>
            </a:r>
          </a:p>
          <a:p>
            <a:pPr>
              <a:lnSpc>
                <a:spcPct val="105000"/>
              </a:lnSpc>
              <a:spcAft>
                <a:spcPts val="1000"/>
              </a:spcAft>
              <a:buClr>
                <a:srgbClr val="E8B44A"/>
              </a:buClr>
              <a:buFont typeface="Arial"/>
              <a:buChar char="•"/>
            </a:pPr>
            <a:r>
              <a:rPr sz="1450">
                <a:solidFill>
                  <a:srgbClr val="1F2328"/>
                </a:solidFill>
                <a:latin typeface="Calibri"/>
              </a:rPr>
              <a:t>Perfect example of a feature where the Gov-safe fallback (a matrix hierarchy with drillthrough) is functional but noticeably less guided — helps students internalize what 'AI-assisted' actually adds.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2 is 'where available' — confirm the visual works in the target tenant first, otherwise use the documented Gov-safe fallback (matrix hierarchy + drillthrough page).</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04</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Forecasting</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Forecasting lives in the Analytics pane of a line chart — add a date field on the X axis, Sales Amount as the value, then enable Forecast.</a:t>
            </a:r>
          </a:p>
          <a:p>
            <a:pPr>
              <a:lnSpc>
                <a:spcPct val="105000"/>
              </a:lnSpc>
              <a:spcAft>
                <a:spcPts val="1000"/>
              </a:spcAft>
              <a:buClr>
                <a:srgbClr val="1E2761"/>
              </a:buClr>
              <a:buFont typeface="Arial"/>
              <a:buChar char="•"/>
            </a:pPr>
            <a:r>
              <a:rPr sz="1450">
                <a:solidFill>
                  <a:srgbClr val="1F2328"/>
                </a:solidFill>
                <a:latin typeface="Calibri"/>
              </a:rPr>
              <a:t>The engine uses exponential smoothing under the hood and returns a point forecast plus a shaded confidence interval; the default 95% band represents statistical uncertainty, not business risk.</a:t>
            </a:r>
          </a:p>
          <a:p>
            <a:pPr>
              <a:lnSpc>
                <a:spcPct val="105000"/>
              </a:lnSpc>
              <a:spcAft>
                <a:spcPts val="1000"/>
              </a:spcAft>
              <a:buClr>
                <a:srgbClr val="1E2761"/>
              </a:buClr>
              <a:buFont typeface="Arial"/>
              <a:buChar char="•"/>
            </a:pPr>
            <a:r>
              <a:rPr sz="1450">
                <a:solidFill>
                  <a:srgbClr val="1F2328"/>
                </a:solidFill>
                <a:latin typeface="Calibri"/>
              </a:rPr>
              <a:t>Requires a continuous date/time X axis, a reasonable amount of history (roughly at least two seasonal cycles), and no large gaps — sparse or irregular data produces misleading intervals.</a:t>
            </a:r>
          </a:p>
          <a:p>
            <a:pPr>
              <a:lnSpc>
                <a:spcPct val="105000"/>
              </a:lnSpc>
              <a:spcAft>
                <a:spcPts val="1000"/>
              </a:spcAft>
              <a:buClr>
                <a:srgbClr val="1E2761"/>
              </a:buClr>
              <a:buFont typeface="Arial"/>
              <a:buChar char="•"/>
            </a:pPr>
            <a:r>
              <a:rPr sz="1450">
                <a:solidFill>
                  <a:srgbClr val="1F2328"/>
                </a:solidFill>
                <a:latin typeface="Calibri"/>
              </a:rPr>
              <a:t>Availability status: Verify for Gov — validate visual support, tenant policy, and data residency before requiring it in a delivery.</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Adds forward-looking context to a trend line without students needing to build ARIMA or Prophet models externally — fast, in-place, no code.</a:t>
            </a:r>
          </a:p>
          <a:p>
            <a:pPr>
              <a:lnSpc>
                <a:spcPct val="105000"/>
              </a:lnSpc>
              <a:spcAft>
                <a:spcPts val="1000"/>
              </a:spcAft>
              <a:buClr>
                <a:srgbClr val="E8B44A"/>
              </a:buClr>
              <a:buFont typeface="Arial"/>
              <a:buChar char="•"/>
            </a:pPr>
            <a:r>
              <a:rPr sz="1450">
                <a:solidFill>
                  <a:srgbClr val="1F2328"/>
                </a:solidFill>
                <a:latin typeface="Calibri"/>
              </a:rPr>
              <a:t>Teaching the confidence interval correctly is where the real value is: a wide band means 'the model doesn't know', which is a governance conversation, not just a chart.</a:t>
            </a:r>
          </a:p>
          <a:p>
            <a:pPr>
              <a:lnSpc>
                <a:spcPct val="105000"/>
              </a:lnSpc>
              <a:spcAft>
                <a:spcPts val="1000"/>
              </a:spcAft>
              <a:buClr>
                <a:srgbClr val="E8B44A"/>
              </a:buClr>
              <a:buFont typeface="Arial"/>
              <a:buChar char="•"/>
            </a:pPr>
            <a:r>
              <a:rPr sz="1450">
                <a:solidFill>
                  <a:srgbClr val="1F2328"/>
                </a:solidFill>
                <a:latin typeface="Calibri"/>
              </a:rPr>
              <a:t>Reinforces the human-review rule that runs through this whole module — the forecast is a hypothesis, not a commitment.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3 (where available). Gov-safe fallback is a rolling-average measure and prior-period comparisons — no prediction, but comparable trend framing.</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05</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Anomaly Detection</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Enabled from the Analytics pane on a line chart with a continuous date/time axis and a single value — similar host visual to forecasting.</a:t>
            </a:r>
          </a:p>
          <a:p>
            <a:pPr>
              <a:lnSpc>
                <a:spcPct val="105000"/>
              </a:lnSpc>
              <a:spcAft>
                <a:spcPts val="1000"/>
              </a:spcAft>
              <a:buClr>
                <a:srgbClr val="1E2761"/>
              </a:buClr>
              <a:buFont typeface="Arial"/>
              <a:buChar char="•"/>
            </a:pPr>
            <a:r>
              <a:rPr sz="1450">
                <a:solidFill>
                  <a:srgbClr val="1F2328"/>
                </a:solidFill>
                <a:latin typeface="Calibri"/>
              </a:rPr>
              <a:t>Flags data points outside an expected pattern (SR-CNN based) and offers a natural-language 'Explain' pane with candidate contributing fields.</a:t>
            </a:r>
          </a:p>
          <a:p>
            <a:pPr>
              <a:lnSpc>
                <a:spcPct val="105000"/>
              </a:lnSpc>
              <a:spcAft>
                <a:spcPts val="1000"/>
              </a:spcAft>
              <a:buClr>
                <a:srgbClr val="1E2761"/>
              </a:buClr>
              <a:buFont typeface="Arial"/>
              <a:buChar char="•"/>
            </a:pPr>
            <a:r>
              <a:rPr sz="1450">
                <a:solidFill>
                  <a:srgbClr val="1F2328"/>
                </a:solidFill>
                <a:latin typeface="Calibri"/>
              </a:rPr>
              <a:t>Sensitivity is tunable; higher sensitivity surfaces more anomalies but also more false positives. The visual highlights, but does not diagnose — humans decide whether an anomaly is a real issue.</a:t>
            </a:r>
          </a:p>
          <a:p>
            <a:pPr>
              <a:lnSpc>
                <a:spcPct val="105000"/>
              </a:lnSpc>
              <a:spcAft>
                <a:spcPts val="1000"/>
              </a:spcAft>
              <a:buClr>
                <a:srgbClr val="1E2761"/>
              </a:buClr>
              <a:buFont typeface="Arial"/>
              <a:buChar char="•"/>
            </a:pPr>
            <a:r>
              <a:rPr sz="1450">
                <a:solidFill>
                  <a:srgbClr val="1F2328"/>
                </a:solidFill>
                <a:latin typeface="Calibri"/>
              </a:rPr>
              <a:t>Availability status: Verify for Gov — validate Service/Desktop parity and tenant support before relying on it in a report.</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Cuts the manual 'stare at the chart looking for spikes' step out of exception monitoring — the visual raises its hand.</a:t>
            </a:r>
          </a:p>
          <a:p>
            <a:pPr>
              <a:lnSpc>
                <a:spcPct val="105000"/>
              </a:lnSpc>
              <a:spcAft>
                <a:spcPts val="1000"/>
              </a:spcAft>
              <a:buClr>
                <a:srgbClr val="E8B44A"/>
              </a:buClr>
              <a:buFont typeface="Arial"/>
              <a:buChar char="•"/>
            </a:pPr>
            <a:r>
              <a:rPr sz="1450">
                <a:solidFill>
                  <a:srgbClr val="1F2328"/>
                </a:solidFill>
                <a:latin typeface="Calibri"/>
              </a:rPr>
              <a:t>The Explain pane models what a good AI-assisted feature does: it shows candidate contributors, but a human still ranks and confirms them.</a:t>
            </a:r>
          </a:p>
          <a:p>
            <a:pPr>
              <a:lnSpc>
                <a:spcPct val="105000"/>
              </a:lnSpc>
              <a:spcAft>
                <a:spcPts val="1000"/>
              </a:spcAft>
              <a:buClr>
                <a:srgbClr val="E8B44A"/>
              </a:buClr>
              <a:buFont typeface="Arial"/>
              <a:buChar char="•"/>
            </a:pPr>
            <a:r>
              <a:rPr sz="1450">
                <a:solidFill>
                  <a:srgbClr val="1F2328"/>
                </a:solidFill>
                <a:latin typeface="Calibri"/>
              </a:rPr>
              <a:t>Data-quality trap: garbage-in, anomalies-out. If the underlying series has data quality issues (missing days, late-arriving fact rows), the anomalies flagged are often just data problems.</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Instructor note: no dedicated hands-on exercise for anomaly detection in the lab — cover conceptually and demo if the tenant supports it; otherwise fall back to a DAX-based exception measure (e.g., &gt; 2 stdev from rolling mean).</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06</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Key Influencers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AI visual that ranks which explanatory fields most increase or decrease a chosen outcome — supports both categorical outcomes (e.g., Customer Type = 'Churned') and numeric outcomes (e.g., Sales Amount).</a:t>
            </a:r>
          </a:p>
          <a:p>
            <a:pPr>
              <a:lnSpc>
                <a:spcPct val="105000"/>
              </a:lnSpc>
              <a:spcAft>
                <a:spcPts val="1000"/>
              </a:spcAft>
              <a:buClr>
                <a:srgbClr val="1E2761"/>
              </a:buClr>
              <a:buFont typeface="Arial"/>
              <a:buChar char="•"/>
            </a:pPr>
            <a:r>
              <a:rPr sz="1450">
                <a:solidFill>
                  <a:srgbClr val="1F2328"/>
                </a:solidFill>
                <a:latin typeface="Calibri"/>
              </a:rPr>
              <a:t>Two tabs: Key influencers (per-field impact, 'when Territory is X, the outcome is Y% more likely to be Z') and Top segments (combinations of fields that co-occur with the outcome).</a:t>
            </a:r>
          </a:p>
          <a:p>
            <a:pPr>
              <a:lnSpc>
                <a:spcPct val="105000"/>
              </a:lnSpc>
              <a:spcAft>
                <a:spcPts val="1000"/>
              </a:spcAft>
              <a:buClr>
                <a:srgbClr val="1E2761"/>
              </a:buClr>
              <a:buFont typeface="Arial"/>
              <a:buChar char="•"/>
            </a:pPr>
            <a:r>
              <a:rPr sz="1450">
                <a:solidFill>
                  <a:srgbClr val="1F2328"/>
                </a:solidFill>
                <a:latin typeface="Calibri"/>
              </a:rPr>
              <a:t>Requires enough rows and enough variance per explanatory field to be statistically meaningful — small or imbalanced datasets produce unstable or trivial rankings.</a:t>
            </a:r>
          </a:p>
          <a:p>
            <a:pPr>
              <a:lnSpc>
                <a:spcPct val="105000"/>
              </a:lnSpc>
              <a:spcAft>
                <a:spcPts val="1000"/>
              </a:spcAft>
              <a:buClr>
                <a:srgbClr val="1E2761"/>
              </a:buClr>
              <a:buFont typeface="Arial"/>
              <a:buChar char="•"/>
            </a:pPr>
            <a:r>
              <a:rPr sz="1450">
                <a:solidFill>
                  <a:srgbClr val="1F2328"/>
                </a:solidFill>
                <a:latin typeface="Calibri"/>
              </a:rPr>
              <a:t>Availability status: Verify for Gov — it is an AI visual, so availability can vary by sovereign cloud and tenant policy.</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Gives business users a first-pass driver analysis without a data scientist — 'what's driving churn?' becomes a visual, not a Jupyter notebook.</a:t>
            </a:r>
          </a:p>
          <a:p>
            <a:pPr>
              <a:lnSpc>
                <a:spcPct val="105000"/>
              </a:lnSpc>
              <a:spcAft>
                <a:spcPts val="1000"/>
              </a:spcAft>
              <a:buClr>
                <a:srgbClr val="E8B44A"/>
              </a:buClr>
              <a:buFont typeface="Arial"/>
              <a:buChar char="•"/>
            </a:pPr>
            <a:r>
              <a:rPr sz="1450">
                <a:solidFill>
                  <a:srgbClr val="1F2328"/>
                </a:solidFill>
                <a:latin typeface="Calibri"/>
              </a:rPr>
              <a:t>Explainability is the whole point: unlike a black-box model, Key influencers shows *which* field and *which* value moves the outcome, in plain language.</a:t>
            </a:r>
          </a:p>
          <a:p>
            <a:pPr>
              <a:lnSpc>
                <a:spcPct val="105000"/>
              </a:lnSpc>
              <a:spcAft>
                <a:spcPts val="1000"/>
              </a:spcAft>
              <a:buClr>
                <a:srgbClr val="E8B44A"/>
              </a:buClr>
              <a:buFont typeface="Arial"/>
              <a:buChar char="•"/>
            </a:pPr>
            <a:r>
              <a:rPr sz="1450">
                <a:solidFill>
                  <a:srgbClr val="1F2328"/>
                </a:solidFill>
                <a:latin typeface="Calibri"/>
              </a:rPr>
              <a:t>Ideal teaching example for AI limitations: correlation, not causation. Territory may 'drive' churn statistically while the actual cause is a product-quality issue concentrated in that territory.</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4 (where available). Gov-safe fallback is ranked Top N visuals and slicer-driven comparisons — they don't rank drivers automatically, but they let a human do the same reasoning explicitly.</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07</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Python and R Visuals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Code-based visuals that render output from a Python or R script inside Desktop, and — with matching runtime configured — in the Service.</a:t>
            </a:r>
          </a:p>
          <a:p>
            <a:pPr>
              <a:lnSpc>
                <a:spcPct val="105000"/>
              </a:lnSpc>
              <a:spcAft>
                <a:spcPts val="1000"/>
              </a:spcAft>
              <a:buClr>
                <a:srgbClr val="1E2761"/>
              </a:buClr>
              <a:buFont typeface="Arial"/>
              <a:buChar char="•"/>
            </a:pPr>
            <a:r>
              <a:rPr sz="1450">
                <a:solidFill>
                  <a:srgbClr val="1F2328"/>
                </a:solidFill>
                <a:latin typeface="Calibri"/>
              </a:rPr>
              <a:t>Runtime prerequisites: an approved Python or R installation on Desktop, plus a documented, approved package list (matplotlib, seaborn, ggplot2, etc.). No ad-hoc package installs in a governed environment.</a:t>
            </a:r>
          </a:p>
          <a:p>
            <a:pPr>
              <a:lnSpc>
                <a:spcPct val="105000"/>
              </a:lnSpc>
              <a:spcAft>
                <a:spcPts val="1000"/>
              </a:spcAft>
              <a:buClr>
                <a:srgbClr val="1E2761"/>
              </a:buClr>
              <a:buFont typeface="Arial"/>
              <a:buChar char="•"/>
            </a:pPr>
            <a:r>
              <a:rPr sz="1450">
                <a:solidFill>
                  <a:srgbClr val="1F2328"/>
                </a:solidFill>
                <a:latin typeface="Calibri"/>
              </a:rPr>
              <a:t>Service limitations apply: only specific packages are supported in the Service, output size is capped, and interactivity is limited compared to native visuals.</a:t>
            </a:r>
          </a:p>
          <a:p>
            <a:pPr>
              <a:lnSpc>
                <a:spcPct val="105000"/>
              </a:lnSpc>
              <a:spcAft>
                <a:spcPts val="1000"/>
              </a:spcAft>
              <a:buClr>
                <a:srgbClr val="1E2761"/>
              </a:buClr>
              <a:buFont typeface="Arial"/>
              <a:buChar char="•"/>
            </a:pPr>
            <a:r>
              <a:rPr sz="1450">
                <a:solidFill>
                  <a:srgbClr val="1F2328"/>
                </a:solidFill>
                <a:latin typeface="Calibri"/>
              </a:rPr>
              <a:t>Availability status: Verify for Gov — depends on Desktop configuration, approved packages, Service support, and customer policy on executing code inside a report.</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Unlocks visualization types Power BI doesn't natively support (custom statistical plots, network diagrams, specialized scientific charts) — valuable in the right context.</a:t>
            </a:r>
          </a:p>
          <a:p>
            <a:pPr>
              <a:lnSpc>
                <a:spcPct val="105000"/>
              </a:lnSpc>
              <a:spcAft>
                <a:spcPts val="1000"/>
              </a:spcAft>
              <a:buClr>
                <a:srgbClr val="E8B44A"/>
              </a:buClr>
              <a:buFont typeface="Arial"/>
              <a:buChar char="•"/>
            </a:pPr>
            <a:r>
              <a:rPr sz="1450">
                <a:solidFill>
                  <a:srgbClr val="1F2328"/>
                </a:solidFill>
                <a:latin typeface="Calibri"/>
              </a:rPr>
              <a:t>Governance concerns are real: an R or Python visual is code the report author wrote, running on the render host — that has to be reviewed like any other code artifact.</a:t>
            </a:r>
          </a:p>
          <a:p>
            <a:pPr>
              <a:lnSpc>
                <a:spcPct val="105000"/>
              </a:lnSpc>
              <a:spcAft>
                <a:spcPts val="1000"/>
              </a:spcAft>
              <a:buClr>
                <a:srgbClr val="E8B44A"/>
              </a:buClr>
              <a:buFont typeface="Arial"/>
              <a:buChar char="•"/>
            </a:pPr>
            <a:r>
              <a:rPr sz="1450">
                <a:solidFill>
                  <a:srgbClr val="1F2328"/>
                </a:solidFill>
                <a:latin typeface="Calibri"/>
              </a:rPr>
              <a:t>For most business dashboards the answer is 'don't' — native visuals plus custom visuals from AppSource cover the vast majority of needs with less operational risk.</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5 is optional and conceptual for a mixed classroom — confirm runtime and approved packages before demoing, and prefer native visuals where they suffice.</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08</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Azure Machine Learning Integration</a:t>
            </a:r>
          </a:p>
        </p:txBody>
      </p:sp>
      <p:graphicFrame>
        <p:nvGraphicFramePr>
          <p:cNvPr id="6" name="Table 5"/>
          <p:cNvGraphicFramePr>
            <a:graphicFrameLocks noGrp="1"/>
          </p:cNvGraphicFramePr>
          <p:nvPr/>
        </p:nvGraphicFramePr>
        <p:xfrm>
          <a:off x="640080" y="1325880"/>
          <a:ext cx="10881358" cy="4663440"/>
        </p:xfrm>
        <a:graphic>
          <a:graphicData uri="http://schemas.openxmlformats.org/drawingml/2006/table">
            <a:tbl>
              <a:tblPr firstRow="1" bandRow="1">
                <a:tableStyleId>{5C22544A-7EE6-4342-B048-85BDC9FD1C3A}</a:tableStyleId>
              </a:tblPr>
              <a:tblGrid>
                <a:gridCol w="2193142"/>
                <a:gridCol w="4554987"/>
                <a:gridCol w="4133229"/>
              </a:tblGrid>
              <a:tr h="777240">
                <a:tc>
                  <a:txBody>
                    <a:bodyPr/>
                    <a:lstStyle/>
                    <a:p>
                      <a:pPr algn="l"/>
                      <a:r>
                        <a:rPr b="1" sz="1250">
                          <a:solidFill>
                            <a:srgbClr val="FFFFFF"/>
                          </a:solidFill>
                          <a:latin typeface="Calibri"/>
                        </a:rPr>
                        <a:t>Dimension</a:t>
                      </a:r>
                    </a:p>
                  </a:txBody>
                  <a:tcPr>
                    <a:solidFill>
                      <a:srgbClr val="1E2761"/>
                    </a:solidFill>
                  </a:tcPr>
                </a:tc>
                <a:tc>
                  <a:txBody>
                    <a:bodyPr/>
                    <a:lstStyle/>
                    <a:p>
                      <a:pPr algn="l"/>
                      <a:r>
                        <a:rPr b="1" sz="1250">
                          <a:solidFill>
                            <a:srgbClr val="FFFFFF"/>
                          </a:solidFill>
                          <a:latin typeface="Calibri"/>
                        </a:rPr>
                        <a:t>What to validate</a:t>
                      </a:r>
                    </a:p>
                  </a:txBody>
                  <a:tcPr>
                    <a:solidFill>
                      <a:srgbClr val="1E2761"/>
                    </a:solidFill>
                  </a:tcPr>
                </a:tc>
                <a:tc>
                  <a:txBody>
                    <a:bodyPr/>
                    <a:lstStyle/>
                    <a:p>
                      <a:pPr algn="l"/>
                      <a:r>
                        <a:rPr b="1" sz="1250">
                          <a:solidFill>
                            <a:srgbClr val="FFFFFF"/>
                          </a:solidFill>
                          <a:latin typeface="Calibri"/>
                        </a:rPr>
                        <a:t>Why it matters</a:t>
                      </a:r>
                    </a:p>
                  </a:txBody>
                  <a:tcPr>
                    <a:solidFill>
                      <a:srgbClr val="1E2761"/>
                    </a:solidFill>
                  </a:tcPr>
                </a:tc>
              </a:tr>
              <a:tr h="777240">
                <a:tc>
                  <a:txBody>
                    <a:bodyPr/>
                    <a:lstStyle/>
                    <a:p>
                      <a:r>
                        <a:rPr sz="1150">
                          <a:solidFill>
                            <a:srgbClr val="1F2328"/>
                          </a:solidFill>
                          <a:latin typeface="Calibri"/>
                        </a:rPr>
                        <a:t>Architecture</a:t>
                      </a:r>
                    </a:p>
                  </a:txBody>
                  <a:tcPr>
                    <a:solidFill>
                      <a:srgbClr val="FFFFFF"/>
                    </a:solidFill>
                  </a:tcPr>
                </a:tc>
                <a:tc>
                  <a:txBody>
                    <a:bodyPr/>
                    <a:lstStyle/>
                    <a:p>
                      <a:r>
                        <a:rPr sz="1150">
                          <a:solidFill>
                            <a:srgbClr val="1F2328"/>
                          </a:solidFill>
                          <a:latin typeface="Calibri"/>
                        </a:rPr>
                        <a:t>Model trained and hosted in Azure ML; Power BI consumes either a scored dataset or an online endpoint.</a:t>
                      </a:r>
                    </a:p>
                  </a:txBody>
                  <a:tcPr>
                    <a:solidFill>
                      <a:srgbClr val="FFFFFF"/>
                    </a:solidFill>
                  </a:tcPr>
                </a:tc>
                <a:tc>
                  <a:txBody>
                    <a:bodyPr/>
                    <a:lstStyle/>
                    <a:p>
                      <a:r>
                        <a:rPr sz="1150">
                          <a:solidFill>
                            <a:srgbClr val="1F2328"/>
                          </a:solidFill>
                          <a:latin typeface="Calibri"/>
                        </a:rPr>
                        <a:t>Two very different integration patterns — pick one and document it.</a:t>
                      </a:r>
                    </a:p>
                  </a:txBody>
                  <a:tcPr>
                    <a:solidFill>
                      <a:srgbClr val="FFFFFF"/>
                    </a:solidFill>
                  </a:tcPr>
                </a:tc>
              </a:tr>
              <a:tr h="777240">
                <a:tc>
                  <a:txBody>
                    <a:bodyPr/>
                    <a:lstStyle/>
                    <a:p>
                      <a:r>
                        <a:rPr sz="1150">
                          <a:solidFill>
                            <a:srgbClr val="1F2328"/>
                          </a:solidFill>
                          <a:latin typeface="Calibri"/>
                        </a:rPr>
                        <a:t>Identity</a:t>
                      </a:r>
                    </a:p>
                  </a:txBody>
                  <a:tcPr>
                    <a:solidFill>
                      <a:srgbClr val="F6F8FC"/>
                    </a:solidFill>
                  </a:tcPr>
                </a:tc>
                <a:tc>
                  <a:txBody>
                    <a:bodyPr/>
                    <a:lstStyle/>
                    <a:p>
                      <a:r>
                        <a:rPr sz="1150">
                          <a:solidFill>
                            <a:srgbClr val="1F2328"/>
                          </a:solidFill>
                          <a:latin typeface="Calibri"/>
                        </a:rPr>
                        <a:t>Service principal or managed identity with access to the Azure ML workspace and endpoint.</a:t>
                      </a:r>
                    </a:p>
                  </a:txBody>
                  <a:tcPr>
                    <a:solidFill>
                      <a:srgbClr val="F6F8FC"/>
                    </a:solidFill>
                  </a:tcPr>
                </a:tc>
                <a:tc>
                  <a:txBody>
                    <a:bodyPr/>
                    <a:lstStyle/>
                    <a:p>
                      <a:r>
                        <a:rPr sz="1150">
                          <a:solidFill>
                            <a:srgbClr val="1F2328"/>
                          </a:solidFill>
                          <a:latin typeface="Calibri"/>
                        </a:rPr>
                        <a:t>Gateway/tenant identity decides who can call the model.</a:t>
                      </a:r>
                    </a:p>
                  </a:txBody>
                  <a:tcPr>
                    <a:solidFill>
                      <a:srgbClr val="F6F8FC"/>
                    </a:solidFill>
                  </a:tcPr>
                </a:tc>
              </a:tr>
              <a:tr h="777240">
                <a:tc>
                  <a:txBody>
                    <a:bodyPr/>
                    <a:lstStyle/>
                    <a:p>
                      <a:r>
                        <a:rPr sz="1150">
                          <a:solidFill>
                            <a:srgbClr val="1F2328"/>
                          </a:solidFill>
                          <a:latin typeface="Calibri"/>
                        </a:rPr>
                        <a:t>Network</a:t>
                      </a:r>
                    </a:p>
                  </a:txBody>
                  <a:tcPr>
                    <a:solidFill>
                      <a:srgbClr val="FFFFFF"/>
                    </a:solidFill>
                  </a:tcPr>
                </a:tc>
                <a:tc>
                  <a:txBody>
                    <a:bodyPr/>
                    <a:lstStyle/>
                    <a:p>
                      <a:r>
                        <a:rPr sz="1150">
                          <a:solidFill>
                            <a:srgbClr val="1F2328"/>
                          </a:solidFill>
                          <a:latin typeface="Calibri"/>
                        </a:rPr>
                        <a:t>Private endpoints, VNet integration, and any required outbound rules from the gateway host.</a:t>
                      </a:r>
                    </a:p>
                  </a:txBody>
                  <a:tcPr>
                    <a:solidFill>
                      <a:srgbClr val="FFFFFF"/>
                    </a:solidFill>
                  </a:tcPr>
                </a:tc>
                <a:tc>
                  <a:txBody>
                    <a:bodyPr/>
                    <a:lstStyle/>
                    <a:p>
                      <a:r>
                        <a:rPr sz="1150">
                          <a:solidFill>
                            <a:srgbClr val="1F2328"/>
                          </a:solidFill>
                          <a:latin typeface="Calibri"/>
                        </a:rPr>
                        <a:t>A model unreachable from the gateway is a model that fails silently at refresh.</a:t>
                      </a:r>
                    </a:p>
                  </a:txBody>
                  <a:tcPr>
                    <a:solidFill>
                      <a:srgbClr val="FFFFFF"/>
                    </a:solidFill>
                  </a:tcPr>
                </a:tc>
              </a:tr>
              <a:tr h="777240">
                <a:tc>
                  <a:txBody>
                    <a:bodyPr/>
                    <a:lstStyle/>
                    <a:p>
                      <a:r>
                        <a:rPr sz="1150">
                          <a:solidFill>
                            <a:srgbClr val="1F2328"/>
                          </a:solidFill>
                          <a:latin typeface="Calibri"/>
                        </a:rPr>
                        <a:t>Region and cloud</a:t>
                      </a:r>
                    </a:p>
                  </a:txBody>
                  <a:tcPr>
                    <a:solidFill>
                      <a:srgbClr val="F6F8FC"/>
                    </a:solidFill>
                  </a:tcPr>
                </a:tc>
                <a:tc>
                  <a:txBody>
                    <a:bodyPr/>
                    <a:lstStyle/>
                    <a:p>
                      <a:r>
                        <a:rPr sz="1150">
                          <a:solidFill>
                            <a:srgbClr val="1F2328"/>
                          </a:solidFill>
                          <a:latin typeface="Calibri"/>
                        </a:rPr>
                        <a:t>Azure ML workspace region must match the customer's data residency policy; sovereign cloud alignment (Commercial vs. Government) is not optional.</a:t>
                      </a:r>
                    </a:p>
                  </a:txBody>
                  <a:tcPr>
                    <a:solidFill>
                      <a:srgbClr val="F6F8FC"/>
                    </a:solidFill>
                  </a:tcPr>
                </a:tc>
                <a:tc>
                  <a:txBody>
                    <a:bodyPr/>
                    <a:lstStyle/>
                    <a:p>
                      <a:r>
                        <a:rPr sz="1150">
                          <a:solidFill>
                            <a:srgbClr val="1F2328"/>
                          </a:solidFill>
                          <a:latin typeface="Calibri"/>
                        </a:rPr>
                        <a:t>Cross-cloud calls are almost always disallowed in Gov engagements.</a:t>
                      </a:r>
                    </a:p>
                  </a:txBody>
                  <a:tcPr>
                    <a:solidFill>
                      <a:srgbClr val="F6F8FC"/>
                    </a:solidFill>
                  </a:tcPr>
                </a:tc>
              </a:tr>
              <a:tr h="777240">
                <a:tc>
                  <a:txBody>
                    <a:bodyPr/>
                    <a:lstStyle/>
                    <a:p>
                      <a:r>
                        <a:rPr sz="1150">
                          <a:solidFill>
                            <a:srgbClr val="1F2328"/>
                          </a:solidFill>
                          <a:latin typeface="Calibri"/>
                        </a:rPr>
                        <a:t>Model governance</a:t>
                      </a:r>
                    </a:p>
                  </a:txBody>
                  <a:tcPr>
                    <a:solidFill>
                      <a:srgbClr val="FFFFFF"/>
                    </a:solidFill>
                  </a:tcPr>
                </a:tc>
                <a:tc>
                  <a:txBody>
                    <a:bodyPr/>
                    <a:lstStyle/>
                    <a:p>
                      <a:r>
                        <a:rPr sz="1150">
                          <a:solidFill>
                            <a:srgbClr val="1F2328"/>
                          </a:solidFill>
                          <a:latin typeface="Calibri"/>
                        </a:rPr>
                        <a:t>Model versioning, drift monitoring, retraining cadence, and human-review policy for scored outputs before they reach a report.</a:t>
                      </a:r>
                    </a:p>
                  </a:txBody>
                  <a:tcPr>
                    <a:solidFill>
                      <a:srgbClr val="FFFFFF"/>
                    </a:solidFill>
                  </a:tcPr>
                </a:tc>
                <a:tc>
                  <a:txBody>
                    <a:bodyPr/>
                    <a:lstStyle/>
                    <a:p>
                      <a:r>
                        <a:rPr sz="1150">
                          <a:solidFill>
                            <a:srgbClr val="1F2328"/>
                          </a:solidFill>
                          <a:latin typeface="Calibri"/>
                        </a:rPr>
                        <a:t>The model is now part of the report's data supply chain — govern it accordingly.</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6 is conceptual — review architecture, identity, network, and residency; do NOT stand up a live Azure ML endpoint from the classroom. Gov-safe alternate: import a static, pre-scored sample table and document how it would be produced.</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09</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Copilot in Power BI / Fabric</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Copilot in Power BI supports authoring assistance (generate DAX, create measures, suggest visuals), summarization of report pages, and natural-language data exploration.</a:t>
            </a:r>
          </a:p>
          <a:p>
            <a:pPr>
              <a:lnSpc>
                <a:spcPct val="105000"/>
              </a:lnSpc>
              <a:spcAft>
                <a:spcPts val="1000"/>
              </a:spcAft>
              <a:buClr>
                <a:srgbClr val="1E2761"/>
              </a:buClr>
              <a:buFont typeface="Arial"/>
              <a:buChar char="•"/>
            </a:pPr>
            <a:r>
              <a:rPr sz="1450">
                <a:solidFill>
                  <a:srgbClr val="1F2328"/>
                </a:solidFill>
                <a:latin typeface="Calibri"/>
              </a:rPr>
              <a:t>Requires a Fabric or Power BI Premium capacity SKU with Copilot enabled at the tenant level, plus explicit workspace assignment — not a per-user setting.</a:t>
            </a:r>
          </a:p>
          <a:p>
            <a:pPr>
              <a:lnSpc>
                <a:spcPct val="105000"/>
              </a:lnSpc>
              <a:spcAft>
                <a:spcPts val="1000"/>
              </a:spcAft>
              <a:buClr>
                <a:srgbClr val="1E2761"/>
              </a:buClr>
              <a:buFont typeface="Arial"/>
              <a:buChar char="•"/>
            </a:pPr>
            <a:r>
              <a:rPr sz="1450">
                <a:solidFill>
                  <a:srgbClr val="1F2328"/>
                </a:solidFill>
                <a:latin typeface="Calibri"/>
              </a:rPr>
              <a:t>Prompts, model inputs, and outputs travel to Microsoft-hosted foundation models; customer data boundary and residency commitments differ from ordinary tenant data.</a:t>
            </a:r>
          </a:p>
          <a:p>
            <a:pPr>
              <a:lnSpc>
                <a:spcPct val="105000"/>
              </a:lnSpc>
              <a:spcAft>
                <a:spcPts val="1000"/>
              </a:spcAft>
              <a:buClr>
                <a:srgbClr val="1E2761"/>
              </a:buClr>
              <a:buFont typeface="Arial"/>
              <a:buChar char="•"/>
            </a:pPr>
            <a:r>
              <a:rPr sz="1450">
                <a:solidFill>
                  <a:srgbClr val="1F2328"/>
                </a:solidFill>
                <a:latin typeface="Calibri"/>
              </a:rPr>
              <a:t>Availability status: Commercial-focused / Verify for Gov — for most Government tenants Copilot is either unavailable or preview only. Treat as conceptual unless the target tenant is confirmed.</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Accelerates authoring — measure drafting, page summarization — for report authors already fluent in Power BI. It is not a replacement for understanding the model.</a:t>
            </a:r>
          </a:p>
          <a:p>
            <a:pPr>
              <a:lnSpc>
                <a:spcPct val="105000"/>
              </a:lnSpc>
              <a:spcAft>
                <a:spcPts val="1000"/>
              </a:spcAft>
              <a:buClr>
                <a:srgbClr val="E8B44A"/>
              </a:buClr>
              <a:buFont typeface="Arial"/>
              <a:buChar char="•"/>
            </a:pPr>
            <a:r>
              <a:rPr sz="1450">
                <a:solidFill>
                  <a:srgbClr val="1F2328"/>
                </a:solidFill>
                <a:latin typeface="Calibri"/>
              </a:rPr>
              <a:t>Every Copilot output is a hypothesis: a generated DAX measure can compile and still be semantically wrong. Human review is a requirement, not a recommendation.</a:t>
            </a:r>
          </a:p>
          <a:p>
            <a:pPr>
              <a:lnSpc>
                <a:spcPct val="105000"/>
              </a:lnSpc>
              <a:spcAft>
                <a:spcPts val="1000"/>
              </a:spcAft>
              <a:buClr>
                <a:srgbClr val="E8B44A"/>
              </a:buClr>
              <a:buFont typeface="Arial"/>
              <a:buChar char="•"/>
            </a:pPr>
            <a:r>
              <a:rPr sz="1450">
                <a:solidFill>
                  <a:srgbClr val="1F2328"/>
                </a:solidFill>
                <a:latin typeface="Calibri"/>
              </a:rPr>
              <a:t>The governance conversation — tenant, capacity, data boundary, residency, logging — is what most students actually need to take back to work, more than the feature itself.</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7 is a conceptual section — map potential Copilot workflows to non-AI fallbacks, and identify tenant, capacity, licensing, and boundary requirements.</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10</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Gov-Safe Alternate Paths</a:t>
            </a:r>
          </a:p>
        </p:txBody>
      </p:sp>
      <p:graphicFrame>
        <p:nvGraphicFramePr>
          <p:cNvPr id="6" name="Table 5"/>
          <p:cNvGraphicFramePr>
            <a:graphicFrameLocks noGrp="1"/>
          </p:cNvGraphicFramePr>
          <p:nvPr/>
        </p:nvGraphicFramePr>
        <p:xfrm>
          <a:off x="640080" y="1325880"/>
          <a:ext cx="10881358" cy="4663440"/>
        </p:xfrm>
        <a:graphic>
          <a:graphicData uri="http://schemas.openxmlformats.org/drawingml/2006/table">
            <a:tbl>
              <a:tblPr firstRow="1" bandRow="1">
                <a:tableStyleId>{5C22544A-7EE6-4342-B048-85BDC9FD1C3A}</a:tableStyleId>
              </a:tblPr>
              <a:tblGrid>
                <a:gridCol w="2530548"/>
                <a:gridCol w="4217581"/>
                <a:gridCol w="4133229"/>
              </a:tblGrid>
              <a:tr h="582930">
                <a:tc>
                  <a:txBody>
                    <a:bodyPr/>
                    <a:lstStyle/>
                    <a:p>
                      <a:pPr algn="l"/>
                      <a:r>
                        <a:rPr b="1" sz="1250">
                          <a:solidFill>
                            <a:srgbClr val="FFFFFF"/>
                          </a:solidFill>
                          <a:latin typeface="Calibri"/>
                        </a:rPr>
                        <a:t>AI-assisted feature</a:t>
                      </a:r>
                    </a:p>
                  </a:txBody>
                  <a:tcPr>
                    <a:solidFill>
                      <a:srgbClr val="1E2761"/>
                    </a:solidFill>
                  </a:tcPr>
                </a:tc>
                <a:tc>
                  <a:txBody>
                    <a:bodyPr/>
                    <a:lstStyle/>
                    <a:p>
                      <a:pPr algn="l"/>
                      <a:r>
                        <a:rPr b="1" sz="1250">
                          <a:solidFill>
                            <a:srgbClr val="FFFFFF"/>
                          </a:solidFill>
                          <a:latin typeface="Calibri"/>
                        </a:rPr>
                        <a:t>Gov-safe alternate</a:t>
                      </a:r>
                    </a:p>
                  </a:txBody>
                  <a:tcPr>
                    <a:solidFill>
                      <a:srgbClr val="1E2761"/>
                    </a:solidFill>
                  </a:tcPr>
                </a:tc>
                <a:tc>
                  <a:txBody>
                    <a:bodyPr/>
                    <a:lstStyle/>
                    <a:p>
                      <a:pPr algn="l"/>
                      <a:r>
                        <a:rPr b="1" sz="1250">
                          <a:solidFill>
                            <a:srgbClr val="FFFFFF"/>
                          </a:solidFill>
                          <a:latin typeface="Calibri"/>
                        </a:rPr>
                        <a:t>Trade-off</a:t>
                      </a:r>
                    </a:p>
                  </a:txBody>
                  <a:tcPr>
                    <a:solidFill>
                      <a:srgbClr val="1E2761"/>
                    </a:solidFill>
                  </a:tcPr>
                </a:tc>
              </a:tr>
              <a:tr h="582930">
                <a:tc>
                  <a:txBody>
                    <a:bodyPr/>
                    <a:lstStyle/>
                    <a:p>
                      <a:r>
                        <a:rPr sz="1150">
                          <a:solidFill>
                            <a:srgbClr val="1F2328"/>
                          </a:solidFill>
                          <a:latin typeface="Calibri"/>
                        </a:rPr>
                        <a:t>Decomposition tree</a:t>
                      </a:r>
                    </a:p>
                  </a:txBody>
                  <a:tcPr>
                    <a:solidFill>
                      <a:srgbClr val="FFFFFF"/>
                    </a:solidFill>
                  </a:tcPr>
                </a:tc>
                <a:tc>
                  <a:txBody>
                    <a:bodyPr/>
                    <a:lstStyle/>
                    <a:p>
                      <a:r>
                        <a:rPr sz="1150">
                          <a:solidFill>
                            <a:srgbClr val="1F2328"/>
                          </a:solidFill>
                          <a:latin typeface="Calibri"/>
                        </a:rPr>
                        <a:t>Matrix visual with a defined hierarchy + drillthrough page.</a:t>
                      </a:r>
                    </a:p>
                  </a:txBody>
                  <a:tcPr>
                    <a:solidFill>
                      <a:srgbClr val="FFFFFF"/>
                    </a:solidFill>
                  </a:tcPr>
                </a:tc>
                <a:tc>
                  <a:txBody>
                    <a:bodyPr/>
                    <a:lstStyle/>
                    <a:p>
                      <a:r>
                        <a:rPr sz="1150">
                          <a:solidFill>
                            <a:srgbClr val="1F2328"/>
                          </a:solidFill>
                          <a:latin typeface="Calibri"/>
                        </a:rPr>
                        <a:t>Manual drill, no AI-ranked next split.</a:t>
                      </a:r>
                    </a:p>
                  </a:txBody>
                  <a:tcPr>
                    <a:solidFill>
                      <a:srgbClr val="FFFFFF"/>
                    </a:solidFill>
                  </a:tcPr>
                </a:tc>
              </a:tr>
              <a:tr h="582930">
                <a:tc>
                  <a:txBody>
                    <a:bodyPr/>
                    <a:lstStyle/>
                    <a:p>
                      <a:r>
                        <a:rPr sz="1150">
                          <a:solidFill>
                            <a:srgbClr val="1F2328"/>
                          </a:solidFill>
                          <a:latin typeface="Calibri"/>
                        </a:rPr>
                        <a:t>Forecasting</a:t>
                      </a:r>
                    </a:p>
                  </a:txBody>
                  <a:tcPr>
                    <a:solidFill>
                      <a:srgbClr val="F6F8FC"/>
                    </a:solidFill>
                  </a:tcPr>
                </a:tc>
                <a:tc>
                  <a:txBody>
                    <a:bodyPr/>
                    <a:lstStyle/>
                    <a:p>
                      <a:r>
                        <a:rPr sz="1150">
                          <a:solidFill>
                            <a:srgbClr val="1F2328"/>
                          </a:solidFill>
                          <a:latin typeface="Calibri"/>
                        </a:rPr>
                        <a:t>Rolling-average measure plus prior-period comparison (MoM, YoY).</a:t>
                      </a:r>
                    </a:p>
                  </a:txBody>
                  <a:tcPr>
                    <a:solidFill>
                      <a:srgbClr val="F6F8FC"/>
                    </a:solidFill>
                  </a:tcPr>
                </a:tc>
                <a:tc>
                  <a:txBody>
                    <a:bodyPr/>
                    <a:lstStyle/>
                    <a:p>
                      <a:r>
                        <a:rPr sz="1150">
                          <a:solidFill>
                            <a:srgbClr val="1F2328"/>
                          </a:solidFill>
                          <a:latin typeface="Calibri"/>
                        </a:rPr>
                        <a:t>Describes trend, does not project forward.</a:t>
                      </a:r>
                    </a:p>
                  </a:txBody>
                  <a:tcPr>
                    <a:solidFill>
                      <a:srgbClr val="F6F8FC"/>
                    </a:solidFill>
                  </a:tcPr>
                </a:tc>
              </a:tr>
              <a:tr h="582930">
                <a:tc>
                  <a:txBody>
                    <a:bodyPr/>
                    <a:lstStyle/>
                    <a:p>
                      <a:r>
                        <a:rPr sz="1150">
                          <a:solidFill>
                            <a:srgbClr val="1F2328"/>
                          </a:solidFill>
                          <a:latin typeface="Calibri"/>
                        </a:rPr>
                        <a:t>Anomaly detection</a:t>
                      </a:r>
                    </a:p>
                  </a:txBody>
                  <a:tcPr>
                    <a:solidFill>
                      <a:srgbClr val="FFFFFF"/>
                    </a:solidFill>
                  </a:tcPr>
                </a:tc>
                <a:tc>
                  <a:txBody>
                    <a:bodyPr/>
                    <a:lstStyle/>
                    <a:p>
                      <a:r>
                        <a:rPr sz="1150">
                          <a:solidFill>
                            <a:srgbClr val="1F2328"/>
                          </a:solidFill>
                          <a:latin typeface="Calibri"/>
                        </a:rPr>
                        <a:t>DAX exception measure — e.g., &gt; 2 stdev from rolling mean.</a:t>
                      </a:r>
                    </a:p>
                  </a:txBody>
                  <a:tcPr>
                    <a:solidFill>
                      <a:srgbClr val="FFFFFF"/>
                    </a:solidFill>
                  </a:tcPr>
                </a:tc>
                <a:tc>
                  <a:txBody>
                    <a:bodyPr/>
                    <a:lstStyle/>
                    <a:p>
                      <a:r>
                        <a:rPr sz="1150">
                          <a:solidFill>
                            <a:srgbClr val="1F2328"/>
                          </a:solidFill>
                          <a:latin typeface="Calibri"/>
                        </a:rPr>
                        <a:t>Deterministic and auditable, but no natural-language explain.</a:t>
                      </a:r>
                    </a:p>
                  </a:txBody>
                  <a:tcPr>
                    <a:solidFill>
                      <a:srgbClr val="FFFFFF"/>
                    </a:solidFill>
                  </a:tcPr>
                </a:tc>
              </a:tr>
              <a:tr h="582930">
                <a:tc>
                  <a:txBody>
                    <a:bodyPr/>
                    <a:lstStyle/>
                    <a:p>
                      <a:r>
                        <a:rPr sz="1150">
                          <a:solidFill>
                            <a:srgbClr val="1F2328"/>
                          </a:solidFill>
                          <a:latin typeface="Calibri"/>
                        </a:rPr>
                        <a:t>Key influencers</a:t>
                      </a:r>
                    </a:p>
                  </a:txBody>
                  <a:tcPr>
                    <a:solidFill>
                      <a:srgbClr val="F6F8FC"/>
                    </a:solidFill>
                  </a:tcPr>
                </a:tc>
                <a:tc>
                  <a:txBody>
                    <a:bodyPr/>
                    <a:lstStyle/>
                    <a:p>
                      <a:r>
                        <a:rPr sz="1150">
                          <a:solidFill>
                            <a:srgbClr val="1F2328"/>
                          </a:solidFill>
                          <a:latin typeface="Calibri"/>
                        </a:rPr>
                        <a:t>Ranked Top N visuals + slicer-driven segment comparisons.</a:t>
                      </a:r>
                    </a:p>
                  </a:txBody>
                  <a:tcPr>
                    <a:solidFill>
                      <a:srgbClr val="F6F8FC"/>
                    </a:solidFill>
                  </a:tcPr>
                </a:tc>
                <a:tc>
                  <a:txBody>
                    <a:bodyPr/>
                    <a:lstStyle/>
                    <a:p>
                      <a:r>
                        <a:rPr sz="1150">
                          <a:solidFill>
                            <a:srgbClr val="1F2328"/>
                          </a:solidFill>
                          <a:latin typeface="Calibri"/>
                        </a:rPr>
                        <a:t>Human ranks drivers explicitly; no ranked statistical output.</a:t>
                      </a:r>
                    </a:p>
                  </a:txBody>
                  <a:tcPr>
                    <a:solidFill>
                      <a:srgbClr val="F6F8FC"/>
                    </a:solidFill>
                  </a:tcPr>
                </a:tc>
              </a:tr>
              <a:tr h="582930">
                <a:tc>
                  <a:txBody>
                    <a:bodyPr/>
                    <a:lstStyle/>
                    <a:p>
                      <a:r>
                        <a:rPr sz="1150">
                          <a:solidFill>
                            <a:srgbClr val="1F2328"/>
                          </a:solidFill>
                          <a:latin typeface="Calibri"/>
                        </a:rPr>
                        <a:t>Python / R visuals</a:t>
                      </a:r>
                    </a:p>
                  </a:txBody>
                  <a:tcPr>
                    <a:solidFill>
                      <a:srgbClr val="FFFFFF"/>
                    </a:solidFill>
                  </a:tcPr>
                </a:tc>
                <a:tc>
                  <a:txBody>
                    <a:bodyPr/>
                    <a:lstStyle/>
                    <a:p>
                      <a:r>
                        <a:rPr sz="1150">
                          <a:solidFill>
                            <a:srgbClr val="1F2328"/>
                          </a:solidFill>
                          <a:latin typeface="Calibri"/>
                        </a:rPr>
                        <a:t>Native visuals + trusted certified custom visuals from AppSource.</a:t>
                      </a:r>
                    </a:p>
                  </a:txBody>
                  <a:tcPr>
                    <a:solidFill>
                      <a:srgbClr val="FFFFFF"/>
                    </a:solidFill>
                  </a:tcPr>
                </a:tc>
                <a:tc>
                  <a:txBody>
                    <a:bodyPr/>
                    <a:lstStyle/>
                    <a:p>
                      <a:r>
                        <a:rPr sz="1150">
                          <a:solidFill>
                            <a:srgbClr val="1F2328"/>
                          </a:solidFill>
                          <a:latin typeface="Calibri"/>
                        </a:rPr>
                        <a:t>May not cover niche visualization types.</a:t>
                      </a:r>
                    </a:p>
                  </a:txBody>
                  <a:tcPr>
                    <a:solidFill>
                      <a:srgbClr val="FFFFFF"/>
                    </a:solidFill>
                  </a:tcPr>
                </a:tc>
              </a:tr>
              <a:tr h="582930">
                <a:tc>
                  <a:txBody>
                    <a:bodyPr/>
                    <a:lstStyle/>
                    <a:p>
                      <a:r>
                        <a:rPr sz="1150">
                          <a:solidFill>
                            <a:srgbClr val="1F2328"/>
                          </a:solidFill>
                          <a:latin typeface="Calibri"/>
                        </a:rPr>
                        <a:t>Azure ML integration</a:t>
                      </a:r>
                    </a:p>
                  </a:txBody>
                  <a:tcPr>
                    <a:solidFill>
                      <a:srgbClr val="F6F8FC"/>
                    </a:solidFill>
                  </a:tcPr>
                </a:tc>
                <a:tc>
                  <a:txBody>
                    <a:bodyPr/>
                    <a:lstStyle/>
                    <a:p>
                      <a:r>
                        <a:rPr sz="1150">
                          <a:solidFill>
                            <a:srgbClr val="1F2328"/>
                          </a:solidFill>
                          <a:latin typeface="Calibri"/>
                        </a:rPr>
                        <a:t>Import a static, pre-scored sample table.</a:t>
                      </a:r>
                    </a:p>
                  </a:txBody>
                  <a:tcPr>
                    <a:solidFill>
                      <a:srgbClr val="F6F8FC"/>
                    </a:solidFill>
                  </a:tcPr>
                </a:tc>
                <a:tc>
                  <a:txBody>
                    <a:bodyPr/>
                    <a:lstStyle/>
                    <a:p>
                      <a:r>
                        <a:rPr sz="1150">
                          <a:solidFill>
                            <a:srgbClr val="1F2328"/>
                          </a:solidFill>
                          <a:latin typeface="Calibri"/>
                        </a:rPr>
                        <a:t>No live scoring; scored offline outside the report boundary.</a:t>
                      </a:r>
                    </a:p>
                  </a:txBody>
                  <a:tcPr>
                    <a:solidFill>
                      <a:srgbClr val="F6F8FC"/>
                    </a:solidFill>
                  </a:tcPr>
                </a:tc>
              </a:tr>
              <a:tr h="582930">
                <a:tc>
                  <a:txBody>
                    <a:bodyPr/>
                    <a:lstStyle/>
                    <a:p>
                      <a:r>
                        <a:rPr sz="1150">
                          <a:solidFill>
                            <a:srgbClr val="1F2328"/>
                          </a:solidFill>
                          <a:latin typeface="Calibri"/>
                        </a:rPr>
                        <a:t>Copilot</a:t>
                      </a:r>
                    </a:p>
                  </a:txBody>
                  <a:tcPr>
                    <a:solidFill>
                      <a:srgbClr val="FFFFFF"/>
                    </a:solidFill>
                  </a:tcPr>
                </a:tc>
                <a:tc>
                  <a:txBody>
                    <a:bodyPr/>
                    <a:lstStyle/>
                    <a:p>
                      <a:r>
                        <a:rPr sz="1150">
                          <a:solidFill>
                            <a:srgbClr val="1F2328"/>
                          </a:solidFill>
                          <a:latin typeface="Calibri"/>
                        </a:rPr>
                        <a:t>Documented DAX patterns, templates, and reusable measures.</a:t>
                      </a:r>
                    </a:p>
                  </a:txBody>
                  <a:tcPr>
                    <a:solidFill>
                      <a:srgbClr val="FFFFFF"/>
                    </a:solidFill>
                  </a:tcPr>
                </a:tc>
                <a:tc>
                  <a:txBody>
                    <a:bodyPr/>
                    <a:lstStyle/>
                    <a:p>
                      <a:r>
                        <a:rPr sz="1150">
                          <a:solidFill>
                            <a:srgbClr val="1F2328"/>
                          </a:solidFill>
                          <a:latin typeface="Calibri"/>
                        </a:rPr>
                        <a:t>Slower to author, fully human-authored and reviewable.</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Rule of thumb: every AI-assisted feature above needs a documented, working, Gov-safe fallback before the report ships — even if the AI path is expected to be available. Feature toggles fail; fallbacks don't.</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11</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Delivery Decision Framework</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1. Is the feature technically available in the target tenant, cloud, and capacity? (Desktop working ≠ Service working ≠ Gov Service working.)</a:t>
            </a:r>
          </a:p>
          <a:p>
            <a:pPr>
              <a:lnSpc>
                <a:spcPct val="105000"/>
              </a:lnSpc>
              <a:spcAft>
                <a:spcPts val="1000"/>
              </a:spcAft>
              <a:buClr>
                <a:srgbClr val="1E2761"/>
              </a:buClr>
              <a:buFont typeface="Arial"/>
              <a:buChar char="•"/>
            </a:pPr>
            <a:r>
              <a:rPr sz="1450">
                <a:solidFill>
                  <a:srgbClr val="1F2328"/>
                </a:solidFill>
                <a:latin typeface="Calibri"/>
              </a:rPr>
              <a:t>2. Is it approved for use — tenant admin, workspace, and customer policy? Availability is necessary but not sufficient.</a:t>
            </a:r>
          </a:p>
          <a:p>
            <a:pPr>
              <a:lnSpc>
                <a:spcPct val="105000"/>
              </a:lnSpc>
              <a:spcAft>
                <a:spcPts val="1000"/>
              </a:spcAft>
              <a:buClr>
                <a:srgbClr val="1E2761"/>
              </a:buClr>
              <a:buFont typeface="Arial"/>
              <a:buChar char="•"/>
            </a:pPr>
            <a:r>
              <a:rPr sz="1450">
                <a:solidFill>
                  <a:srgbClr val="1F2328"/>
                </a:solidFill>
                <a:latin typeface="Calibri"/>
              </a:rPr>
              <a:t>3. Is the data residency acceptable? Where prompts, scored data, or model calls actually travel matters as much as where the report lives.</a:t>
            </a:r>
          </a:p>
          <a:p>
            <a:pPr>
              <a:lnSpc>
                <a:spcPct val="105000"/>
              </a:lnSpc>
              <a:spcAft>
                <a:spcPts val="1000"/>
              </a:spcAft>
              <a:buClr>
                <a:srgbClr val="1E2761"/>
              </a:buClr>
              <a:buFont typeface="Arial"/>
              <a:buChar char="•"/>
            </a:pPr>
            <a:r>
              <a:rPr sz="1450">
                <a:solidFill>
                  <a:srgbClr val="1F2328"/>
                </a:solidFill>
                <a:latin typeface="Calibri"/>
              </a:rPr>
              <a:t>4. Is there a documented non-AI fallback that would ship if the AI path is unavailable, unreliable, or disallowed?</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The same four questions apply to every AI or advanced analytics feature Microsoft will ship — not just today's list. This is the portable skill.</a:t>
            </a:r>
          </a:p>
          <a:p>
            <a:pPr>
              <a:lnSpc>
                <a:spcPct val="105000"/>
              </a:lnSpc>
              <a:spcAft>
                <a:spcPts val="1000"/>
              </a:spcAft>
              <a:buClr>
                <a:srgbClr val="E8B44A"/>
              </a:buClr>
              <a:buFont typeface="Arial"/>
              <a:buChar char="•"/>
            </a:pPr>
            <a:r>
              <a:rPr sz="1450">
                <a:solidFill>
                  <a:srgbClr val="1F2328"/>
                </a:solidFill>
                <a:latin typeface="Calibri"/>
              </a:rPr>
              <a:t>Any 'no' answer above should stop the delivery at that step until it's resolved — shipping first and asking later is the usual failure mode.</a:t>
            </a:r>
          </a:p>
          <a:p>
            <a:pPr>
              <a:lnSpc>
                <a:spcPct val="105000"/>
              </a:lnSpc>
              <a:spcAft>
                <a:spcPts val="1000"/>
              </a:spcAft>
              <a:buClr>
                <a:srgbClr val="E8B44A"/>
              </a:buClr>
              <a:buFont typeface="Arial"/>
              <a:buChar char="•"/>
            </a:pPr>
            <a:r>
              <a:rPr sz="1450">
                <a:solidFill>
                  <a:srgbClr val="1F2328"/>
                </a:solidFill>
                <a:latin typeface="Calibri"/>
              </a:rPr>
              <a:t>The fourth question is what makes the difference between a robust delivery and a fragile one — an AI feature is fine as an accelerator, dangerous as a dependency.</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Instructor prompt: pick any feature from the module (forecasting, Copilot, Azure ML) and walk the four questions out loud with the class — makes the framework concrete before students carry it back to work.</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12 — WHAT YOU'LL BUILD</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Module Lab Walkthrough</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1: What-if parameter 'Margin Adjustment %' + adjusted margin DAX measure (Gov-ready, required)</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Decomposition tree on Sales Amount / Gross Margin (where available)</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3: Forecast on a Sales Amount line chart with confidence intervals (where available)</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4: Key influencers on a target outcome + Top segments review (where available)</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5: Python or R visual with approved runtime and packages (optional, conceptual)</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6: Azure ML integration — architecture, identity, network, residency review (conceptual)</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7: Copilot workflows mapped to non-AI fallbacks (conceptual)</a:t>
            </a:r>
          </a:p>
        </p:txBody>
      </p:sp>
      <p:sp>
        <p:nvSpPr>
          <p:cNvPr id="27" name="Rectangle 26"/>
          <p:cNvSpPr/>
          <p:nvPr/>
        </p:nvSpPr>
        <p:spPr>
          <a:xfrm>
            <a:off x="630936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For every optional exercise: label the feature status and document the Gov-safe alternate path</a:t>
            </a:r>
          </a:p>
        </p:txBody>
      </p:sp>
      <p:sp>
        <p:nvSpPr>
          <p:cNvPr id="30" name="TextBox 29"/>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WRAP-UP</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Knowledge Check &amp; Discussion</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What-if parameter works and scenario measures respond to the slicer.</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Optional AI/advanced visuals are labeled with an availability status.</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Gov-safe alternate path is documented for each optional feature used.</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Python/R prerequisites are documented if the exercise was attempted.</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Azure ML architecture dependencies (identity, network, residency) are documented.</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Copilot content is treated as conceptual unless tenant availability was confirmed.</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Every AI-generated or ML-driven output includes human-review guidance.</a:t>
            </a:r>
          </a:p>
        </p:txBody>
      </p:sp>
      <p:sp>
        <p:nvSpPr>
          <p:cNvPr id="27" name="Rectangle 26"/>
          <p:cNvSpPr/>
          <p:nvPr/>
        </p:nvSpPr>
        <p:spPr>
          <a:xfrm>
            <a:off x="630936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Walk the four-question delivery decision framework against one feature out loud.</a:t>
            </a:r>
          </a:p>
        </p:txBody>
      </p:sp>
      <p:sp>
        <p:nvSpPr>
          <p:cNvPr id="30" name="TextBox 29"/>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058400" cy="914400"/>
          </a:xfrm>
          <a:prstGeom prst="rect">
            <a:avLst/>
          </a:prstGeom>
          <a:noFill/>
        </p:spPr>
        <p:txBody>
          <a:bodyPr wrap="square" anchor="t" lIns="0" rIns="0" tIns="0" bIns="0">
            <a:spAutoFit/>
          </a:bodyPr>
          <a:lstStyle/>
          <a:p>
            <a:pPr algn="l">
              <a:lnSpc>
                <a:spcPct val="100000"/>
              </a:lnSpc>
              <a:spcAft>
                <a:spcPts val="0"/>
              </a:spcAft>
            </a:pPr>
            <a:r>
              <a:rPr sz="3600" b="1" i="0">
                <a:solidFill>
                  <a:srgbClr val="FFFFFF"/>
                </a:solidFill>
                <a:latin typeface="Cambria"/>
              </a:rPr>
              <a:t>Module 06 Complete</a:t>
            </a:r>
          </a:p>
        </p:txBody>
      </p:sp>
      <p:sp>
        <p:nvSpPr>
          <p:cNvPr id="4" name="TextBox 3"/>
          <p:cNvSpPr txBox="1"/>
          <p:nvPr/>
        </p:nvSpPr>
        <p:spPr>
          <a:xfrm>
            <a:off x="822960" y="3017520"/>
            <a:ext cx="10058400" cy="1280160"/>
          </a:xfrm>
          <a:prstGeom prst="rect">
            <a:avLst/>
          </a:prstGeom>
          <a:noFill/>
        </p:spPr>
        <p:txBody>
          <a:bodyPr wrap="square" anchor="t" lIns="0" rIns="0" tIns="0" bIns="0">
            <a:spAutoFit/>
          </a:bodyPr>
          <a:lstStyle/>
          <a:p>
            <a:pPr algn="l">
              <a:lnSpc>
                <a:spcPct val="115000"/>
              </a:lnSpc>
              <a:spcAft>
                <a:spcPts val="0"/>
              </a:spcAft>
            </a:pPr>
            <a:r>
              <a:rPr sz="1700" b="0" i="1">
                <a:solidFill>
                  <a:srgbClr val="CADCFC"/>
                </a:solidFill>
                <a:latin typeface="Calibri"/>
              </a:rPr>
              <a:t>Learners can now build Gov-ready scenario analytics and make defensible delivery decisions about every AI-assisted feature Power BI ships — with a documented, working fallback for each one.</a:t>
            </a:r>
          </a:p>
        </p:txBody>
      </p:sp>
      <p:sp>
        <p:nvSpPr>
          <p:cNvPr id="5" name="Rectangle 4"/>
          <p:cNvSpPr/>
          <p:nvPr/>
        </p:nvSpPr>
        <p:spPr>
          <a:xfrm>
            <a:off x="822960" y="4023360"/>
            <a:ext cx="10332720" cy="10058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160520"/>
            <a:ext cx="9875520" cy="777240"/>
          </a:xfrm>
          <a:prstGeom prst="rect">
            <a:avLst/>
          </a:prstGeom>
          <a:noFill/>
        </p:spPr>
        <p:txBody>
          <a:bodyPr wrap="square" anchor="ctr" lIns="0" rIns="0" tIns="0" bIns="0">
            <a:spAutoFit/>
          </a:bodyPr>
          <a:lstStyle/>
          <a:p>
            <a:pPr algn="l">
              <a:lnSpc>
                <a:spcPct val="100000"/>
              </a:lnSpc>
              <a:spcAft>
                <a:spcPts val="0"/>
              </a:spcAft>
            </a:pPr>
            <a:r>
              <a:rPr sz="1600" b="1" i="0">
                <a:solidFill>
                  <a:srgbClr val="E8B44A"/>
                </a:solidFill>
                <a:latin typeface="Calibri"/>
              </a:rPr>
              <a:t>Up next: Module 07: Security Design — row-level security, object-level security, and workspace/tenant security patterns that govern who sees what in the models we've built.</a:t>
            </a:r>
          </a:p>
        </p:txBody>
      </p:sp>
      <p:sp>
        <p:nvSpPr>
          <p:cNvPr id="7" name="TextBox 6"/>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CADCFC"/>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