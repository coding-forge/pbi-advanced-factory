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talk track: Welcome students to this module and explain that the goal is not to memorize features. The goal is to understand when a pattern helps authors build more trustworthy, maintainable, user-friendly Power BI solutions.</a:t>
            </a:r>
          </a:p>
          <a:p>
            <a:r>
              <a:t>Module framing: Frame this module as scenario analysis with responsible use of advanced and AI-assisted features. Always provide Gov-safe fallbacks.</a:t>
            </a:r>
          </a:p>
          <a:p>
            <a:r>
              <a:t>Set expectations: presentation will introduce the theme, then the lab will let learners build or evaluate the pattern hands-on. Encourage questions about tradeoffs, not just button clicks.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Emphasize sequence and dependency. Explain what students should already know from prior modules and what this module adds on top.</a:t>
            </a:r>
          </a:p>
          <a:p>
            <a:r>
              <a:t>Module framing: Frame this module as scenario analysis with responsible use of advanced and AI-assisted features. Always provide Gov-safe fallbacks.</a:t>
            </a:r>
          </a:p>
          <a:p>
            <a:r>
              <a:t>Transition: After this slide, move from the concept map into the specific pattern or lab activity.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1. Advanced analytics vs. AI-assisted features.</a:t>
            </a:r>
          </a:p>
          <a:p>
            <a:r>
              <a:t>Talking points to expand: Talking points, learner value, and lab connection Talking points • Analytical patterns • AI visuals • External ML integration Why it helps • Copilot experiences • Governance and availability Lab connection Coverage: Covered. Use the lab README to demonstrate or discuss this topic. Review terms: experiences, external, patterns. 03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2. What-if parameters.</a:t>
            </a:r>
          </a:p>
          <a:p>
            <a:r>
              <a:t>Talking points to expand: Talking points, learner value, and lab connection Talking points • Parameter table • Generated measure Why it helps • Scenario analysis • Business interpretation Lab connection Coverage: Covered. Use the lab README to demonstrate or discuss this topic. Review terms: business. 04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3. Decomposition tree.</a:t>
            </a:r>
          </a:p>
          <a:p>
            <a:r>
              <a:t>Talking points to expand: Talking points, learner value, and lab connection Talking points • Driver analysis • Explain by fields Why it helps • Guided exploration • Availability validation Lab connection Coverage: Covered. Use the lab README to demonstrate or discuss this topic. Review terms: exploration, guided. 05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4. Forecasting.</a:t>
            </a:r>
          </a:p>
          <a:p>
            <a:r>
              <a:t>Talking points to expand: Talking points, learner value, and lab connection Talking points • Time-series requirements • Confidence intervals Why it helps • Seasonality considerations • Validation and interpretation Lab connection Coverage: Covered. Use the lab README to demonstrate or discuss this topic. Review terms: considerations, seasonality, series. 06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5. Anomaly detection.</a:t>
            </a:r>
          </a:p>
          <a:p>
            <a:r>
              <a:t>Talking points to expand: Talking points, learner value, and lab connection Talking points • Unusual trend identification • Interpretation limits Why it helps • Data quality considerations • Availability validation Lab connection Coverage: Covered. Use the lab README to demonstrate or discuss this topic. Review terms: considerations, identification, quality, unusual. 07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6. Key influencers.</a:t>
            </a:r>
          </a:p>
          <a:p>
            <a:r>
              <a:t>Talking points to expand: Talking points, learner value, and lab connection Talking points • Influencer analysis • Categorical and numeric outcomes Why it helps • Explainability and limitations • Availability validation Lab connection Coverage: Covered. Use the lab README to demonstrate or discuss this topic. Review terms: categorical, explainability, outcomes. 08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7. Python and R visuals.</a:t>
            </a:r>
          </a:p>
          <a:p>
            <a:r>
              <a:t>Talking points to expand: Talking points, learner value, and lab connection Talking points • Runtime requirements • Package governance Why it helps • Service limitations • Security considerations Lab connection Coverage: Covered. Use the lab README to demonstrate or discuss this topic. Review terms: considerations, security. 09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8. Azure Machine Learning integration.</a:t>
            </a:r>
          </a:p>
          <a:p>
            <a:r>
              <a:t>Talking points to expand: Talking points, learner value, and lab connection Talking points • Architecture overview • Identity and network Why it helps • Region and cloud alignment • Model governance Lab connection Coverage: Covered. Use the lab README to demonstrate or discuss this topic. Review terms: alignment, overview. 10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9. Copilot in Power BI/Fabric.</a:t>
            </a:r>
          </a:p>
          <a:p>
            <a:r>
              <a:t>Talking points to expand: Talking points, learner value, and lab connection Talking points • Authoring assistance • Summarization • Data exploration Why it helps • Tenant/capacity constraints • Gov availability caveats Lab connection Coverage: Covered. Use the lab README to demonstrate or discuss this topic. Review terms: assistance, authoring, caveats, exploration, summarization. 11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10. Gov-safe alternate paths.</a:t>
            </a:r>
          </a:p>
          <a:p>
            <a:r>
              <a:t>Talking points to expand: Talking points, learner value, and lab connection Talking points • What-if parameters • Manual driver analysis • Decomposition with standard visuals Why it helps • DAX-based exception flags • Documented assumptions Lab connection Coverage: Covered. Use the lab README to demonstrate or discuss this topic. Review terms: exception, flags, standard. 12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message: 11. Delivery decision framework.</a:t>
            </a:r>
          </a:p>
          <a:p>
            <a:r>
              <a:t>Talking points to expand: Talking points, learner value, and lab connection Talking points • Is the feature available? • Is it approved? Why it helps • Is data residency acceptable? • Is there a non-AI fallback? Lab connection Coverage: Covered. Use the lab README to demonstrate or discuss this topic. Review terms: acceptable, decision, framework. 13</a:t>
            </a:r>
          </a:p>
          <a:p>
            <a:r>
              <a:t>Why it matters: Frame this module as scenario analysis with responsible use of advanced and AI-assisted features. Always provide Gov-safe fallbacks.</a:t>
            </a:r>
          </a:p>
          <a:p>
            <a:r>
              <a:t>How it helps users: connect the technical pattern to clearer decisions, fewer confusing report interactions, better trust in results, or easier support.</a:t>
            </a:r>
          </a:p>
          <a:p>
            <a:r>
              <a:t>How it builds on prior lessons: reference the previous layer in the workshop, such as prepared data, a clean model, tested measures, or report UX conventions.</a:t>
            </a:r>
          </a:p>
          <a:p>
            <a:r>
              <a:t>Lab connection: Show where this concept appears in the module lab. If the lab path is conceptual or Verify for Gov, explain what learners should document instead of building hands-on.</a:t>
            </a:r>
          </a:p>
          <a:p>
            <a:r>
              <a:t>Instructor prompt: Ask one learner to describe the risk of skipping this pattern or using it without validation.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Treat this as a checkpoint. Ask learners to explain the pattern in their own words and identify where they would use it in a real report.</a:t>
            </a:r>
          </a:p>
          <a:p>
            <a:r>
              <a:t>Validation prompt: What would prove this worked? Look for a simple visual, expected filter behavior, or a documented before/after result.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guidance: Use this slide as the handoff for self-study. Do not read every link aloud. Point out which source is most relevant to the lab just completed and which source helps learners go deeper after class.</a:t>
            </a:r>
          </a:p>
          <a:p>
            <a:r>
              <a:t>Suggested prompt: Ask learners to bookmark the source that best matches the skill they want to improve next.</a:t>
            </a:r>
          </a:p>
          <a:p>
            <a:r>
              <a:t>Further learning: What-if parameters: https://learn.microsoft.com/power-bi/transform-model/desktop-what-if | Analytics pane: https://learn.microsoft.com/power-bi/create-reports/desktop-analytics-pane | AI visuals overview: https://learn.microsoft.com/power-bi/visuals/power-bi-visualization-influencers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FFFFFF"/>
                </a:solidFill>
                <a:latin typeface="Aptos Display"/>
              </a:defRPr>
            </a:pPr>
            <a:r>
              <a:t>Advanced Analytics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2C39A"/>
                </a:solidFill>
                <a:latin typeface="Aptos"/>
              </a:defRPr>
            </a:pPr>
            <a:r>
              <a:t>Student module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What students learn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Key concepts and talking points from the module outline.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0" y="1828800"/>
            <a:ext cx="91440" cy="123444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matters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How the topic helps authors and report consumers.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28800"/>
            <a:ext cx="32004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1828800"/>
            <a:ext cx="91440" cy="12344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938528"/>
            <a:ext cx="2880360" cy="106984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How labs connect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Where learners apply the theme hands-on.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Module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1. Advanced analytics vs. AI-assisted features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Analytical patterns; AI visuals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143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143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52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2. What-if parameters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Parameter table; Generated measure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2286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3. Decomposition tree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Driver analysis; Explain by fields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2286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2286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395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4. Forecasting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Time-series requirements; Confidence intervals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3429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5. Anomaly detection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Unusual trend identification; Interpretation limits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429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429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538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6. Key influencers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Influencer analysis; Categorical and numeric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4572000"/>
            <a:ext cx="9144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7. Python and R visuals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Runtime requirements; Package governance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572000"/>
            <a:ext cx="507492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572000"/>
            <a:ext cx="91440" cy="8229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754880" cy="6583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8. Azure Machine Learning integration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Architecture overview; Identity and network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1. Advanced analytics vs. AI-assisted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Analytical patterns</a:t>
            </a:r>
            <a:br/>
            <a:r>
              <a:t>• AI visuals</a:t>
            </a:r>
            <a:br/>
            <a:r>
              <a:t>• External ML integration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Copilot experiences</a:t>
            </a:r>
            <a:br/>
            <a:r>
              <a:t>• Governance and availability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2. What-if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Parameter table</a:t>
            </a:r>
            <a:br/>
            <a:r>
              <a:t>• Generated measure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Scenario analysis</a:t>
            </a:r>
            <a:br/>
            <a:r>
              <a:t>• Business interpretation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3. Decomposition tree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Driver analysis</a:t>
            </a:r>
            <a:br/>
            <a:r>
              <a:t>• Explain by fields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Guided exploration</a:t>
            </a:r>
            <a:br/>
            <a:r>
              <a:t>• Availability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4.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Time-series requirements</a:t>
            </a:r>
            <a:br/>
            <a:r>
              <a:t>• Confidence intervals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Seasonality considerations</a:t>
            </a:r>
            <a:br/>
            <a:r>
              <a:t>• Validation and interpretation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5. Anomaly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Unusual trend identification</a:t>
            </a:r>
            <a:br/>
            <a:r>
              <a:t>• Interpretation limits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Data quality considerations</a:t>
            </a:r>
            <a:br/>
            <a:r>
              <a:t>• Availability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6. Key influencers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Influencer analysis</a:t>
            </a:r>
            <a:br/>
            <a:r>
              <a:t>• Categorical and numeric outcomes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Explainability and limitations</a:t>
            </a:r>
            <a:br/>
            <a:r>
              <a:t>• Availability validation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7. Python and R visuals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Runtime requirements</a:t>
            </a:r>
            <a:br/>
            <a:r>
              <a:t>• Package governance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Service limitations</a:t>
            </a:r>
            <a:br/>
            <a:r>
              <a:t>• Security considerations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8. Azure Machine Learning integration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Architecture overview</a:t>
            </a:r>
            <a:br/>
            <a:r>
              <a:t>• Identity and network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Region and cloud alignment</a:t>
            </a:r>
            <a:br/>
            <a:r>
              <a:t>• Model governance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9. Copilot in Power BI/Fabric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Authoring assistance</a:t>
            </a:r>
            <a:br/>
            <a:r>
              <a:t>• Summarization</a:t>
            </a:r>
            <a:br/>
            <a:r>
              <a:t>• Data exploration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Tenant/capacity constraints</a:t>
            </a:r>
            <a:br/>
            <a:r>
              <a:t>• Gov availability caveats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10. Gov-safe alternate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What-if parameters</a:t>
            </a:r>
            <a:br/>
            <a:r>
              <a:t>• Manual driver analysis</a:t>
            </a:r>
            <a:br/>
            <a:r>
              <a:t>• Decomposition with standard visuals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DAX-based exception flags</a:t>
            </a:r>
            <a:br/>
            <a:r>
              <a:t>• Documented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11. Delivery decision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Is the feature available?</a:t>
            </a:r>
            <a:br/>
            <a:r>
              <a:t>• Is it approved?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Is data residency acceptable?</a:t>
            </a:r>
            <a:br/>
            <a:r>
              <a:t>• Is there a non-AI fallback?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12. Lab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34440"/>
            <a:ext cx="91440" cy="18288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Key ideas</a:t>
            </a:r>
            <a:br/>
            <a:r>
              <a:t>• Feature labels</a:t>
            </a:r>
            <a:br/>
            <a:r>
              <a:t>• Scenario output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91440" cy="18288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344168"/>
            <a:ext cx="4983480" cy="166420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Why it helps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• Governance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42416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91440" cy="868680"/>
          </a:xfrm>
          <a:prstGeom prst="rect">
            <a:avLst/>
          </a:prstGeom>
          <a:solidFill>
            <a:srgbClr val="F9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270248"/>
            <a:ext cx="10104120" cy="70408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In the lab, you will apply this pattern, validate the expected behavior, and discuss where it fits in a real Power BI solution.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761"/>
                </a:solidFill>
                <a:latin typeface="Aptos Display"/>
              </a:defRPr>
            </a:pPr>
            <a:r>
              <a:t>Sources and further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5C5C"/>
                </a:solidFill>
                <a:latin typeface="Aptos"/>
              </a:defRPr>
            </a:pPr>
            <a:r>
              <a:t>Use these official Microsoft docs for deeper study.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43000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52728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guidance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https://learn.microsoft.com/power-bi/guidance/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92807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92807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02536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Desktop docs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https://learn.microsoft.com/power-bi/fundamentals/desktop-getting-started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42615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642615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52344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Query M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https://learn.microsoft.com/powerquery-m/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3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92423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1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DAX reference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https://learn.microsoft.com/dax/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142231"/>
            <a:ext cx="1069848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142231"/>
            <a:ext cx="9144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51959"/>
            <a:ext cx="1037844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500">
                <a:solidFill>
                  <a:srgbClr val="1E2761"/>
                </a:solidFill>
                <a:latin typeface="Aptos Display"/>
              </a:defRPr>
            </a:pPr>
            <a:r>
              <a:t>Power BI Project files</a:t>
            </a:r>
          </a:p>
          <a:p>
            <a:pPr>
              <a:spcBef>
                <a:spcPts val="400"/>
              </a:spcBef>
              <a:defRPr sz="1050">
                <a:solidFill>
                  <a:srgbClr val="242424"/>
                </a:solidFill>
                <a:latin typeface="Aptos"/>
              </a:defRPr>
            </a:pPr>
            <a:r>
              <a:t>https://learn.microsoft.com/power-bi/developer/projects/projects-overview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5C5C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