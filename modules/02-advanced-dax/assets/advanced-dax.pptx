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to Module 2. Frame this module as the layer that sits directly on top of the semantic model they built in Module 1. The model gave us trusted tables and relationships; DAX is where those tables turn into trusted business logic — [Sales Amount], [Gross Margin], [Sales YTD], [Sales YoY %] and so on.</a:t>
            </a:r>
          </a:p>
          <a:p>
            <a:r>
              <a:t>Set the stakes: in an advanced Power BI course, DAX is almost never wrong because the syntax is wrong — it is wrong because the author misread the evaluation context. That is what this module fixes. Every topic today is really a different lens on the same question: 'What filter and row context is my measure seeing right now?'</a:t>
            </a:r>
          </a:p>
          <a:p>
            <a:r>
              <a:t>Preview the lab: students will build base measures ([Sales Amount], [Quantity], [Gross Margin]) on the Lab 01 model, then branch those into filter-modifying measures, time-intelligence measures, ranking and Top N patterns, dynamic titles, calculation groups, and finally an optimization pass with variables and measure branching.</a:t>
            </a:r>
          </a:p>
          <a:p>
            <a:r>
              <a:t>Call out the Azure Government angle up front: the core DAX language, CALCULATE, time-intelligence functions, and ranking are all Gov-ready because they run inside Power BI Desktop and the engine. Calculation groups, DAX Studio, Tabular Editor, and the XMLA endpoint are all 'Verify for Gov' — we will treat them as conceptual unless the tenant explicitly allows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thirteen topics briefly — don't teach yet, just orient the room. Group them mentally into four arcs: context foundations (1–3), how we shape context on purpose (4–5), patterns that solve real reporting problems (6–10), and professional practice: debugging, Gov, and validation (11–13).</a:t>
            </a:r>
          </a:p>
          <a:p>
            <a:r>
              <a:t>Call out that topic 8 (calculation groups) and parts of topic 11 (DAX Studio) are Verify-for-Gov. Depending on the classroom tenant we may cover them conceptually only and rely on native Desktop authoring instead of Tabular Editor.</a:t>
            </a:r>
          </a:p>
          <a:p>
            <a:r>
              <a:t>Tell learners the hands-on lab lines up almost one-to-one with topics 2–9: Exercise 1 is evaluation context, Exercise 2 is CALCULATE and filter modification, Exercise 3 is time intelligence, Exercise 4 is semi-additive, Exercise 5 is ranking, Exercise 6 is dynamic titles / measure switching, Exercise 7 is calculation groups, Exercise 8 is optimization. Nothing on these slides is theoretical — it all shows up in code they will type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framing sentence: 'In advanced Power BI, DAX is where business logic lives.' The definition of "sales", "gross margin", or "YTD" for the whole organization is literally one measure in this model. That's a big responsibility.</a:t>
            </a:r>
          </a:p>
          <a:p>
            <a:r>
              <a:t>Explain the failure mode concretely. Most incorrect reports don't crash — they show a wrong number. A measure that meant to sum sales at the customer grain gets dropped into a totals row and quietly double-counts, or a YTD measure runs against a malformed date table and returns blank. The engine did exactly what was asked; the author asked for the wrong thing given the context.</a:t>
            </a:r>
          </a:p>
          <a:p>
            <a:r>
              <a:t>Introduce the composition discipline that will run through the whole module: never write one giant nested CALCULATE when you can express it as [Base] → [Derived]. In this lab, [Sales Amount] is the base; [Sales YTD], [Sales Prior Year], [Sales YoY], [Sales YoY %], [Rolling 90 Day Sales] all branch off of it. If [Sales Amount] passes its test in a simple table visual, every downstream measure is testing on a solid floor.</a:t>
            </a:r>
          </a:p>
          <a:p>
            <a:r>
              <a:t>Close with a transition into the next slide: 'To compose measures safely, we have to be able to reason about context — what filters and what row scope is my measure seeing at the moment it evaluates? That is topic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slide in the module. If learners leave today understanding evaluation context, everything else — CALCULATE, filter modifiers, time intelligence — falls into place. If they don't, no amount of syntax practice will save them.</a:t>
            </a:r>
          </a:p>
          <a:p>
            <a:r>
              <a:t>Walk each row of the table. Filter context is the easy one to see: it is literally the slicers plus the axis of the visual. Emphasize that every cell of a matrix has its own filter context — that is why the same [Sales Amount] returns a different number in every cell without you writing any conditional logic.</a:t>
            </a:r>
          </a:p>
          <a:p>
            <a:r>
              <a:t>Row context is trickier because it is invisible in most measures. It only exists inside calculated columns and inside iterators — SUMX, AVERAGEX, FILTER, RANKX. Use the Exercise 1 calculated column example: FactSales[LineTotal] = FactSales[Quantity] * FactSales[UnitPrice] works only because DAX gives you an implicit 'current row' scope inside a calculated column. That same expression written as a measure would error because there is no current row.</a:t>
            </a:r>
          </a:p>
          <a:p>
            <a:r>
              <a:t>Point at the visual-totals row and explain why the grand total of an average or a ratio measure often surprises people: the totals row is a *separate* evaluation with its own (unfiltered) filter context, not a sum of the cells above. This is not a bug — it is the engine being consistent.</a:t>
            </a:r>
          </a:p>
          <a:p>
            <a:r>
              <a:t>Close with the transition: 'Row and filter context are what you get for free. In the next topic, we learn how CALCULATE lets us intentionally *change* filter context, and how it converts row context into filter context — the mechanic called context transition.'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CALCULATE as the single most important function in DAX — not because of what it computes, but because it is the *only* function that changes filter context. Every other pattern in this module is a variation on 'CALCULATE with some kind of filter argument.'</a:t>
            </a:r>
          </a:p>
          <a:p>
            <a:r>
              <a:t>Explain context transition using the SUMX example. When you write SUMX(FactSales, [Sales Amount]), the iterator walks FactSales row by row. On each row it calls [Sales Amount]. But [Sales Amount] is a measure — it needs filter context, not row context. Context transition is the engine automatically converting 'the current FactSales row' into 'a filter that keeps only that row' before [Sales Amount] runs. That is why the totals come out right.</a:t>
            </a:r>
          </a:p>
          <a:p>
            <a:r>
              <a:t>Use the calculated-column-vs-measure comparison from Exercise 1 as the concrete example. FactSales[LineTotal] = Quantity * UnitPrice as a *column* is fine — row context is implicit and the value is stored. Writing 'Total Line Amount = Quantity * UnitPrice' as a *measure* will error, because a measure has no current row. And conversely, a column can't respond to a slicer; a measure can. That is why we prefer measures for anything a report user should be able to slice.</a:t>
            </a:r>
          </a:p>
          <a:p>
            <a:r>
              <a:t>End with an instructor prompt: 'When you get to Exercise 2 and start writing CALCULATE, keep asking yourself out loud: what filter context did this measure inherit, and what am I about to change?' That habit alone prevents most DAX bugs.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a reference card learners will come back to — tell them so up front. The five functions all modify filter context, but each has a different intent, and using the wrong one gives you a measure that 'runs but lies.'</a:t>
            </a:r>
          </a:p>
          <a:p>
            <a:r>
              <a:t>Walk the rows in order. For ALL vs REMOVEFILTERS, be explicit about the difference: they do the same *filter* thing, but ALL also returns a table you can iterate. If you are inside RANKX or SUMX, use ALL. If you are just clearing filters inside CALCULATE, REMOVEFILTERS reads more clearly and signals your intent to the next author who reads the code.</a:t>
            </a:r>
          </a:p>
          <a:p>
            <a:r>
              <a:t>ALLEXCEPT is the one that trips people up. Reframe it as: 'clear everything on this table *except* the grain I explicitly name.' The Exercise 2 use case is the classic one — you want to clear customer-level filters but keep the territory grain so you can compute a share within territory.</a:t>
            </a:r>
          </a:p>
          <a:p>
            <a:r>
              <a:t>KEEPFILTERS is the opposite of the default CALCULATE behavior. Normally CALCULATE overwrites: 'set the Category filter to Bikes' replaces whatever was there. With KEEPFILTERS, the new filter intersects with the existing one — so if the user already sliced to a specific region, the region filter is preserved. Use it any time your measure has an opinion about a filter but shouldn't override user slicers.</a:t>
            </a:r>
          </a:p>
          <a:p>
            <a:r>
              <a:t>Close on TREATAS by previewing Exercise 6: the MetricSelector disconnected table isn't related to anything in the model. TREATAS is how you take the user's slicer choice from that disconnected table and *treat it as* a filter on a real column. It is the cleanest way to build measure-switching UX.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professional-discipline slide. Measure branching is not a DAX feature — it is a design habit. Sell it that way: it is how professional Power BI developers stay sane on a model with 200 measures.</a:t>
            </a:r>
          </a:p>
          <a:p>
            <a:r>
              <a:t>Walk the concrete example. In this lab, we build three base measures in Exercise 1: [Sales Amount], [Quantity], [Gross Margin]. Every single downstream measure — YTD, prior year, YoY, YoY %, rolling 90 day, product share, top-N flag, dynamic metric switch, and every calculation-group item in Exercise 7 — branches from those three. The base measures are a contract: 'this is what sales means in this model.'</a:t>
            </a:r>
          </a:p>
          <a:p>
            <a:r>
              <a:t>Use the naming example. [Sales Amount] is the noun. Adding a time context appends a suffix: [Sales YTD], [Sales Prior Year], [Sales YoY], [Sales YoY %]. When you scan the measure list alphabetically, everything that starts with 'Sales' groups together and the transformation is obvious from the name. That is not cosmetic — it is documentation.</a:t>
            </a:r>
          </a:p>
          <a:p>
            <a:r>
              <a:t>Give the format-string tip explicitly: set the currency, decimal places, and thousands separator on the base measure once via the Measure tools ribbon, and it propagates. If you forget and set it per-visual later, you will fix it in twenty places instead of one.</a:t>
            </a:r>
          </a:p>
          <a:p>
            <a:r>
              <a:t>Transition into the next topic: 'Now that we have base measures, the first thing we usually want to branch is time — YTD, prior year, YoY. That is topic 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intelligence is the pattern learners were most eager to use in Module 1 and couldn't yet. Frame it that way: 'This is the one you have been waiting for, and the entire pattern is measure branching plus a filter modifier.'</a:t>
            </a:r>
          </a:p>
          <a:p>
            <a:r>
              <a:t>Walk the table top to bottom. Notice that every derived measure is one thin CALCULATE wrapping the base [Sales Amount] measure. That is measure branching in action — [Sales YTD] doesn't re-sum FactSales[SalesAmount]; it wraps the trusted base measure.</a:t>
            </a:r>
          </a:p>
          <a:p>
            <a:r>
              <a:t>Highlight the date-table prerequisite row explicitly. The single most common 'time intelligence doesn't work' bug is a broken date table: gaps, non-contiguous dates, date table not marked, or the fact table joined on a date-time column with time components. Exercise 3 step 1 exists specifically to prevent that class of bug — don't let students skip it.</a:t>
            </a:r>
          </a:p>
          <a:p>
            <a:r>
              <a:t>Use the Rolling 90 Day example to introduce variables casually: VAR LastDate = MAX(...) is written once and reused, which is both more readable and slightly cheaper to evaluate. This is a preview of the optimization topic later.</a:t>
            </a:r>
          </a:p>
          <a:p>
            <a:r>
              <a:t>End with the validation instruction: in Exercise 3 they will put all five measures into a matrix by month with year on rows. They should see YTD ramp inside a year and reset each January, Prior Year offset one column left, YoY difference match, and YoY % handle the empty first year cleanly. If any of that is off, the fix is almost always in the date table, not the DAX.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Semi-additive is the topic students underestimate. They meet it, nod, and then months later ship an inventory report that over-counts by a factor of twelve. So invest time here even though our lab dataset is transactional.</a:t>
            </a:r>
          </a:p>
          <a:p>
            <a:r>
              <a:t>Draw the distinction concretely. FactSales is a transaction fact — every row is an event, and events add up across time: yesterday's sales plus today's sales equals a two-day total. That is fully additive.</a:t>
            </a:r>
          </a:p>
          <a:p>
            <a:r>
              <a:t>Contrast that with inventory. If you have 100 units on hand at end of January, 100 at end of February, 100 at end of March, you do not have 300 units at end of Q1 — you have 100. Same for account balances, headcount, backlog, open cases. Any measure that represents 'a level or a stock, not a flow' is semi-additive.</a:t>
            </a:r>
          </a:p>
          <a:p>
            <a:r>
              <a:t>Walk the DAX pattern. The standard approach is CALCULATE against LASTDATE of the visible date range, or capture MAX of the visible date in a variable and filter to it. Point students at the DAX Pattern Reference doc for the full canonical version — there is no need to memorize it, just know when to look it up.</a:t>
            </a:r>
          </a:p>
          <a:p>
            <a:r>
              <a:t>Close with the discussion prompt from Exercise 4: ask learners what snapshots they deal with at their own organization — inventory, headcount, contract value, open opportunities. Naming their own semi-additive cases makes the pattern stick.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the feature by showing the maintenance problem first. If we already have three base measures and want five time variants each, that is fifteen hand-written measures — and every one of them is a copy-paste of the same time-intelligence CALCULATE with a different base measure name. That is a maintenance nightmare waiting to happen.</a:t>
            </a:r>
          </a:p>
          <a:p>
            <a:r>
              <a:t>Introduce SELECTEDMEASURE() as the trick that makes calculation groups work. It is a placeholder that resolves at query time to whichever base measure the user actually put on the visual. So YTD = CALCULATE(SELECTEDMEASURE(), DATESYTD(DimOrderDate[Date])) is a single definition that works for [Sales Amount], [Gross Margin], [Quantity], and any base measure you add later.</a:t>
            </a:r>
          </a:p>
          <a:p>
            <a:r>
              <a:t>Walk the Exercise 7 layout concretely. The group is named 'Time Intelligence', the column is 'Time Calculation', and the items are Current, MTD, QTD, YTD, Fiscal YTD, Prior Year, YoY Change, YoY Change %, and Rolling 90 Days. Users drop 'Time Calculation' on a slicer or matrix column and one base measure on the values — each cell of the matrix now shows a different time variant of the same base measure.</a:t>
            </a:r>
          </a:p>
          <a:p>
            <a:r>
              <a:t>Pause on the Azure Government note. Calculation groups are Verify for Gov because authoring paths vary: native Desktop authoring depends on version; TMDL View assumes PBIP; Tabular Editor is an external tool subject to workstation policy. In a classroom on a locked-down tenant, do the concept in native Desktop only, or skip to the conceptual alternate path in the README where you hand-write the equivalent measures.</a:t>
            </a:r>
          </a:p>
          <a:p>
            <a:r>
              <a:t>Transition: 'Once base and time-intelligence logic is handled, the next common pattern report authors want is ranking — who are my top customers, and how do I make that respect the report's slicers?'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Ranking is the topic where 'which filter modifier?' becomes visible and testable in seconds. Frame it that way: 'Same RANKX expression, two different filter modifiers, two very different answers.'</a:t>
            </a:r>
          </a:p>
          <a:p>
            <a:r>
              <a:t>Walk the pattern in order. First, [Customer Sales Rank] uses RANKX over ALL(DimCustomer[CustomerName]). The ALL is essential — without it, RANKX would iterate only the customers already visible in the current filter context, and every customer's rank would be 1.</a:t>
            </a:r>
          </a:p>
          <a:p>
            <a:r>
              <a:t>Introduce [Is Top 5 Customer] as a flag measure. This is a professional pattern: don't try to do the filter and the ranking in one measure — build a rank measure and a flag measure, then use the flag on a visual-level filter. It reads cleaner and totals behave correctly.</a:t>
            </a:r>
          </a:p>
          <a:p>
            <a:r>
              <a:t>Spend real time on ALL vs ALLSELECTED. Have learners predict what happens if they slice Territory to 'Northwest' with ALL vs ALLSELECTED. ALL ignores the Territory slicer, so the rank is against the whole company. ALLSELECTED honors the Territory slicer, so the rank is 'top 5 within Northwest.' Ninety-nine times out of a hundred the report author wanted ALLSELECTED and used ALL by accident.</a:t>
            </a:r>
          </a:p>
          <a:p>
            <a:r>
              <a:t>Preview 'Top N + Other' briefly. Filtering a chart to Top 5 hides the other customers but also hides their revenue — the visible bars no longer add up to the true total. A common finishing touch is a synthetic 'Other' bar computed as [Sales Amount] on ALL customers minus [Sales Amount] on the top 5. Mention it as an extension exercise learners can try after class.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the deck moves from 'correct DAX' to 'DAX that improves report UX.' Frame it as: 'The same techniques that let us reason about context also let us respond to the user's context — slicers, selections, and choices.'</a:t>
            </a:r>
          </a:p>
          <a:p>
            <a:r>
              <a:t>Walk the dynamic title pattern first. SELECTEDVALUE returns the currently filtered value if exactly one value is in context, and its second argument otherwise. So a title measure like "Sales for " &amp; SELECTEDVALUE(DimTerritory[TerritoryName], "All Territories") gracefully handles single-select, multi-select, and no-select. Drop that measure into a card visual with no border and you have a live page title.</a:t>
            </a:r>
          </a:p>
          <a:p>
            <a:r>
              <a:t>Introduce the disconnected table concept using MetricSelector from Exercise 6. It is a manually created table with a single column of choices — Sales Amount, Gross Margin, Quantity — and no relationships to anything. The point of not connecting it is that we control how the selection is applied, via DAX.</a:t>
            </a:r>
          </a:p>
          <a:p>
            <a:r>
              <a:t>Walk the SWITCH(TRUE(), ...) pattern line by line. Emphasize the final fallback expression: what does [Selected Metric] return when the user clears the slicer or multi-selects? If you don't provide a fallback, the visual will just show BLANK — which looks like a broken report. Always end SWITCH with a sensible default (in Exercise 6, we default back to [Sales Amount]).</a:t>
            </a:r>
          </a:p>
          <a:p>
            <a:r>
              <a:t>Close by tying this to earlier topics: 'This is TREATAS territory too — if you wanted to filter FactSales rows by the disconnected selection instead of just returning a measure, TREATAS is how you would push the choice onto a real column.'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Debugging DAX is a workflow, not a feature. Sell it as a discipline: variables, simple test visuals, Performance Analyzer, and — only when tenant policy allows — DAX Studio.</a:t>
            </a:r>
          </a:p>
          <a:p>
            <a:r>
              <a:t>Walk the variables pattern with a concrete before/after. If your measure references [Sales Prior Year] three times, the engine will happily evaluate it three times too. Capturing it in VAR PriorYearValue once names the intermediate and guarantees it is computed once. Same for Rolling 90 Days — VAR LastDate = MAX(...) is written once and reused.</a:t>
            </a:r>
          </a:p>
          <a:p>
            <a:r>
              <a:t>Give the isolation workflow: card, then table with one dimension, then matrix. Any time a measure returns a surprising number in a complex matrix, drop it into a card next to it with the same slicers cleared — does the surprise persist? Add one axis at a time until it appears, and that axis is your bug.</a:t>
            </a:r>
          </a:p>
          <a:p>
            <a:r>
              <a:t>Cover Performance Analyzer as the default tool. View → Performance analyzer, Start recording, refresh visuals. Each visual reports DAX time, visual time, and 'other'. You can copy the DAX query the visual generated and paste it into a new table visual to test edits. All of this is native, Gov-ready, and doesn't require any external policy sign-off.</a:t>
            </a:r>
          </a:p>
          <a:p>
            <a:r>
              <a:t>Handle the DAX Studio question deliberately: it is a powerful tool, but it is Verify for Gov — workstation policy, external tool approval, and XMLA endpoint settings all need validation before it goes into a required workflow. Treat it as optional and mention it as 'the next step once your environment allows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make Azure Government sponsorship visible and predictable. Frame it as: 'The core DAX language does not change between commercial and Gov. What changes is the tooling around it.'</a:t>
            </a:r>
          </a:p>
          <a:p>
            <a:r>
              <a:t>Walk the top of the table quickly. Everything we covered in topics 1–7, plus topics 9–10, is Gov-ready because it runs entirely inside Desktop and the engine. No tenant policy, no external tool, no XMLA endpoint required.</a:t>
            </a:r>
          </a:p>
          <a:p>
            <a:r>
              <a:t>Slow down on calculation groups. Native Desktop authoring depends on the Desktop version being new enough to expose the ribbon command. TMDL View assumes PBIP projects with Git integration — not always available on locked-down workstations. Tabular Editor is an external tool subject to policy. In a Gov classroom, prefer native Desktop authoring, and if that isn't available, take the conceptual alternate path from the README and hand-write the equivalent measures.</a:t>
            </a:r>
          </a:p>
          <a:p>
            <a:r>
              <a:t>For DAX Studio, be explicit: it is a fantastic tool, but it is Verify for Gov. In this module we teach Performance Analyzer as the required diagnostic; DAX Studio is 'next step once your environment supports it,' not 'required today.'</a:t>
            </a:r>
          </a:p>
          <a:p>
            <a:r>
              <a:t>Close with the rule of thumb from the footer: Desktop plus core DAX is safe; anything that reaches XMLA or launches an external process needs a Verify for Gov check. That heuristic will serve learners for every future advanced Power BI feature they meet.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last teaching slide before the lab and wrap-up. Use it as a lightning review, not new material. Read each 'common mistake' aloud and ask the room if they have seen it — chances are half the group has.</a:t>
            </a:r>
          </a:p>
          <a:p>
            <a:r>
              <a:t>Spend a moment on the calculated-column-vs-measure mistake, because it is the one that experienced Excel users make most often — they instinctively reach for a column because 'that is where the calculation lives' in a spreadsheet. In a semantic model, aggregation belongs in a measure so the number responds to slicers and doesn't bloat the storage engine.</a:t>
            </a:r>
          </a:p>
          <a:p>
            <a:r>
              <a:t>For the time-intelligence mistake, remind them of the Exercise 3 validation step: before writing YTD, confirm the date table is marked and contiguous. Nine times out of ten, 'my YTD is blank' is a date table problem.</a:t>
            </a:r>
          </a:p>
          <a:p>
            <a:r>
              <a:t>Walk the card → table → matrix validation ladder as a repeatable process. Every new measure should get its own card visual with a known filter (a specific year, a specific customer) before it is trusted in a matrix. That habit alone catches most bugs before they ship.</a:t>
            </a:r>
          </a:p>
          <a:p>
            <a:r>
              <a:t>Close with the instructor prompt: 'Which of these mistakes are you most likely to make in your own reports?' Getting learners to name their own likely failure mode makes the next two weeks of applied work much more focused.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lab as a directed sequence: exercises 1–3 build the foundation, 4 is a quick concept detour, 5–6 add reporting patterns learners will use immediately, and 7–8 are the professional-practice capstone.</a:t>
            </a:r>
          </a:p>
          <a:p>
            <a:r>
              <a:t>Call out the Verify for Gov item explicitly: Exercise 7 has three paths (native Desktop, TMDL View, Tabular Editor). In a classroom on a Gov tenant, do native Desktop authoring only — that is Gov-ready — and treat TMDL and Tabular Editor as awareness only.</a:t>
            </a:r>
          </a:p>
          <a:p>
            <a:r>
              <a:t>Set expectations for pacing: exercises 1–3 will take the majority of the hands-on time because context and time intelligence are the concepts learners need to internalize. Exercises 5–8 build faster because they are pattern applications of what 1–4 already established.</a:t>
            </a:r>
          </a:p>
          <a:p>
            <a:r>
              <a:t>Remind learners to test each new measure in a card visual before dropping it into a matrix — that habit is what makes the lab tractable in the time available.</a:t>
            </a:r>
          </a:p>
          <a:p>
            <a:r>
              <a:t>Encourage them to keep the DAX Pattern Reference (linked from the module README) open in a browser tab throughout the lab — it has the canonical form of every pattern in this deck.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as a structured group review, not a quiz. Read each item aloud and get a thumbs-up around the room — anywhere you see hesitation, that is the concept to revisit before the module closes.</a:t>
            </a:r>
          </a:p>
          <a:p>
            <a:r>
              <a:t>The first three items are objective and easy to check. The next three (ranking scope, dynamic title fallback, SWITCH fallback) are where learners typically claim understanding but haven't actually tested — push them to demonstrate the fallback path in their own report.</a:t>
            </a:r>
          </a:p>
          <a:p>
            <a:r>
              <a:t>For the calculation groups item, accept 'conceptual review' as a pass in Gov classrooms. The teachable moment is being able to articulate why native Desktop authoring is Gov-ready and why TMDL and Tabular Editor need validation.</a:t>
            </a:r>
          </a:p>
          <a:p>
            <a:r>
              <a:t>The DAX optimization item is about habit, not any specific measurement — look for evidence in their code that variables and measure branching are being used reflexively.</a:t>
            </a:r>
          </a:p>
          <a:p>
            <a:r>
              <a:t>Close with the self-assessment item: 'Name one context mistake you are most likely to make.' That meta-awareness carries them into Module 3 (Power Query) and every subsequent module in the workshop.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by naming the transformation that happened today: learners walked in with a working semantic model from Module 1 and are walking out with a trusted, testable, composable measure layer on top of it. That layer is what every downstream report will build on.</a:t>
            </a:r>
          </a:p>
          <a:p>
            <a:r>
              <a:t>Reinforce the professional discipline: measure branching, context awareness, variables, and simple test visuals. Everything else — calculation groups, ranking, dynamic titles — is a specific application of those four habits.</a:t>
            </a:r>
          </a:p>
          <a:p>
            <a:r>
              <a:t>Preview Module 3, Advanced Power Query and Data Transformation. Point out the logical arc: Module 1 shaped the model, Module 2 gave it trusted business logic in DAX, and Module 3 tightens the pipeline that feeds it — M language patterns, dataflows, and refresh strategy.</a:t>
            </a:r>
          </a:p>
          <a:p>
            <a:r>
              <a:t>Thank the room, remind them to keep the DAX Pattern Reference bookmarked, and invite questions or feedback before the break.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0644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5486400" cy="457200"/>
          </a:xfrm>
          <a:prstGeom prst="rect">
            <a:avLst/>
          </a:prstGeom>
          <a:noFill/>
        </p:spPr>
        <p:txBody>
          <a:bodyPr wrap="square" anchor="t" lIns="0" rIns="0" tIns="0" bIns="0">
            <a:spAutoFit/>
          </a:bodyPr>
          <a:lstStyle/>
          <a:p>
            <a:pPr algn="l">
              <a:lnSpc>
                <a:spcPct val="100000"/>
              </a:lnSpc>
              <a:spcAft>
                <a:spcPts val="0"/>
              </a:spcAft>
            </a:pPr>
            <a:r>
              <a:rPr sz="1600" b="1" i="0">
                <a:solidFill>
                  <a:srgbClr val="E8B44A"/>
                </a:solidFill>
                <a:latin typeface="Calibri"/>
              </a:rPr>
              <a:t>MODULE 02</a:t>
            </a:r>
          </a:p>
        </p:txBody>
      </p:sp>
      <p:sp>
        <p:nvSpPr>
          <p:cNvPr id="5" name="TextBox 4"/>
          <p:cNvSpPr txBox="1"/>
          <p:nvPr/>
        </p:nvSpPr>
        <p:spPr>
          <a:xfrm>
            <a:off x="822960" y="1874519"/>
            <a:ext cx="9601200" cy="1920240"/>
          </a:xfrm>
          <a:prstGeom prst="rect">
            <a:avLst/>
          </a:prstGeom>
          <a:noFill/>
        </p:spPr>
        <p:txBody>
          <a:bodyPr wrap="square" anchor="t" lIns="0" rIns="0" tIns="0" bIns="0">
            <a:spAutoFit/>
          </a:bodyPr>
          <a:lstStyle/>
          <a:p>
            <a:pPr algn="l">
              <a:lnSpc>
                <a:spcPct val="105000"/>
              </a:lnSpc>
              <a:spcAft>
                <a:spcPts val="0"/>
              </a:spcAft>
            </a:pPr>
            <a:r>
              <a:rPr sz="4400" b="1" i="0">
                <a:solidFill>
                  <a:srgbClr val="FFFFFF"/>
                </a:solidFill>
                <a:latin typeface="Cambria"/>
              </a:rPr>
              <a:t>Advanced DAX</a:t>
            </a:r>
          </a:p>
        </p:txBody>
      </p:sp>
      <p:sp>
        <p:nvSpPr>
          <p:cNvPr id="6" name="TextBox 5"/>
          <p:cNvSpPr txBox="1"/>
          <p:nvPr/>
        </p:nvSpPr>
        <p:spPr>
          <a:xfrm>
            <a:off x="822960" y="3703320"/>
            <a:ext cx="9601200" cy="914400"/>
          </a:xfrm>
          <a:prstGeom prst="rect">
            <a:avLst/>
          </a:prstGeom>
          <a:noFill/>
        </p:spPr>
        <p:txBody>
          <a:bodyPr wrap="square" anchor="t" lIns="0" rIns="0" tIns="0" bIns="0">
            <a:spAutoFit/>
          </a:bodyPr>
          <a:lstStyle/>
          <a:p>
            <a:pPr algn="l">
              <a:lnSpc>
                <a:spcPct val="100000"/>
              </a:lnSpc>
              <a:spcAft>
                <a:spcPts val="0"/>
              </a:spcAft>
            </a:pPr>
            <a:r>
              <a:rPr sz="2000" b="0" i="1">
                <a:solidFill>
                  <a:srgbClr val="CADCFC"/>
                </a:solidFill>
                <a:latin typeface="Calibri"/>
              </a:rPr>
              <a:t>A trusted, testable measure layer on top of the Lab 01 semantic model</a:t>
            </a:r>
          </a:p>
        </p:txBody>
      </p:sp>
      <p:sp>
        <p:nvSpPr>
          <p:cNvPr id="7" name="TextBox 6"/>
          <p:cNvSpPr txBox="1"/>
          <p:nvPr/>
        </p:nvSpPr>
        <p:spPr>
          <a:xfrm>
            <a:off x="822960" y="6035040"/>
            <a:ext cx="9144000" cy="548640"/>
          </a:xfrm>
          <a:prstGeom prst="rect">
            <a:avLst/>
          </a:prstGeom>
          <a:noFill/>
        </p:spPr>
        <p:txBody>
          <a:bodyPr wrap="square" anchor="t" lIns="0" rIns="0" tIns="0" bIns="0">
            <a:spAutoFit/>
          </a:bodyPr>
          <a:lstStyle/>
          <a:p>
            <a:pPr algn="l">
              <a:lnSpc>
                <a:spcPct val="100000"/>
              </a:lnSpc>
              <a:spcAft>
                <a:spcPts val="0"/>
              </a:spcAft>
            </a:pPr>
            <a:r>
              <a:rPr sz="1300" b="0" i="0">
                <a:solidFill>
                  <a:srgbClr val="CADCFC"/>
                </a:solidFill>
                <a:latin typeface="Calibri"/>
              </a:rPr>
              <a:t>Advanced Power BI Training — Instructor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MODULE 02 AGENDA</a:t>
            </a:r>
          </a:p>
        </p:txBody>
      </p:sp>
      <p:sp>
        <p:nvSpPr>
          <p:cNvPr id="5" name="TextBox 4"/>
          <p:cNvSpPr txBox="1"/>
          <p:nvPr/>
        </p:nvSpPr>
        <p:spPr>
          <a:xfrm>
            <a:off x="640080" y="868680"/>
            <a:ext cx="8229600" cy="640080"/>
          </a:xfrm>
          <a:prstGeom prst="rect">
            <a:avLst/>
          </a:prstGeom>
          <a:noFill/>
        </p:spPr>
        <p:txBody>
          <a:bodyPr wrap="square" anchor="t" lIns="0" rIns="0" tIns="0" bIns="0">
            <a:spAutoFit/>
          </a:bodyPr>
          <a:lstStyle/>
          <a:p>
            <a:pPr algn="l">
              <a:lnSpc>
                <a:spcPct val="100000"/>
              </a:lnSpc>
              <a:spcAft>
                <a:spcPts val="0"/>
              </a:spcAft>
            </a:pPr>
            <a:r>
              <a:rPr sz="3200" b="1" i="0">
                <a:solidFill>
                  <a:srgbClr val="141B45"/>
                </a:solidFill>
                <a:latin typeface="Cambria"/>
              </a:rPr>
              <a:t>What We'll Cover</a:t>
            </a:r>
          </a:p>
        </p:txBody>
      </p:sp>
      <p:sp>
        <p:nvSpPr>
          <p:cNvPr id="6" name="Rectangle 5"/>
          <p:cNvSpPr/>
          <p:nvPr/>
        </p:nvSpPr>
        <p:spPr>
          <a:xfrm>
            <a:off x="640080" y="178308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8308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a:t>
            </a:r>
          </a:p>
        </p:txBody>
      </p:sp>
      <p:sp>
        <p:nvSpPr>
          <p:cNvPr id="8" name="TextBox 7"/>
          <p:cNvSpPr txBox="1"/>
          <p:nvPr/>
        </p:nvSpPr>
        <p:spPr>
          <a:xfrm>
            <a:off x="1170432" y="180136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Why advanced DAX matters</a:t>
            </a:r>
          </a:p>
        </p:txBody>
      </p:sp>
      <p:sp>
        <p:nvSpPr>
          <p:cNvPr id="9" name="Rectangle 8"/>
          <p:cNvSpPr/>
          <p:nvPr/>
        </p:nvSpPr>
        <p:spPr>
          <a:xfrm>
            <a:off x="640080" y="244275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4275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2</a:t>
            </a:r>
          </a:p>
        </p:txBody>
      </p:sp>
      <p:sp>
        <p:nvSpPr>
          <p:cNvPr id="11" name="TextBox 10"/>
          <p:cNvSpPr txBox="1"/>
          <p:nvPr/>
        </p:nvSpPr>
        <p:spPr>
          <a:xfrm>
            <a:off x="1170432" y="246104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Evaluation context</a:t>
            </a:r>
          </a:p>
        </p:txBody>
      </p:sp>
      <p:sp>
        <p:nvSpPr>
          <p:cNvPr id="12" name="Rectangle 11"/>
          <p:cNvSpPr/>
          <p:nvPr/>
        </p:nvSpPr>
        <p:spPr>
          <a:xfrm>
            <a:off x="640080" y="3102428"/>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102428"/>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3</a:t>
            </a:r>
          </a:p>
        </p:txBody>
      </p:sp>
      <p:sp>
        <p:nvSpPr>
          <p:cNvPr id="14" name="TextBox 13"/>
          <p:cNvSpPr txBox="1"/>
          <p:nvPr/>
        </p:nvSpPr>
        <p:spPr>
          <a:xfrm>
            <a:off x="1170432" y="3120716"/>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Context transition</a:t>
            </a:r>
          </a:p>
        </p:txBody>
      </p:sp>
      <p:sp>
        <p:nvSpPr>
          <p:cNvPr id="15" name="Rectangle 14"/>
          <p:cNvSpPr/>
          <p:nvPr/>
        </p:nvSpPr>
        <p:spPr>
          <a:xfrm>
            <a:off x="640080" y="3762102"/>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762102"/>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4</a:t>
            </a:r>
          </a:p>
        </p:txBody>
      </p:sp>
      <p:sp>
        <p:nvSpPr>
          <p:cNvPr id="17" name="TextBox 16"/>
          <p:cNvSpPr txBox="1"/>
          <p:nvPr/>
        </p:nvSpPr>
        <p:spPr>
          <a:xfrm>
            <a:off x="1170432" y="3780390"/>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Filter modification</a:t>
            </a:r>
          </a:p>
        </p:txBody>
      </p:sp>
      <p:sp>
        <p:nvSpPr>
          <p:cNvPr id="18" name="Rectangle 17"/>
          <p:cNvSpPr/>
          <p:nvPr/>
        </p:nvSpPr>
        <p:spPr>
          <a:xfrm>
            <a:off x="640080" y="4421776"/>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421776"/>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5</a:t>
            </a:r>
          </a:p>
        </p:txBody>
      </p:sp>
      <p:sp>
        <p:nvSpPr>
          <p:cNvPr id="20" name="TextBox 19"/>
          <p:cNvSpPr txBox="1"/>
          <p:nvPr/>
        </p:nvSpPr>
        <p:spPr>
          <a:xfrm>
            <a:off x="1170432" y="4440064"/>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Measure branching</a:t>
            </a:r>
          </a:p>
        </p:txBody>
      </p:sp>
      <p:sp>
        <p:nvSpPr>
          <p:cNvPr id="21" name="Rectangle 20"/>
          <p:cNvSpPr/>
          <p:nvPr/>
        </p:nvSpPr>
        <p:spPr>
          <a:xfrm>
            <a:off x="640080" y="508145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08145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6</a:t>
            </a:r>
          </a:p>
        </p:txBody>
      </p:sp>
      <p:sp>
        <p:nvSpPr>
          <p:cNvPr id="23" name="TextBox 22"/>
          <p:cNvSpPr txBox="1"/>
          <p:nvPr/>
        </p:nvSpPr>
        <p:spPr>
          <a:xfrm>
            <a:off x="1170432" y="509973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Time intelligence</a:t>
            </a:r>
          </a:p>
        </p:txBody>
      </p:sp>
      <p:sp>
        <p:nvSpPr>
          <p:cNvPr id="24" name="Rectangle 23"/>
          <p:cNvSpPr/>
          <p:nvPr/>
        </p:nvSpPr>
        <p:spPr>
          <a:xfrm>
            <a:off x="640080" y="574112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74112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7</a:t>
            </a:r>
          </a:p>
        </p:txBody>
      </p:sp>
      <p:sp>
        <p:nvSpPr>
          <p:cNvPr id="26" name="TextBox 25"/>
          <p:cNvSpPr txBox="1"/>
          <p:nvPr/>
        </p:nvSpPr>
        <p:spPr>
          <a:xfrm>
            <a:off x="1170432" y="575941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Semi-additive measures</a:t>
            </a:r>
          </a:p>
        </p:txBody>
      </p:sp>
      <p:sp>
        <p:nvSpPr>
          <p:cNvPr id="27" name="Rectangle 26"/>
          <p:cNvSpPr/>
          <p:nvPr/>
        </p:nvSpPr>
        <p:spPr>
          <a:xfrm>
            <a:off x="6309360" y="178308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178308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8</a:t>
            </a:r>
          </a:p>
        </p:txBody>
      </p:sp>
      <p:sp>
        <p:nvSpPr>
          <p:cNvPr id="29" name="TextBox 28"/>
          <p:cNvSpPr txBox="1"/>
          <p:nvPr/>
        </p:nvSpPr>
        <p:spPr>
          <a:xfrm>
            <a:off x="6839712" y="180136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Calculation groups</a:t>
            </a:r>
          </a:p>
        </p:txBody>
      </p:sp>
      <p:sp>
        <p:nvSpPr>
          <p:cNvPr id="30" name="Rectangle 29"/>
          <p:cNvSpPr/>
          <p:nvPr/>
        </p:nvSpPr>
        <p:spPr>
          <a:xfrm>
            <a:off x="6309360" y="244275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244275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9</a:t>
            </a:r>
          </a:p>
        </p:txBody>
      </p:sp>
      <p:sp>
        <p:nvSpPr>
          <p:cNvPr id="32" name="TextBox 31"/>
          <p:cNvSpPr txBox="1"/>
          <p:nvPr/>
        </p:nvSpPr>
        <p:spPr>
          <a:xfrm>
            <a:off x="6839712" y="246104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Ranking and Top N</a:t>
            </a:r>
          </a:p>
        </p:txBody>
      </p:sp>
      <p:sp>
        <p:nvSpPr>
          <p:cNvPr id="33" name="Rectangle 32"/>
          <p:cNvSpPr/>
          <p:nvPr/>
        </p:nvSpPr>
        <p:spPr>
          <a:xfrm>
            <a:off x="6309360" y="3102428"/>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3102428"/>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10</a:t>
            </a:r>
          </a:p>
        </p:txBody>
      </p:sp>
      <p:sp>
        <p:nvSpPr>
          <p:cNvPr id="35" name="TextBox 34"/>
          <p:cNvSpPr txBox="1"/>
          <p:nvPr/>
        </p:nvSpPr>
        <p:spPr>
          <a:xfrm>
            <a:off x="6839712" y="3120716"/>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Dynamic report logic</a:t>
            </a:r>
          </a:p>
        </p:txBody>
      </p:sp>
      <p:sp>
        <p:nvSpPr>
          <p:cNvPr id="36" name="Rectangle 35"/>
          <p:cNvSpPr/>
          <p:nvPr/>
        </p:nvSpPr>
        <p:spPr>
          <a:xfrm>
            <a:off x="6309360" y="3762102"/>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3762102"/>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11</a:t>
            </a:r>
          </a:p>
        </p:txBody>
      </p:sp>
      <p:sp>
        <p:nvSpPr>
          <p:cNvPr id="38" name="TextBox 37"/>
          <p:cNvSpPr txBox="1"/>
          <p:nvPr/>
        </p:nvSpPr>
        <p:spPr>
          <a:xfrm>
            <a:off x="6839712" y="3780390"/>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Debugging and optimization</a:t>
            </a:r>
          </a:p>
        </p:txBody>
      </p:sp>
      <p:sp>
        <p:nvSpPr>
          <p:cNvPr id="39" name="Rectangle 38"/>
          <p:cNvSpPr/>
          <p:nvPr/>
        </p:nvSpPr>
        <p:spPr>
          <a:xfrm>
            <a:off x="6309360" y="4421776"/>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09360" y="4421776"/>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12</a:t>
            </a:r>
          </a:p>
        </p:txBody>
      </p:sp>
      <p:sp>
        <p:nvSpPr>
          <p:cNvPr id="41" name="TextBox 40"/>
          <p:cNvSpPr txBox="1"/>
          <p:nvPr/>
        </p:nvSpPr>
        <p:spPr>
          <a:xfrm>
            <a:off x="6839712" y="4440064"/>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Azure Government considerations</a:t>
            </a:r>
          </a:p>
        </p:txBody>
      </p:sp>
      <p:sp>
        <p:nvSpPr>
          <p:cNvPr id="42" name="Rectangle 41"/>
          <p:cNvSpPr/>
          <p:nvPr/>
        </p:nvSpPr>
        <p:spPr>
          <a:xfrm>
            <a:off x="6309360" y="508145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09360" y="508145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13</a:t>
            </a:r>
          </a:p>
        </p:txBody>
      </p:sp>
      <p:sp>
        <p:nvSpPr>
          <p:cNvPr id="44" name="TextBox 43"/>
          <p:cNvSpPr txBox="1"/>
          <p:nvPr/>
        </p:nvSpPr>
        <p:spPr>
          <a:xfrm>
            <a:off x="6839712" y="509973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Knowledge check and lab review</a:t>
            </a:r>
          </a:p>
        </p:txBody>
      </p:sp>
      <p:sp>
        <p:nvSpPr>
          <p:cNvPr id="45" name="TextBox 44"/>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01</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Why Advanced DAX Matters</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Measures are where business logic lives: [Sales Amount], [Gross Margin], [Sales YTD] define what those terms officially mean for every report on this model.</a:t>
            </a:r>
          </a:p>
          <a:p>
            <a:pPr>
              <a:lnSpc>
                <a:spcPct val="105000"/>
              </a:lnSpc>
              <a:spcAft>
                <a:spcPts val="1000"/>
              </a:spcAft>
              <a:buClr>
                <a:srgbClr val="1E2761"/>
              </a:buClr>
              <a:buFont typeface="Arial"/>
              <a:buChar char="•"/>
            </a:pPr>
            <a:r>
              <a:rPr sz="1450">
                <a:solidFill>
                  <a:srgbClr val="1F2328"/>
                </a:solidFill>
                <a:latin typeface="Calibri"/>
              </a:rPr>
              <a:t>Most 'DAX bugs' in production reports are not syntax errors — they are context mistakes: the measure runs, but the filter or row context it saw wasn't what the author expected.</a:t>
            </a:r>
          </a:p>
          <a:p>
            <a:pPr>
              <a:lnSpc>
                <a:spcPct val="105000"/>
              </a:lnSpc>
              <a:spcAft>
                <a:spcPts val="1000"/>
              </a:spcAft>
              <a:buClr>
                <a:srgbClr val="1E2761"/>
              </a:buClr>
              <a:buFont typeface="Arial"/>
              <a:buChar char="•"/>
            </a:pPr>
            <a:r>
              <a:rPr sz="1450">
                <a:solidFill>
                  <a:srgbClr val="1F2328"/>
                </a:solidFill>
                <a:latin typeface="Calibri"/>
              </a:rPr>
              <a:t>The professional discipline: compose complex measures from small, tested base measures instead of writing one giant CALCULATE. If [Sales Amount] is right, then [Sales YoY %] built on top of it is dramatically easier to trust and debug.</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A measure that returns the wrong number silently is worse than one that errors — the report still renders, and stakeholders make decisions on wrong figures.</a:t>
            </a:r>
          </a:p>
          <a:p>
            <a:pPr>
              <a:lnSpc>
                <a:spcPct val="105000"/>
              </a:lnSpc>
              <a:spcAft>
                <a:spcPts val="1000"/>
              </a:spcAft>
              <a:buClr>
                <a:srgbClr val="E8B44A"/>
              </a:buClr>
              <a:buFont typeface="Arial"/>
              <a:buChar char="•"/>
            </a:pPr>
            <a:r>
              <a:rPr sz="1450">
                <a:solidFill>
                  <a:srgbClr val="1F2328"/>
                </a:solidFill>
                <a:latin typeface="Calibri"/>
              </a:rPr>
              <a:t>Composed, branched measures give you a natural test surface: verify [Sales Amount] in one visual, then every derived measure inherits that correctness.</a:t>
            </a:r>
          </a:p>
          <a:p>
            <a:pPr>
              <a:lnSpc>
                <a:spcPct val="105000"/>
              </a:lnSpc>
              <a:spcAft>
                <a:spcPts val="1000"/>
              </a:spcAft>
              <a:buClr>
                <a:srgbClr val="E8B44A"/>
              </a:buClr>
              <a:buFont typeface="Arial"/>
              <a:buChar char="•"/>
            </a:pPr>
            <a:r>
              <a:rPr sz="1450">
                <a:solidFill>
                  <a:srgbClr val="1F2328"/>
                </a:solidFill>
                <a:latin typeface="Calibri"/>
              </a:rPr>
              <a:t>Everything later in this workshop — dashboards, RLS, performance tuning — assumes the DAX measure layer is trustworthy. Fixing it later is far more expensive than getting it right now.</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every exercise in this module builds on a base [Sales Amount] measure defined in Exercise 1 — that pattern is the whole point.</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02</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Evaluation Context</a:t>
            </a:r>
          </a:p>
        </p:txBody>
      </p:sp>
      <p:graphicFrame>
        <p:nvGraphicFramePr>
          <p:cNvPr id="6" name="Table 5"/>
          <p:cNvGraphicFramePr>
            <a:graphicFrameLocks noGrp="1"/>
          </p:cNvGraphicFramePr>
          <p:nvPr/>
        </p:nvGraphicFramePr>
        <p:xfrm>
          <a:off x="640080" y="1325880"/>
          <a:ext cx="10881359" cy="4663440"/>
        </p:xfrm>
        <a:graphic>
          <a:graphicData uri="http://schemas.openxmlformats.org/drawingml/2006/table">
            <a:tbl>
              <a:tblPr firstRow="1" bandRow="1">
                <a:tableStyleId>{5C22544A-7EE6-4342-B048-85BDC9FD1C3A}</a:tableStyleId>
              </a:tblPr>
              <a:tblGrid>
                <a:gridCol w="2194560"/>
                <a:gridCol w="4937760"/>
                <a:gridCol w="3749039"/>
              </a:tblGrid>
              <a:tr h="932688">
                <a:tc>
                  <a:txBody>
                    <a:bodyPr/>
                    <a:lstStyle/>
                    <a:p>
                      <a:pPr algn="l"/>
                      <a:r>
                        <a:rPr b="1" sz="1250">
                          <a:solidFill>
                            <a:srgbClr val="FFFFFF"/>
                          </a:solidFill>
                          <a:latin typeface="Calibri"/>
                        </a:rPr>
                        <a:t>Context type</a:t>
                      </a:r>
                    </a:p>
                  </a:txBody>
                  <a:tcPr>
                    <a:solidFill>
                      <a:srgbClr val="1E2761"/>
                    </a:solidFill>
                  </a:tcPr>
                </a:tc>
                <a:tc>
                  <a:txBody>
                    <a:bodyPr/>
                    <a:lstStyle/>
                    <a:p>
                      <a:pPr algn="l"/>
                      <a:r>
                        <a:rPr b="1" sz="1250">
                          <a:solidFill>
                            <a:srgbClr val="FFFFFF"/>
                          </a:solidFill>
                          <a:latin typeface="Calibri"/>
                        </a:rPr>
                        <a:t>What it is in this lab</a:t>
                      </a:r>
                    </a:p>
                  </a:txBody>
                  <a:tcPr>
                    <a:solidFill>
                      <a:srgbClr val="1E2761"/>
                    </a:solidFill>
                  </a:tcPr>
                </a:tc>
                <a:tc>
                  <a:txBody>
                    <a:bodyPr/>
                    <a:lstStyle/>
                    <a:p>
                      <a:pPr algn="l"/>
                      <a:r>
                        <a:rPr b="1" sz="1250">
                          <a:solidFill>
                            <a:srgbClr val="FFFFFF"/>
                          </a:solidFill>
                          <a:latin typeface="Calibri"/>
                        </a:rPr>
                        <a:t>Where you see it</a:t>
                      </a:r>
                    </a:p>
                  </a:txBody>
                  <a:tcPr>
                    <a:solidFill>
                      <a:srgbClr val="1E2761"/>
                    </a:solidFill>
                  </a:tcPr>
                </a:tc>
              </a:tr>
              <a:tr h="932688">
                <a:tc>
                  <a:txBody>
                    <a:bodyPr/>
                    <a:lstStyle/>
                    <a:p>
                      <a:r>
                        <a:rPr sz="1150">
                          <a:solidFill>
                            <a:srgbClr val="1F2328"/>
                          </a:solidFill>
                          <a:latin typeface="Calibri"/>
                        </a:rPr>
                        <a:t>Filter context</a:t>
                      </a:r>
                    </a:p>
                  </a:txBody>
                  <a:tcPr>
                    <a:solidFill>
                      <a:srgbClr val="FFFFFF"/>
                    </a:solidFill>
                  </a:tcPr>
                </a:tc>
                <a:tc>
                  <a:txBody>
                    <a:bodyPr/>
                    <a:lstStyle/>
                    <a:p>
                      <a:r>
                        <a:rPr sz="1150">
                          <a:solidFill>
                            <a:srgbClr val="1F2328"/>
                          </a:solidFill>
                          <a:latin typeface="Calibri"/>
                        </a:rPr>
                        <a:t>The set of filters currently applied to the model: slicers on Territory or Date, the row/column of the current matrix cell, page and visual filters.</a:t>
                      </a:r>
                    </a:p>
                  </a:txBody>
                  <a:tcPr>
                    <a:solidFill>
                      <a:srgbClr val="FFFFFF"/>
                    </a:solidFill>
                  </a:tcPr>
                </a:tc>
                <a:tc>
                  <a:txBody>
                    <a:bodyPr/>
                    <a:lstStyle/>
                    <a:p>
                      <a:r>
                        <a:rPr sz="1150">
                          <a:solidFill>
                            <a:srgbClr val="1F2328"/>
                          </a:solidFill>
                          <a:latin typeface="Calibri"/>
                        </a:rPr>
                        <a:t>A matrix by DimCustomer[CustomerName] with a Territory slicer — each cell of [Sales Amount] sees a different filter context.</a:t>
                      </a:r>
                    </a:p>
                  </a:txBody>
                  <a:tcPr>
                    <a:solidFill>
                      <a:srgbClr val="FFFFFF"/>
                    </a:solidFill>
                  </a:tcPr>
                </a:tc>
              </a:tr>
              <a:tr h="932688">
                <a:tc>
                  <a:txBody>
                    <a:bodyPr/>
                    <a:lstStyle/>
                    <a:p>
                      <a:r>
                        <a:rPr sz="1150">
                          <a:solidFill>
                            <a:srgbClr val="1F2328"/>
                          </a:solidFill>
                          <a:latin typeface="Calibri"/>
                        </a:rPr>
                        <a:t>Row context</a:t>
                      </a:r>
                    </a:p>
                  </a:txBody>
                  <a:tcPr>
                    <a:solidFill>
                      <a:srgbClr val="F6F8FC"/>
                    </a:solidFill>
                  </a:tcPr>
                </a:tc>
                <a:tc>
                  <a:txBody>
                    <a:bodyPr/>
                    <a:lstStyle/>
                    <a:p>
                      <a:r>
                        <a:rPr sz="1150">
                          <a:solidFill>
                            <a:srgbClr val="1F2328"/>
                          </a:solidFill>
                          <a:latin typeface="Calibri"/>
                        </a:rPr>
                        <a:t>The 'current row' scope that exists inside calculated columns and inside iterator functions like SUMX, AVERAGEX, FILTER over FactSales.</a:t>
                      </a:r>
                    </a:p>
                  </a:txBody>
                  <a:tcPr>
                    <a:solidFill>
                      <a:srgbClr val="F6F8FC"/>
                    </a:solidFill>
                  </a:tcPr>
                </a:tc>
                <a:tc>
                  <a:txBody>
                    <a:bodyPr/>
                    <a:lstStyle/>
                    <a:p>
                      <a:r>
                        <a:rPr sz="1150">
                          <a:solidFill>
                            <a:srgbClr val="1F2328"/>
                          </a:solidFill>
                          <a:latin typeface="Calibri"/>
                        </a:rPr>
                        <a:t>A calculated column FactSales[LineTotal] = FactSales[Quantity] * FactSales[UnitPrice] — row context is implicit.</a:t>
                      </a:r>
                    </a:p>
                  </a:txBody>
                  <a:tcPr>
                    <a:solidFill>
                      <a:srgbClr val="F6F8FC"/>
                    </a:solidFill>
                  </a:tcPr>
                </a:tc>
              </a:tr>
              <a:tr h="932688">
                <a:tc>
                  <a:txBody>
                    <a:bodyPr/>
                    <a:lstStyle/>
                    <a:p>
                      <a:r>
                        <a:rPr sz="1150">
                          <a:solidFill>
                            <a:srgbClr val="1F2328"/>
                          </a:solidFill>
                          <a:latin typeface="Calibri"/>
                        </a:rPr>
                        <a:t>Query context</a:t>
                      </a:r>
                    </a:p>
                  </a:txBody>
                  <a:tcPr>
                    <a:solidFill>
                      <a:srgbClr val="FFFFFF"/>
                    </a:solidFill>
                  </a:tcPr>
                </a:tc>
                <a:tc>
                  <a:txBody>
                    <a:bodyPr/>
                    <a:lstStyle/>
                    <a:p>
                      <a:r>
                        <a:rPr sz="1150">
                          <a:solidFill>
                            <a:srgbClr val="1F2328"/>
                          </a:solidFill>
                          <a:latin typeface="Calibri"/>
                        </a:rPr>
                        <a:t>The DAX query the visual generates when it runs — it defines the initial filter context before any CALCULATE modifies it.</a:t>
                      </a:r>
                    </a:p>
                  </a:txBody>
                  <a:tcPr>
                    <a:solidFill>
                      <a:srgbClr val="FFFFFF"/>
                    </a:solidFill>
                  </a:tcPr>
                </a:tc>
                <a:tc>
                  <a:txBody>
                    <a:bodyPr/>
                    <a:lstStyle/>
                    <a:p>
                      <a:r>
                        <a:rPr sz="1150">
                          <a:solidFill>
                            <a:srgbClr val="1F2328"/>
                          </a:solidFill>
                          <a:latin typeface="Calibri"/>
                        </a:rPr>
                        <a:t>Performance Analyzer 'Copy query' shows the EVALUATE / SUMMARIZECOLUMNS the visual sent to the engine.</a:t>
                      </a:r>
                    </a:p>
                  </a:txBody>
                  <a:tcPr>
                    <a:solidFill>
                      <a:srgbClr val="FFFFFF"/>
                    </a:solidFill>
                  </a:tcPr>
                </a:tc>
              </a:tr>
              <a:tr h="932688">
                <a:tc>
                  <a:txBody>
                    <a:bodyPr/>
                    <a:lstStyle/>
                    <a:p>
                      <a:r>
                        <a:rPr sz="1150">
                          <a:solidFill>
                            <a:srgbClr val="1F2328"/>
                          </a:solidFill>
                          <a:latin typeface="Calibri"/>
                        </a:rPr>
                        <a:t>Visual totals</a:t>
                      </a:r>
                    </a:p>
                  </a:txBody>
                  <a:tcPr>
                    <a:solidFill>
                      <a:srgbClr val="F6F8FC"/>
                    </a:solidFill>
                  </a:tcPr>
                </a:tc>
                <a:tc>
                  <a:txBody>
                    <a:bodyPr/>
                    <a:lstStyle/>
                    <a:p>
                      <a:r>
                        <a:rPr sz="1150">
                          <a:solidFill>
                            <a:srgbClr val="1F2328"/>
                          </a:solidFill>
                          <a:latin typeface="Calibri"/>
                        </a:rPr>
                        <a:t>The totals row of a matrix evaluates its own filter context (all customers) — not the sum of the row cells above it.</a:t>
                      </a:r>
                    </a:p>
                  </a:txBody>
                  <a:tcPr>
                    <a:solidFill>
                      <a:srgbClr val="F6F8FC"/>
                    </a:solidFill>
                  </a:tcPr>
                </a:tc>
                <a:tc>
                  <a:txBody>
                    <a:bodyPr/>
                    <a:lstStyle/>
                    <a:p>
                      <a:r>
                        <a:rPr sz="1150">
                          <a:solidFill>
                            <a:srgbClr val="1F2328"/>
                          </a:solidFill>
                          <a:latin typeface="Calibri"/>
                        </a:rPr>
                        <a:t>Grand total of [Sales Amount] recomputes from scratch; that is why totals sometimes 'don't add up' when a measure isn't purely additive.</a:t>
                      </a:r>
                    </a:p>
                  </a:txBody>
                  <a:tcPr>
                    <a:solidFill>
                      <a:srgbClr val="F6F8FC"/>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Exercise 1 has learners build [Sales Amount], [Quantity], and [Gross Margin], then drop them into a matrix by customer and product category with Territory and Date slicers — exactly to feel these context shifts firsthand.</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03</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Context Transition and CALCULATE</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CALCULATE is the only function that can modify filter context. Every filter modifier in this module — ALL, REMOVEFILTERS, ALLEXCEPT, KEEPFILTERS, TREATAS — is actually an argument to CALCULATE.</a:t>
            </a:r>
          </a:p>
          <a:p>
            <a:pPr>
              <a:lnSpc>
                <a:spcPct val="105000"/>
              </a:lnSpc>
              <a:spcAft>
                <a:spcPts val="1000"/>
              </a:spcAft>
              <a:buClr>
                <a:srgbClr val="1E2761"/>
              </a:buClr>
              <a:buFont typeface="Arial"/>
              <a:buChar char="•"/>
            </a:pPr>
            <a:r>
              <a:rPr sz="1450">
                <a:solidFill>
                  <a:srgbClr val="1F2328"/>
                </a:solidFill>
                <a:latin typeface="Calibri"/>
              </a:rPr>
              <a:t>Context transition: when a measure is called inside a row context (a calculated column or an iterator like SUMX), CALCULATE implicitly converts the current row into an equivalent filter context before the measure evaluates.</a:t>
            </a:r>
          </a:p>
          <a:p>
            <a:pPr>
              <a:lnSpc>
                <a:spcPct val="105000"/>
              </a:lnSpc>
              <a:spcAft>
                <a:spcPts val="1000"/>
              </a:spcAft>
              <a:buClr>
                <a:srgbClr val="1E2761"/>
              </a:buClr>
              <a:buFont typeface="Arial"/>
              <a:buChar char="•"/>
            </a:pPr>
            <a:r>
              <a:rPr sz="1450">
                <a:solidFill>
                  <a:srgbClr val="1F2328"/>
                </a:solidFill>
                <a:latin typeface="Calibri"/>
              </a:rPr>
              <a:t>Calculated columns run once at refresh in row context and are stored. Measures run at query time in filter context. Same DAX expression can produce very different results depending on which one you write.</a:t>
            </a:r>
          </a:p>
          <a:p>
            <a:pPr>
              <a:lnSpc>
                <a:spcPct val="105000"/>
              </a:lnSpc>
              <a:spcAft>
                <a:spcPts val="1000"/>
              </a:spcAft>
              <a:buClr>
                <a:srgbClr val="1E2761"/>
              </a:buClr>
              <a:buFont typeface="Arial"/>
              <a:buChar char="•"/>
            </a:pPr>
            <a:r>
              <a:rPr sz="1450">
                <a:solidFill>
                  <a:srgbClr val="1F2328"/>
                </a:solidFill>
                <a:latin typeface="Calibri"/>
              </a:rPr>
              <a:t>Iterators (SUMX, AVERAGEX, FILTER, RANKX) create row context row-by-row over a table — use them when the calculation must happen per row before aggregation.</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Understanding context transition is the difference between a measure that works in a card and mysteriously breaks in a matrix, versus one you can trust everywhere.</a:t>
            </a:r>
          </a:p>
          <a:p>
            <a:pPr>
              <a:lnSpc>
                <a:spcPct val="105000"/>
              </a:lnSpc>
              <a:spcAft>
                <a:spcPts val="1000"/>
              </a:spcAft>
              <a:buClr>
                <a:srgbClr val="E8B44A"/>
              </a:buClr>
              <a:buFont typeface="Arial"/>
              <a:buChar char="•"/>
            </a:pPr>
            <a:r>
              <a:rPr sz="1450">
                <a:solidFill>
                  <a:srgbClr val="1F2328"/>
                </a:solidFill>
                <a:latin typeface="Calibri"/>
              </a:rPr>
              <a:t>Preferring measures over calculated columns keeps aggregation logic responsive to slicers instead of being frozen at refresh time.</a:t>
            </a:r>
          </a:p>
          <a:p>
            <a:pPr>
              <a:lnSpc>
                <a:spcPct val="105000"/>
              </a:lnSpc>
              <a:spcAft>
                <a:spcPts val="1000"/>
              </a:spcAft>
              <a:buClr>
                <a:srgbClr val="E8B44A"/>
              </a:buClr>
              <a:buFont typeface="Arial"/>
              <a:buChar char="•"/>
            </a:pPr>
            <a:r>
              <a:rPr sz="1450">
                <a:solidFill>
                  <a:srgbClr val="1F2328"/>
                </a:solidFill>
                <a:latin typeface="Calibri"/>
              </a:rPr>
              <a:t>Naming the mechanic ('context transition') makes it debuggable — when a measure surprises you inside SUMX, you now know exactly what to look for.</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1 uses one calculated column deliberately to feel row context, then Exercise 2 shifts to CALCULATE-based measures for everything real.</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04</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Filter Modification: ALL, REMOVEFILTERS, ALLEXCEPT, KEEPFILTERS, TREATAS</a:t>
            </a:r>
          </a:p>
        </p:txBody>
      </p:sp>
      <p:graphicFrame>
        <p:nvGraphicFramePr>
          <p:cNvPr id="6" name="Table 5"/>
          <p:cNvGraphicFramePr>
            <a:graphicFrameLocks noGrp="1"/>
          </p:cNvGraphicFramePr>
          <p:nvPr/>
        </p:nvGraphicFramePr>
        <p:xfrm>
          <a:off x="640080" y="1325880"/>
          <a:ext cx="10881359" cy="4663440"/>
        </p:xfrm>
        <a:graphic>
          <a:graphicData uri="http://schemas.openxmlformats.org/drawingml/2006/table">
            <a:tbl>
              <a:tblPr firstRow="1" bandRow="1">
                <a:tableStyleId>{5C22544A-7EE6-4342-B048-85BDC9FD1C3A}</a:tableStyleId>
              </a:tblPr>
              <a:tblGrid>
                <a:gridCol w="2194560"/>
                <a:gridCol w="4937760"/>
                <a:gridCol w="3749039"/>
              </a:tblGrid>
              <a:tr h="777240">
                <a:tc>
                  <a:txBody>
                    <a:bodyPr/>
                    <a:lstStyle/>
                    <a:p>
                      <a:pPr algn="l"/>
                      <a:r>
                        <a:rPr b="1" sz="1250">
                          <a:solidFill>
                            <a:srgbClr val="FFFFFF"/>
                          </a:solidFill>
                          <a:latin typeface="Calibri"/>
                        </a:rPr>
                        <a:t>Function</a:t>
                      </a:r>
                    </a:p>
                  </a:txBody>
                  <a:tcPr>
                    <a:solidFill>
                      <a:srgbClr val="1E2761"/>
                    </a:solidFill>
                  </a:tcPr>
                </a:tc>
                <a:tc>
                  <a:txBody>
                    <a:bodyPr/>
                    <a:lstStyle/>
                    <a:p>
                      <a:pPr algn="l"/>
                      <a:r>
                        <a:rPr b="1" sz="1250">
                          <a:solidFill>
                            <a:srgbClr val="FFFFFF"/>
                          </a:solidFill>
                          <a:latin typeface="Calibri"/>
                        </a:rPr>
                        <a:t>What it does</a:t>
                      </a:r>
                    </a:p>
                  </a:txBody>
                  <a:tcPr>
                    <a:solidFill>
                      <a:srgbClr val="1E2761"/>
                    </a:solidFill>
                  </a:tcPr>
                </a:tc>
                <a:tc>
                  <a:txBody>
                    <a:bodyPr/>
                    <a:lstStyle/>
                    <a:p>
                      <a:pPr algn="l"/>
                      <a:r>
                        <a:rPr b="1" sz="1250">
                          <a:solidFill>
                            <a:srgbClr val="FFFFFF"/>
                          </a:solidFill>
                          <a:latin typeface="Calibri"/>
                        </a:rPr>
                        <a:t>When to use in this lab</a:t>
                      </a:r>
                    </a:p>
                  </a:txBody>
                  <a:tcPr>
                    <a:solidFill>
                      <a:srgbClr val="1E2761"/>
                    </a:solidFill>
                  </a:tcPr>
                </a:tc>
              </a:tr>
              <a:tr h="777240">
                <a:tc>
                  <a:txBody>
                    <a:bodyPr/>
                    <a:lstStyle/>
                    <a:p>
                      <a:r>
                        <a:rPr sz="1150">
                          <a:solidFill>
                            <a:srgbClr val="1F2328"/>
                          </a:solidFill>
                          <a:latin typeface="Calibri"/>
                        </a:rPr>
                        <a:t>ALL</a:t>
                      </a:r>
                    </a:p>
                  </a:txBody>
                  <a:tcPr>
                    <a:solidFill>
                      <a:srgbClr val="FFFFFF"/>
                    </a:solidFill>
                  </a:tcPr>
                </a:tc>
                <a:tc>
                  <a:txBody>
                    <a:bodyPr/>
                    <a:lstStyle/>
                    <a:p>
                      <a:r>
                        <a:rPr sz="1150">
                          <a:solidFill>
                            <a:srgbClr val="1F2328"/>
                          </a:solidFill>
                          <a:latin typeface="Calibri"/>
                        </a:rPr>
                        <a:t>Removes filters from a table or column and returns the underlying table for iteration and ranking.</a:t>
                      </a:r>
                    </a:p>
                  </a:txBody>
                  <a:tcPr>
                    <a:solidFill>
                      <a:srgbClr val="FFFFFF"/>
                    </a:solidFill>
                  </a:tcPr>
                </a:tc>
                <a:tc>
                  <a:txBody>
                    <a:bodyPr/>
                    <a:lstStyle/>
                    <a:p>
                      <a:r>
                        <a:rPr sz="1150">
                          <a:solidFill>
                            <a:srgbClr val="1F2328"/>
                          </a:solidFill>
                          <a:latin typeface="Calibri"/>
                        </a:rPr>
                        <a:t>Denominator of a share measure, and inside RANKX where you need the full unfiltered customer set to rank against.</a:t>
                      </a:r>
                    </a:p>
                  </a:txBody>
                  <a:tcPr>
                    <a:solidFill>
                      <a:srgbClr val="FFFFFF"/>
                    </a:solidFill>
                  </a:tcPr>
                </a:tc>
              </a:tr>
              <a:tr h="777240">
                <a:tc>
                  <a:txBody>
                    <a:bodyPr/>
                    <a:lstStyle/>
                    <a:p>
                      <a:r>
                        <a:rPr sz="1150">
                          <a:solidFill>
                            <a:srgbClr val="1F2328"/>
                          </a:solidFill>
                          <a:latin typeface="Calibri"/>
                        </a:rPr>
                        <a:t>REMOVEFILTERS</a:t>
                      </a:r>
                    </a:p>
                  </a:txBody>
                  <a:tcPr>
                    <a:solidFill>
                      <a:srgbClr val="F6F8FC"/>
                    </a:solidFill>
                  </a:tcPr>
                </a:tc>
                <a:tc>
                  <a:txBody>
                    <a:bodyPr/>
                    <a:lstStyle/>
                    <a:p>
                      <a:r>
                        <a:rPr sz="1150">
                          <a:solidFill>
                            <a:srgbClr val="1F2328"/>
                          </a:solidFill>
                          <a:latin typeface="Calibri"/>
                        </a:rPr>
                        <a:t>Same filter-clearing behavior as ALL, but expressed only as a CALCULATE modifier — reads more clearly when you are not iterating.</a:t>
                      </a:r>
                    </a:p>
                  </a:txBody>
                  <a:tcPr>
                    <a:solidFill>
                      <a:srgbClr val="F6F8FC"/>
                    </a:solidFill>
                  </a:tcPr>
                </a:tc>
                <a:tc>
                  <a:txBody>
                    <a:bodyPr/>
                    <a:lstStyle/>
                    <a:p>
                      <a:r>
                        <a:rPr sz="1150">
                          <a:solidFill>
                            <a:srgbClr val="1F2328"/>
                          </a:solidFill>
                          <a:latin typeface="Calibri"/>
                        </a:rPr>
                        <a:t>Product Sales Share = DIVIDE([Sales Amount], CALCULATE([Sales Amount], REMOVEFILTERS(DimProduct))).</a:t>
                      </a:r>
                    </a:p>
                  </a:txBody>
                  <a:tcPr>
                    <a:solidFill>
                      <a:srgbClr val="F6F8FC"/>
                    </a:solidFill>
                  </a:tcPr>
                </a:tc>
              </a:tr>
              <a:tr h="777240">
                <a:tc>
                  <a:txBody>
                    <a:bodyPr/>
                    <a:lstStyle/>
                    <a:p>
                      <a:r>
                        <a:rPr sz="1150">
                          <a:solidFill>
                            <a:srgbClr val="1F2328"/>
                          </a:solidFill>
                          <a:latin typeface="Calibri"/>
                        </a:rPr>
                        <a:t>ALLEXCEPT</a:t>
                      </a:r>
                    </a:p>
                  </a:txBody>
                  <a:tcPr>
                    <a:solidFill>
                      <a:srgbClr val="FFFFFF"/>
                    </a:solidFill>
                  </a:tcPr>
                </a:tc>
                <a:tc>
                  <a:txBody>
                    <a:bodyPr/>
                    <a:lstStyle/>
                    <a:p>
                      <a:r>
                        <a:rPr sz="1150">
                          <a:solidFill>
                            <a:srgbClr val="1F2328"/>
                          </a:solidFill>
                          <a:latin typeface="Calibri"/>
                        </a:rPr>
                        <a:t>Clears filters from a table except the columns you name — keeps a chosen grain and drops the rest.</a:t>
                      </a:r>
                    </a:p>
                  </a:txBody>
                  <a:tcPr>
                    <a:solidFill>
                      <a:srgbClr val="FFFFFF"/>
                    </a:solidFill>
                  </a:tcPr>
                </a:tc>
                <a:tc>
                  <a:txBody>
                    <a:bodyPr/>
                    <a:lstStyle/>
                    <a:p>
                      <a:r>
                        <a:rPr sz="1150">
                          <a:solidFill>
                            <a:srgbClr val="1F2328"/>
                          </a:solidFill>
                          <a:latin typeface="Calibri"/>
                        </a:rPr>
                        <a:t>Territory-level share within a customer segment: clear customer filters but keep DimTerritory[TerritoryName].</a:t>
                      </a:r>
                    </a:p>
                  </a:txBody>
                  <a:tcPr>
                    <a:solidFill>
                      <a:srgbClr val="FFFFFF"/>
                    </a:solidFill>
                  </a:tcPr>
                </a:tc>
              </a:tr>
              <a:tr h="777240">
                <a:tc>
                  <a:txBody>
                    <a:bodyPr/>
                    <a:lstStyle/>
                    <a:p>
                      <a:r>
                        <a:rPr sz="1150">
                          <a:solidFill>
                            <a:srgbClr val="1F2328"/>
                          </a:solidFill>
                          <a:latin typeface="Calibri"/>
                        </a:rPr>
                        <a:t>KEEPFILTERS</a:t>
                      </a:r>
                    </a:p>
                  </a:txBody>
                  <a:tcPr>
                    <a:solidFill>
                      <a:srgbClr val="F6F8FC"/>
                    </a:solidFill>
                  </a:tcPr>
                </a:tc>
                <a:tc>
                  <a:txBody>
                    <a:bodyPr/>
                    <a:lstStyle/>
                    <a:p>
                      <a:r>
                        <a:rPr sz="1150">
                          <a:solidFill>
                            <a:srgbClr val="1F2328"/>
                          </a:solidFill>
                          <a:latin typeface="Calibri"/>
                        </a:rPr>
                        <a:t>Adds to the existing filter context instead of overwriting it — the intersection of the current filter and the new one wins.</a:t>
                      </a:r>
                    </a:p>
                  </a:txBody>
                  <a:tcPr>
                    <a:solidFill>
                      <a:srgbClr val="F6F8FC"/>
                    </a:solidFill>
                  </a:tcPr>
                </a:tc>
                <a:tc>
                  <a:txBody>
                    <a:bodyPr/>
                    <a:lstStyle/>
                    <a:p>
                      <a:r>
                        <a:rPr sz="1150">
                          <a:solidFill>
                            <a:srgbClr val="1F2328"/>
                          </a:solidFill>
                          <a:latin typeface="Calibri"/>
                        </a:rPr>
                        <a:t>'Sales for Enterprise customers only' inside a report already filtered by Region — KEEPFILTERS preserves the Region filter.</a:t>
                      </a:r>
                    </a:p>
                  </a:txBody>
                  <a:tcPr>
                    <a:solidFill>
                      <a:srgbClr val="F6F8FC"/>
                    </a:solidFill>
                  </a:tcPr>
                </a:tc>
              </a:tr>
              <a:tr h="777240">
                <a:tc>
                  <a:txBody>
                    <a:bodyPr/>
                    <a:lstStyle/>
                    <a:p>
                      <a:r>
                        <a:rPr sz="1150">
                          <a:solidFill>
                            <a:srgbClr val="1F2328"/>
                          </a:solidFill>
                          <a:latin typeface="Calibri"/>
                        </a:rPr>
                        <a:t>TREATAS</a:t>
                      </a:r>
                    </a:p>
                  </a:txBody>
                  <a:tcPr>
                    <a:solidFill>
                      <a:srgbClr val="FFFFFF"/>
                    </a:solidFill>
                  </a:tcPr>
                </a:tc>
                <a:tc>
                  <a:txBody>
                    <a:bodyPr/>
                    <a:lstStyle/>
                    <a:p>
                      <a:r>
                        <a:rPr sz="1150">
                          <a:solidFill>
                            <a:srgbClr val="1F2328"/>
                          </a:solidFill>
                          <a:latin typeface="Calibri"/>
                        </a:rPr>
                        <a:t>Applies the values of a disconnected table (or an unrelated column) as if they were a filter on a model column.</a:t>
                      </a:r>
                    </a:p>
                  </a:txBody>
                  <a:tcPr>
                    <a:solidFill>
                      <a:srgbClr val="FFFFFF"/>
                    </a:solidFill>
                  </a:tcPr>
                </a:tc>
                <a:tc>
                  <a:txBody>
                    <a:bodyPr/>
                    <a:lstStyle/>
                    <a:p>
                      <a:r>
                        <a:rPr sz="1150">
                          <a:solidFill>
                            <a:srgbClr val="1F2328"/>
                          </a:solidFill>
                          <a:latin typeface="Calibri"/>
                        </a:rPr>
                        <a:t>MetricSelector disconnected table in Exercise 6: TREATAS pushes the user's slicer choice onto a real column.</a:t>
                      </a:r>
                    </a:p>
                  </a:txBody>
                  <a:tcPr>
                    <a:solidFill>
                      <a:srgbClr val="FFFFFF"/>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Concept note from README: choose REMOVEFILTERS when you want to clear one table, ALL when you also need the returned table for iteration/ranking, ALLEXCEPT when you want to preserve a named grain, and TREATAS when a disconnected selection must be applied to a model column.</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05</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Measure Branching</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Define small, formatted base measures once: [Sales Amount] = SUM(FactSales[SalesAmount]), [Quantity] = SUM(FactSales[OrderQuantity]), [Gross Margin] = [Sales Amount] - [Total Cost].</a:t>
            </a:r>
          </a:p>
          <a:p>
            <a:pPr>
              <a:lnSpc>
                <a:spcPct val="105000"/>
              </a:lnSpc>
              <a:spcAft>
                <a:spcPts val="1000"/>
              </a:spcAft>
              <a:buClr>
                <a:srgbClr val="1E2761"/>
              </a:buClr>
              <a:buFont typeface="Arial"/>
              <a:buChar char="•"/>
            </a:pPr>
            <a:r>
              <a:rPr sz="1450">
                <a:solidFill>
                  <a:srgbClr val="1F2328"/>
                </a:solidFill>
                <a:latin typeface="Calibri"/>
              </a:rPr>
              <a:t>Build every derived measure from those bases: [Sales YoY] wraps [Sales Amount] in a time-intelligence CALCULATE; [Product Sales Share] divides [Sales Amount] by a REMOVEFILTERS version of itself; [Sales YoY %] divides [Sales YoY] by [Sales Prior Year].</a:t>
            </a:r>
          </a:p>
          <a:p>
            <a:pPr>
              <a:lnSpc>
                <a:spcPct val="105000"/>
              </a:lnSpc>
              <a:spcAft>
                <a:spcPts val="1000"/>
              </a:spcAft>
              <a:buClr>
                <a:srgbClr val="1E2761"/>
              </a:buClr>
              <a:buFont typeface="Arial"/>
              <a:buChar char="•"/>
            </a:pPr>
            <a:r>
              <a:rPr sz="1450">
                <a:solidFill>
                  <a:srgbClr val="1F2328"/>
                </a:solidFill>
                <a:latin typeface="Calibri"/>
              </a:rPr>
              <a:t>Naming discipline: base measures are nouns ([Sales Amount]); derived measures append the transformation ([Sales YTD], [Sales Prior Year], [Sales YoY %]). Consistency makes the measure list self-documenting.</a:t>
            </a:r>
          </a:p>
          <a:p>
            <a:pPr>
              <a:lnSpc>
                <a:spcPct val="105000"/>
              </a:lnSpc>
              <a:spcAft>
                <a:spcPts val="1000"/>
              </a:spcAft>
              <a:buClr>
                <a:srgbClr val="1E2761"/>
              </a:buClr>
              <a:buFont typeface="Arial"/>
              <a:buChar char="•"/>
            </a:pPr>
            <a:r>
              <a:rPr sz="1450">
                <a:solidFill>
                  <a:srgbClr val="1F2328"/>
                </a:solidFill>
                <a:latin typeface="Calibri"/>
              </a:rPr>
              <a:t>Set format strings on the Measure tools ribbon before the measure is used elsewhere — that formatting flows automatically into every visual.</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One place to fix logic: if the definition of 'sales' ever changes (net vs gross, excluding returns), you edit [Sales Amount] and every derived measure inherits it.</a:t>
            </a:r>
          </a:p>
          <a:p>
            <a:pPr>
              <a:lnSpc>
                <a:spcPct val="105000"/>
              </a:lnSpc>
              <a:spcAft>
                <a:spcPts val="1000"/>
              </a:spcAft>
              <a:buClr>
                <a:srgbClr val="E8B44A"/>
              </a:buClr>
              <a:buFont typeface="Arial"/>
              <a:buChar char="•"/>
            </a:pPr>
            <a:r>
              <a:rPr sz="1450">
                <a:solidFill>
                  <a:srgbClr val="1F2328"/>
                </a:solidFill>
                <a:latin typeface="Calibri"/>
              </a:rPr>
              <a:t>Testable in isolation: verify each base measure against a known value in a card visual first, then trust it downstream.</a:t>
            </a:r>
          </a:p>
          <a:p>
            <a:pPr>
              <a:lnSpc>
                <a:spcPct val="105000"/>
              </a:lnSpc>
              <a:spcAft>
                <a:spcPts val="1000"/>
              </a:spcAft>
              <a:buClr>
                <a:srgbClr val="E8B44A"/>
              </a:buClr>
              <a:buFont typeface="Arial"/>
              <a:buChar char="•"/>
            </a:pPr>
            <a:r>
              <a:rPr sz="1450">
                <a:solidFill>
                  <a:srgbClr val="1F2328"/>
                </a:solidFill>
                <a:latin typeface="Calibri"/>
              </a:rPr>
              <a:t>Readable DAX: [Sales YoY] = [Sales Amount] - [Sales Prior Year] is instantly understandable; a nested CALCULATE that recomputes SUM(SalesAmount) twice is not.</a:t>
            </a:r>
          </a:p>
          <a:p>
            <a:pPr>
              <a:lnSpc>
                <a:spcPct val="105000"/>
              </a:lnSpc>
              <a:spcAft>
                <a:spcPts val="1000"/>
              </a:spcAft>
              <a:buClr>
                <a:srgbClr val="E8B44A"/>
              </a:buClr>
              <a:buFont typeface="Arial"/>
              <a:buChar char="•"/>
            </a:pPr>
            <a:r>
              <a:rPr sz="1450">
                <a:solidFill>
                  <a:srgbClr val="1F2328"/>
                </a:solidFill>
                <a:latin typeface="Calibri"/>
              </a:rPr>
              <a:t>Reusable across the whole model — the same [Sales Amount] powers cards, matrices, time intelligence, ranking, and the calculation group in Exercise 7.</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1 defines the base measures; every later exercise (2–8) branches off them. The 'Concept note: measure branching and naming' in the README is worth reading verbatim to students.</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06</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Time Intelligence</a:t>
            </a:r>
          </a:p>
        </p:txBody>
      </p:sp>
      <p:graphicFrame>
        <p:nvGraphicFramePr>
          <p:cNvPr id="6" name="Table 5"/>
          <p:cNvGraphicFramePr>
            <a:graphicFrameLocks noGrp="1"/>
          </p:cNvGraphicFramePr>
          <p:nvPr/>
        </p:nvGraphicFramePr>
        <p:xfrm>
          <a:off x="640080" y="1325880"/>
          <a:ext cx="10881360" cy="4663440"/>
        </p:xfrm>
        <a:graphic>
          <a:graphicData uri="http://schemas.openxmlformats.org/drawingml/2006/table">
            <a:tbl>
              <a:tblPr firstRow="1" bandRow="1">
                <a:tableStyleId>{5C22544A-7EE6-4342-B048-85BDC9FD1C3A}</a:tableStyleId>
              </a:tblPr>
              <a:tblGrid>
                <a:gridCol w="2377440"/>
                <a:gridCol w="5394960"/>
                <a:gridCol w="3108960"/>
              </a:tblGrid>
              <a:tr h="666205">
                <a:tc>
                  <a:txBody>
                    <a:bodyPr/>
                    <a:lstStyle/>
                    <a:p>
                      <a:pPr algn="l"/>
                      <a:r>
                        <a:rPr b="1" sz="1250">
                          <a:solidFill>
                            <a:srgbClr val="FFFFFF"/>
                          </a:solidFill>
                          <a:latin typeface="Calibri"/>
                        </a:rPr>
                        <a:t>Measure</a:t>
                      </a:r>
                    </a:p>
                  </a:txBody>
                  <a:tcPr>
                    <a:solidFill>
                      <a:srgbClr val="1E2761"/>
                    </a:solidFill>
                  </a:tcPr>
                </a:tc>
                <a:tc>
                  <a:txBody>
                    <a:bodyPr/>
                    <a:lstStyle/>
                    <a:p>
                      <a:pPr algn="l"/>
                      <a:r>
                        <a:rPr b="1" sz="1250">
                          <a:solidFill>
                            <a:srgbClr val="FFFFFF"/>
                          </a:solidFill>
                          <a:latin typeface="Calibri"/>
                        </a:rPr>
                        <a:t>Expression pattern (Exercise 3)</a:t>
                      </a:r>
                    </a:p>
                  </a:txBody>
                  <a:tcPr>
                    <a:solidFill>
                      <a:srgbClr val="1E2761"/>
                    </a:solidFill>
                  </a:tcPr>
                </a:tc>
                <a:tc>
                  <a:txBody>
                    <a:bodyPr/>
                    <a:lstStyle/>
                    <a:p>
                      <a:pPr algn="l"/>
                      <a:r>
                        <a:rPr b="1" sz="1250">
                          <a:solidFill>
                            <a:srgbClr val="FFFFFF"/>
                          </a:solidFill>
                          <a:latin typeface="Calibri"/>
                        </a:rPr>
                        <a:t>What it answers</a:t>
                      </a:r>
                    </a:p>
                  </a:txBody>
                  <a:tcPr>
                    <a:solidFill>
                      <a:srgbClr val="1E2761"/>
                    </a:solidFill>
                  </a:tcPr>
                </a:tc>
              </a:tr>
              <a:tr h="666205">
                <a:tc>
                  <a:txBody>
                    <a:bodyPr/>
                    <a:lstStyle/>
                    <a:p>
                      <a:r>
                        <a:rPr sz="1150">
                          <a:solidFill>
                            <a:srgbClr val="1F2328"/>
                          </a:solidFill>
                          <a:latin typeface="Calibri"/>
                        </a:rPr>
                        <a:t>Sales YTD</a:t>
                      </a:r>
                    </a:p>
                  </a:txBody>
                  <a:tcPr>
                    <a:solidFill>
                      <a:srgbClr val="FFFFFF"/>
                    </a:solidFill>
                  </a:tcPr>
                </a:tc>
                <a:tc>
                  <a:txBody>
                    <a:bodyPr/>
                    <a:lstStyle/>
                    <a:p>
                      <a:r>
                        <a:rPr sz="1150">
                          <a:solidFill>
                            <a:srgbClr val="1F2328"/>
                          </a:solidFill>
                          <a:latin typeface="Calibri"/>
                        </a:rPr>
                        <a:t>CALCULATE([Sales Amount], DATESYTD(DimOrderDate[Date]))</a:t>
                      </a:r>
                    </a:p>
                  </a:txBody>
                  <a:tcPr>
                    <a:solidFill>
                      <a:srgbClr val="FFFFFF"/>
                    </a:solidFill>
                  </a:tcPr>
                </a:tc>
                <a:tc>
                  <a:txBody>
                    <a:bodyPr/>
                    <a:lstStyle/>
                    <a:p>
                      <a:r>
                        <a:rPr sz="1150">
                          <a:solidFill>
                            <a:srgbClr val="1F2328"/>
                          </a:solidFill>
                          <a:latin typeface="Calibri"/>
                        </a:rPr>
                        <a:t>Sales from start of year through the currently filtered date.</a:t>
                      </a:r>
                    </a:p>
                  </a:txBody>
                  <a:tcPr>
                    <a:solidFill>
                      <a:srgbClr val="FFFFFF"/>
                    </a:solidFill>
                  </a:tcPr>
                </a:tc>
              </a:tr>
              <a:tr h="666205">
                <a:tc>
                  <a:txBody>
                    <a:bodyPr/>
                    <a:lstStyle/>
                    <a:p>
                      <a:r>
                        <a:rPr sz="1150">
                          <a:solidFill>
                            <a:srgbClr val="1F2328"/>
                          </a:solidFill>
                          <a:latin typeface="Calibri"/>
                        </a:rPr>
                        <a:t>Sales Prior Year</a:t>
                      </a:r>
                    </a:p>
                  </a:txBody>
                  <a:tcPr>
                    <a:solidFill>
                      <a:srgbClr val="F6F8FC"/>
                    </a:solidFill>
                  </a:tcPr>
                </a:tc>
                <a:tc>
                  <a:txBody>
                    <a:bodyPr/>
                    <a:lstStyle/>
                    <a:p>
                      <a:r>
                        <a:rPr sz="1150">
                          <a:solidFill>
                            <a:srgbClr val="1F2328"/>
                          </a:solidFill>
                          <a:latin typeface="Calibri"/>
                        </a:rPr>
                        <a:t>CALCULATE([Sales Amount], SAMEPERIODLASTYEAR(DimOrderDate[Date]))</a:t>
                      </a:r>
                    </a:p>
                  </a:txBody>
                  <a:tcPr>
                    <a:solidFill>
                      <a:srgbClr val="F6F8FC"/>
                    </a:solidFill>
                  </a:tcPr>
                </a:tc>
                <a:tc>
                  <a:txBody>
                    <a:bodyPr/>
                    <a:lstStyle/>
                    <a:p>
                      <a:r>
                        <a:rPr sz="1150">
                          <a:solidFill>
                            <a:srgbClr val="1F2328"/>
                          </a:solidFill>
                          <a:latin typeface="Calibri"/>
                        </a:rPr>
                        <a:t>The same period one year ago — baseline for YoY.</a:t>
                      </a:r>
                    </a:p>
                  </a:txBody>
                  <a:tcPr>
                    <a:solidFill>
                      <a:srgbClr val="F6F8FC"/>
                    </a:solidFill>
                  </a:tcPr>
                </a:tc>
              </a:tr>
              <a:tr h="666205">
                <a:tc>
                  <a:txBody>
                    <a:bodyPr/>
                    <a:lstStyle/>
                    <a:p>
                      <a:r>
                        <a:rPr sz="1150">
                          <a:solidFill>
                            <a:srgbClr val="1F2328"/>
                          </a:solidFill>
                          <a:latin typeface="Calibri"/>
                        </a:rPr>
                        <a:t>Sales YoY</a:t>
                      </a:r>
                    </a:p>
                  </a:txBody>
                  <a:tcPr>
                    <a:solidFill>
                      <a:srgbClr val="FFFFFF"/>
                    </a:solidFill>
                  </a:tcPr>
                </a:tc>
                <a:tc>
                  <a:txBody>
                    <a:bodyPr/>
                    <a:lstStyle/>
                    <a:p>
                      <a:r>
                        <a:rPr sz="1150">
                          <a:solidFill>
                            <a:srgbClr val="1F2328"/>
                          </a:solidFill>
                          <a:latin typeface="Calibri"/>
                        </a:rPr>
                        <a:t>[Sales Amount] - [Sales Prior Year]</a:t>
                      </a:r>
                    </a:p>
                  </a:txBody>
                  <a:tcPr>
                    <a:solidFill>
                      <a:srgbClr val="FFFFFF"/>
                    </a:solidFill>
                  </a:tcPr>
                </a:tc>
                <a:tc>
                  <a:txBody>
                    <a:bodyPr/>
                    <a:lstStyle/>
                    <a:p>
                      <a:r>
                        <a:rPr sz="1150">
                          <a:solidFill>
                            <a:srgbClr val="1F2328"/>
                          </a:solidFill>
                          <a:latin typeface="Calibri"/>
                        </a:rPr>
                        <a:t>Absolute change vs the same period last year.</a:t>
                      </a:r>
                    </a:p>
                  </a:txBody>
                  <a:tcPr>
                    <a:solidFill>
                      <a:srgbClr val="FFFFFF"/>
                    </a:solidFill>
                  </a:tcPr>
                </a:tc>
              </a:tr>
              <a:tr h="666205">
                <a:tc>
                  <a:txBody>
                    <a:bodyPr/>
                    <a:lstStyle/>
                    <a:p>
                      <a:r>
                        <a:rPr sz="1150">
                          <a:solidFill>
                            <a:srgbClr val="1F2328"/>
                          </a:solidFill>
                          <a:latin typeface="Calibri"/>
                        </a:rPr>
                        <a:t>Sales YoY %</a:t>
                      </a:r>
                    </a:p>
                  </a:txBody>
                  <a:tcPr>
                    <a:solidFill>
                      <a:srgbClr val="F6F8FC"/>
                    </a:solidFill>
                  </a:tcPr>
                </a:tc>
                <a:tc>
                  <a:txBody>
                    <a:bodyPr/>
                    <a:lstStyle/>
                    <a:p>
                      <a:r>
                        <a:rPr sz="1150">
                          <a:solidFill>
                            <a:srgbClr val="1F2328"/>
                          </a:solidFill>
                          <a:latin typeface="Calibri"/>
                        </a:rPr>
                        <a:t>DIVIDE([Sales YoY], [Sales Prior Year])</a:t>
                      </a:r>
                    </a:p>
                  </a:txBody>
                  <a:tcPr>
                    <a:solidFill>
                      <a:srgbClr val="F6F8FC"/>
                    </a:solidFill>
                  </a:tcPr>
                </a:tc>
                <a:tc>
                  <a:txBody>
                    <a:bodyPr/>
                    <a:lstStyle/>
                    <a:p>
                      <a:r>
                        <a:rPr sz="1150">
                          <a:solidFill>
                            <a:srgbClr val="1F2328"/>
                          </a:solidFill>
                          <a:latin typeface="Calibri"/>
                        </a:rPr>
                        <a:t>Growth rate; DIVIDE handles the zero/blank denominator.</a:t>
                      </a:r>
                    </a:p>
                  </a:txBody>
                  <a:tcPr>
                    <a:solidFill>
                      <a:srgbClr val="F6F8FC"/>
                    </a:solidFill>
                  </a:tcPr>
                </a:tc>
              </a:tr>
              <a:tr h="666205">
                <a:tc>
                  <a:txBody>
                    <a:bodyPr/>
                    <a:lstStyle/>
                    <a:p>
                      <a:r>
                        <a:rPr sz="1150">
                          <a:solidFill>
                            <a:srgbClr val="1F2328"/>
                          </a:solidFill>
                          <a:latin typeface="Calibri"/>
                        </a:rPr>
                        <a:t>Rolling 90 Day Sales</a:t>
                      </a:r>
                    </a:p>
                  </a:txBody>
                  <a:tcPr>
                    <a:solidFill>
                      <a:srgbClr val="FFFFFF"/>
                    </a:solidFill>
                  </a:tcPr>
                </a:tc>
                <a:tc>
                  <a:txBody>
                    <a:bodyPr/>
                    <a:lstStyle/>
                    <a:p>
                      <a:r>
                        <a:rPr sz="1150">
                          <a:solidFill>
                            <a:srgbClr val="1F2328"/>
                          </a:solidFill>
                          <a:latin typeface="Calibri"/>
                        </a:rPr>
                        <a:t>VAR LastDate = MAX(DimOrderDate[Date]) RETURN CALCULATE([Sales Amount], DATESINPERIOD(DimOrderDate[Date], LastDate, -90, DAY))</a:t>
                      </a:r>
                    </a:p>
                  </a:txBody>
                  <a:tcPr>
                    <a:solidFill>
                      <a:srgbClr val="FFFFFF"/>
                    </a:solidFill>
                  </a:tcPr>
                </a:tc>
                <a:tc>
                  <a:txBody>
                    <a:bodyPr/>
                    <a:lstStyle/>
                    <a:p>
                      <a:r>
                        <a:rPr sz="1150">
                          <a:solidFill>
                            <a:srgbClr val="1F2328"/>
                          </a:solidFill>
                          <a:latin typeface="Calibri"/>
                        </a:rPr>
                        <a:t>Smooths spiky daily data over a moving window.</a:t>
                      </a:r>
                    </a:p>
                  </a:txBody>
                  <a:tcPr>
                    <a:solidFill>
                      <a:srgbClr val="FFFFFF"/>
                    </a:solidFill>
                  </a:tcPr>
                </a:tc>
              </a:tr>
              <a:tr h="666210">
                <a:tc>
                  <a:txBody>
                    <a:bodyPr/>
                    <a:lstStyle/>
                    <a:p>
                      <a:r>
                        <a:rPr sz="1150">
                          <a:solidFill>
                            <a:srgbClr val="1F2328"/>
                          </a:solidFill>
                          <a:latin typeface="Calibri"/>
                        </a:rPr>
                        <a:t>Date table prerequisite</a:t>
                      </a:r>
                    </a:p>
                  </a:txBody>
                  <a:tcPr>
                    <a:solidFill>
                      <a:srgbClr val="F6F8FC"/>
                    </a:solidFill>
                  </a:tcPr>
                </a:tc>
                <a:tc>
                  <a:txBody>
                    <a:bodyPr/>
                    <a:lstStyle/>
                    <a:p>
                      <a:r>
                        <a:rPr sz="1150">
                          <a:solidFill>
                            <a:srgbClr val="1F2328"/>
                          </a:solidFill>
                          <a:latin typeface="Calibri"/>
                        </a:rPr>
                        <a:t>DimOrderDate must be marked as the date table, contiguous, and cover the full fact range (validated in Exercise 3, step 1).</a:t>
                      </a:r>
                    </a:p>
                  </a:txBody>
                  <a:tcPr>
                    <a:solidFill>
                      <a:srgbClr val="F6F8FC"/>
                    </a:solidFill>
                  </a:tcPr>
                </a:tc>
                <a:tc>
                  <a:txBody>
                    <a:bodyPr/>
                    <a:lstStyle/>
                    <a:p>
                      <a:r>
                        <a:rPr sz="1150">
                          <a:solidFill>
                            <a:srgbClr val="1F2328"/>
                          </a:solidFill>
                          <a:latin typeface="Calibri"/>
                        </a:rPr>
                        <a:t>All the above return BLANK or wrong values if the date table is malformed.</a:t>
                      </a:r>
                    </a:p>
                  </a:txBody>
                  <a:tcPr>
                    <a:solidFill>
                      <a:srgbClr val="F6F8FC"/>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Exercise 3 walks these measures top to bottom — validate the date table first, then build YTD, Prior Year, YoY, YoY %, and Rolling 90 Day in that order and verify each in a matrix by month before moving on.</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07</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Semi-Additive Measures</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Transaction facts (FactSales) are fully additive across time — summing [Sales Amount] across January, February, and March gives the Q1 total.</a:t>
            </a:r>
          </a:p>
          <a:p>
            <a:pPr>
              <a:lnSpc>
                <a:spcPct val="105000"/>
              </a:lnSpc>
              <a:spcAft>
                <a:spcPts val="1000"/>
              </a:spcAft>
              <a:buClr>
                <a:srgbClr val="1E2761"/>
              </a:buClr>
              <a:buFont typeface="Arial"/>
              <a:buChar char="•"/>
            </a:pPr>
            <a:r>
              <a:rPr sz="1450">
                <a:solidFill>
                  <a:srgbClr val="1F2328"/>
                </a:solidFill>
                <a:latin typeface="Calibri"/>
              </a:rPr>
              <a:t>Snapshot facts (inventory on hand, account balances, headcount, backlog) are *not* additive across time — summing end-of-month inventory across three months does not equal end-of-quarter inventory.</a:t>
            </a:r>
          </a:p>
          <a:p>
            <a:pPr>
              <a:lnSpc>
                <a:spcPct val="105000"/>
              </a:lnSpc>
              <a:spcAft>
                <a:spcPts val="1000"/>
              </a:spcAft>
              <a:buClr>
                <a:srgbClr val="1E2761"/>
              </a:buClr>
              <a:buFont typeface="Arial"/>
              <a:buChar char="•"/>
            </a:pPr>
            <a:r>
              <a:rPr sz="1450">
                <a:solidFill>
                  <a:srgbClr val="1F2328"/>
                </a:solidFill>
                <a:latin typeface="Calibri"/>
              </a:rPr>
              <a:t>The DAX pattern is 'last value' or 'last non-blank': at a month level show the value from the last date in the month; at a quarter or year level show the value from the last date in the quarter or year — not the sum.</a:t>
            </a:r>
          </a:p>
          <a:p>
            <a:pPr>
              <a:lnSpc>
                <a:spcPct val="105000"/>
              </a:lnSpc>
              <a:spcAft>
                <a:spcPts val="1000"/>
              </a:spcAft>
              <a:buClr>
                <a:srgbClr val="1E2761"/>
              </a:buClr>
              <a:buFont typeface="Arial"/>
              <a:buChar char="•"/>
            </a:pPr>
            <a:r>
              <a:rPr sz="1450">
                <a:solidFill>
                  <a:srgbClr val="1F2328"/>
                </a:solidFill>
                <a:latin typeface="Calibri"/>
              </a:rPr>
              <a:t>Typical patterns: CALCULATE([Balance], LASTDATE(DimOrderDate[Date])) or a variable capturing MAX of the visible date and filtering to that.</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Wrong semi-additive handling produces silent, catastrophic over-counting — an inventory 'total' of 12x what actually exists.</a:t>
            </a:r>
          </a:p>
          <a:p>
            <a:pPr>
              <a:lnSpc>
                <a:spcPct val="105000"/>
              </a:lnSpc>
              <a:spcAft>
                <a:spcPts val="1000"/>
              </a:spcAft>
              <a:buClr>
                <a:srgbClr val="E8B44A"/>
              </a:buClr>
              <a:buFont typeface="Arial"/>
              <a:buChar char="•"/>
            </a:pPr>
            <a:r>
              <a:rPr sz="1450">
                <a:solidFill>
                  <a:srgbClr val="1F2328"/>
                </a:solidFill>
                <a:latin typeface="Calibri"/>
              </a:rPr>
              <a:t>The mistake is easy to make because DAX will happily sum a snapshot measure by default — there is no error, just a wrong number.</a:t>
            </a:r>
          </a:p>
          <a:p>
            <a:pPr>
              <a:lnSpc>
                <a:spcPct val="105000"/>
              </a:lnSpc>
              <a:spcAft>
                <a:spcPts val="1000"/>
              </a:spcAft>
              <a:buClr>
                <a:srgbClr val="E8B44A"/>
              </a:buClr>
              <a:buFont typeface="Arial"/>
              <a:buChar char="•"/>
            </a:pPr>
            <a:r>
              <a:rPr sz="1450">
                <a:solidFill>
                  <a:srgbClr val="1F2328"/>
                </a:solidFill>
                <a:latin typeface="Calibri"/>
              </a:rPr>
              <a:t>Naming these measures explicitly ([Ending Inventory], [End-of-Period Balance]) signals to future report authors that these do not sum across time.</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4 is deliberately conceptual — the Contoso dataset is transactional — but the pattern from the DAX Pattern Reference must be understood before students meet a real snapshot fact.</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08</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Calculation Groups</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Problem: with N base measures ([Sales Amount], [Gross Margin], [Quantity]) and M time variants (YTD, Prior Year, YoY, YoY %, Rolling 90), you would maintain N×M measures — fifteen for just three bases.</a:t>
            </a:r>
          </a:p>
          <a:p>
            <a:pPr>
              <a:lnSpc>
                <a:spcPct val="105000"/>
              </a:lnSpc>
              <a:spcAft>
                <a:spcPts val="1000"/>
              </a:spcAft>
              <a:buClr>
                <a:srgbClr val="1E2761"/>
              </a:buClr>
              <a:buFont typeface="Arial"/>
              <a:buChar char="•"/>
            </a:pPr>
            <a:r>
              <a:rPr sz="1450">
                <a:solidFill>
                  <a:srgbClr val="1F2328"/>
                </a:solidFill>
                <a:latin typeface="Calibri"/>
              </a:rPr>
              <a:t>Calculation groups solve this with one placeholder: SELECTEDMEASURE(). One calculation item YTD = CALCULATE(SELECTEDMEASURE(), DATESYTD(DimOrderDate[Date])) applies to every base measure the user picks.</a:t>
            </a:r>
          </a:p>
          <a:p>
            <a:pPr>
              <a:lnSpc>
                <a:spcPct val="105000"/>
              </a:lnSpc>
              <a:spcAft>
                <a:spcPts val="1000"/>
              </a:spcAft>
              <a:buClr>
                <a:srgbClr val="1E2761"/>
              </a:buClr>
              <a:buFont typeface="Arial"/>
              <a:buChar char="•"/>
            </a:pPr>
            <a:r>
              <a:rPr sz="1450">
                <a:solidFill>
                  <a:srgbClr val="1F2328"/>
                </a:solidFill>
                <a:latin typeface="Calibri"/>
              </a:rPr>
              <a:t>In the lab (Exercise 7): a 'Time Intelligence' calculation group with items Current, MTD, QTD, YTD, Fiscal YTD, Prior Year, YoY Change, YoY Change %, Rolling 90 Days — all defined with SELECTEDMEASURE().</a:t>
            </a:r>
          </a:p>
          <a:p>
            <a:pPr>
              <a:lnSpc>
                <a:spcPct val="105000"/>
              </a:lnSpc>
              <a:spcAft>
                <a:spcPts val="1000"/>
              </a:spcAft>
              <a:buClr>
                <a:srgbClr val="1E2761"/>
              </a:buClr>
              <a:buFont typeface="Arial"/>
              <a:buChar char="•"/>
            </a:pPr>
            <a:r>
              <a:rPr sz="1450">
                <a:solidFill>
                  <a:srgbClr val="1F2328"/>
                </a:solidFill>
                <a:latin typeface="Calibri"/>
              </a:rPr>
              <a:t>Requires 'Discourage implicit measures' to be enabled. Authoring paths: native Power BI Desktop (Model view → Calculation group), TMDL View for PBIP/Git, or Tabular Editor when external tools are approved.</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Massive reduction in measure count and maintenance surface: one YTD item covers every current and future base measure.</a:t>
            </a:r>
          </a:p>
          <a:p>
            <a:pPr>
              <a:lnSpc>
                <a:spcPct val="105000"/>
              </a:lnSpc>
              <a:spcAft>
                <a:spcPts val="1000"/>
              </a:spcAft>
              <a:buClr>
                <a:srgbClr val="E8B44A"/>
              </a:buClr>
              <a:buFont typeface="Arial"/>
              <a:buChar char="•"/>
            </a:pPr>
            <a:r>
              <a:rPr sz="1450">
                <a:solidFill>
                  <a:srgbClr val="1F2328"/>
                </a:solidFill>
                <a:latin typeface="Calibri"/>
              </a:rPr>
              <a:t>Consistent behavior: every base measure gets the *same* YTD logic, not fifteen hand-written variants that quietly drift over time.</a:t>
            </a:r>
          </a:p>
          <a:p>
            <a:pPr>
              <a:lnSpc>
                <a:spcPct val="105000"/>
              </a:lnSpc>
              <a:spcAft>
                <a:spcPts val="1000"/>
              </a:spcAft>
              <a:buClr>
                <a:srgbClr val="E8B44A"/>
              </a:buClr>
              <a:buFont typeface="Arial"/>
              <a:buChar char="•"/>
            </a:pPr>
            <a:r>
              <a:rPr sz="1450">
                <a:solidFill>
                  <a:srgbClr val="1F2328"/>
                </a:solidFill>
                <a:latin typeface="Calibri"/>
              </a:rPr>
              <a:t>AZURE GOVERNMENT: this feature is Verify for Gov — native Desktop authoring depends on Desktop version; TMDL, XMLA endpoint, and Tabular Editor all require tenant and workstation policy validation before use.</a:t>
            </a:r>
          </a:p>
          <a:p>
            <a:pPr>
              <a:lnSpc>
                <a:spcPct val="105000"/>
              </a:lnSpc>
              <a:spcAft>
                <a:spcPts val="1000"/>
              </a:spcAft>
              <a:buClr>
                <a:srgbClr val="E8B44A"/>
              </a:buClr>
              <a:buFont typeface="Arial"/>
              <a:buChar char="•"/>
            </a:pPr>
            <a:r>
              <a:rPr sz="1450">
                <a:solidFill>
                  <a:srgbClr val="1F2328"/>
                </a:solidFill>
                <a:latin typeface="Calibri"/>
              </a:rPr>
              <a:t>Conceptual alternate path (README): if Tabular Editor or XMLA is blocked, hand-write [Sales Prior Year], [Gross Margin Prior Year] etc. and understand why the calculation group would have been better.</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7 is the calculation group lab — native Desktop authoring is the default; TMDL View and Tabular Editor paths are Verify for Gov and optional.</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09</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Ranking and Top N</a:t>
            </a:r>
          </a:p>
        </p:txBody>
      </p:sp>
      <p:graphicFrame>
        <p:nvGraphicFramePr>
          <p:cNvPr id="6" name="Table 5"/>
          <p:cNvGraphicFramePr>
            <a:graphicFrameLocks noGrp="1"/>
          </p:cNvGraphicFramePr>
          <p:nvPr/>
        </p:nvGraphicFramePr>
        <p:xfrm>
          <a:off x="640080" y="1325880"/>
          <a:ext cx="10881360" cy="4663440"/>
        </p:xfrm>
        <a:graphic>
          <a:graphicData uri="http://schemas.openxmlformats.org/drawingml/2006/table">
            <a:tbl>
              <a:tblPr firstRow="1" bandRow="1">
                <a:tableStyleId>{5C22544A-7EE6-4342-B048-85BDC9FD1C3A}</a:tableStyleId>
              </a:tblPr>
              <a:tblGrid>
                <a:gridCol w="2377440"/>
                <a:gridCol w="5120640"/>
                <a:gridCol w="3383280"/>
              </a:tblGrid>
              <a:tr h="777240">
                <a:tc>
                  <a:txBody>
                    <a:bodyPr/>
                    <a:lstStyle/>
                    <a:p>
                      <a:pPr algn="l"/>
                      <a:r>
                        <a:rPr b="1" sz="1250">
                          <a:solidFill>
                            <a:srgbClr val="FFFFFF"/>
                          </a:solidFill>
                          <a:latin typeface="Calibri"/>
                        </a:rPr>
                        <a:t>Piece</a:t>
                      </a:r>
                    </a:p>
                  </a:txBody>
                  <a:tcPr>
                    <a:solidFill>
                      <a:srgbClr val="1E2761"/>
                    </a:solidFill>
                  </a:tcPr>
                </a:tc>
                <a:tc>
                  <a:txBody>
                    <a:bodyPr/>
                    <a:lstStyle/>
                    <a:p>
                      <a:pPr algn="l"/>
                      <a:r>
                        <a:rPr b="1" sz="1250">
                          <a:solidFill>
                            <a:srgbClr val="FFFFFF"/>
                          </a:solidFill>
                          <a:latin typeface="Calibri"/>
                        </a:rPr>
                        <a:t>Pattern from Exercise 5</a:t>
                      </a:r>
                    </a:p>
                  </a:txBody>
                  <a:tcPr>
                    <a:solidFill>
                      <a:srgbClr val="1E2761"/>
                    </a:solidFill>
                  </a:tcPr>
                </a:tc>
                <a:tc>
                  <a:txBody>
                    <a:bodyPr/>
                    <a:lstStyle/>
                    <a:p>
                      <a:pPr algn="l"/>
                      <a:r>
                        <a:rPr b="1" sz="1250">
                          <a:solidFill>
                            <a:srgbClr val="FFFFFF"/>
                          </a:solidFill>
                          <a:latin typeface="Calibri"/>
                        </a:rPr>
                        <a:t>Behavior</a:t>
                      </a:r>
                    </a:p>
                  </a:txBody>
                  <a:tcPr>
                    <a:solidFill>
                      <a:srgbClr val="1E2761"/>
                    </a:solidFill>
                  </a:tcPr>
                </a:tc>
              </a:tr>
              <a:tr h="777240">
                <a:tc>
                  <a:txBody>
                    <a:bodyPr/>
                    <a:lstStyle/>
                    <a:p>
                      <a:r>
                        <a:rPr sz="1150">
                          <a:solidFill>
                            <a:srgbClr val="1F2328"/>
                          </a:solidFill>
                          <a:latin typeface="Calibri"/>
                        </a:rPr>
                        <a:t>Customer Sales Rank</a:t>
                      </a:r>
                    </a:p>
                  </a:txBody>
                  <a:tcPr>
                    <a:solidFill>
                      <a:srgbClr val="FFFFFF"/>
                    </a:solidFill>
                  </a:tcPr>
                </a:tc>
                <a:tc>
                  <a:txBody>
                    <a:bodyPr/>
                    <a:lstStyle/>
                    <a:p>
                      <a:r>
                        <a:rPr sz="1150">
                          <a:solidFill>
                            <a:srgbClr val="1F2328"/>
                          </a:solidFill>
                          <a:latin typeface="Calibri"/>
                        </a:rPr>
                        <a:t>RANKX(ALL(DimCustomer[CustomerName]), [Sales Amount], , DESC, DENSE)</a:t>
                      </a:r>
                    </a:p>
                  </a:txBody>
                  <a:tcPr>
                    <a:solidFill>
                      <a:srgbClr val="FFFFFF"/>
                    </a:solidFill>
                  </a:tcPr>
                </a:tc>
                <a:tc>
                  <a:txBody>
                    <a:bodyPr/>
                    <a:lstStyle/>
                    <a:p>
                      <a:r>
                        <a:rPr sz="1150">
                          <a:solidFill>
                            <a:srgbClr val="1F2328"/>
                          </a:solidFill>
                          <a:latin typeface="Calibri"/>
                        </a:rPr>
                        <a:t>Rank customers by [Sales Amount] across the whole customer set.</a:t>
                      </a:r>
                    </a:p>
                  </a:txBody>
                  <a:tcPr>
                    <a:solidFill>
                      <a:srgbClr val="FFFFFF"/>
                    </a:solidFill>
                  </a:tcPr>
                </a:tc>
              </a:tr>
              <a:tr h="777240">
                <a:tc>
                  <a:txBody>
                    <a:bodyPr/>
                    <a:lstStyle/>
                    <a:p>
                      <a:r>
                        <a:rPr sz="1150">
                          <a:solidFill>
                            <a:srgbClr val="1F2328"/>
                          </a:solidFill>
                          <a:latin typeface="Calibri"/>
                        </a:rPr>
                        <a:t>Is Top 5 Customer</a:t>
                      </a:r>
                    </a:p>
                  </a:txBody>
                  <a:tcPr>
                    <a:solidFill>
                      <a:srgbClr val="F6F8FC"/>
                    </a:solidFill>
                  </a:tcPr>
                </a:tc>
                <a:tc>
                  <a:txBody>
                    <a:bodyPr/>
                    <a:lstStyle/>
                    <a:p>
                      <a:r>
                        <a:rPr sz="1150">
                          <a:solidFill>
                            <a:srgbClr val="1F2328"/>
                          </a:solidFill>
                          <a:latin typeface="Calibri"/>
                        </a:rPr>
                        <a:t>IF([Customer Sales Rank] &lt;= 5, 1, 0)</a:t>
                      </a:r>
                    </a:p>
                  </a:txBody>
                  <a:tcPr>
                    <a:solidFill>
                      <a:srgbClr val="F6F8FC"/>
                    </a:solidFill>
                  </a:tcPr>
                </a:tc>
                <a:tc>
                  <a:txBody>
                    <a:bodyPr/>
                    <a:lstStyle/>
                    <a:p>
                      <a:r>
                        <a:rPr sz="1150">
                          <a:solidFill>
                            <a:srgbClr val="1F2328"/>
                          </a:solidFill>
                          <a:latin typeface="Calibri"/>
                        </a:rPr>
                        <a:t>Flag measure you can drop into a visual-level filter.</a:t>
                      </a:r>
                    </a:p>
                  </a:txBody>
                  <a:tcPr>
                    <a:solidFill>
                      <a:srgbClr val="F6F8FC"/>
                    </a:solidFill>
                  </a:tcPr>
                </a:tc>
              </a:tr>
              <a:tr h="777240">
                <a:tc>
                  <a:txBody>
                    <a:bodyPr/>
                    <a:lstStyle/>
                    <a:p>
                      <a:r>
                        <a:rPr sz="1150">
                          <a:solidFill>
                            <a:srgbClr val="1F2328"/>
                          </a:solidFill>
                          <a:latin typeface="Calibri"/>
                        </a:rPr>
                        <a:t>ALL vs ALLSELECTED</a:t>
                      </a:r>
                    </a:p>
                  </a:txBody>
                  <a:tcPr>
                    <a:solidFill>
                      <a:srgbClr val="FFFFFF"/>
                    </a:solidFill>
                  </a:tcPr>
                </a:tc>
                <a:tc>
                  <a:txBody>
                    <a:bodyPr/>
                    <a:lstStyle/>
                    <a:p>
                      <a:r>
                        <a:rPr sz="1150">
                          <a:solidFill>
                            <a:srgbClr val="1F2328"/>
                          </a:solidFill>
                          <a:latin typeface="Calibri"/>
                        </a:rPr>
                        <a:t>ALL(DimCustomer) ignores slicers entirely; ALLSELECTED(DimCustomer) respects outer slicers (Territory, Date) but ignores the visual's own row filter.</a:t>
                      </a:r>
                    </a:p>
                  </a:txBody>
                  <a:tcPr>
                    <a:solidFill>
                      <a:srgbClr val="FFFFFF"/>
                    </a:solidFill>
                  </a:tcPr>
                </a:tc>
                <a:tc>
                  <a:txBody>
                    <a:bodyPr/>
                    <a:lstStyle/>
                    <a:p>
                      <a:r>
                        <a:rPr sz="1150">
                          <a:solidFill>
                            <a:srgbClr val="1F2328"/>
                          </a:solidFill>
                          <a:latin typeface="Calibri"/>
                        </a:rPr>
                        <a:t>Ranking within the currently sliced context needs ALLSELECTED, not ALL.</a:t>
                      </a:r>
                    </a:p>
                  </a:txBody>
                  <a:tcPr>
                    <a:solidFill>
                      <a:srgbClr val="FFFFFF"/>
                    </a:solidFill>
                  </a:tcPr>
                </a:tc>
              </a:tr>
              <a:tr h="777240">
                <a:tc>
                  <a:txBody>
                    <a:bodyPr/>
                    <a:lstStyle/>
                    <a:p>
                      <a:r>
                        <a:rPr sz="1150">
                          <a:solidFill>
                            <a:srgbClr val="1F2328"/>
                          </a:solidFill>
                          <a:latin typeface="Calibri"/>
                        </a:rPr>
                        <a:t>Visual-level filter</a:t>
                      </a:r>
                    </a:p>
                  </a:txBody>
                  <a:tcPr>
                    <a:solidFill>
                      <a:srgbClr val="F6F8FC"/>
                    </a:solidFill>
                  </a:tcPr>
                </a:tc>
                <a:tc>
                  <a:txBody>
                    <a:bodyPr/>
                    <a:lstStyle/>
                    <a:p>
                      <a:r>
                        <a:rPr sz="1150">
                          <a:solidFill>
                            <a:srgbClr val="1F2328"/>
                          </a:solidFill>
                          <a:latin typeface="Calibri"/>
                        </a:rPr>
                        <a:t>Add [Is Top 5 Customer] = 1 to the visual-level filter on the customer bar chart.</a:t>
                      </a:r>
                    </a:p>
                  </a:txBody>
                  <a:tcPr>
                    <a:solidFill>
                      <a:srgbClr val="F6F8FC"/>
                    </a:solidFill>
                  </a:tcPr>
                </a:tc>
                <a:tc>
                  <a:txBody>
                    <a:bodyPr/>
                    <a:lstStyle/>
                    <a:p>
                      <a:r>
                        <a:rPr sz="1150">
                          <a:solidFill>
                            <a:srgbClr val="1F2328"/>
                          </a:solidFill>
                          <a:latin typeface="Calibri"/>
                        </a:rPr>
                        <a:t>Cleaner than TOPN-inside-CALCULATE; totals still recompute correctly.</a:t>
                      </a:r>
                    </a:p>
                  </a:txBody>
                  <a:tcPr>
                    <a:solidFill>
                      <a:srgbClr val="F6F8FC"/>
                    </a:solidFill>
                  </a:tcPr>
                </a:tc>
              </a:tr>
              <a:tr h="777240">
                <a:tc>
                  <a:txBody>
                    <a:bodyPr/>
                    <a:lstStyle/>
                    <a:p>
                      <a:r>
                        <a:rPr sz="1150">
                          <a:solidFill>
                            <a:srgbClr val="1F2328"/>
                          </a:solidFill>
                          <a:latin typeface="Calibri"/>
                        </a:rPr>
                        <a:t>'Other' bucket concept</a:t>
                      </a:r>
                    </a:p>
                  </a:txBody>
                  <a:tcPr>
                    <a:solidFill>
                      <a:srgbClr val="FFFFFF"/>
                    </a:solidFill>
                  </a:tcPr>
                </a:tc>
                <a:tc>
                  <a:txBody>
                    <a:bodyPr/>
                    <a:lstStyle/>
                    <a:p>
                      <a:r>
                        <a:rPr sz="1150">
                          <a:solidFill>
                            <a:srgbClr val="1F2328"/>
                          </a:solidFill>
                          <a:latin typeface="Calibri"/>
                        </a:rPr>
                        <a:t>Compute [Sales Amount] for non-top-N customers via SUMX of ALL minus TOPN.</a:t>
                      </a:r>
                    </a:p>
                  </a:txBody>
                  <a:tcPr>
                    <a:solidFill>
                      <a:srgbClr val="FFFFFF"/>
                    </a:solidFill>
                  </a:tcPr>
                </a:tc>
                <a:tc>
                  <a:txBody>
                    <a:bodyPr/>
                    <a:lstStyle/>
                    <a:p>
                      <a:r>
                        <a:rPr sz="1150">
                          <a:solidFill>
                            <a:srgbClr val="1F2328"/>
                          </a:solidFill>
                          <a:latin typeface="Calibri"/>
                        </a:rPr>
                        <a:t>Preserves the true total when a bar chart is filtered to Top N.</a:t>
                      </a:r>
                    </a:p>
                  </a:txBody>
                  <a:tcPr>
                    <a:solidFill>
                      <a:srgbClr val="FFFFFF"/>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Exercise 5 has learners try the same ranking with ALL and with ALLSELECTED under a Territory slicer — the difference is the whole point of the exercise.</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10</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Dynamic Report Logic: Titles, Selected Values, Measure Switching</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Dynamic title measure: uses SELECTEDVALUE(DimTerritory[TerritoryName], "All Territories") to show a friendly title that updates with the slicer and has a fallback when nothing (or multiple) is selected.</a:t>
            </a:r>
          </a:p>
          <a:p>
            <a:pPr>
              <a:lnSpc>
                <a:spcPct val="105000"/>
              </a:lnSpc>
              <a:spcAft>
                <a:spcPts val="1000"/>
              </a:spcAft>
              <a:buClr>
                <a:srgbClr val="1E2761"/>
              </a:buClr>
              <a:buFont typeface="Arial"/>
              <a:buChar char="•"/>
            </a:pPr>
            <a:r>
              <a:rPr sz="1450">
                <a:solidFill>
                  <a:srgbClr val="1F2328"/>
                </a:solidFill>
                <a:latin typeface="Calibri"/>
              </a:rPr>
              <a:t>Disconnected table pattern: a MetricSelector table (Sales Amount / Gross Margin / Quantity) with no relationships — users pick one via a slicer, and DAX reads the choice with SELECTEDVALUE(MetricSelector[Metric]).</a:t>
            </a:r>
          </a:p>
          <a:p>
            <a:pPr>
              <a:lnSpc>
                <a:spcPct val="105000"/>
              </a:lnSpc>
              <a:spcAft>
                <a:spcPts val="1000"/>
              </a:spcAft>
              <a:buClr>
                <a:srgbClr val="1E2761"/>
              </a:buClr>
              <a:buFont typeface="Arial"/>
              <a:buChar char="•"/>
            </a:pPr>
            <a:r>
              <a:rPr sz="1450">
                <a:solidFill>
                  <a:srgbClr val="1F2328"/>
                </a:solidFill>
                <a:latin typeface="Calibri"/>
              </a:rPr>
              <a:t>Measure switching: [Selected Metric] = SWITCH(TRUE(), SELECTEDVALUE(MetricSelector[Metric]) = "Sales Amount", [Sales Amount], "Gross Margin", [Gross Margin], "Quantity", [Quantity], [Sales Amount]).</a:t>
            </a:r>
          </a:p>
          <a:p>
            <a:pPr>
              <a:lnSpc>
                <a:spcPct val="105000"/>
              </a:lnSpc>
              <a:spcAft>
                <a:spcPts val="1000"/>
              </a:spcAft>
              <a:buClr>
                <a:srgbClr val="1E2761"/>
              </a:buClr>
              <a:buFont typeface="Arial"/>
              <a:buChar char="•"/>
            </a:pPr>
            <a:r>
              <a:rPr sz="1450">
                <a:solidFill>
                  <a:srgbClr val="1F2328"/>
                </a:solidFill>
                <a:latin typeface="Calibri"/>
              </a:rPr>
              <a:t>Always include a fallback branch — for empty selection, multi-select, or an unrecognized value — so the visual never renders BLANK by accident.</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One page with a metric switcher can replace three near-duplicate pages, cutting report maintenance in a third.</a:t>
            </a:r>
          </a:p>
          <a:p>
            <a:pPr>
              <a:lnSpc>
                <a:spcPct val="105000"/>
              </a:lnSpc>
              <a:spcAft>
                <a:spcPts val="1000"/>
              </a:spcAft>
              <a:buClr>
                <a:srgbClr val="E8B44A"/>
              </a:buClr>
              <a:buFont typeface="Arial"/>
              <a:buChar char="•"/>
            </a:pPr>
            <a:r>
              <a:rPr sz="1450">
                <a:solidFill>
                  <a:srgbClr val="1F2328"/>
                </a:solidFill>
                <a:latin typeface="Calibri"/>
              </a:rPr>
              <a:t>Dynamic titles give stakeholders a 'you are looking at X for Y' anchor in every screenshot they share — huge for report literacy.</a:t>
            </a:r>
          </a:p>
          <a:p>
            <a:pPr>
              <a:lnSpc>
                <a:spcPct val="105000"/>
              </a:lnSpc>
              <a:spcAft>
                <a:spcPts val="1000"/>
              </a:spcAft>
              <a:buClr>
                <a:srgbClr val="E8B44A"/>
              </a:buClr>
              <a:buFont typeface="Arial"/>
              <a:buChar char="•"/>
            </a:pPr>
            <a:r>
              <a:rPr sz="1450">
                <a:solidFill>
                  <a:srgbClr val="1F2328"/>
                </a:solidFill>
                <a:latin typeface="Calibri"/>
              </a:rPr>
              <a:t>Disconnected tables cleanly separate 'user choice' from model relationships — there's no risk of the metric slicer accidentally filtering FactSales.</a:t>
            </a:r>
          </a:p>
          <a:p>
            <a:pPr>
              <a:lnSpc>
                <a:spcPct val="105000"/>
              </a:lnSpc>
              <a:spcAft>
                <a:spcPts val="1000"/>
              </a:spcAft>
              <a:buClr>
                <a:srgbClr val="E8B44A"/>
              </a:buClr>
              <a:buFont typeface="Arial"/>
              <a:buChar char="•"/>
            </a:pPr>
            <a:r>
              <a:rPr sz="1450">
                <a:solidFill>
                  <a:srgbClr val="1F2328"/>
                </a:solidFill>
                <a:latin typeface="Calibri"/>
              </a:rPr>
              <a:t>SWITCH(TRUE(), ...) is more readable and easier to extend than nested IFs; the final fallback branch is your safety net for multi-select and blank cases.</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6 builds all three patterns — dynamic title, MetricSelector disconnected table, and [Selected Metric] with SWITCH — and explicitly validates the fallback branch.</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11</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Debugging and Optimization</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Variables first: VAR PriorYearValue = CALCULATE(...) RETURN [Sales Amount] - PriorYearValue — write each intermediate once, name it, reuse it. Faster to read, often faster to run.</a:t>
            </a:r>
          </a:p>
          <a:p>
            <a:pPr>
              <a:lnSpc>
                <a:spcPct val="105000"/>
              </a:lnSpc>
              <a:spcAft>
                <a:spcPts val="1000"/>
              </a:spcAft>
              <a:buClr>
                <a:srgbClr val="1E2761"/>
              </a:buClr>
              <a:buFont typeface="Arial"/>
              <a:buChar char="•"/>
            </a:pPr>
            <a:r>
              <a:rPr sz="1450">
                <a:solidFill>
                  <a:srgbClr val="1F2328"/>
                </a:solidFill>
                <a:latin typeface="Calibri"/>
              </a:rPr>
              <a:t>Test in a simple visual: card first, then table with one dimension, then matrix. If a measure surprises you in a complex matrix, isolate it in a card and re-add context piece by piece until it breaks.</a:t>
            </a:r>
          </a:p>
          <a:p>
            <a:pPr>
              <a:lnSpc>
                <a:spcPct val="105000"/>
              </a:lnSpc>
              <a:spcAft>
                <a:spcPts val="1000"/>
              </a:spcAft>
              <a:buClr>
                <a:srgbClr val="1E2761"/>
              </a:buClr>
              <a:buFont typeface="Arial"/>
              <a:buChar char="•"/>
            </a:pPr>
            <a:r>
              <a:rPr sz="1450">
                <a:solidFill>
                  <a:srgbClr val="1F2328"/>
                </a:solidFill>
                <a:latin typeface="Calibri"/>
              </a:rPr>
              <a:t>Performance Analyzer (View → Performance analyzer) captures each visual's DAX query and DAX/render duration — Gov-ready, no external tool needed.</a:t>
            </a:r>
          </a:p>
          <a:p>
            <a:pPr>
              <a:lnSpc>
                <a:spcPct val="105000"/>
              </a:lnSpc>
              <a:spcAft>
                <a:spcPts val="1000"/>
              </a:spcAft>
              <a:buClr>
                <a:srgbClr val="1E2761"/>
              </a:buClr>
              <a:buFont typeface="Arial"/>
              <a:buChar char="•"/>
            </a:pPr>
            <a:r>
              <a:rPr sz="1450">
                <a:solidFill>
                  <a:srgbClr val="1F2328"/>
                </a:solidFill>
                <a:latin typeface="Calibri"/>
              </a:rPr>
              <a:t>DAX Studio (Verify for Gov) adds Server Timings and Query Plan for deeper diagnostics — requires validated workstation policy and tenant settings; not a requirement for this module.</a:t>
            </a:r>
          </a:p>
          <a:p>
            <a:pPr>
              <a:lnSpc>
                <a:spcPct val="105000"/>
              </a:lnSpc>
              <a:spcAft>
                <a:spcPts val="1000"/>
              </a:spcAft>
              <a:buClr>
                <a:srgbClr val="1E2761"/>
              </a:buClr>
              <a:buFont typeface="Arial"/>
              <a:buChar char="•"/>
            </a:pPr>
            <a:r>
              <a:rPr sz="1450">
                <a:solidFill>
                  <a:srgbClr val="1F2328"/>
                </a:solidFill>
                <a:latin typeface="Calibri"/>
              </a:rPr>
              <a:t>Branch, don't nest: two [Sales Amount] references in one measure should become one VAR; a nested SUM inside CALCULATE should almost always be replaced by the base measure.</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Variables make measures readable — which makes them debuggable, which makes them trustworthy.</a:t>
            </a:r>
          </a:p>
          <a:p>
            <a:pPr>
              <a:lnSpc>
                <a:spcPct val="105000"/>
              </a:lnSpc>
              <a:spcAft>
                <a:spcPts val="1000"/>
              </a:spcAft>
              <a:buClr>
                <a:srgbClr val="E8B44A"/>
              </a:buClr>
              <a:buFont typeface="Arial"/>
              <a:buChar char="•"/>
            </a:pPr>
            <a:r>
              <a:rPr sz="1450">
                <a:solidFill>
                  <a:srgbClr val="1F2328"/>
                </a:solidFill>
                <a:latin typeface="Calibri"/>
              </a:rPr>
              <a:t>Testing in a card visual removes filter-context noise so you can see the raw value; complex matrices are where measures hide their bugs.</a:t>
            </a:r>
          </a:p>
          <a:p>
            <a:pPr>
              <a:lnSpc>
                <a:spcPct val="105000"/>
              </a:lnSpc>
              <a:spcAft>
                <a:spcPts val="1000"/>
              </a:spcAft>
              <a:buClr>
                <a:srgbClr val="E8B44A"/>
              </a:buClr>
              <a:buFont typeface="Arial"/>
              <a:buChar char="•"/>
            </a:pPr>
            <a:r>
              <a:rPr sz="1450">
                <a:solidFill>
                  <a:srgbClr val="1F2328"/>
                </a:solidFill>
                <a:latin typeface="Calibri"/>
              </a:rPr>
              <a:t>Performance Analyzer is the required, Gov-ready tool — every learner should be comfortable clicking Start recording, refreshing the page, and reading the durations.</a:t>
            </a:r>
          </a:p>
          <a:p>
            <a:pPr>
              <a:lnSpc>
                <a:spcPct val="105000"/>
              </a:lnSpc>
              <a:spcAft>
                <a:spcPts val="1000"/>
              </a:spcAft>
              <a:buClr>
                <a:srgbClr val="E8B44A"/>
              </a:buClr>
              <a:buFont typeface="Arial"/>
              <a:buChar char="•"/>
            </a:pPr>
            <a:r>
              <a:rPr sz="1450">
                <a:solidFill>
                  <a:srgbClr val="1F2328"/>
                </a:solidFill>
                <a:latin typeface="Calibri"/>
              </a:rPr>
              <a:t>External tools stay optional and Verify for Gov — professional practice is to reach for the built-in tool first, then escalate.</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8 has learners rewrite a repeated-logic measure using variables and measure branching, and optionally compare with Performance Analyzer.</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12</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Azure Government Considerations</a:t>
            </a:r>
          </a:p>
        </p:txBody>
      </p:sp>
      <p:graphicFrame>
        <p:nvGraphicFramePr>
          <p:cNvPr id="6" name="Table 5"/>
          <p:cNvGraphicFramePr>
            <a:graphicFrameLocks noGrp="1"/>
          </p:cNvGraphicFramePr>
          <p:nvPr/>
        </p:nvGraphicFramePr>
        <p:xfrm>
          <a:off x="640080" y="1325880"/>
          <a:ext cx="10881360" cy="4663440"/>
        </p:xfrm>
        <a:graphic>
          <a:graphicData uri="http://schemas.openxmlformats.org/drawingml/2006/table">
            <a:tbl>
              <a:tblPr firstRow="1" bandRow="1">
                <a:tableStyleId>{5C22544A-7EE6-4342-B048-85BDC9FD1C3A}</a:tableStyleId>
              </a:tblPr>
              <a:tblGrid>
                <a:gridCol w="3108960"/>
                <a:gridCol w="2011680"/>
                <a:gridCol w="5760720"/>
              </a:tblGrid>
              <a:tr h="518160">
                <a:tc>
                  <a:txBody>
                    <a:bodyPr/>
                    <a:lstStyle/>
                    <a:p>
                      <a:pPr algn="l"/>
                      <a:r>
                        <a:rPr b="1" sz="1250">
                          <a:solidFill>
                            <a:srgbClr val="FFFFFF"/>
                          </a:solidFill>
                          <a:latin typeface="Calibri"/>
                        </a:rPr>
                        <a:t>Capability</a:t>
                      </a:r>
                    </a:p>
                  </a:txBody>
                  <a:tcPr>
                    <a:solidFill>
                      <a:srgbClr val="1E2761"/>
                    </a:solidFill>
                  </a:tcPr>
                </a:tc>
                <a:tc>
                  <a:txBody>
                    <a:bodyPr/>
                    <a:lstStyle/>
                    <a:p>
                      <a:pPr algn="l"/>
                      <a:r>
                        <a:rPr b="1" sz="1250">
                          <a:solidFill>
                            <a:srgbClr val="FFFFFF"/>
                          </a:solidFill>
                          <a:latin typeface="Calibri"/>
                        </a:rPr>
                        <a:t>Status</a:t>
                      </a:r>
                    </a:p>
                  </a:txBody>
                  <a:tcPr>
                    <a:solidFill>
                      <a:srgbClr val="1E2761"/>
                    </a:solidFill>
                  </a:tcPr>
                </a:tc>
                <a:tc>
                  <a:txBody>
                    <a:bodyPr/>
                    <a:lstStyle/>
                    <a:p>
                      <a:pPr algn="l"/>
                      <a:r>
                        <a:rPr b="1" sz="1250">
                          <a:solidFill>
                            <a:srgbClr val="FFFFFF"/>
                          </a:solidFill>
                          <a:latin typeface="Calibri"/>
                        </a:rPr>
                        <a:t>What to validate</a:t>
                      </a:r>
                    </a:p>
                  </a:txBody>
                  <a:tcPr>
                    <a:solidFill>
                      <a:srgbClr val="1E2761"/>
                    </a:solidFill>
                  </a:tcPr>
                </a:tc>
              </a:tr>
              <a:tr h="518160">
                <a:tc>
                  <a:txBody>
                    <a:bodyPr/>
                    <a:lstStyle/>
                    <a:p>
                      <a:r>
                        <a:rPr sz="1150">
                          <a:solidFill>
                            <a:srgbClr val="1F2328"/>
                          </a:solidFill>
                          <a:latin typeface="Calibri"/>
                        </a:rPr>
                        <a:t>Core DAX language</a:t>
                      </a:r>
                    </a:p>
                  </a:txBody>
                  <a:tcPr>
                    <a:solidFill>
                      <a:srgbClr val="FFFFFF"/>
                    </a:solidFill>
                  </a:tcPr>
                </a:tc>
                <a:tc>
                  <a:txBody>
                    <a:bodyPr/>
                    <a:lstStyle/>
                    <a:p>
                      <a:r>
                        <a:rPr sz="1150">
                          <a:solidFill>
                            <a:srgbClr val="1F2328"/>
                          </a:solidFill>
                          <a:latin typeface="Calibri"/>
                        </a:rPr>
                        <a:t>Gov-ready</a:t>
                      </a:r>
                    </a:p>
                  </a:txBody>
                  <a:tcPr>
                    <a:solidFill>
                      <a:srgbClr val="FFFFFF"/>
                    </a:solidFill>
                  </a:tcPr>
                </a:tc>
                <a:tc>
                  <a:txBody>
                    <a:bodyPr/>
                    <a:lstStyle/>
                    <a:p>
                      <a:r>
                        <a:rPr sz="1150">
                          <a:solidFill>
                            <a:srgbClr val="1F2328"/>
                          </a:solidFill>
                          <a:latin typeface="Calibri"/>
                        </a:rPr>
                        <a:t>None — core DAX runs in Desktop and the engine. Fully supported.</a:t>
                      </a:r>
                    </a:p>
                  </a:txBody>
                  <a:tcPr>
                    <a:solidFill>
                      <a:srgbClr val="FFFFFF"/>
                    </a:solidFill>
                  </a:tcPr>
                </a:tc>
              </a:tr>
              <a:tr h="518160">
                <a:tc>
                  <a:txBody>
                    <a:bodyPr/>
                    <a:lstStyle/>
                    <a:p>
                      <a:r>
                        <a:rPr sz="1150">
                          <a:solidFill>
                            <a:srgbClr val="1F2328"/>
                          </a:solidFill>
                          <a:latin typeface="Calibri"/>
                        </a:rPr>
                        <a:t>CALCULATE and filter modifiers</a:t>
                      </a:r>
                    </a:p>
                  </a:txBody>
                  <a:tcPr>
                    <a:solidFill>
                      <a:srgbClr val="F6F8FC"/>
                    </a:solidFill>
                  </a:tcPr>
                </a:tc>
                <a:tc>
                  <a:txBody>
                    <a:bodyPr/>
                    <a:lstStyle/>
                    <a:p>
                      <a:r>
                        <a:rPr sz="1150">
                          <a:solidFill>
                            <a:srgbClr val="1F2328"/>
                          </a:solidFill>
                          <a:latin typeface="Calibri"/>
                        </a:rPr>
                        <a:t>Gov-ready</a:t>
                      </a:r>
                    </a:p>
                  </a:txBody>
                  <a:tcPr>
                    <a:solidFill>
                      <a:srgbClr val="F6F8FC"/>
                    </a:solidFill>
                  </a:tcPr>
                </a:tc>
                <a:tc>
                  <a:txBody>
                    <a:bodyPr/>
                    <a:lstStyle/>
                    <a:p>
                      <a:r>
                        <a:rPr sz="1150">
                          <a:solidFill>
                            <a:srgbClr val="1F2328"/>
                          </a:solidFill>
                          <a:latin typeface="Calibri"/>
                        </a:rPr>
                        <a:t>None — ALL, REMOVEFILTERS, ALLEXCEPT, KEEPFILTERS, TREATAS are core DAX.</a:t>
                      </a:r>
                    </a:p>
                  </a:txBody>
                  <a:tcPr>
                    <a:solidFill>
                      <a:srgbClr val="F6F8FC"/>
                    </a:solidFill>
                  </a:tcPr>
                </a:tc>
              </a:tr>
              <a:tr h="518160">
                <a:tc>
                  <a:txBody>
                    <a:bodyPr/>
                    <a:lstStyle/>
                    <a:p>
                      <a:r>
                        <a:rPr sz="1150">
                          <a:solidFill>
                            <a:srgbClr val="1F2328"/>
                          </a:solidFill>
                          <a:latin typeface="Calibri"/>
                        </a:rPr>
                        <a:t>Time-intelligence functions</a:t>
                      </a:r>
                    </a:p>
                  </a:txBody>
                  <a:tcPr>
                    <a:solidFill>
                      <a:srgbClr val="FFFFFF"/>
                    </a:solidFill>
                  </a:tcPr>
                </a:tc>
                <a:tc>
                  <a:txBody>
                    <a:bodyPr/>
                    <a:lstStyle/>
                    <a:p>
                      <a:r>
                        <a:rPr sz="1150">
                          <a:solidFill>
                            <a:srgbClr val="1F2328"/>
                          </a:solidFill>
                          <a:latin typeface="Calibri"/>
                        </a:rPr>
                        <a:t>Gov-ready</a:t>
                      </a:r>
                    </a:p>
                  </a:txBody>
                  <a:tcPr>
                    <a:solidFill>
                      <a:srgbClr val="FFFFFF"/>
                    </a:solidFill>
                  </a:tcPr>
                </a:tc>
                <a:tc>
                  <a:txBody>
                    <a:bodyPr/>
                    <a:lstStyle/>
                    <a:p>
                      <a:r>
                        <a:rPr sz="1150">
                          <a:solidFill>
                            <a:srgbClr val="1F2328"/>
                          </a:solidFill>
                          <a:latin typeface="Calibri"/>
                        </a:rPr>
                        <a:t>Requires a valid, marked date table — not an environment restriction.</a:t>
                      </a:r>
                    </a:p>
                  </a:txBody>
                  <a:tcPr>
                    <a:solidFill>
                      <a:srgbClr val="FFFFFF"/>
                    </a:solidFill>
                  </a:tcPr>
                </a:tc>
              </a:tr>
              <a:tr h="518160">
                <a:tc>
                  <a:txBody>
                    <a:bodyPr/>
                    <a:lstStyle/>
                    <a:p>
                      <a:r>
                        <a:rPr sz="1150">
                          <a:solidFill>
                            <a:srgbClr val="1F2328"/>
                          </a:solidFill>
                          <a:latin typeface="Calibri"/>
                        </a:rPr>
                        <a:t>Ranking, Top N, dynamic titles, measure switching</a:t>
                      </a:r>
                    </a:p>
                  </a:txBody>
                  <a:tcPr>
                    <a:solidFill>
                      <a:srgbClr val="F6F8FC"/>
                    </a:solidFill>
                  </a:tcPr>
                </a:tc>
                <a:tc>
                  <a:txBody>
                    <a:bodyPr/>
                    <a:lstStyle/>
                    <a:p>
                      <a:r>
                        <a:rPr sz="1150">
                          <a:solidFill>
                            <a:srgbClr val="1F2328"/>
                          </a:solidFill>
                          <a:latin typeface="Calibri"/>
                        </a:rPr>
                        <a:t>Gov-ready</a:t>
                      </a:r>
                    </a:p>
                  </a:txBody>
                  <a:tcPr>
                    <a:solidFill>
                      <a:srgbClr val="F6F8FC"/>
                    </a:solidFill>
                  </a:tcPr>
                </a:tc>
                <a:tc>
                  <a:txBody>
                    <a:bodyPr/>
                    <a:lstStyle/>
                    <a:p>
                      <a:r>
                        <a:rPr sz="1150">
                          <a:solidFill>
                            <a:srgbClr val="1F2328"/>
                          </a:solidFill>
                          <a:latin typeface="Calibri"/>
                        </a:rPr>
                        <a:t>Core DAX and visual interaction. Disconnected tables are fine.</a:t>
                      </a:r>
                    </a:p>
                  </a:txBody>
                  <a:tcPr>
                    <a:solidFill>
                      <a:srgbClr val="F6F8FC"/>
                    </a:solidFill>
                  </a:tcPr>
                </a:tc>
              </a:tr>
              <a:tr h="518160">
                <a:tc>
                  <a:txBody>
                    <a:bodyPr/>
                    <a:lstStyle/>
                    <a:p>
                      <a:r>
                        <a:rPr sz="1150">
                          <a:solidFill>
                            <a:srgbClr val="1F2328"/>
                          </a:solidFill>
                          <a:latin typeface="Calibri"/>
                        </a:rPr>
                        <a:t>Calculation groups</a:t>
                      </a:r>
                    </a:p>
                  </a:txBody>
                  <a:tcPr>
                    <a:solidFill>
                      <a:srgbClr val="FFFFFF"/>
                    </a:solidFill>
                  </a:tcPr>
                </a:tc>
                <a:tc>
                  <a:txBody>
                    <a:bodyPr/>
                    <a:lstStyle/>
                    <a:p>
                      <a:r>
                        <a:rPr sz="1150">
                          <a:solidFill>
                            <a:srgbClr val="1F2328"/>
                          </a:solidFill>
                          <a:latin typeface="Calibri"/>
                        </a:rPr>
                        <a:t>Verify for Gov</a:t>
                      </a:r>
                    </a:p>
                  </a:txBody>
                  <a:tcPr>
                    <a:solidFill>
                      <a:srgbClr val="FFFFFF"/>
                    </a:solidFill>
                  </a:tcPr>
                </a:tc>
                <a:tc>
                  <a:txBody>
                    <a:bodyPr/>
                    <a:lstStyle/>
                    <a:p>
                      <a:r>
                        <a:rPr sz="1150">
                          <a:solidFill>
                            <a:srgbClr val="1F2328"/>
                          </a:solidFill>
                          <a:latin typeface="Calibri"/>
                        </a:rPr>
                        <a:t>Native Desktop authoring depends on Desktop version; TMDL, XMLA endpoint, Tabular Editor, capacity behavior, and customer workstation policy all require validation before use.</a:t>
                      </a:r>
                    </a:p>
                  </a:txBody>
                  <a:tcPr>
                    <a:solidFill>
                      <a:srgbClr val="FFFFFF"/>
                    </a:solidFill>
                  </a:tcPr>
                </a:tc>
              </a:tr>
              <a:tr h="518160">
                <a:tc>
                  <a:txBody>
                    <a:bodyPr/>
                    <a:lstStyle/>
                    <a:p>
                      <a:r>
                        <a:rPr sz="1150">
                          <a:solidFill>
                            <a:srgbClr val="1F2328"/>
                          </a:solidFill>
                          <a:latin typeface="Calibri"/>
                        </a:rPr>
                        <a:t>Performance Analyzer</a:t>
                      </a:r>
                    </a:p>
                  </a:txBody>
                  <a:tcPr>
                    <a:solidFill>
                      <a:srgbClr val="F6F8FC"/>
                    </a:solidFill>
                  </a:tcPr>
                </a:tc>
                <a:tc>
                  <a:txBody>
                    <a:bodyPr/>
                    <a:lstStyle/>
                    <a:p>
                      <a:r>
                        <a:rPr sz="1150">
                          <a:solidFill>
                            <a:srgbClr val="1F2328"/>
                          </a:solidFill>
                          <a:latin typeface="Calibri"/>
                        </a:rPr>
                        <a:t>Gov-ready</a:t>
                      </a:r>
                    </a:p>
                  </a:txBody>
                  <a:tcPr>
                    <a:solidFill>
                      <a:srgbClr val="F6F8FC"/>
                    </a:solidFill>
                  </a:tcPr>
                </a:tc>
                <a:tc>
                  <a:txBody>
                    <a:bodyPr/>
                    <a:lstStyle/>
                    <a:p>
                      <a:r>
                        <a:rPr sz="1150">
                          <a:solidFill>
                            <a:srgbClr val="1F2328"/>
                          </a:solidFill>
                          <a:latin typeface="Calibri"/>
                        </a:rPr>
                        <a:t>Built-in Desktop feature; no tenant or external dependency.</a:t>
                      </a:r>
                    </a:p>
                  </a:txBody>
                  <a:tcPr>
                    <a:solidFill>
                      <a:srgbClr val="F6F8FC"/>
                    </a:solidFill>
                  </a:tcPr>
                </a:tc>
              </a:tr>
              <a:tr h="518160">
                <a:tc>
                  <a:txBody>
                    <a:bodyPr/>
                    <a:lstStyle/>
                    <a:p>
                      <a:r>
                        <a:rPr sz="1150">
                          <a:solidFill>
                            <a:srgbClr val="1F2328"/>
                          </a:solidFill>
                          <a:latin typeface="Calibri"/>
                        </a:rPr>
                        <a:t>DAX Studio</a:t>
                      </a:r>
                    </a:p>
                  </a:txBody>
                  <a:tcPr>
                    <a:solidFill>
                      <a:srgbClr val="FFFFFF"/>
                    </a:solidFill>
                  </a:tcPr>
                </a:tc>
                <a:tc>
                  <a:txBody>
                    <a:bodyPr/>
                    <a:lstStyle/>
                    <a:p>
                      <a:r>
                        <a:rPr sz="1150">
                          <a:solidFill>
                            <a:srgbClr val="1F2328"/>
                          </a:solidFill>
                          <a:latin typeface="Calibri"/>
                        </a:rPr>
                        <a:t>Verify for Gov</a:t>
                      </a:r>
                    </a:p>
                  </a:txBody>
                  <a:tcPr>
                    <a:solidFill>
                      <a:srgbClr val="FFFFFF"/>
                    </a:solidFill>
                  </a:tcPr>
                </a:tc>
                <a:tc>
                  <a:txBody>
                    <a:bodyPr/>
                    <a:lstStyle/>
                    <a:p>
                      <a:r>
                        <a:rPr sz="1150">
                          <a:solidFill>
                            <a:srgbClr val="1F2328"/>
                          </a:solidFill>
                          <a:latin typeface="Calibri"/>
                        </a:rPr>
                        <a:t>External tool. Validate customer workstation policy, tenant XMLA endpoint, and Service model connectivity before making it required.</a:t>
                      </a:r>
                    </a:p>
                  </a:txBody>
                  <a:tcPr>
                    <a:solidFill>
                      <a:srgbClr val="FFFFFF"/>
                    </a:solidFill>
                  </a:tcPr>
                </a:tc>
              </a:tr>
              <a:tr h="518160">
                <a:tc>
                  <a:txBody>
                    <a:bodyPr/>
                    <a:lstStyle/>
                    <a:p>
                      <a:r>
                        <a:rPr sz="1150">
                          <a:solidFill>
                            <a:srgbClr val="1F2328"/>
                          </a:solidFill>
                          <a:latin typeface="Calibri"/>
                        </a:rPr>
                        <a:t>Tabular Editor and other external tools</a:t>
                      </a:r>
                    </a:p>
                  </a:txBody>
                  <a:tcPr>
                    <a:solidFill>
                      <a:srgbClr val="F6F8FC"/>
                    </a:solidFill>
                  </a:tcPr>
                </a:tc>
                <a:tc>
                  <a:txBody>
                    <a:bodyPr/>
                    <a:lstStyle/>
                    <a:p>
                      <a:r>
                        <a:rPr sz="1150">
                          <a:solidFill>
                            <a:srgbClr val="1F2328"/>
                          </a:solidFill>
                          <a:latin typeface="Calibri"/>
                        </a:rPr>
                        <a:t>Verify for Gov</a:t>
                      </a:r>
                    </a:p>
                  </a:txBody>
                  <a:tcPr>
                    <a:solidFill>
                      <a:srgbClr val="F6F8FC"/>
                    </a:solidFill>
                  </a:tcPr>
                </a:tc>
                <a:tc>
                  <a:txBody>
                    <a:bodyPr/>
                    <a:lstStyle/>
                    <a:p>
                      <a:r>
                        <a:rPr sz="1150">
                          <a:solidFill>
                            <a:srgbClr val="1F2328"/>
                          </a:solidFill>
                          <a:latin typeface="Calibri"/>
                        </a:rPr>
                        <a:t>Validate workstation policy and tenant connectivity; keep as optional/alternate path only.</a:t>
                      </a:r>
                    </a:p>
                  </a:txBody>
                  <a:tcPr>
                    <a:solidFill>
                      <a:srgbClr val="F6F8FC"/>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Rule of thumb: if a technique needs only Power BI Desktop and core DAX, it is Gov-ready. Anything that reaches the XMLA endpoint or invokes an external process needs an explicit Verify for Gov check before it lands in required lab steps.</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13</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Common Mistakes, Validation, and Production Readiness</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Common context mistake: writing an aggregation as a calculated column when it should be a measure — the column freezes at refresh, ignores slicers, and bloats the model.</a:t>
            </a:r>
          </a:p>
          <a:p>
            <a:pPr>
              <a:lnSpc>
                <a:spcPct val="105000"/>
              </a:lnSpc>
              <a:spcAft>
                <a:spcPts val="1000"/>
              </a:spcAft>
              <a:buClr>
                <a:srgbClr val="1E2761"/>
              </a:buClr>
              <a:buFont typeface="Arial"/>
              <a:buChar char="•"/>
            </a:pPr>
            <a:r>
              <a:rPr sz="1450">
                <a:solidFill>
                  <a:srgbClr val="1F2328"/>
                </a:solidFill>
                <a:latin typeface="Calibri"/>
              </a:rPr>
              <a:t>Common filter-modifier mistake: using ALL when you meant ALLSELECTED, or REMOVEFILTERS(FactSales) when you meant REMOVEFILTERS(DimProduct). The measure runs, the totals lie.</a:t>
            </a:r>
          </a:p>
          <a:p>
            <a:pPr>
              <a:lnSpc>
                <a:spcPct val="105000"/>
              </a:lnSpc>
              <a:spcAft>
                <a:spcPts val="1000"/>
              </a:spcAft>
              <a:buClr>
                <a:srgbClr val="1E2761"/>
              </a:buClr>
              <a:buFont typeface="Arial"/>
              <a:buChar char="•"/>
            </a:pPr>
            <a:r>
              <a:rPr sz="1450">
                <a:solidFill>
                  <a:srgbClr val="1F2328"/>
                </a:solidFill>
                <a:latin typeface="Calibri"/>
              </a:rPr>
              <a:t>Common time-intelligence mistake: date table not marked, or joined on a date-time column with time components — YTD and prior-year measures return BLANK.</a:t>
            </a:r>
          </a:p>
          <a:p>
            <a:pPr>
              <a:lnSpc>
                <a:spcPct val="105000"/>
              </a:lnSpc>
              <a:spcAft>
                <a:spcPts val="1000"/>
              </a:spcAft>
              <a:buClr>
                <a:srgbClr val="1E2761"/>
              </a:buClr>
              <a:buFont typeface="Arial"/>
              <a:buChar char="•"/>
            </a:pPr>
            <a:r>
              <a:rPr sz="1450">
                <a:solidFill>
                  <a:srgbClr val="1F2328"/>
                </a:solidFill>
                <a:latin typeface="Calibri"/>
              </a:rPr>
              <a:t>Common measure-branching mistake: rewriting SUM(FactSales[SalesAmount]) inline in five derived measures instead of branching from [Sales Amount] — five places to fix when the definition changes.</a:t>
            </a:r>
          </a:p>
          <a:p>
            <a:pPr>
              <a:lnSpc>
                <a:spcPct val="105000"/>
              </a:lnSpc>
              <a:spcAft>
                <a:spcPts val="1000"/>
              </a:spcAft>
              <a:buClr>
                <a:srgbClr val="1E2761"/>
              </a:buClr>
              <a:buFont typeface="Arial"/>
              <a:buChar char="•"/>
            </a:pPr>
            <a:r>
              <a:rPr sz="1450">
                <a:solidFill>
                  <a:srgbClr val="1F2328"/>
                </a:solidFill>
                <a:latin typeface="Calibri"/>
              </a:rPr>
              <a:t>Validation approach: card → table → matrix. Every base measure verified in a card with known filters before any derived measure is trusted.</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Naming the failure modes out loud makes them recognizable when learners encounter them in their own work — that is the whole point of a knowledge check.</a:t>
            </a:r>
          </a:p>
          <a:p>
            <a:pPr>
              <a:lnSpc>
                <a:spcPct val="105000"/>
              </a:lnSpc>
              <a:spcAft>
                <a:spcPts val="1000"/>
              </a:spcAft>
              <a:buClr>
                <a:srgbClr val="E8B44A"/>
              </a:buClr>
              <a:buFont typeface="Arial"/>
              <a:buChar char="•"/>
            </a:pPr>
            <a:r>
              <a:rPr sz="1450">
                <a:solidFill>
                  <a:srgbClr val="1F2328"/>
                </a:solidFill>
                <a:latin typeface="Calibri"/>
              </a:rPr>
              <a:t>The validation checklist gives a repeatable, teachable process that survives beyond this classroom — not just 'trust me, it's right.'</a:t>
            </a:r>
          </a:p>
          <a:p>
            <a:pPr>
              <a:lnSpc>
                <a:spcPct val="105000"/>
              </a:lnSpc>
              <a:spcAft>
                <a:spcPts val="1000"/>
              </a:spcAft>
              <a:buClr>
                <a:srgbClr val="E8B44A"/>
              </a:buClr>
              <a:buFont typeface="Arial"/>
              <a:buChar char="•"/>
            </a:pPr>
            <a:r>
              <a:rPr sz="1450">
                <a:solidFill>
                  <a:srgbClr val="1F2328"/>
                </a:solidFill>
                <a:latin typeface="Calibri"/>
              </a:rPr>
              <a:t>Production-ready DAX is boring on purpose: consistent naming, formatted base measures, variables, and simple test visuals. Nothing flashy, everything traceable.</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Instructor prompt: ask each learner to name the one context mistake they are most likely to make in their own reports — that meta-awareness is the goal of this module.</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B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LAB WALKTHROUGH</a:t>
            </a:r>
          </a:p>
        </p:txBody>
      </p:sp>
      <p:sp>
        <p:nvSpPr>
          <p:cNvPr id="5" name="TextBox 4"/>
          <p:cNvSpPr txBox="1"/>
          <p:nvPr/>
        </p:nvSpPr>
        <p:spPr>
          <a:xfrm>
            <a:off x="640080" y="868680"/>
            <a:ext cx="9601200" cy="640080"/>
          </a:xfrm>
          <a:prstGeom prst="rect">
            <a:avLst/>
          </a:prstGeom>
          <a:noFill/>
        </p:spPr>
        <p:txBody>
          <a:bodyPr wrap="square" anchor="t" lIns="0" rIns="0" tIns="0" bIns="0">
            <a:spAutoFit/>
          </a:bodyPr>
          <a:lstStyle/>
          <a:p>
            <a:pPr algn="l">
              <a:lnSpc>
                <a:spcPct val="100000"/>
              </a:lnSpc>
              <a:spcAft>
                <a:spcPts val="0"/>
              </a:spcAft>
            </a:pPr>
            <a:r>
              <a:rPr sz="3000" b="1" i="0">
                <a:solidFill>
                  <a:srgbClr val="141B45"/>
                </a:solidFill>
                <a:latin typeface="Cambria"/>
              </a:rPr>
              <a:t>Module Lab Walkthrough</a:t>
            </a:r>
          </a:p>
        </p:txBody>
      </p:sp>
      <p:sp>
        <p:nvSpPr>
          <p:cNvPr id="6" name="Rectangle 5"/>
          <p:cNvSpPr/>
          <p:nvPr/>
        </p:nvSpPr>
        <p:spPr>
          <a:xfrm>
            <a:off x="64008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844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1: Row context vs filter context — build [Sales Amount], [Quantity], [Gross Margin]; observe context in a matrix with slicers.</a:t>
            </a:r>
          </a:p>
        </p:txBody>
      </p:sp>
      <p:sp>
        <p:nvSpPr>
          <p:cNvPr id="9" name="Rectangle 8"/>
          <p:cNvSpPr/>
          <p:nvPr/>
        </p:nvSpPr>
        <p:spPr>
          <a:xfrm>
            <a:off x="64008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2: Context transition and CALCULATE — [Product Sales Share] with REMOVEFILTERS and a KEEPFILTERS comparison.</a:t>
            </a:r>
          </a:p>
        </p:txBody>
      </p:sp>
      <p:sp>
        <p:nvSpPr>
          <p:cNvPr id="12" name="Rectangle 11"/>
          <p:cNvSpPr/>
          <p:nvPr/>
        </p:nvSpPr>
        <p:spPr>
          <a:xfrm>
            <a:off x="64008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3: Advanced time intelligence — validate DimOrderDate, then Sales YTD, Prior Year, YoY, YoY %, and Rolling 90 Days.</a:t>
            </a:r>
          </a:p>
        </p:txBody>
      </p:sp>
      <p:sp>
        <p:nvSpPr>
          <p:cNvPr id="15" name="Rectangle 14"/>
          <p:cNvSpPr/>
          <p:nvPr/>
        </p:nvSpPr>
        <p:spPr>
          <a:xfrm>
            <a:off x="640080" y="524637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560412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524637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4: Semi-additive measures — conceptual review of ending-balance and last-non-blank patterns from the DAX Pattern Reference.</a:t>
            </a:r>
          </a:p>
        </p:txBody>
      </p:sp>
      <p:sp>
        <p:nvSpPr>
          <p:cNvPr id="18" name="Rectangle 17"/>
          <p:cNvSpPr/>
          <p:nvPr/>
        </p:nvSpPr>
        <p:spPr>
          <a:xfrm>
            <a:off x="630936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6772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5: Dynamic Top N and ranking — [Customer Sales Rank], [Is Top 5 Customer]; compare ALL vs ALLSELECTED.</a:t>
            </a:r>
          </a:p>
        </p:txBody>
      </p:sp>
      <p:sp>
        <p:nvSpPr>
          <p:cNvPr id="21" name="Rectangle 20"/>
          <p:cNvSpPr/>
          <p:nvPr/>
        </p:nvSpPr>
        <p:spPr>
          <a:xfrm>
            <a:off x="630936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9224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6772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6: Dynamic titles and measure switching — SELECTEDVALUE title, MetricSelector disconnected table, [Selected Metric] with SWITCH.</a:t>
            </a:r>
          </a:p>
        </p:txBody>
      </p:sp>
      <p:sp>
        <p:nvSpPr>
          <p:cNvPr id="24" name="Rectangle 23"/>
          <p:cNvSpPr/>
          <p:nvPr/>
        </p:nvSpPr>
        <p:spPr>
          <a:xfrm>
            <a:off x="630936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7: Calculation groups (Verify for Gov) — 'Time Intelligence' group in Model view; native Desktop path required, TMDL and Tabular Editor optional.</a:t>
            </a:r>
          </a:p>
        </p:txBody>
      </p:sp>
      <p:sp>
        <p:nvSpPr>
          <p:cNvPr id="27" name="Rectangle 26"/>
          <p:cNvSpPr/>
          <p:nvPr/>
        </p:nvSpPr>
        <p:spPr>
          <a:xfrm>
            <a:off x="6309360" y="524637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92240" y="560412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7728" y="524637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8: DAX optimization — rewrite a repeated-logic measure using variables and measure branching; optionally compare with Performance Analyzer.</a:t>
            </a:r>
          </a:p>
        </p:txBody>
      </p:sp>
      <p:sp>
        <p:nvSpPr>
          <p:cNvPr id="30" name="TextBox 29"/>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B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VALIDATION CHECKLIST</a:t>
            </a:r>
          </a:p>
        </p:txBody>
      </p:sp>
      <p:sp>
        <p:nvSpPr>
          <p:cNvPr id="5" name="TextBox 4"/>
          <p:cNvSpPr txBox="1"/>
          <p:nvPr/>
        </p:nvSpPr>
        <p:spPr>
          <a:xfrm>
            <a:off x="640080" y="868680"/>
            <a:ext cx="9601200" cy="640080"/>
          </a:xfrm>
          <a:prstGeom prst="rect">
            <a:avLst/>
          </a:prstGeom>
          <a:noFill/>
        </p:spPr>
        <p:txBody>
          <a:bodyPr wrap="square" anchor="t" lIns="0" rIns="0" tIns="0" bIns="0">
            <a:spAutoFit/>
          </a:bodyPr>
          <a:lstStyle/>
          <a:p>
            <a:pPr algn="l">
              <a:lnSpc>
                <a:spcPct val="100000"/>
              </a:lnSpc>
              <a:spcAft>
                <a:spcPts val="0"/>
              </a:spcAft>
            </a:pPr>
            <a:r>
              <a:rPr sz="3000" b="1" i="0">
                <a:solidFill>
                  <a:srgbClr val="141B45"/>
                </a:solidFill>
                <a:latin typeface="Cambria"/>
              </a:rPr>
              <a:t>Knowledge Check and Discussion</a:t>
            </a:r>
          </a:p>
        </p:txBody>
      </p:sp>
      <p:sp>
        <p:nvSpPr>
          <p:cNvPr id="6" name="Rectangle 5"/>
          <p:cNvSpPr/>
          <p:nvPr/>
        </p:nvSpPr>
        <p:spPr>
          <a:xfrm>
            <a:off x="640080" y="1783080"/>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025396"/>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8448" y="1783080"/>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Base measures exist for [Sales Amount], [Quantity], [Gross Margin] and are formatted (Measure tools ribbon).</a:t>
            </a:r>
          </a:p>
        </p:txBody>
      </p:sp>
      <p:sp>
        <p:nvSpPr>
          <p:cNvPr id="9" name="Rectangle 8"/>
          <p:cNvSpPr/>
          <p:nvPr/>
        </p:nvSpPr>
        <p:spPr>
          <a:xfrm>
            <a:off x="640080" y="2706624"/>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948940"/>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2706624"/>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Time-intelligence measures (YTD, Prior Year, YoY, YoY %, Rolling 90 Days) return expected values by month against a validated DimOrderDate.</a:t>
            </a:r>
          </a:p>
        </p:txBody>
      </p:sp>
      <p:sp>
        <p:nvSpPr>
          <p:cNvPr id="12" name="Rectangle 11"/>
          <p:cNvSpPr/>
          <p:nvPr/>
        </p:nvSpPr>
        <p:spPr>
          <a:xfrm>
            <a:off x="640080" y="3630168"/>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3872484"/>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3630168"/>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Semi-additive pattern is explained — learners can identify inventory, headcount, or balance scenarios in their own work.</a:t>
            </a:r>
          </a:p>
        </p:txBody>
      </p:sp>
      <p:sp>
        <p:nvSpPr>
          <p:cNvPr id="15" name="Rectangle 14"/>
          <p:cNvSpPr/>
          <p:nvPr/>
        </p:nvSpPr>
        <p:spPr>
          <a:xfrm>
            <a:off x="640080" y="4553712"/>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4796028"/>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4553712"/>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Ranking measures work at the intended filter scope — learners can articulate the ALL vs ALLSELECTED difference under a Territory slicer.</a:t>
            </a:r>
          </a:p>
        </p:txBody>
      </p:sp>
      <p:sp>
        <p:nvSpPr>
          <p:cNvPr id="18" name="Rectangle 17"/>
          <p:cNvSpPr/>
          <p:nvPr/>
        </p:nvSpPr>
        <p:spPr>
          <a:xfrm>
            <a:off x="640080" y="5477256"/>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 y="5719572"/>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98448" y="5477256"/>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Dynamic title measure has a sensible fallback for empty or multi-select conditions (SELECTEDVALUE second argument).</a:t>
            </a:r>
          </a:p>
        </p:txBody>
      </p:sp>
      <p:sp>
        <p:nvSpPr>
          <p:cNvPr id="21" name="Rectangle 20"/>
          <p:cNvSpPr/>
          <p:nvPr/>
        </p:nvSpPr>
        <p:spPr>
          <a:xfrm>
            <a:off x="6309360" y="1783080"/>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92240" y="2025396"/>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67728" y="1783080"/>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Measure switching handles missing or multi-select cases via a SWITCH(TRUE(), …, [fallback measure]) final branch.</a:t>
            </a:r>
          </a:p>
        </p:txBody>
      </p:sp>
      <p:sp>
        <p:nvSpPr>
          <p:cNvPr id="24" name="Rectangle 23"/>
          <p:cNvSpPr/>
          <p:nvPr/>
        </p:nvSpPr>
        <p:spPr>
          <a:xfrm>
            <a:off x="6309360" y="2706624"/>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0" y="2948940"/>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8" y="2706624"/>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Calculation groups are implemented natively in Power BI Desktop, or reviewed conceptually as Verify for Gov.</a:t>
            </a:r>
          </a:p>
        </p:txBody>
      </p:sp>
      <p:sp>
        <p:nvSpPr>
          <p:cNvPr id="27" name="Rectangle 26"/>
          <p:cNvSpPr/>
          <p:nvPr/>
        </p:nvSpPr>
        <p:spPr>
          <a:xfrm>
            <a:off x="6309360" y="3630168"/>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92240" y="3872484"/>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7728" y="3630168"/>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DAX optimization applied: variables replace repeated expressions; derived measures branch from base measures instead of re-summing.</a:t>
            </a:r>
          </a:p>
        </p:txBody>
      </p:sp>
      <p:sp>
        <p:nvSpPr>
          <p:cNvPr id="30" name="Rectangle 29"/>
          <p:cNvSpPr/>
          <p:nvPr/>
        </p:nvSpPr>
        <p:spPr>
          <a:xfrm>
            <a:off x="6309360" y="4553712"/>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92240" y="4796028"/>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67728" y="4553712"/>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External tooling (DAX Studio, Tabular Editor, XMLA) is labeled Verify for Gov and not required for the module to be complete.</a:t>
            </a:r>
          </a:p>
        </p:txBody>
      </p:sp>
      <p:sp>
        <p:nvSpPr>
          <p:cNvPr id="33" name="Rectangle 32"/>
          <p:cNvSpPr/>
          <p:nvPr/>
        </p:nvSpPr>
        <p:spPr>
          <a:xfrm>
            <a:off x="6309360" y="5477256"/>
            <a:ext cx="5120640" cy="79552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92240" y="5719572"/>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7728" y="5477256"/>
            <a:ext cx="4279392" cy="795528"/>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Common context mistake self-assessment: each learner names one failure mode they personally need to watch for.</a:t>
            </a:r>
          </a:p>
        </p:txBody>
      </p:sp>
      <p:sp>
        <p:nvSpPr>
          <p:cNvPr id="36" name="TextBox 35"/>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058400" cy="914400"/>
          </a:xfrm>
          <a:prstGeom prst="rect">
            <a:avLst/>
          </a:prstGeom>
          <a:noFill/>
        </p:spPr>
        <p:txBody>
          <a:bodyPr wrap="square" anchor="t" lIns="0" rIns="0" tIns="0" bIns="0">
            <a:spAutoFit/>
          </a:bodyPr>
          <a:lstStyle/>
          <a:p>
            <a:pPr algn="l">
              <a:lnSpc>
                <a:spcPct val="100000"/>
              </a:lnSpc>
              <a:spcAft>
                <a:spcPts val="0"/>
              </a:spcAft>
            </a:pPr>
            <a:r>
              <a:rPr sz="3600" b="1" i="0">
                <a:solidFill>
                  <a:srgbClr val="FFFFFF"/>
                </a:solidFill>
                <a:latin typeface="Cambria"/>
              </a:rPr>
              <a:t>Module 02 Complete</a:t>
            </a:r>
          </a:p>
        </p:txBody>
      </p:sp>
      <p:sp>
        <p:nvSpPr>
          <p:cNvPr id="4" name="TextBox 3"/>
          <p:cNvSpPr txBox="1"/>
          <p:nvPr/>
        </p:nvSpPr>
        <p:spPr>
          <a:xfrm>
            <a:off x="822960" y="3017520"/>
            <a:ext cx="10058400" cy="1280160"/>
          </a:xfrm>
          <a:prstGeom prst="rect">
            <a:avLst/>
          </a:prstGeom>
          <a:noFill/>
        </p:spPr>
        <p:txBody>
          <a:bodyPr wrap="square" anchor="t" lIns="0" rIns="0" tIns="0" bIns="0">
            <a:spAutoFit/>
          </a:bodyPr>
          <a:lstStyle/>
          <a:p>
            <a:pPr algn="l">
              <a:lnSpc>
                <a:spcPct val="115000"/>
              </a:lnSpc>
              <a:spcAft>
                <a:spcPts val="0"/>
              </a:spcAft>
            </a:pPr>
            <a:r>
              <a:rPr sz="1700" b="0" i="1">
                <a:solidFill>
                  <a:srgbClr val="CADCFC"/>
                </a:solidFill>
                <a:latin typeface="Calibri"/>
              </a:rPr>
              <a:t>Learners now have a trusted, testable DAX measure layer — base measures, time intelligence, ranking, and dynamic report logic — built on top of the Module 1 semantic model.</a:t>
            </a:r>
          </a:p>
        </p:txBody>
      </p:sp>
      <p:sp>
        <p:nvSpPr>
          <p:cNvPr id="5" name="Rectangle 4"/>
          <p:cNvSpPr/>
          <p:nvPr/>
        </p:nvSpPr>
        <p:spPr>
          <a:xfrm>
            <a:off x="822960" y="4023360"/>
            <a:ext cx="10332720" cy="10058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4160520"/>
            <a:ext cx="9875520" cy="777240"/>
          </a:xfrm>
          <a:prstGeom prst="rect">
            <a:avLst/>
          </a:prstGeom>
          <a:noFill/>
        </p:spPr>
        <p:txBody>
          <a:bodyPr wrap="square" anchor="ctr" lIns="0" rIns="0" tIns="0" bIns="0">
            <a:spAutoFit/>
          </a:bodyPr>
          <a:lstStyle/>
          <a:p>
            <a:pPr algn="l">
              <a:lnSpc>
                <a:spcPct val="100000"/>
              </a:lnSpc>
              <a:spcAft>
                <a:spcPts val="0"/>
              </a:spcAft>
            </a:pPr>
            <a:r>
              <a:rPr sz="1600" b="1" i="0">
                <a:solidFill>
                  <a:srgbClr val="E8B44A"/>
                </a:solidFill>
                <a:latin typeface="Calibri"/>
              </a:rPr>
              <a:t>Up next: Module 03 — Advanced Power Query and Data Transformation</a:t>
            </a:r>
          </a:p>
        </p:txBody>
      </p:sp>
      <p:sp>
        <p:nvSpPr>
          <p:cNvPr id="7" name="TextBox 6"/>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CADCFC"/>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